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reuse as disciplined acceleration rather than shortcut-driven customization. The goal is pattern recognition — participants should leave knowing what to borrow, what to replace, and what to redesign for their own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reuse is disciplined acceleration — not shortcut-driven customization. The fastest way to learn here is to identify what should be reused and what should be rewritten.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lab to build pattern recognition, not dependency on canned content. Discourage over-customizing the starter content during the workshop — the goal is to extract transferable structure, not to complete a production-ready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exploration exercise — the Safe Travels agent does not need to be added to the Contoso Helpdesk Agent solution. Use this lab to show the trade-off between speed and control: templates are fast, but custom agents offer tighter scenario fit. If the template gallery does not show Safe Travels, refresh and confirm the environment is Copilot Studio-enabled.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lab to build pattern recognition, not dependency on canned content. This template is an exploration asset — later labs (07–11) work exclusively with the custom agent created in Lab 06. Participants should not add Safe Travels to the Contoso Helpdesk Agent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11480" cy="50794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Patterns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Accelerate delivery by borrowing proven structures — without sacrificing clarity or control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2633472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71800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gallery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2971800"/>
            <a:ext cx="2633472" cy="43891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2971800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vs. rebuild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7064" y="2971800"/>
            <a:ext cx="2633472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2971800"/>
            <a:ext cx="2633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recognition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A7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  ·  Day 1 Recruit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5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03  ·  REUSE PATTERNS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Reuse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is valuable only when scenario fit, controls, and maintainability stay visible.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114800" cy="3090672"/>
          </a:xfrm>
          <a:prstGeom prst="rect">
            <a:avLst/>
          </a:prstGeom>
          <a:solidFill>
            <a:srgbClr val="F3F2F1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4114800" cy="43891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783080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when...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386584"/>
            <a:ext cx="256032" cy="256032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86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233172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scenario fit is strong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2578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template's purpose, audience, and boundaries match your use case without major surgery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017520"/>
            <a:ext cx="256032" cy="256032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296265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controls stay visible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2095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see what instructions, knowledge, and topics the template uses — no black-box behavior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648456"/>
            <a:ext cx="256032" cy="256032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648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35935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maintenance story works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9808" y="3840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team can support, tune, and hand off the reused asset after the workshop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4279392"/>
            <a:ext cx="256032" cy="256032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422452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structure accelerates you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44714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prompts, naming patterns, and topic structure save real authoring 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783080"/>
            <a:ext cx="4114800" cy="3090672"/>
          </a:xfrm>
          <a:prstGeom prst="rect">
            <a:avLst/>
          </a:prstGeom>
          <a:solidFill>
            <a:srgbClr val="F3F2F1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783080"/>
            <a:ext cx="4114800" cy="438912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783080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when...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64608" y="2386584"/>
            <a:ext cx="256032" cy="256032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2331720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scenario fit is weak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230368" y="2578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Adapting the template to your use case requires replacing most of what it provides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64608" y="3017520"/>
            <a:ext cx="256032" cy="256032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296265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controls are opaque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30368" y="32095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cannot explain what the template does in a support call or a security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64608" y="3648456"/>
            <a:ext cx="256032" cy="256032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5935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maintenance cost is hidden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30368" y="38404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editors would not know which parts to tune when the agent drifts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64608" y="4279392"/>
            <a:ext cx="256032" cy="256032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4224528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copying logic, not borrowing structure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30368" y="44714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Copy-paste without understanding creates support debt before the first go-live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5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03  ·  REUSE PATTERNS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Template Gives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these four things in every template — they are the reusable ideas, not the scenario content.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01368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801368"/>
            <a:ext cx="411480" cy="13350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9293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8928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pattern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template scopes the agent's purpose, sets the tone, handles out-of-scope requests, and names escalation paths. Copy the structure — replace the scenario-specific wording.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801368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801368"/>
            <a:ext cx="411480" cy="1335024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9293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2D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0368" y="18928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prompts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22402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Pre-written conversation starters that show users what the agent can do. These are reusable as a pattern for your own onboarding prompts — not necessarily the exact wording.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46120"/>
            <a:ext cx="411480" cy="1335024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3741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2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source choices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685032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knowledge types the template uses — public sites, files, or SharePoint — and how they are scoped. Compare the template's choices with your own grounding strategy.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27448" y="3246120"/>
            <a:ext cx="420624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3246120"/>
            <a:ext cx="411480" cy="133502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3741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0368" y="33375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and tool naming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3685032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Microsoft names topics, tools, and actions in the template. These naming patterns reduce ambiguity when the orchestrator selects behavior at runtime.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EFF6FC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681728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one idea worth carrying forward and one gap that still requires custom design.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243A5E"/>
          </a:solidFill>
          <a:ln w="12700">
            <a:solidFill>
              <a:srgbClr val="24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TIME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Prebuilt Agents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Safe Travels template in the agent template gallery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prefilled description, instructions, and knowledge before creating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https://european-union.europa.eu/ as a public website knowledge source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two grounded travel queries and inspect the Activity map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one reusable idea and one gap that needs custom design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52160" y="10972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852160" y="26334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4160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A7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Exploration exercise  ·  All roles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5D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03  ·  LAB 05 RECAP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05: Prebuilt Agents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Safe Travels template is a learning asset — what you extract from it matters more than deploying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4114800" cy="2148840"/>
          </a:xfrm>
          <a:prstGeom prst="rect">
            <a:avLst/>
          </a:prstGeom>
          <a:solidFill>
            <a:srgbClr val="F3F2F1"/>
          </a:solidFill>
          <a:ln w="12700">
            <a:solidFill>
              <a:srgbClr val="E1D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562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explored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Safe Travels from the agent template gallery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prefilled instructions, description, and starter prompts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Added a public EU website as an additional knowledge source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two grounded travel queries and inspected the Activity map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the agent and located the channel configuration area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4251960" cy="2148840"/>
          </a:xfrm>
          <a:prstGeom prst="rect">
            <a:avLst/>
          </a:prstGeom>
          <a:solidFill>
            <a:srgbClr val="EFF6FC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85623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212848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Travels agent opens and is visible in the Agents 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section includes european-union.europa.eu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pane returns at least one grounded travel answer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reach the Publish action without navigation help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041648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4041648"/>
            <a:ext cx="91440" cy="548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059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takeaway: one idea worth carrying into Lab 06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4279392"/>
            <a:ext cx="8183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________________________________________________________________________________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40599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gap that still needs custom design: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EFF6FC"/>
          </a:solidFill>
          <a:ln w="12700">
            <a:solidFill>
              <a:srgbClr val="C7E0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681728"/>
            <a:ext cx="8449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next: Module 04 — Custom Agent Design  (Lab 06: Build your own agent)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Studio Workshop — Module 03: Reuse Patterns</dc:title>
  <dc:subject>PptxGenJS Presentation</dc:subject>
  <dc:creator>Microsoft</dc:creator>
  <cp:lastModifiedBy>Microsoft</cp:lastModifiedBy>
  <cp:revision>1</cp:revision>
  <dcterms:created xsi:type="dcterms:W3CDTF">2026-03-23T20:58:08Z</dcterms:created>
  <dcterms:modified xsi:type="dcterms:W3CDTF">2026-03-23T20:58:08Z</dcterms:modified>
</cp:coreProperties>
</file>