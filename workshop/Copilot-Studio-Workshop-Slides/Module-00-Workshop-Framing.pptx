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outcomes and reassure the room that mixed roles are a strength, not a barrier.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outcomes and reassure the room that mixed roles are a strength, not a barrier.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full arc early so participants see why each lab matters beyond the classroom. Position every lab as a reusable pattern for real customer delivery, not a one-off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workshop as a shared delivery lifecycle where each role notices different risks and opportunities. Keep the explanation practical — makers notice conversation quality, IT pros notice governance gaps, developers notice structural trade-offs.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these guardrails now so no later module drifts into unsupported or outdated guidance. Raise it immediately if you see guidance that doesn't match the current product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transition marks the shift from orientation to hands-on execution. Remind the room that this is the cheapest place to fix account drift, environment mismatch, browser issues, or missing maker access. Makers need build access, IT pros should watch for permissions and policy, and developers can note solution context, but everyone must start from the same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here until the room is truly ready to build from the same baseline. Makers need build access, IT pros should confirm policy and permissions, developers can note solution structure. This is the cheapest place to fix access issues — before any build work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Treat this lab as a go or no-go check for self-paced progress later in the day. Any outstanding access issue here will compound in every subsequent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43A5E"/>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78D4"/>
          </a:solidFill>
          <a:ln w="12700">
            <a:solidFill>
              <a:srgbClr val="0078D4"/>
            </a:solidFill>
            <a:prstDash val="solid"/>
          </a:ln>
        </p:spPr>
      </p:sp>
      <p:sp>
        <p:nvSpPr>
          <p:cNvPr id="3" name="Shape 1"/>
          <p:cNvSpPr/>
          <p:nvPr/>
        </p:nvSpPr>
        <p:spPr>
          <a:xfrm>
            <a:off x="0" y="5079492"/>
            <a:ext cx="9144000" cy="64008"/>
          </a:xfrm>
          <a:prstGeom prst="rect">
            <a:avLst/>
          </a:prstGeom>
          <a:solidFill>
            <a:srgbClr val="0078D4"/>
          </a:solidFill>
          <a:ln w="12700">
            <a:solidFill>
              <a:srgbClr val="0078D4"/>
            </a:solidFill>
            <a:prstDash val="solid"/>
          </a:ln>
        </p:spPr>
      </p:sp>
      <p:sp>
        <p:nvSpPr>
          <p:cNvPr id="4" name="Shape 2"/>
          <p:cNvSpPr/>
          <p:nvPr/>
        </p:nvSpPr>
        <p:spPr>
          <a:xfrm>
            <a:off x="0" y="64008"/>
            <a:ext cx="64008" cy="5015484"/>
          </a:xfrm>
          <a:prstGeom prst="rect">
            <a:avLst/>
          </a:prstGeom>
          <a:solidFill>
            <a:srgbClr val="0078D4"/>
          </a:solidFill>
          <a:ln w="12700">
            <a:solidFill>
              <a:srgbClr val="0078D4"/>
            </a:solidFill>
            <a:prstDash val="solid"/>
          </a:ln>
        </p:spPr>
      </p:sp>
      <p:sp>
        <p:nvSpPr>
          <p:cNvPr id="5" name="Shape 3"/>
          <p:cNvSpPr/>
          <p:nvPr/>
        </p:nvSpPr>
        <p:spPr>
          <a:xfrm>
            <a:off x="9079992" y="64008"/>
            <a:ext cx="64008" cy="5015484"/>
          </a:xfrm>
          <a:prstGeom prst="rect">
            <a:avLst/>
          </a:prstGeom>
          <a:solidFill>
            <a:srgbClr val="0078D4"/>
          </a:solidFill>
          <a:ln w="12700">
            <a:solidFill>
              <a:srgbClr val="0078D4"/>
            </a:solidFill>
            <a:prstDash val="solid"/>
          </a:ln>
        </p:spPr>
      </p:sp>
      <p:sp>
        <p:nvSpPr>
          <p:cNvPr id="6" name="Text 4"/>
          <p:cNvSpPr/>
          <p:nvPr/>
        </p:nvSpPr>
        <p:spPr>
          <a:xfrm>
            <a:off x="256032" y="182880"/>
            <a:ext cx="2743200" cy="347472"/>
          </a:xfrm>
          <a:prstGeom prst="rect">
            <a:avLst/>
          </a:prstGeom>
          <a:noFill/>
          <a:ln/>
        </p:spPr>
        <p:txBody>
          <a:bodyPr wrap="square" rtlCol="0" anchor="ctr"/>
          <a:lstStyle/>
          <a:p>
            <a:pPr indent="0" marL="0">
              <a:buNone/>
            </a:pPr>
            <a:r>
              <a:rPr lang="en-US" sz="1300" dirty="0">
                <a:solidFill>
                  <a:srgbClr val="A0C8FF"/>
                </a:solidFill>
                <a:latin typeface="Segoe UI" pitchFamily="34" charset="0"/>
                <a:ea typeface="Segoe UI" pitchFamily="34" charset="-122"/>
                <a:cs typeface="Segoe UI" pitchFamily="34" charset="-120"/>
              </a:rPr>
              <a:t>Microsoft</a:t>
            </a:r>
            <a:endParaRPr lang="en-US" sz="1300" dirty="0"/>
          </a:p>
        </p:txBody>
      </p:sp>
      <p:sp>
        <p:nvSpPr>
          <p:cNvPr id="7" name="Text 5"/>
          <p:cNvSpPr/>
          <p:nvPr/>
        </p:nvSpPr>
        <p:spPr>
          <a:xfrm>
            <a:off x="256032" y="713232"/>
            <a:ext cx="8229600" cy="347472"/>
          </a:xfrm>
          <a:prstGeom prst="rect">
            <a:avLst/>
          </a:prstGeom>
          <a:noFill/>
          <a:ln/>
        </p:spPr>
        <p:txBody>
          <a:bodyPr wrap="square" rtlCol="0" anchor="ctr"/>
          <a:lstStyle/>
          <a:p>
            <a:pPr indent="0" marL="0">
              <a:buNone/>
            </a:pPr>
            <a:r>
              <a:rPr lang="en-US" sz="1000" spc="400" kern="0" dirty="0">
                <a:solidFill>
                  <a:srgbClr val="50E6FF"/>
                </a:solidFill>
                <a:latin typeface="Segoe UI" pitchFamily="34" charset="0"/>
                <a:ea typeface="Segoe UI" pitchFamily="34" charset="-122"/>
                <a:cs typeface="Segoe UI" pitchFamily="34" charset="-120"/>
              </a:rPr>
              <a:t>HANDS-ON WORKSHOP</a:t>
            </a:r>
            <a:endParaRPr lang="en-US" sz="1000" dirty="0"/>
          </a:p>
        </p:txBody>
      </p:sp>
      <p:sp>
        <p:nvSpPr>
          <p:cNvPr id="8" name="Text 6"/>
          <p:cNvSpPr/>
          <p:nvPr/>
        </p:nvSpPr>
        <p:spPr>
          <a:xfrm>
            <a:off x="256032" y="1188720"/>
            <a:ext cx="8595360" cy="1005840"/>
          </a:xfrm>
          <a:prstGeom prst="rect">
            <a:avLst/>
          </a:prstGeom>
          <a:noFill/>
          <a:ln/>
        </p:spPr>
        <p:txBody>
          <a:bodyPr wrap="square" rtlCol="0" anchor="ctr"/>
          <a:lstStyle/>
          <a:p>
            <a:pPr indent="0" marL="0">
              <a:buNone/>
            </a:pPr>
            <a:r>
              <a:rPr lang="en-US" sz="6200" b="1" dirty="0">
                <a:solidFill>
                  <a:srgbClr val="FFFFFF"/>
                </a:solidFill>
                <a:latin typeface="Segoe UI" pitchFamily="34" charset="0"/>
                <a:ea typeface="Segoe UI" pitchFamily="34" charset="-122"/>
                <a:cs typeface="Segoe UI" pitchFamily="34" charset="-120"/>
              </a:rPr>
              <a:t>Copilot Studio</a:t>
            </a:r>
            <a:endParaRPr lang="en-US" sz="6200" dirty="0"/>
          </a:p>
        </p:txBody>
      </p:sp>
      <p:sp>
        <p:nvSpPr>
          <p:cNvPr id="9" name="Text 7"/>
          <p:cNvSpPr/>
          <p:nvPr/>
        </p:nvSpPr>
        <p:spPr>
          <a:xfrm>
            <a:off x="256032" y="2084832"/>
            <a:ext cx="8595360" cy="914400"/>
          </a:xfrm>
          <a:prstGeom prst="rect">
            <a:avLst/>
          </a:prstGeom>
          <a:noFill/>
          <a:ln/>
        </p:spPr>
        <p:txBody>
          <a:bodyPr wrap="square" rtlCol="0" anchor="ctr"/>
          <a:lstStyle/>
          <a:p>
            <a:pPr indent="0" marL="0">
              <a:buNone/>
            </a:pPr>
            <a:r>
              <a:rPr lang="en-US" sz="6200" b="1" dirty="0">
                <a:solidFill>
                  <a:srgbClr val="50E6FF"/>
                </a:solidFill>
                <a:latin typeface="Segoe UI" pitchFamily="34" charset="0"/>
                <a:ea typeface="Segoe UI" pitchFamily="34" charset="-122"/>
                <a:cs typeface="Segoe UI" pitchFamily="34" charset="-120"/>
              </a:rPr>
              <a:t>Workshop</a:t>
            </a:r>
            <a:endParaRPr lang="en-US" sz="6200" dirty="0"/>
          </a:p>
        </p:txBody>
      </p:sp>
      <p:sp>
        <p:nvSpPr>
          <p:cNvPr id="10" name="Text 8"/>
          <p:cNvSpPr/>
          <p:nvPr/>
        </p:nvSpPr>
        <p:spPr>
          <a:xfrm>
            <a:off x="256032" y="3127248"/>
            <a:ext cx="8229600" cy="502920"/>
          </a:xfrm>
          <a:prstGeom prst="rect">
            <a:avLst/>
          </a:prstGeom>
          <a:noFill/>
          <a:ln/>
        </p:spPr>
        <p:txBody>
          <a:bodyPr wrap="square" rtlCol="0" anchor="ctr"/>
          <a:lstStyle/>
          <a:p>
            <a:pPr indent="0" marL="0">
              <a:buNone/>
            </a:pPr>
            <a:r>
              <a:rPr lang="en-US" sz="1400" dirty="0">
                <a:solidFill>
                  <a:srgbClr val="C5D8F0"/>
                </a:solidFill>
                <a:latin typeface="Segoe UI" pitchFamily="34" charset="0"/>
                <a:ea typeface="Segoe UI" pitchFamily="34" charset="-122"/>
                <a:cs typeface="Segoe UI" pitchFamily="34" charset="-120"/>
              </a:rPr>
              <a:t>Building, extending, and governing AI agents with Microsoft Copilot Studio</a:t>
            </a:r>
            <a:endParaRPr lang="en-US" sz="1400" dirty="0"/>
          </a:p>
        </p:txBody>
      </p:sp>
      <p:sp>
        <p:nvSpPr>
          <p:cNvPr id="11" name="Shape 9"/>
          <p:cNvSpPr/>
          <p:nvPr/>
        </p:nvSpPr>
        <p:spPr>
          <a:xfrm>
            <a:off x="256032" y="3840480"/>
            <a:ext cx="2148840" cy="804672"/>
          </a:xfrm>
          <a:prstGeom prst="rect">
            <a:avLst/>
          </a:prstGeom>
          <a:solidFill>
            <a:srgbClr val="0078D4"/>
          </a:solidFill>
          <a:ln w="12700">
            <a:solidFill>
              <a:srgbClr val="50E6FF"/>
            </a:solidFill>
            <a:prstDash val="solid"/>
          </a:ln>
        </p:spPr>
      </p:sp>
      <p:sp>
        <p:nvSpPr>
          <p:cNvPr id="12" name="Text 10"/>
          <p:cNvSpPr/>
          <p:nvPr/>
        </p:nvSpPr>
        <p:spPr>
          <a:xfrm>
            <a:off x="256032" y="3840480"/>
            <a:ext cx="2148840" cy="804672"/>
          </a:xfrm>
          <a:prstGeom prst="rect">
            <a:avLst/>
          </a:prstGeom>
          <a:noFill/>
          <a:ln/>
        </p:spPr>
        <p:txBody>
          <a:bodyPr wrap="square" lIns="50800" tIns="50800" rIns="50800" bIns="5080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Day 1 — Recruit Track</a:t>
            </a:r>
            <a:endParaRPr lang="en-US" sz="1200" dirty="0"/>
          </a:p>
          <a:p>
            <a:pPr algn="ctr" indent="0" marL="0">
              <a:buNone/>
            </a:pPr>
            <a:r>
              <a:rPr lang="en-US" sz="900" dirty="0">
                <a:solidFill>
                  <a:srgbClr val="50E6FF"/>
                </a:solidFill>
                <a:latin typeface="Segoe UI" pitchFamily="34" charset="0"/>
                <a:ea typeface="Segoe UI" pitchFamily="34" charset="-122"/>
                <a:cs typeface="Segoe UI" pitchFamily="34" charset="-120"/>
              </a:rPr>
              <a:t>Labs 00–12 · Foundations</a:t>
            </a:r>
            <a:endParaRPr lang="en-US" sz="1200" dirty="0"/>
          </a:p>
        </p:txBody>
      </p:sp>
      <p:sp>
        <p:nvSpPr>
          <p:cNvPr id="13" name="Shape 11"/>
          <p:cNvSpPr/>
          <p:nvPr/>
        </p:nvSpPr>
        <p:spPr>
          <a:xfrm>
            <a:off x="2578608" y="3840480"/>
            <a:ext cx="2148840" cy="804672"/>
          </a:xfrm>
          <a:prstGeom prst="rect">
            <a:avLst/>
          </a:prstGeom>
          <a:solidFill>
            <a:srgbClr val="0078D4"/>
          </a:solidFill>
          <a:ln w="12700">
            <a:solidFill>
              <a:srgbClr val="50E6FF"/>
            </a:solidFill>
            <a:prstDash val="solid"/>
          </a:ln>
        </p:spPr>
      </p:sp>
      <p:sp>
        <p:nvSpPr>
          <p:cNvPr id="14" name="Text 12"/>
          <p:cNvSpPr/>
          <p:nvPr/>
        </p:nvSpPr>
        <p:spPr>
          <a:xfrm>
            <a:off x="2578608" y="3840480"/>
            <a:ext cx="2148840" cy="804672"/>
          </a:xfrm>
          <a:prstGeom prst="rect">
            <a:avLst/>
          </a:prstGeom>
          <a:noFill/>
          <a:ln/>
        </p:spPr>
        <p:txBody>
          <a:bodyPr wrap="square" lIns="50800" tIns="50800" rIns="50800" bIns="5080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Day 2 — Operative Track</a:t>
            </a:r>
            <a:endParaRPr lang="en-US" sz="1200" dirty="0"/>
          </a:p>
          <a:p>
            <a:pPr algn="ctr" indent="0" marL="0">
              <a:buNone/>
            </a:pPr>
            <a:r>
              <a:rPr lang="en-US" sz="900" dirty="0">
                <a:solidFill>
                  <a:srgbClr val="50E6FF"/>
                </a:solidFill>
                <a:latin typeface="Segoe UI" pitchFamily="34" charset="0"/>
                <a:ea typeface="Segoe UI" pitchFamily="34" charset="-122"/>
                <a:cs typeface="Segoe UI" pitchFamily="34" charset="-120"/>
              </a:rPr>
              <a:t>Labs 13–25 · Enterprise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78D4"/>
          </a:solidFill>
          <a:ln w="12700">
            <a:solidFill>
              <a:srgbClr val="0078D4"/>
            </a:solidFill>
            <a:prstDash val="solid"/>
          </a:ln>
        </p:spPr>
      </p:sp>
      <p:sp>
        <p:nvSpPr>
          <p:cNvPr id="3" name="Text 1"/>
          <p:cNvSpPr/>
          <p:nvPr/>
        </p:nvSpPr>
        <p:spPr>
          <a:xfrm>
            <a:off x="365760" y="0"/>
            <a:ext cx="8412480" cy="640080"/>
          </a:xfrm>
          <a:prstGeom prst="rect">
            <a:avLst/>
          </a:prstGeom>
          <a:noFill/>
          <a:ln/>
        </p:spPr>
        <p:txBody>
          <a:bodyPr wrap="square" rtlCol="0" anchor="ctr"/>
          <a:lstStyle/>
          <a:p>
            <a:pPr indent="0" marL="0">
              <a:buNone/>
            </a:pPr>
            <a:r>
              <a:rPr lang="en-US" sz="900" spc="200" kern="0" dirty="0">
                <a:solidFill>
                  <a:srgbClr val="C5D8F0"/>
                </a:solidFill>
                <a:latin typeface="Segoe UI" pitchFamily="34" charset="0"/>
                <a:ea typeface="Segoe UI" pitchFamily="34" charset="-122"/>
                <a:cs typeface="Segoe UI" pitchFamily="34" charset="-120"/>
              </a:rPr>
              <a:t>MODULE 00  ·  WORKSHOP FRAMING</a:t>
            </a:r>
            <a:endParaRPr lang="en-US" sz="900" dirty="0"/>
          </a:p>
        </p:txBody>
      </p:sp>
      <p:sp>
        <p:nvSpPr>
          <p:cNvPr id="4" name="Text 2"/>
          <p:cNvSpPr/>
          <p:nvPr/>
        </p:nvSpPr>
        <p:spPr>
          <a:xfrm>
            <a:off x="365760" y="749808"/>
            <a:ext cx="8412480" cy="548640"/>
          </a:xfrm>
          <a:prstGeom prst="rect">
            <a:avLst/>
          </a:prstGeom>
          <a:noFill/>
          <a:ln/>
        </p:spPr>
        <p:txBody>
          <a:bodyPr wrap="square" rtlCol="0" anchor="ctr"/>
          <a:lstStyle/>
          <a:p>
            <a:pPr indent="0" marL="0">
              <a:buNone/>
            </a:pPr>
            <a:r>
              <a:rPr lang="en-US" sz="3000" b="1" dirty="0">
                <a:solidFill>
                  <a:srgbClr val="201F1E"/>
                </a:solidFill>
                <a:latin typeface="Segoe UI" pitchFamily="34" charset="0"/>
                <a:ea typeface="Segoe UI" pitchFamily="34" charset="-122"/>
                <a:cs typeface="Segoe UI" pitchFamily="34" charset="-120"/>
              </a:rPr>
              <a:t>Welcome &amp; Goals</a:t>
            </a:r>
            <a:endParaRPr lang="en-US" sz="3000" dirty="0"/>
          </a:p>
        </p:txBody>
      </p:sp>
      <p:sp>
        <p:nvSpPr>
          <p:cNvPr id="5" name="Shape 3"/>
          <p:cNvSpPr/>
          <p:nvPr/>
        </p:nvSpPr>
        <p:spPr>
          <a:xfrm>
            <a:off x="365760" y="1444752"/>
            <a:ext cx="64008" cy="3246120"/>
          </a:xfrm>
          <a:prstGeom prst="rect">
            <a:avLst/>
          </a:prstGeom>
          <a:solidFill>
            <a:srgbClr val="0078D4"/>
          </a:solidFill>
          <a:ln w="12700">
            <a:solidFill>
              <a:srgbClr val="0078D4"/>
            </a:solidFill>
            <a:prstDash val="solid"/>
          </a:ln>
        </p:spPr>
      </p:sp>
      <p:sp>
        <p:nvSpPr>
          <p:cNvPr id="6" name="Shape 4"/>
          <p:cNvSpPr/>
          <p:nvPr/>
        </p:nvSpPr>
        <p:spPr>
          <a:xfrm>
            <a:off x="548640" y="1527048"/>
            <a:ext cx="274320" cy="274320"/>
          </a:xfrm>
          <a:prstGeom prst="ellipse">
            <a:avLst/>
          </a:prstGeom>
          <a:solidFill>
            <a:srgbClr val="0078D4"/>
          </a:solidFill>
          <a:ln w="12700">
            <a:solidFill>
              <a:srgbClr val="0078D4"/>
            </a:solidFill>
            <a:prstDash val="solid"/>
          </a:ln>
        </p:spPr>
      </p:sp>
      <p:sp>
        <p:nvSpPr>
          <p:cNvPr id="7" name="Text 5"/>
          <p:cNvSpPr/>
          <p:nvPr/>
        </p:nvSpPr>
        <p:spPr>
          <a:xfrm>
            <a:off x="548640" y="152704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1</a:t>
            </a:r>
            <a:endParaRPr lang="en-US" sz="1000" dirty="0"/>
          </a:p>
        </p:txBody>
      </p:sp>
      <p:sp>
        <p:nvSpPr>
          <p:cNvPr id="8" name="Text 6"/>
          <p:cNvSpPr/>
          <p:nvPr/>
        </p:nvSpPr>
        <p:spPr>
          <a:xfrm>
            <a:off x="987552" y="1463040"/>
            <a:ext cx="7772400" cy="274320"/>
          </a:xfrm>
          <a:prstGeom prst="rect">
            <a:avLst/>
          </a:prstGeom>
          <a:noFill/>
          <a:ln/>
        </p:spPr>
        <p:txBody>
          <a:bodyPr wrap="square" lIns="0" tIns="0" rIns="0" bIns="0" rtlCol="0" anchor="ctr"/>
          <a:lstStyle/>
          <a:p>
            <a:pPr indent="0" marL="0">
              <a:buNone/>
            </a:pPr>
            <a:r>
              <a:rPr lang="en-US" sz="1300" b="1" dirty="0">
                <a:solidFill>
                  <a:srgbClr val="201F1E"/>
                </a:solidFill>
                <a:latin typeface="Segoe UI" pitchFamily="34" charset="0"/>
                <a:ea typeface="Segoe UI" pitchFamily="34" charset="-122"/>
                <a:cs typeface="Segoe UI" pitchFamily="34" charset="-120"/>
              </a:rPr>
              <a:t>Welcome to Copilot Studio Workshop</a:t>
            </a:r>
            <a:endParaRPr lang="en-US" sz="1300" dirty="0"/>
          </a:p>
        </p:txBody>
      </p:sp>
      <p:sp>
        <p:nvSpPr>
          <p:cNvPr id="9" name="Text 7"/>
          <p:cNvSpPr/>
          <p:nvPr/>
        </p:nvSpPr>
        <p:spPr>
          <a:xfrm>
            <a:off x="987552" y="1737360"/>
            <a:ext cx="7772400" cy="384048"/>
          </a:xfrm>
          <a:prstGeom prst="rect">
            <a:avLst/>
          </a:prstGeom>
          <a:noFill/>
          <a:ln/>
        </p:spPr>
        <p:txBody>
          <a:bodyPr wrap="square" lIns="0" tIns="0" rIns="0" bIns="0" rtlCol="0" anchor="ctr"/>
          <a:lstStyle/>
          <a:p>
            <a:pPr indent="0" marL="0">
              <a:buNone/>
            </a:pPr>
            <a:r>
              <a:rPr lang="en-US" sz="1100" dirty="0">
                <a:solidFill>
                  <a:srgbClr val="605E5C"/>
                </a:solidFill>
                <a:latin typeface="Segoe UI" pitchFamily="34" charset="0"/>
                <a:ea typeface="Segoe UI" pitchFamily="34" charset="-122"/>
                <a:cs typeface="Segoe UI" pitchFamily="34" charset="-120"/>
              </a:rPr>
              <a:t>Makers, IT pros, and developers — one shared learning path for mixed-role teams</a:t>
            </a:r>
            <a:endParaRPr lang="en-US" sz="1100" dirty="0"/>
          </a:p>
        </p:txBody>
      </p:sp>
      <p:sp>
        <p:nvSpPr>
          <p:cNvPr id="10" name="Shape 8"/>
          <p:cNvSpPr/>
          <p:nvPr/>
        </p:nvSpPr>
        <p:spPr>
          <a:xfrm>
            <a:off x="548640" y="2322576"/>
            <a:ext cx="274320" cy="274320"/>
          </a:xfrm>
          <a:prstGeom prst="ellipse">
            <a:avLst/>
          </a:prstGeom>
          <a:solidFill>
            <a:srgbClr val="0078D4"/>
          </a:solidFill>
          <a:ln w="12700">
            <a:solidFill>
              <a:srgbClr val="0078D4"/>
            </a:solidFill>
            <a:prstDash val="solid"/>
          </a:ln>
        </p:spPr>
      </p:sp>
      <p:sp>
        <p:nvSpPr>
          <p:cNvPr id="11" name="Text 9"/>
          <p:cNvSpPr/>
          <p:nvPr/>
        </p:nvSpPr>
        <p:spPr>
          <a:xfrm>
            <a:off x="548640" y="2322576"/>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2</a:t>
            </a:r>
            <a:endParaRPr lang="en-US" sz="1000" dirty="0"/>
          </a:p>
        </p:txBody>
      </p:sp>
      <p:sp>
        <p:nvSpPr>
          <p:cNvPr id="12" name="Text 10"/>
          <p:cNvSpPr/>
          <p:nvPr/>
        </p:nvSpPr>
        <p:spPr>
          <a:xfrm>
            <a:off x="987552" y="2258568"/>
            <a:ext cx="7772400" cy="274320"/>
          </a:xfrm>
          <a:prstGeom prst="rect">
            <a:avLst/>
          </a:prstGeom>
          <a:noFill/>
          <a:ln/>
        </p:spPr>
        <p:txBody>
          <a:bodyPr wrap="square" lIns="0" tIns="0" rIns="0" bIns="0" rtlCol="0" anchor="ctr"/>
          <a:lstStyle/>
          <a:p>
            <a:pPr indent="0" marL="0">
              <a:buNone/>
            </a:pPr>
            <a:r>
              <a:rPr lang="en-US" sz="1300" b="1" dirty="0">
                <a:solidFill>
                  <a:srgbClr val="201F1E"/>
                </a:solidFill>
                <a:latin typeface="Segoe UI" pitchFamily="34" charset="0"/>
                <a:ea typeface="Segoe UI" pitchFamily="34" charset="-122"/>
                <a:cs typeface="Segoe UI" pitchFamily="34" charset="-120"/>
              </a:rPr>
              <a:t>Day 1 builds the foundations</a:t>
            </a:r>
            <a:endParaRPr lang="en-US" sz="1300" dirty="0"/>
          </a:p>
        </p:txBody>
      </p:sp>
      <p:sp>
        <p:nvSpPr>
          <p:cNvPr id="13" name="Text 11"/>
          <p:cNvSpPr/>
          <p:nvPr/>
        </p:nvSpPr>
        <p:spPr>
          <a:xfrm>
            <a:off x="987552" y="2532888"/>
            <a:ext cx="7772400" cy="384048"/>
          </a:xfrm>
          <a:prstGeom prst="rect">
            <a:avLst/>
          </a:prstGeom>
          <a:noFill/>
          <a:ln/>
        </p:spPr>
        <p:txBody>
          <a:bodyPr wrap="square" lIns="0" tIns="0" rIns="0" bIns="0" rtlCol="0" anchor="ctr"/>
          <a:lstStyle/>
          <a:p>
            <a:pPr indent="0" marL="0">
              <a:buNone/>
            </a:pPr>
            <a:r>
              <a:rPr lang="en-US" sz="1100" dirty="0">
                <a:solidFill>
                  <a:srgbClr val="605E5C"/>
                </a:solidFill>
                <a:latin typeface="Segoe UI" pitchFamily="34" charset="0"/>
                <a:ea typeface="Segoe UI" pitchFamily="34" charset="-122"/>
                <a:cs typeface="Segoe UI" pitchFamily="34" charset="-120"/>
              </a:rPr>
              <a:t>Environment, agents, custom builds, topics, cards, flows, publish, and licensing (Labs 00–12)</a:t>
            </a:r>
            <a:endParaRPr lang="en-US" sz="1100" dirty="0"/>
          </a:p>
        </p:txBody>
      </p:sp>
      <p:sp>
        <p:nvSpPr>
          <p:cNvPr id="14" name="Shape 12"/>
          <p:cNvSpPr/>
          <p:nvPr/>
        </p:nvSpPr>
        <p:spPr>
          <a:xfrm>
            <a:off x="548640" y="3118104"/>
            <a:ext cx="274320" cy="274320"/>
          </a:xfrm>
          <a:prstGeom prst="ellipse">
            <a:avLst/>
          </a:prstGeom>
          <a:solidFill>
            <a:srgbClr val="0078D4"/>
          </a:solidFill>
          <a:ln w="12700">
            <a:solidFill>
              <a:srgbClr val="0078D4"/>
            </a:solidFill>
            <a:prstDash val="solid"/>
          </a:ln>
        </p:spPr>
      </p:sp>
      <p:sp>
        <p:nvSpPr>
          <p:cNvPr id="15" name="Text 13"/>
          <p:cNvSpPr/>
          <p:nvPr/>
        </p:nvSpPr>
        <p:spPr>
          <a:xfrm>
            <a:off x="548640" y="311810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3</a:t>
            </a:r>
            <a:endParaRPr lang="en-US" sz="1000" dirty="0"/>
          </a:p>
        </p:txBody>
      </p:sp>
      <p:sp>
        <p:nvSpPr>
          <p:cNvPr id="16" name="Text 14"/>
          <p:cNvSpPr/>
          <p:nvPr/>
        </p:nvSpPr>
        <p:spPr>
          <a:xfrm>
            <a:off x="987552" y="3054096"/>
            <a:ext cx="7772400" cy="274320"/>
          </a:xfrm>
          <a:prstGeom prst="rect">
            <a:avLst/>
          </a:prstGeom>
          <a:noFill/>
          <a:ln/>
        </p:spPr>
        <p:txBody>
          <a:bodyPr wrap="square" lIns="0" tIns="0" rIns="0" bIns="0" rtlCol="0" anchor="ctr"/>
          <a:lstStyle/>
          <a:p>
            <a:pPr indent="0" marL="0">
              <a:buNone/>
            </a:pPr>
            <a:r>
              <a:rPr lang="en-US" sz="1300" b="1" dirty="0">
                <a:solidFill>
                  <a:srgbClr val="201F1E"/>
                </a:solidFill>
                <a:latin typeface="Segoe UI" pitchFamily="34" charset="0"/>
                <a:ea typeface="Segoe UI" pitchFamily="34" charset="-122"/>
                <a:cs typeface="Segoe UI" pitchFamily="34" charset="-120"/>
              </a:rPr>
              <a:t>Day 2 turns foundations into production</a:t>
            </a:r>
            <a:endParaRPr lang="en-US" sz="1300" dirty="0"/>
          </a:p>
        </p:txBody>
      </p:sp>
      <p:sp>
        <p:nvSpPr>
          <p:cNvPr id="17" name="Text 15"/>
          <p:cNvSpPr/>
          <p:nvPr/>
        </p:nvSpPr>
        <p:spPr>
          <a:xfrm>
            <a:off x="987552" y="3328416"/>
            <a:ext cx="7772400" cy="384048"/>
          </a:xfrm>
          <a:prstGeom prst="rect">
            <a:avLst/>
          </a:prstGeom>
          <a:noFill/>
          <a:ln/>
        </p:spPr>
        <p:txBody>
          <a:bodyPr wrap="square" lIns="0" tIns="0" rIns="0" bIns="0" rtlCol="0" anchor="ctr"/>
          <a:lstStyle/>
          <a:p>
            <a:pPr indent="0" marL="0">
              <a:buNone/>
            </a:pPr>
            <a:r>
              <a:rPr lang="en-US" sz="1100" dirty="0">
                <a:solidFill>
                  <a:srgbClr val="605E5C"/>
                </a:solidFill>
                <a:latin typeface="Segoe UI" pitchFamily="34" charset="0"/>
                <a:ea typeface="Segoe UI" pitchFamily="34" charset="-122"/>
                <a:cs typeface="Segoe UI" pitchFamily="34" charset="-120"/>
              </a:rPr>
              <a:t>Hiring Agent with multi-agent design, safety, data grounding, MCP, and evaluation (Labs 13–24)</a:t>
            </a:r>
            <a:endParaRPr lang="en-US" sz="1100" dirty="0"/>
          </a:p>
        </p:txBody>
      </p:sp>
      <p:sp>
        <p:nvSpPr>
          <p:cNvPr id="18" name="Shape 16"/>
          <p:cNvSpPr/>
          <p:nvPr/>
        </p:nvSpPr>
        <p:spPr>
          <a:xfrm>
            <a:off x="548640" y="3913632"/>
            <a:ext cx="274320" cy="274320"/>
          </a:xfrm>
          <a:prstGeom prst="ellipse">
            <a:avLst/>
          </a:prstGeom>
          <a:solidFill>
            <a:srgbClr val="0078D4"/>
          </a:solidFill>
          <a:ln w="12700">
            <a:solidFill>
              <a:srgbClr val="0078D4"/>
            </a:solidFill>
            <a:prstDash val="solid"/>
          </a:ln>
        </p:spPr>
      </p:sp>
      <p:sp>
        <p:nvSpPr>
          <p:cNvPr id="19" name="Text 17"/>
          <p:cNvSpPr/>
          <p:nvPr/>
        </p:nvSpPr>
        <p:spPr>
          <a:xfrm>
            <a:off x="548640" y="391363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4</a:t>
            </a:r>
            <a:endParaRPr lang="en-US" sz="1000" dirty="0"/>
          </a:p>
        </p:txBody>
      </p:sp>
      <p:sp>
        <p:nvSpPr>
          <p:cNvPr id="20" name="Text 18"/>
          <p:cNvSpPr/>
          <p:nvPr/>
        </p:nvSpPr>
        <p:spPr>
          <a:xfrm>
            <a:off x="987552" y="3849624"/>
            <a:ext cx="7772400" cy="274320"/>
          </a:xfrm>
          <a:prstGeom prst="rect">
            <a:avLst/>
          </a:prstGeom>
          <a:noFill/>
          <a:ln/>
        </p:spPr>
        <p:txBody>
          <a:bodyPr wrap="square" lIns="0" tIns="0" rIns="0" bIns="0" rtlCol="0" anchor="ctr"/>
          <a:lstStyle/>
          <a:p>
            <a:pPr indent="0" marL="0">
              <a:buNone/>
            </a:pPr>
            <a:r>
              <a:rPr lang="en-US" sz="1300" b="1" dirty="0">
                <a:solidFill>
                  <a:srgbClr val="201F1E"/>
                </a:solidFill>
                <a:latin typeface="Segoe UI" pitchFamily="34" charset="0"/>
                <a:ea typeface="Segoe UI" pitchFamily="34" charset="-122"/>
                <a:cs typeface="Segoe UI" pitchFamily="34" charset="-120"/>
              </a:rPr>
              <a:t>Success is a production-ready direction</a:t>
            </a:r>
            <a:endParaRPr lang="en-US" sz="1300" dirty="0"/>
          </a:p>
        </p:txBody>
      </p:sp>
      <p:sp>
        <p:nvSpPr>
          <p:cNvPr id="21" name="Text 19"/>
          <p:cNvSpPr/>
          <p:nvPr/>
        </p:nvSpPr>
        <p:spPr>
          <a:xfrm>
            <a:off x="987552" y="4123944"/>
            <a:ext cx="7772400" cy="384048"/>
          </a:xfrm>
          <a:prstGeom prst="rect">
            <a:avLst/>
          </a:prstGeom>
          <a:noFill/>
          <a:ln/>
        </p:spPr>
        <p:txBody>
          <a:bodyPr wrap="square" lIns="0" tIns="0" rIns="0" bIns="0" rtlCol="0" anchor="ctr"/>
          <a:lstStyle/>
          <a:p>
            <a:pPr indent="0" marL="0">
              <a:buNone/>
            </a:pPr>
            <a:r>
              <a:rPr lang="en-US" sz="1100" dirty="0">
                <a:solidFill>
                  <a:srgbClr val="605E5C"/>
                </a:solidFill>
                <a:latin typeface="Segoe UI" pitchFamily="34" charset="0"/>
                <a:ea typeface="Segoe UI" pitchFamily="34" charset="-122"/>
                <a:cs typeface="Segoe UI" pitchFamily="34" charset="-120"/>
              </a:rPr>
              <a:t>Build, test, evaluate, and explain an agent your team can actually own and support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2F1"/>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78D4"/>
          </a:solidFill>
          <a:ln w="12700">
            <a:solidFill>
              <a:srgbClr val="0078D4"/>
            </a:solidFill>
            <a:prstDash val="solid"/>
          </a:ln>
        </p:spPr>
      </p:sp>
      <p:sp>
        <p:nvSpPr>
          <p:cNvPr id="3" name="Text 1"/>
          <p:cNvSpPr/>
          <p:nvPr/>
        </p:nvSpPr>
        <p:spPr>
          <a:xfrm>
            <a:off x="365760" y="0"/>
            <a:ext cx="8412480" cy="640080"/>
          </a:xfrm>
          <a:prstGeom prst="rect">
            <a:avLst/>
          </a:prstGeom>
          <a:noFill/>
          <a:ln/>
        </p:spPr>
        <p:txBody>
          <a:bodyPr wrap="square" rtlCol="0" anchor="ctr"/>
          <a:lstStyle/>
          <a:p>
            <a:pPr indent="0" marL="0">
              <a:buNone/>
            </a:pPr>
            <a:r>
              <a:rPr lang="en-US" sz="900" spc="200" kern="0" dirty="0">
                <a:solidFill>
                  <a:srgbClr val="C5D8F0"/>
                </a:solidFill>
                <a:latin typeface="Segoe UI" pitchFamily="34" charset="0"/>
                <a:ea typeface="Segoe UI" pitchFamily="34" charset="-122"/>
                <a:cs typeface="Segoe UI" pitchFamily="34" charset="-120"/>
              </a:rPr>
              <a:t>MODULE 00  ·  WORKSHOP FRAMING</a:t>
            </a:r>
            <a:endParaRPr lang="en-US" sz="900" dirty="0"/>
          </a:p>
        </p:txBody>
      </p:sp>
      <p:sp>
        <p:nvSpPr>
          <p:cNvPr id="4" name="Text 2"/>
          <p:cNvSpPr/>
          <p:nvPr/>
        </p:nvSpPr>
        <p:spPr>
          <a:xfrm>
            <a:off x="365760" y="749808"/>
            <a:ext cx="8412480" cy="548640"/>
          </a:xfrm>
          <a:prstGeom prst="rect">
            <a:avLst/>
          </a:prstGeom>
          <a:noFill/>
          <a:ln/>
        </p:spPr>
        <p:txBody>
          <a:bodyPr wrap="square" rtlCol="0" anchor="ctr"/>
          <a:lstStyle/>
          <a:p>
            <a:pPr indent="0" marL="0">
              <a:buNone/>
            </a:pPr>
            <a:r>
              <a:rPr lang="en-US" sz="2800" b="1" dirty="0">
                <a:solidFill>
                  <a:srgbClr val="201F1E"/>
                </a:solidFill>
                <a:latin typeface="Segoe UI" pitchFamily="34" charset="0"/>
                <a:ea typeface="Segoe UI" pitchFamily="34" charset="-122"/>
                <a:cs typeface="Segoe UI" pitchFamily="34" charset="-120"/>
              </a:rPr>
              <a:t>Two-Day Learning Journey</a:t>
            </a:r>
            <a:endParaRPr lang="en-US" sz="2800" dirty="0"/>
          </a:p>
        </p:txBody>
      </p:sp>
      <p:sp>
        <p:nvSpPr>
          <p:cNvPr id="5" name="Text 3"/>
          <p:cNvSpPr/>
          <p:nvPr/>
        </p:nvSpPr>
        <p:spPr>
          <a:xfrm>
            <a:off x="365760" y="1325880"/>
            <a:ext cx="8229600" cy="320040"/>
          </a:xfrm>
          <a:prstGeom prst="rect">
            <a:avLst/>
          </a:prstGeom>
          <a:noFill/>
          <a:ln/>
        </p:spPr>
        <p:txBody>
          <a:bodyPr wrap="square" rtlCol="0" anchor="ctr"/>
          <a:lstStyle/>
          <a:p>
            <a:pPr indent="0" marL="0">
              <a:buNone/>
            </a:pPr>
            <a:r>
              <a:rPr lang="en-US" sz="1200" dirty="0">
                <a:solidFill>
                  <a:srgbClr val="605E5C"/>
                </a:solidFill>
                <a:latin typeface="Segoe UI" pitchFamily="34" charset="0"/>
                <a:ea typeface="Segoe UI" pitchFamily="34" charset="-122"/>
                <a:cs typeface="Segoe UI" pitchFamily="34" charset="-120"/>
              </a:rPr>
              <a:t>Every lab is a reusable delivery pattern — not a one-off classroom demo.</a:t>
            </a:r>
            <a:endParaRPr lang="en-US" sz="1200" dirty="0"/>
          </a:p>
        </p:txBody>
      </p:sp>
      <p:sp>
        <p:nvSpPr>
          <p:cNvPr id="6" name="Shape 4"/>
          <p:cNvSpPr/>
          <p:nvPr/>
        </p:nvSpPr>
        <p:spPr>
          <a:xfrm>
            <a:off x="228600" y="1737360"/>
            <a:ext cx="4270248" cy="3246120"/>
          </a:xfrm>
          <a:prstGeom prst="rect">
            <a:avLst/>
          </a:prstGeom>
          <a:solidFill>
            <a:srgbClr val="FFFFFF"/>
          </a:solidFill>
          <a:ln w="12700">
            <a:solidFill>
              <a:srgbClr val="E1DFDD"/>
            </a:solidFill>
            <a:prstDash val="solid"/>
          </a:ln>
          <a:effectLst>
            <a:outerShdw sx="100000" sy="100000" kx="0" ky="0" algn="bl" rotWithShape="0" blurRad="101600" dist="25400" dir="8100000">
              <a:srgbClr val="000000">
                <a:alpha val="10000"/>
              </a:srgbClr>
            </a:outerShdw>
          </a:effectLst>
        </p:spPr>
      </p:sp>
      <p:sp>
        <p:nvSpPr>
          <p:cNvPr id="7" name="Shape 5"/>
          <p:cNvSpPr/>
          <p:nvPr/>
        </p:nvSpPr>
        <p:spPr>
          <a:xfrm>
            <a:off x="228600" y="1737360"/>
            <a:ext cx="4270248" cy="438912"/>
          </a:xfrm>
          <a:prstGeom prst="rect">
            <a:avLst/>
          </a:prstGeom>
          <a:solidFill>
            <a:srgbClr val="0078D4"/>
          </a:solidFill>
          <a:ln w="12700">
            <a:solidFill>
              <a:srgbClr val="0078D4"/>
            </a:solidFill>
            <a:prstDash val="solid"/>
          </a:ln>
        </p:spPr>
      </p:sp>
      <p:sp>
        <p:nvSpPr>
          <p:cNvPr id="8" name="Text 6"/>
          <p:cNvSpPr/>
          <p:nvPr/>
        </p:nvSpPr>
        <p:spPr>
          <a:xfrm>
            <a:off x="320040" y="1737360"/>
            <a:ext cx="4133088" cy="438912"/>
          </a:xfrm>
          <a:prstGeom prst="rect">
            <a:avLst/>
          </a:prstGeom>
          <a:noFill/>
          <a:ln/>
        </p:spPr>
        <p:txBody>
          <a:bodyPr wrap="square" rtlCol="0" anchor="ctr"/>
          <a:lstStyle/>
          <a:p>
            <a:pPr indent="0" marL="0">
              <a:buNone/>
            </a:pPr>
            <a:r>
              <a:rPr lang="en-US" sz="1300" b="1" dirty="0">
                <a:solidFill>
                  <a:srgbClr val="FFFFFF"/>
                </a:solidFill>
                <a:latin typeface="Segoe UI" pitchFamily="34" charset="0"/>
                <a:ea typeface="Segoe UI" pitchFamily="34" charset="-122"/>
                <a:cs typeface="Segoe UI" pitchFamily="34" charset="-120"/>
              </a:rPr>
              <a:t>Day 1 — Recruit Track</a:t>
            </a:r>
            <a:endParaRPr lang="en-US" sz="1300" dirty="0"/>
          </a:p>
        </p:txBody>
      </p:sp>
      <p:sp>
        <p:nvSpPr>
          <p:cNvPr id="9" name="Text 7"/>
          <p:cNvSpPr/>
          <p:nvPr/>
        </p:nvSpPr>
        <p:spPr>
          <a:xfrm>
            <a:off x="320040" y="2221992"/>
            <a:ext cx="4133088" cy="256032"/>
          </a:xfrm>
          <a:prstGeom prst="rect">
            <a:avLst/>
          </a:prstGeom>
          <a:noFill/>
          <a:ln/>
        </p:spPr>
        <p:txBody>
          <a:bodyPr wrap="square" rtlCol="0" anchor="ctr"/>
          <a:lstStyle/>
          <a:p>
            <a:pPr indent="0" marL="0">
              <a:buNone/>
            </a:pPr>
            <a:r>
              <a:rPr lang="en-US" sz="1000" b="1" dirty="0">
                <a:solidFill>
                  <a:srgbClr val="0078D4"/>
                </a:solidFill>
                <a:latin typeface="Segoe UI" pitchFamily="34" charset="0"/>
                <a:ea typeface="Segoe UI" pitchFamily="34" charset="-122"/>
                <a:cs typeface="Segoe UI" pitchFamily="34" charset="-120"/>
              </a:rPr>
              <a:t>Labs 00–12 · Foundations</a:t>
            </a:r>
            <a:endParaRPr lang="en-US" sz="1000" dirty="0"/>
          </a:p>
        </p:txBody>
      </p:sp>
      <p:sp>
        <p:nvSpPr>
          <p:cNvPr id="10" name="Text 8"/>
          <p:cNvSpPr/>
          <p:nvPr/>
        </p:nvSpPr>
        <p:spPr>
          <a:xfrm>
            <a:off x="338328" y="2514600"/>
            <a:ext cx="4105656" cy="2377440"/>
          </a:xfrm>
          <a:prstGeom prst="rect">
            <a:avLst/>
          </a:prstGeom>
          <a:noFill/>
          <a:ln/>
        </p:spPr>
        <p:txBody>
          <a:bodyPr wrap="square" rtlCol="0" anchor="ctr"/>
          <a:lstStyle/>
          <a:p>
            <a:pPr marL="342900" indent="-342900">
              <a:buSzPct val="100000"/>
              <a:buChar char="•"/>
            </a:pPr>
            <a:r>
              <a:rPr lang="en-US" sz="950" dirty="0">
                <a:solidFill>
                  <a:srgbClr val="201F1E"/>
                </a:solidFill>
                <a:latin typeface="Segoe UI" pitchFamily="34" charset="0"/>
                <a:ea typeface="Segoe UI" pitchFamily="34" charset="-122"/>
                <a:cs typeface="Segoe UI" pitchFamily="34" charset="-120"/>
              </a:rPr>
              <a:t>Environment setup and UI orientation (Labs 00–01)</a:t>
            </a:r>
            <a:endParaRPr lang="en-US" sz="950" dirty="0"/>
          </a:p>
          <a:p>
            <a:pPr marL="342900" indent="-342900">
              <a:buSzPct val="100000"/>
              <a:buChar char="•"/>
            </a:pPr>
            <a:r>
              <a:rPr lang="en-US" sz="950" dirty="0">
                <a:solidFill>
                  <a:srgbClr val="201F1E"/>
                </a:solidFill>
                <a:latin typeface="Segoe UI" pitchFamily="34" charset="0"/>
                <a:ea typeface="Segoe UI" pitchFamily="34" charset="-122"/>
                <a:cs typeface="Segoe UI" pitchFamily="34" charset="-120"/>
              </a:rPr>
              <a:t>Copilot Studio fundamentals and Activity page (Lab 02)</a:t>
            </a:r>
            <a:endParaRPr lang="en-US" sz="950" dirty="0"/>
          </a:p>
          <a:p>
            <a:pPr marL="342900" indent="-342900">
              <a:buSzPct val="100000"/>
              <a:buChar char="•"/>
            </a:pPr>
            <a:r>
              <a:rPr lang="en-US" sz="950" dirty="0">
                <a:solidFill>
                  <a:srgbClr val="201F1E"/>
                </a:solidFill>
                <a:latin typeface="Segoe UI" pitchFamily="34" charset="0"/>
                <a:ea typeface="Segoe UI" pitchFamily="34" charset="-122"/>
                <a:cs typeface="Segoe UI" pitchFamily="34" charset="-120"/>
              </a:rPr>
              <a:t>Declarative agents and solution packaging (Labs 03–04)</a:t>
            </a:r>
            <a:endParaRPr lang="en-US" sz="950" dirty="0"/>
          </a:p>
          <a:p>
            <a:pPr marL="342900" indent="-342900">
              <a:buSzPct val="100000"/>
              <a:buChar char="•"/>
            </a:pPr>
            <a:r>
              <a:rPr lang="en-US" sz="950" dirty="0">
                <a:solidFill>
                  <a:srgbClr val="201F1E"/>
                </a:solidFill>
                <a:latin typeface="Segoe UI" pitchFamily="34" charset="0"/>
                <a:ea typeface="Segoe UI" pitchFamily="34" charset="-122"/>
                <a:cs typeface="Segoe UI" pitchFamily="34" charset="-120"/>
              </a:rPr>
              <a:t>Custom agent build with grounding strategy (Lab 06)</a:t>
            </a:r>
            <a:endParaRPr lang="en-US" sz="950" dirty="0"/>
          </a:p>
          <a:p>
            <a:pPr marL="342900" indent="-342900">
              <a:buSzPct val="100000"/>
              <a:buChar char="•"/>
            </a:pPr>
            <a:r>
              <a:rPr lang="en-US" sz="950" dirty="0">
                <a:solidFill>
                  <a:srgbClr val="201F1E"/>
                </a:solidFill>
                <a:latin typeface="Segoe UI" pitchFamily="34" charset="0"/>
                <a:ea typeface="Segoe UI" pitchFamily="34" charset="-122"/>
                <a:cs typeface="Segoe UI" pitchFamily="34" charset="-120"/>
              </a:rPr>
              <a:t>Topics, Adaptive Cards, flows, and event triggers (Labs 07–10)</a:t>
            </a:r>
            <a:endParaRPr lang="en-US" sz="950" dirty="0"/>
          </a:p>
          <a:p>
            <a:pPr marL="342900" indent="-342900">
              <a:buSzPct val="100000"/>
              <a:buChar char="•"/>
            </a:pPr>
            <a:r>
              <a:rPr lang="en-US" sz="950" dirty="0">
                <a:solidFill>
                  <a:srgbClr val="201F1E"/>
                </a:solidFill>
                <a:latin typeface="Segoe UI" pitchFamily="34" charset="0"/>
                <a:ea typeface="Segoe UI" pitchFamily="34" charset="-122"/>
                <a:cs typeface="Segoe UI" pitchFamily="34" charset="-120"/>
              </a:rPr>
              <a:t>Publish readiness, licensing, and ROI analytics (Labs 11–12)</a:t>
            </a:r>
            <a:endParaRPr lang="en-US" sz="950" dirty="0"/>
          </a:p>
        </p:txBody>
      </p:sp>
      <p:sp>
        <p:nvSpPr>
          <p:cNvPr id="11" name="Shape 9"/>
          <p:cNvSpPr/>
          <p:nvPr/>
        </p:nvSpPr>
        <p:spPr>
          <a:xfrm>
            <a:off x="4645152" y="1737360"/>
            <a:ext cx="4270248" cy="3246120"/>
          </a:xfrm>
          <a:prstGeom prst="rect">
            <a:avLst/>
          </a:prstGeom>
          <a:solidFill>
            <a:srgbClr val="FFFFFF"/>
          </a:solidFill>
          <a:ln w="12700">
            <a:solidFill>
              <a:srgbClr val="E1DFDD"/>
            </a:solidFill>
            <a:prstDash val="solid"/>
          </a:ln>
          <a:effectLst>
            <a:outerShdw sx="100000" sy="100000" kx="0" ky="0" algn="bl" rotWithShape="0" blurRad="101600" dist="25400" dir="8100000">
              <a:srgbClr val="000000">
                <a:alpha val="10000"/>
              </a:srgbClr>
            </a:outerShdw>
          </a:effectLst>
        </p:spPr>
      </p:sp>
      <p:sp>
        <p:nvSpPr>
          <p:cNvPr id="12" name="Shape 10"/>
          <p:cNvSpPr/>
          <p:nvPr/>
        </p:nvSpPr>
        <p:spPr>
          <a:xfrm>
            <a:off x="4645152" y="1737360"/>
            <a:ext cx="4270248" cy="438912"/>
          </a:xfrm>
          <a:prstGeom prst="rect">
            <a:avLst/>
          </a:prstGeom>
          <a:solidFill>
            <a:srgbClr val="243A5E"/>
          </a:solidFill>
          <a:ln w="12700">
            <a:solidFill>
              <a:srgbClr val="243A5E"/>
            </a:solidFill>
            <a:prstDash val="solid"/>
          </a:ln>
        </p:spPr>
      </p:sp>
      <p:sp>
        <p:nvSpPr>
          <p:cNvPr id="13" name="Text 11"/>
          <p:cNvSpPr/>
          <p:nvPr/>
        </p:nvSpPr>
        <p:spPr>
          <a:xfrm>
            <a:off x="4736592" y="1737360"/>
            <a:ext cx="4133088" cy="438912"/>
          </a:xfrm>
          <a:prstGeom prst="rect">
            <a:avLst/>
          </a:prstGeom>
          <a:noFill/>
          <a:ln/>
        </p:spPr>
        <p:txBody>
          <a:bodyPr wrap="square" rtlCol="0" anchor="ctr"/>
          <a:lstStyle/>
          <a:p>
            <a:pPr indent="0" marL="0">
              <a:buNone/>
            </a:pPr>
            <a:r>
              <a:rPr lang="en-US" sz="1300" b="1" dirty="0">
                <a:solidFill>
                  <a:srgbClr val="FFFFFF"/>
                </a:solidFill>
                <a:latin typeface="Segoe UI" pitchFamily="34" charset="0"/>
                <a:ea typeface="Segoe UI" pitchFamily="34" charset="-122"/>
                <a:cs typeface="Segoe UI" pitchFamily="34" charset="-120"/>
              </a:rPr>
              <a:t>Day 2 — Operative Track</a:t>
            </a:r>
            <a:endParaRPr lang="en-US" sz="1300" dirty="0"/>
          </a:p>
        </p:txBody>
      </p:sp>
      <p:sp>
        <p:nvSpPr>
          <p:cNvPr id="14" name="Text 12"/>
          <p:cNvSpPr/>
          <p:nvPr/>
        </p:nvSpPr>
        <p:spPr>
          <a:xfrm>
            <a:off x="4736592" y="2221992"/>
            <a:ext cx="4133088" cy="256032"/>
          </a:xfrm>
          <a:prstGeom prst="rect">
            <a:avLst/>
          </a:prstGeom>
          <a:noFill/>
          <a:ln/>
        </p:spPr>
        <p:txBody>
          <a:bodyPr wrap="square" rtlCol="0" anchor="ctr"/>
          <a:lstStyle/>
          <a:p>
            <a:pPr indent="0" marL="0">
              <a:buNone/>
            </a:pPr>
            <a:r>
              <a:rPr lang="en-US" sz="1000" b="1" dirty="0">
                <a:solidFill>
                  <a:srgbClr val="243A5E"/>
                </a:solidFill>
                <a:latin typeface="Segoe UI" pitchFamily="34" charset="0"/>
                <a:ea typeface="Segoe UI" pitchFamily="34" charset="-122"/>
                <a:cs typeface="Segoe UI" pitchFamily="34" charset="-120"/>
              </a:rPr>
              <a:t>Labs 13–24 · Enterprise · Lab 25 Optional</a:t>
            </a:r>
            <a:endParaRPr lang="en-US" sz="1000" dirty="0"/>
          </a:p>
        </p:txBody>
      </p:sp>
      <p:sp>
        <p:nvSpPr>
          <p:cNvPr id="15" name="Text 13"/>
          <p:cNvSpPr/>
          <p:nvPr/>
        </p:nvSpPr>
        <p:spPr>
          <a:xfrm>
            <a:off x="4754880" y="2514600"/>
            <a:ext cx="4105656" cy="2377440"/>
          </a:xfrm>
          <a:prstGeom prst="rect">
            <a:avLst/>
          </a:prstGeom>
          <a:noFill/>
          <a:ln/>
        </p:spPr>
        <p:txBody>
          <a:bodyPr wrap="square" rtlCol="0" anchor="ctr"/>
          <a:lstStyle/>
          <a:p>
            <a:pPr marL="342900" indent="-342900">
              <a:buSzPct val="100000"/>
              <a:buChar char="•"/>
            </a:pPr>
            <a:r>
              <a:rPr lang="en-US" sz="950" dirty="0">
                <a:solidFill>
                  <a:srgbClr val="201F1E"/>
                </a:solidFill>
                <a:latin typeface="Segoe UI" pitchFamily="34" charset="0"/>
                <a:ea typeface="Segoe UI" pitchFamily="34" charset="-122"/>
                <a:cs typeface="Segoe UI" pitchFamily="34" charset="-120"/>
              </a:rPr>
              <a:t>Hiring Agent setup and multi-agent design (Labs 13–15)</a:t>
            </a:r>
            <a:endParaRPr lang="en-US" sz="950" dirty="0"/>
          </a:p>
          <a:p>
            <a:pPr marL="342900" indent="-342900">
              <a:buSzPct val="100000"/>
              <a:buChar char="•"/>
            </a:pPr>
            <a:r>
              <a:rPr lang="en-US" sz="950" dirty="0">
                <a:solidFill>
                  <a:srgbClr val="201F1E"/>
                </a:solidFill>
                <a:latin typeface="Segoe UI" pitchFamily="34" charset="0"/>
                <a:ea typeface="Segoe UI" pitchFamily="34" charset="-122"/>
                <a:cs typeface="Segoe UI" pitchFamily="34" charset="-120"/>
              </a:rPr>
              <a:t>Trigger automation and model selection (Labs 16–17)</a:t>
            </a:r>
            <a:endParaRPr lang="en-US" sz="950" dirty="0"/>
          </a:p>
          <a:p>
            <a:pPr marL="342900" indent="-342900">
              <a:buSzPct val="100000"/>
              <a:buChar char="•"/>
            </a:pPr>
            <a:r>
              <a:rPr lang="en-US" sz="950" dirty="0">
                <a:solidFill>
                  <a:srgbClr val="201F1E"/>
                </a:solidFill>
                <a:latin typeface="Segoe UI" pitchFamily="34" charset="0"/>
                <a:ea typeface="Segoe UI" pitchFamily="34" charset="-122"/>
                <a:cs typeface="Segoe UI" pitchFamily="34" charset="-120"/>
              </a:rPr>
              <a:t>Content moderation and safety controls (Lab 18)</a:t>
            </a:r>
            <a:endParaRPr lang="en-US" sz="950" dirty="0"/>
          </a:p>
          <a:p>
            <a:pPr marL="342900" indent="-342900">
              <a:buSzPct val="100000"/>
              <a:buChar char="•"/>
            </a:pPr>
            <a:r>
              <a:rPr lang="en-US" sz="950" dirty="0">
                <a:solidFill>
                  <a:srgbClr val="201F1E"/>
                </a:solidFill>
                <a:latin typeface="Segoe UI" pitchFamily="34" charset="0"/>
                <a:ea typeface="Segoe UI" pitchFamily="34" charset="-122"/>
                <a:cs typeface="Segoe UI" pitchFamily="34" charset="-120"/>
              </a:rPr>
              <a:t>Multimodal prompts and Dataverse grounding (Labs 19–20)</a:t>
            </a:r>
            <a:endParaRPr lang="en-US" sz="950" dirty="0"/>
          </a:p>
          <a:p>
            <a:pPr marL="342900" indent="-342900">
              <a:buSzPct val="100000"/>
              <a:buChar char="•"/>
            </a:pPr>
            <a:r>
              <a:rPr lang="en-US" sz="950" dirty="0">
                <a:solidFill>
                  <a:srgbClr val="201F1E"/>
                </a:solidFill>
                <a:latin typeface="Segoe UI" pitchFamily="34" charset="0"/>
                <a:ea typeface="Segoe UI" pitchFamily="34" charset="-122"/>
                <a:cs typeface="Segoe UI" pitchFamily="34" charset="-120"/>
              </a:rPr>
              <a:t>Document generation and MCP integration (Labs 21–22)</a:t>
            </a:r>
            <a:endParaRPr lang="en-US" sz="950" dirty="0"/>
          </a:p>
          <a:p>
            <a:pPr marL="342900" indent="-342900">
              <a:buSzPct val="100000"/>
              <a:buChar char="•"/>
            </a:pPr>
            <a:r>
              <a:rPr lang="en-US" sz="950" dirty="0">
                <a:solidFill>
                  <a:srgbClr val="201F1E"/>
                </a:solidFill>
                <a:latin typeface="Segoe UI" pitchFamily="34" charset="0"/>
                <a:ea typeface="Segoe UI" pitchFamily="34" charset="-122"/>
                <a:cs typeface="Segoe UI" pitchFamily="34" charset="-120"/>
              </a:rPr>
              <a:t>User feedback, agent evaluation, and ROI close (Labs 23–24)</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78D4"/>
          </a:solidFill>
          <a:ln w="12700">
            <a:solidFill>
              <a:srgbClr val="0078D4"/>
            </a:solidFill>
            <a:prstDash val="solid"/>
          </a:ln>
        </p:spPr>
      </p:sp>
      <p:sp>
        <p:nvSpPr>
          <p:cNvPr id="3" name="Text 1"/>
          <p:cNvSpPr/>
          <p:nvPr/>
        </p:nvSpPr>
        <p:spPr>
          <a:xfrm>
            <a:off x="365760" y="0"/>
            <a:ext cx="8412480" cy="640080"/>
          </a:xfrm>
          <a:prstGeom prst="rect">
            <a:avLst/>
          </a:prstGeom>
          <a:noFill/>
          <a:ln/>
        </p:spPr>
        <p:txBody>
          <a:bodyPr wrap="square" rtlCol="0" anchor="ctr"/>
          <a:lstStyle/>
          <a:p>
            <a:pPr indent="0" marL="0">
              <a:buNone/>
            </a:pPr>
            <a:r>
              <a:rPr lang="en-US" sz="900" spc="200" kern="0" dirty="0">
                <a:solidFill>
                  <a:srgbClr val="C5D8F0"/>
                </a:solidFill>
                <a:latin typeface="Segoe UI" pitchFamily="34" charset="0"/>
                <a:ea typeface="Segoe UI" pitchFamily="34" charset="-122"/>
                <a:cs typeface="Segoe UI" pitchFamily="34" charset="-120"/>
              </a:rPr>
              <a:t>MODULE 00  ·  WORKSHOP FRAMING</a:t>
            </a:r>
            <a:endParaRPr lang="en-US" sz="900" dirty="0"/>
          </a:p>
        </p:txBody>
      </p:sp>
      <p:sp>
        <p:nvSpPr>
          <p:cNvPr id="4" name="Text 2"/>
          <p:cNvSpPr/>
          <p:nvPr/>
        </p:nvSpPr>
        <p:spPr>
          <a:xfrm>
            <a:off x="365760" y="749808"/>
            <a:ext cx="8412480" cy="548640"/>
          </a:xfrm>
          <a:prstGeom prst="rect">
            <a:avLst/>
          </a:prstGeom>
          <a:noFill/>
          <a:ln/>
        </p:spPr>
        <p:txBody>
          <a:bodyPr wrap="square" rtlCol="0" anchor="ctr"/>
          <a:lstStyle/>
          <a:p>
            <a:pPr indent="0" marL="0">
              <a:buNone/>
            </a:pPr>
            <a:r>
              <a:rPr lang="en-US" sz="2800" b="1" dirty="0">
                <a:solidFill>
                  <a:srgbClr val="201F1E"/>
                </a:solidFill>
                <a:latin typeface="Segoe UI" pitchFamily="34" charset="0"/>
                <a:ea typeface="Segoe UI" pitchFamily="34" charset="-122"/>
                <a:cs typeface="Segoe UI" pitchFamily="34" charset="-120"/>
              </a:rPr>
              <a:t>One Workshop, Three Lenses</a:t>
            </a:r>
            <a:endParaRPr lang="en-US" sz="2800" dirty="0"/>
          </a:p>
        </p:txBody>
      </p:sp>
      <p:sp>
        <p:nvSpPr>
          <p:cNvPr id="5" name="Text 3"/>
          <p:cNvSpPr/>
          <p:nvPr/>
        </p:nvSpPr>
        <p:spPr>
          <a:xfrm>
            <a:off x="365760" y="1344168"/>
            <a:ext cx="8229600" cy="320040"/>
          </a:xfrm>
          <a:prstGeom prst="rect">
            <a:avLst/>
          </a:prstGeom>
          <a:noFill/>
          <a:ln/>
        </p:spPr>
        <p:txBody>
          <a:bodyPr wrap="square" rtlCol="0" anchor="ctr"/>
          <a:lstStyle/>
          <a:p>
            <a:pPr indent="0" marL="0">
              <a:buNone/>
            </a:pPr>
            <a:r>
              <a:rPr lang="en-US" sz="1200" dirty="0">
                <a:solidFill>
                  <a:srgbClr val="605E5C"/>
                </a:solidFill>
                <a:latin typeface="Segoe UI" pitchFamily="34" charset="0"/>
                <a:ea typeface="Segoe UI" pitchFamily="34" charset="-122"/>
                <a:cs typeface="Segoe UI" pitchFamily="34" charset="-120"/>
              </a:rPr>
              <a:t>Every role sees different risks and opportunities — that diversity is a strength.</a:t>
            </a:r>
            <a:endParaRPr lang="en-US" sz="1200" dirty="0"/>
          </a:p>
        </p:txBody>
      </p:sp>
      <p:sp>
        <p:nvSpPr>
          <p:cNvPr id="6" name="Shape 4"/>
          <p:cNvSpPr/>
          <p:nvPr/>
        </p:nvSpPr>
        <p:spPr>
          <a:xfrm>
            <a:off x="256032" y="1810512"/>
            <a:ext cx="2834640" cy="3063240"/>
          </a:xfrm>
          <a:prstGeom prst="rect">
            <a:avLst/>
          </a:prstGeom>
          <a:solidFill>
            <a:srgbClr val="F3F2F1"/>
          </a:solidFill>
          <a:ln w="12700">
            <a:solidFill>
              <a:srgbClr val="E1DFDD"/>
            </a:solidFill>
            <a:prstDash val="solid"/>
          </a:ln>
          <a:effectLst>
            <a:outerShdw sx="100000" sy="100000" kx="0" ky="0" algn="bl" rotWithShape="0" blurRad="101600" dist="25400" dir="8100000">
              <a:srgbClr val="000000">
                <a:alpha val="10000"/>
              </a:srgbClr>
            </a:outerShdw>
          </a:effectLst>
        </p:spPr>
      </p:sp>
      <p:sp>
        <p:nvSpPr>
          <p:cNvPr id="7" name="Shape 5"/>
          <p:cNvSpPr/>
          <p:nvPr/>
        </p:nvSpPr>
        <p:spPr>
          <a:xfrm>
            <a:off x="256032" y="1810512"/>
            <a:ext cx="2834640" cy="475488"/>
          </a:xfrm>
          <a:prstGeom prst="rect">
            <a:avLst/>
          </a:prstGeom>
          <a:solidFill>
            <a:srgbClr val="0078D4"/>
          </a:solidFill>
          <a:ln w="12700">
            <a:solidFill>
              <a:srgbClr val="0078D4"/>
            </a:solidFill>
            <a:prstDash val="solid"/>
          </a:ln>
        </p:spPr>
      </p:sp>
      <p:sp>
        <p:nvSpPr>
          <p:cNvPr id="8" name="Text 6"/>
          <p:cNvSpPr/>
          <p:nvPr/>
        </p:nvSpPr>
        <p:spPr>
          <a:xfrm>
            <a:off x="256032" y="1810512"/>
            <a:ext cx="2834640" cy="475488"/>
          </a:xfrm>
          <a:prstGeom prst="rect">
            <a:avLst/>
          </a:prstGeom>
          <a:noFill/>
          <a:ln/>
        </p:spPr>
        <p:txBody>
          <a:bodyPr wrap="square" rtlCol="0" anchor="ctr"/>
          <a:lstStyle/>
          <a:p>
            <a:pPr algn="ctr" indent="0" marL="0">
              <a:buNone/>
            </a:pPr>
            <a:r>
              <a:rPr lang="en-US" sz="1600" b="1" dirty="0">
                <a:solidFill>
                  <a:srgbClr val="FFFFFF"/>
                </a:solidFill>
                <a:latin typeface="Segoe UI" pitchFamily="34" charset="0"/>
                <a:ea typeface="Segoe UI" pitchFamily="34" charset="-122"/>
                <a:cs typeface="Segoe UI" pitchFamily="34" charset="-120"/>
              </a:rPr>
              <a:t>Maker</a:t>
            </a:r>
            <a:endParaRPr lang="en-US" sz="1600" dirty="0"/>
          </a:p>
        </p:txBody>
      </p:sp>
      <p:sp>
        <p:nvSpPr>
          <p:cNvPr id="9" name="Text 7"/>
          <p:cNvSpPr/>
          <p:nvPr/>
        </p:nvSpPr>
        <p:spPr>
          <a:xfrm>
            <a:off x="365760" y="2359152"/>
            <a:ext cx="2651760" cy="274320"/>
          </a:xfrm>
          <a:prstGeom prst="rect">
            <a:avLst/>
          </a:prstGeom>
          <a:noFill/>
          <a:ln/>
        </p:spPr>
        <p:txBody>
          <a:bodyPr wrap="square" rtlCol="0" anchor="ctr"/>
          <a:lstStyle/>
          <a:p>
            <a:pPr indent="0" marL="0">
              <a:buNone/>
            </a:pPr>
            <a:r>
              <a:rPr lang="en-US" sz="1000" b="1" dirty="0">
                <a:solidFill>
                  <a:srgbClr val="0078D4"/>
                </a:solidFill>
                <a:latin typeface="Segoe UI" pitchFamily="34" charset="0"/>
                <a:ea typeface="Segoe UI" pitchFamily="34" charset="-122"/>
                <a:cs typeface="Segoe UI" pitchFamily="34" charset="-120"/>
              </a:rPr>
              <a:t>Design &amp; Build</a:t>
            </a:r>
            <a:endParaRPr lang="en-US" sz="1000" dirty="0"/>
          </a:p>
        </p:txBody>
      </p:sp>
      <p:sp>
        <p:nvSpPr>
          <p:cNvPr id="10" name="Text 8"/>
          <p:cNvSpPr/>
          <p:nvPr/>
        </p:nvSpPr>
        <p:spPr>
          <a:xfrm>
            <a:off x="365760" y="2670048"/>
            <a:ext cx="2670048" cy="2011680"/>
          </a:xfrm>
          <a:prstGeom prst="rect">
            <a:avLst/>
          </a:prstGeom>
          <a:noFill/>
          <a:ln/>
        </p:spPr>
        <p:txBody>
          <a:bodyPr wrap="square" rtlCol="0" anchor="ctr"/>
          <a:lstStyle/>
          <a:p>
            <a:pPr marL="342900" indent="-342900">
              <a:buSzPct val="100000"/>
              <a:buChar char="•"/>
            </a:pPr>
            <a:r>
              <a:rPr lang="en-US" sz="1050" dirty="0">
                <a:solidFill>
                  <a:srgbClr val="201F1E"/>
                </a:solidFill>
                <a:latin typeface="Segoe UI" pitchFamily="34" charset="0"/>
                <a:ea typeface="Segoe UI" pitchFamily="34" charset="-122"/>
                <a:cs typeface="Segoe UI" pitchFamily="34" charset="-120"/>
              </a:rPr>
              <a:t>Design the conversation flow and agent purpose</a:t>
            </a:r>
            <a:endParaRPr lang="en-US" sz="1050" dirty="0"/>
          </a:p>
          <a:p>
            <a:pPr marL="342900" indent="-342900">
              <a:buSzPct val="100000"/>
              <a:buChar char="•"/>
            </a:pPr>
            <a:r>
              <a:rPr lang="en-US" sz="1050" dirty="0">
                <a:solidFill>
                  <a:srgbClr val="201F1E"/>
                </a:solidFill>
                <a:latin typeface="Segoe UI" pitchFamily="34" charset="0"/>
                <a:ea typeface="Segoe UI" pitchFamily="34" charset="-122"/>
                <a:cs typeface="Segoe UI" pitchFamily="34" charset="-120"/>
              </a:rPr>
              <a:t>Build prompts, knowledge sources, and instructions</a:t>
            </a:r>
            <a:endParaRPr lang="en-US" sz="1050" dirty="0"/>
          </a:p>
          <a:p>
            <a:pPr marL="342900" indent="-342900">
              <a:buSzPct val="100000"/>
              <a:buChar char="•"/>
            </a:pPr>
            <a:r>
              <a:rPr lang="en-US" sz="1050" dirty="0">
                <a:solidFill>
                  <a:srgbClr val="201F1E"/>
                </a:solidFill>
                <a:latin typeface="Segoe UI" pitchFamily="34" charset="0"/>
                <a:ea typeface="Segoe UI" pitchFamily="34" charset="-122"/>
                <a:cs typeface="Segoe UI" pitchFamily="34" charset="-120"/>
              </a:rPr>
              <a:t>Author topics, Adaptive Cards, and structured forms</a:t>
            </a:r>
            <a:endParaRPr lang="en-US" sz="1050" dirty="0"/>
          </a:p>
          <a:p>
            <a:pPr marL="342900" indent="-342900">
              <a:buSzPct val="100000"/>
              <a:buChar char="•"/>
            </a:pPr>
            <a:r>
              <a:rPr lang="en-US" sz="1050" dirty="0">
                <a:solidFill>
                  <a:srgbClr val="201F1E"/>
                </a:solidFill>
                <a:latin typeface="Segoe UI" pitchFamily="34" charset="0"/>
                <a:ea typeface="Segoe UI" pitchFamily="34" charset="-122"/>
                <a:cs typeface="Segoe UI" pitchFamily="34" charset="-120"/>
              </a:rPr>
              <a:t>Own the agent experience and test quality end-to-end</a:t>
            </a:r>
            <a:endParaRPr lang="en-US" sz="1050" dirty="0"/>
          </a:p>
        </p:txBody>
      </p:sp>
      <p:sp>
        <p:nvSpPr>
          <p:cNvPr id="11" name="Shape 9"/>
          <p:cNvSpPr/>
          <p:nvPr/>
        </p:nvSpPr>
        <p:spPr>
          <a:xfrm>
            <a:off x="3227832" y="1810512"/>
            <a:ext cx="2834640" cy="3063240"/>
          </a:xfrm>
          <a:prstGeom prst="rect">
            <a:avLst/>
          </a:prstGeom>
          <a:solidFill>
            <a:srgbClr val="F3F2F1"/>
          </a:solidFill>
          <a:ln w="12700">
            <a:solidFill>
              <a:srgbClr val="E1DFDD"/>
            </a:solidFill>
            <a:prstDash val="solid"/>
          </a:ln>
          <a:effectLst>
            <a:outerShdw sx="100000" sy="100000" kx="0" ky="0" algn="bl" rotWithShape="0" blurRad="101600" dist="25400" dir="8100000">
              <a:srgbClr val="000000">
                <a:alpha val="10000"/>
              </a:srgbClr>
            </a:outerShdw>
          </a:effectLst>
        </p:spPr>
      </p:sp>
      <p:sp>
        <p:nvSpPr>
          <p:cNvPr id="12" name="Shape 10"/>
          <p:cNvSpPr/>
          <p:nvPr/>
        </p:nvSpPr>
        <p:spPr>
          <a:xfrm>
            <a:off x="3227832" y="1810512"/>
            <a:ext cx="2834640" cy="475488"/>
          </a:xfrm>
          <a:prstGeom prst="rect">
            <a:avLst/>
          </a:prstGeom>
          <a:solidFill>
            <a:srgbClr val="5C2D91"/>
          </a:solidFill>
          <a:ln w="12700">
            <a:solidFill>
              <a:srgbClr val="5C2D91"/>
            </a:solidFill>
            <a:prstDash val="solid"/>
          </a:ln>
        </p:spPr>
      </p:sp>
      <p:sp>
        <p:nvSpPr>
          <p:cNvPr id="13" name="Text 11"/>
          <p:cNvSpPr/>
          <p:nvPr/>
        </p:nvSpPr>
        <p:spPr>
          <a:xfrm>
            <a:off x="3227832" y="1810512"/>
            <a:ext cx="2834640" cy="475488"/>
          </a:xfrm>
          <a:prstGeom prst="rect">
            <a:avLst/>
          </a:prstGeom>
          <a:noFill/>
          <a:ln/>
        </p:spPr>
        <p:txBody>
          <a:bodyPr wrap="square" rtlCol="0" anchor="ctr"/>
          <a:lstStyle/>
          <a:p>
            <a:pPr algn="ctr" indent="0" marL="0">
              <a:buNone/>
            </a:pPr>
            <a:r>
              <a:rPr lang="en-US" sz="1600" b="1" dirty="0">
                <a:solidFill>
                  <a:srgbClr val="FFFFFF"/>
                </a:solidFill>
                <a:latin typeface="Segoe UI" pitchFamily="34" charset="0"/>
                <a:ea typeface="Segoe UI" pitchFamily="34" charset="-122"/>
                <a:cs typeface="Segoe UI" pitchFamily="34" charset="-120"/>
              </a:rPr>
              <a:t>IT Pro</a:t>
            </a:r>
            <a:endParaRPr lang="en-US" sz="1600" dirty="0"/>
          </a:p>
        </p:txBody>
      </p:sp>
      <p:sp>
        <p:nvSpPr>
          <p:cNvPr id="14" name="Text 12"/>
          <p:cNvSpPr/>
          <p:nvPr/>
        </p:nvSpPr>
        <p:spPr>
          <a:xfrm>
            <a:off x="3337560" y="2359152"/>
            <a:ext cx="2651760" cy="274320"/>
          </a:xfrm>
          <a:prstGeom prst="rect">
            <a:avLst/>
          </a:prstGeom>
          <a:noFill/>
          <a:ln/>
        </p:spPr>
        <p:txBody>
          <a:bodyPr wrap="square" rtlCol="0" anchor="ctr"/>
          <a:lstStyle/>
          <a:p>
            <a:pPr indent="0" marL="0">
              <a:buNone/>
            </a:pPr>
            <a:r>
              <a:rPr lang="en-US" sz="1000" b="1" dirty="0">
                <a:solidFill>
                  <a:srgbClr val="5C2D91"/>
                </a:solidFill>
                <a:latin typeface="Segoe UI" pitchFamily="34" charset="0"/>
                <a:ea typeface="Segoe UI" pitchFamily="34" charset="-122"/>
                <a:cs typeface="Segoe UI" pitchFamily="34" charset="-120"/>
              </a:rPr>
              <a:t>Secure &amp; Govern</a:t>
            </a:r>
            <a:endParaRPr lang="en-US" sz="1000" dirty="0"/>
          </a:p>
        </p:txBody>
      </p:sp>
      <p:sp>
        <p:nvSpPr>
          <p:cNvPr id="15" name="Text 13"/>
          <p:cNvSpPr/>
          <p:nvPr/>
        </p:nvSpPr>
        <p:spPr>
          <a:xfrm>
            <a:off x="3337560" y="2670048"/>
            <a:ext cx="2670048" cy="2011680"/>
          </a:xfrm>
          <a:prstGeom prst="rect">
            <a:avLst/>
          </a:prstGeom>
          <a:noFill/>
          <a:ln/>
        </p:spPr>
        <p:txBody>
          <a:bodyPr wrap="square" rtlCol="0" anchor="ctr"/>
          <a:lstStyle/>
          <a:p>
            <a:pPr marL="342900" indent="-342900">
              <a:buSzPct val="100000"/>
              <a:buChar char="•"/>
            </a:pPr>
            <a:r>
              <a:rPr lang="en-US" sz="1050" dirty="0">
                <a:solidFill>
                  <a:srgbClr val="201F1E"/>
                </a:solidFill>
                <a:latin typeface="Segoe UI" pitchFamily="34" charset="0"/>
                <a:ea typeface="Segoe UI" pitchFamily="34" charset="-122"/>
                <a:cs typeface="Segoe UI" pitchFamily="34" charset="-120"/>
              </a:rPr>
              <a:t>Secure the environment and manage access policies</a:t>
            </a:r>
            <a:endParaRPr lang="en-US" sz="1050" dirty="0"/>
          </a:p>
          <a:p>
            <a:pPr marL="342900" indent="-342900">
              <a:buSzPct val="100000"/>
              <a:buChar char="•"/>
            </a:pPr>
            <a:r>
              <a:rPr lang="en-US" sz="1050" dirty="0">
                <a:solidFill>
                  <a:srgbClr val="201F1E"/>
                </a:solidFill>
                <a:latin typeface="Segoe UI" pitchFamily="34" charset="0"/>
                <a:ea typeface="Segoe UI" pitchFamily="34" charset="-122"/>
                <a:cs typeface="Segoe UI" pitchFamily="34" charset="-120"/>
              </a:rPr>
              <a:t>Configure channel publishing and DLP rules</a:t>
            </a:r>
            <a:endParaRPr lang="en-US" sz="1050" dirty="0"/>
          </a:p>
          <a:p>
            <a:pPr marL="342900" indent="-342900">
              <a:buSzPct val="100000"/>
              <a:buChar char="•"/>
            </a:pPr>
            <a:r>
              <a:rPr lang="en-US" sz="1050" dirty="0">
                <a:solidFill>
                  <a:srgbClr val="201F1E"/>
                </a:solidFill>
                <a:latin typeface="Segoe UI" pitchFamily="34" charset="0"/>
                <a:ea typeface="Segoe UI" pitchFamily="34" charset="-122"/>
                <a:cs typeface="Segoe UI" pitchFamily="34" charset="-120"/>
              </a:rPr>
              <a:t>Govern data connections, compliance, and capacity</a:t>
            </a:r>
            <a:endParaRPr lang="en-US" sz="1050" dirty="0"/>
          </a:p>
          <a:p>
            <a:pPr marL="342900" indent="-342900">
              <a:buSzPct val="100000"/>
              <a:buChar char="•"/>
            </a:pPr>
            <a:r>
              <a:rPr lang="en-US" sz="1050" dirty="0">
                <a:solidFill>
                  <a:srgbClr val="201F1E"/>
                </a:solidFill>
                <a:latin typeface="Segoe UI" pitchFamily="34" charset="0"/>
                <a:ea typeface="Segoe UI" pitchFamily="34" charset="-122"/>
                <a:cs typeface="Segoe UI" pitchFamily="34" charset="-120"/>
              </a:rPr>
              <a:t>Drive operational readiness before any go-live</a:t>
            </a:r>
            <a:endParaRPr lang="en-US" sz="1050" dirty="0"/>
          </a:p>
        </p:txBody>
      </p:sp>
      <p:sp>
        <p:nvSpPr>
          <p:cNvPr id="16" name="Shape 14"/>
          <p:cNvSpPr/>
          <p:nvPr/>
        </p:nvSpPr>
        <p:spPr>
          <a:xfrm>
            <a:off x="6199632" y="1810512"/>
            <a:ext cx="2834640" cy="3063240"/>
          </a:xfrm>
          <a:prstGeom prst="rect">
            <a:avLst/>
          </a:prstGeom>
          <a:solidFill>
            <a:srgbClr val="F3F2F1"/>
          </a:solidFill>
          <a:ln w="12700">
            <a:solidFill>
              <a:srgbClr val="E1DFDD"/>
            </a:solidFill>
            <a:prstDash val="solid"/>
          </a:ln>
          <a:effectLst>
            <a:outerShdw sx="100000" sy="100000" kx="0" ky="0" algn="bl" rotWithShape="0" blurRad="101600" dist="25400" dir="8100000">
              <a:srgbClr val="000000">
                <a:alpha val="10000"/>
              </a:srgbClr>
            </a:outerShdw>
          </a:effectLst>
        </p:spPr>
      </p:sp>
      <p:sp>
        <p:nvSpPr>
          <p:cNvPr id="17" name="Shape 15"/>
          <p:cNvSpPr/>
          <p:nvPr/>
        </p:nvSpPr>
        <p:spPr>
          <a:xfrm>
            <a:off x="6199632" y="1810512"/>
            <a:ext cx="2834640" cy="475488"/>
          </a:xfrm>
          <a:prstGeom prst="rect">
            <a:avLst/>
          </a:prstGeom>
          <a:solidFill>
            <a:srgbClr val="107C10"/>
          </a:solidFill>
          <a:ln w="12700">
            <a:solidFill>
              <a:srgbClr val="107C10"/>
            </a:solidFill>
            <a:prstDash val="solid"/>
          </a:ln>
        </p:spPr>
      </p:sp>
      <p:sp>
        <p:nvSpPr>
          <p:cNvPr id="18" name="Text 16"/>
          <p:cNvSpPr/>
          <p:nvPr/>
        </p:nvSpPr>
        <p:spPr>
          <a:xfrm>
            <a:off x="6199632" y="1810512"/>
            <a:ext cx="2834640" cy="475488"/>
          </a:xfrm>
          <a:prstGeom prst="rect">
            <a:avLst/>
          </a:prstGeom>
          <a:noFill/>
          <a:ln/>
        </p:spPr>
        <p:txBody>
          <a:bodyPr wrap="square" rtlCol="0" anchor="ctr"/>
          <a:lstStyle/>
          <a:p>
            <a:pPr algn="ctr" indent="0" marL="0">
              <a:buNone/>
            </a:pPr>
            <a:r>
              <a:rPr lang="en-US" sz="1600" b="1" dirty="0">
                <a:solidFill>
                  <a:srgbClr val="FFFFFF"/>
                </a:solidFill>
                <a:latin typeface="Segoe UI" pitchFamily="34" charset="0"/>
                <a:ea typeface="Segoe UI" pitchFamily="34" charset="-122"/>
                <a:cs typeface="Segoe UI" pitchFamily="34" charset="-120"/>
              </a:rPr>
              <a:t>Developer</a:t>
            </a:r>
            <a:endParaRPr lang="en-US" sz="1600" dirty="0"/>
          </a:p>
        </p:txBody>
      </p:sp>
      <p:sp>
        <p:nvSpPr>
          <p:cNvPr id="19" name="Text 17"/>
          <p:cNvSpPr/>
          <p:nvPr/>
        </p:nvSpPr>
        <p:spPr>
          <a:xfrm>
            <a:off x="6309360" y="2359152"/>
            <a:ext cx="2651760" cy="274320"/>
          </a:xfrm>
          <a:prstGeom prst="rect">
            <a:avLst/>
          </a:prstGeom>
          <a:noFill/>
          <a:ln/>
        </p:spPr>
        <p:txBody>
          <a:bodyPr wrap="square" rtlCol="0" anchor="ctr"/>
          <a:lstStyle/>
          <a:p>
            <a:pPr indent="0" marL="0">
              <a:buNone/>
            </a:pPr>
            <a:r>
              <a:rPr lang="en-US" sz="1000" b="1" dirty="0">
                <a:solidFill>
                  <a:srgbClr val="107C10"/>
                </a:solidFill>
                <a:latin typeface="Segoe UI" pitchFamily="34" charset="0"/>
                <a:ea typeface="Segoe UI" pitchFamily="34" charset="-122"/>
                <a:cs typeface="Segoe UI" pitchFamily="34" charset="-120"/>
              </a:rPr>
              <a:t>Extend &amp; Operationalize</a:t>
            </a:r>
            <a:endParaRPr lang="en-US" sz="1000" dirty="0"/>
          </a:p>
        </p:txBody>
      </p:sp>
      <p:sp>
        <p:nvSpPr>
          <p:cNvPr id="20" name="Text 18"/>
          <p:cNvSpPr/>
          <p:nvPr/>
        </p:nvSpPr>
        <p:spPr>
          <a:xfrm>
            <a:off x="6309360" y="2670048"/>
            <a:ext cx="2670048" cy="2011680"/>
          </a:xfrm>
          <a:prstGeom prst="rect">
            <a:avLst/>
          </a:prstGeom>
          <a:noFill/>
          <a:ln/>
        </p:spPr>
        <p:txBody>
          <a:bodyPr wrap="square" rtlCol="0" anchor="ctr"/>
          <a:lstStyle/>
          <a:p>
            <a:pPr marL="342900" indent="-342900">
              <a:buSzPct val="100000"/>
              <a:buChar char="•"/>
            </a:pPr>
            <a:r>
              <a:rPr lang="en-US" sz="1050" dirty="0">
                <a:solidFill>
                  <a:srgbClr val="201F1E"/>
                </a:solidFill>
                <a:latin typeface="Segoe UI" pitchFamily="34" charset="0"/>
                <a:ea typeface="Segoe UI" pitchFamily="34" charset="-122"/>
                <a:cs typeface="Segoe UI" pitchFamily="34" charset="-120"/>
              </a:rPr>
              <a:t>Structure solution assets for lifecycle management</a:t>
            </a:r>
            <a:endParaRPr lang="en-US" sz="1050" dirty="0"/>
          </a:p>
          <a:p>
            <a:pPr marL="342900" indent="-342900">
              <a:buSzPct val="100000"/>
              <a:buChar char="•"/>
            </a:pPr>
            <a:r>
              <a:rPr lang="en-US" sz="1050" dirty="0">
                <a:solidFill>
                  <a:srgbClr val="201F1E"/>
                </a:solidFill>
                <a:latin typeface="Segoe UI" pitchFamily="34" charset="0"/>
                <a:ea typeface="Segoe UI" pitchFamily="34" charset="-122"/>
                <a:cs typeface="Segoe UI" pitchFamily="34" charset="-120"/>
              </a:rPr>
              <a:t>Extend agent behavior with custom orchestration</a:t>
            </a:r>
            <a:endParaRPr lang="en-US" sz="1050" dirty="0"/>
          </a:p>
          <a:p>
            <a:pPr marL="342900" indent="-342900">
              <a:buSzPct val="100000"/>
              <a:buChar char="•"/>
            </a:pPr>
            <a:r>
              <a:rPr lang="en-US" sz="1050" dirty="0">
                <a:solidFill>
                  <a:srgbClr val="201F1E"/>
                </a:solidFill>
                <a:latin typeface="Segoe UI" pitchFamily="34" charset="0"/>
                <a:ea typeface="Segoe UI" pitchFamily="34" charset="-122"/>
                <a:cs typeface="Segoe UI" pitchFamily="34" charset="-120"/>
              </a:rPr>
              <a:t>Optionally use the VS Code workflow on Day 2</a:t>
            </a:r>
            <a:endParaRPr lang="en-US" sz="1050" dirty="0"/>
          </a:p>
          <a:p>
            <a:pPr marL="342900" indent="-342900">
              <a:buSzPct val="100000"/>
              <a:buChar char="•"/>
            </a:pPr>
            <a:r>
              <a:rPr lang="en-US" sz="1050" dirty="0">
                <a:solidFill>
                  <a:srgbClr val="201F1E"/>
                </a:solidFill>
                <a:latin typeface="Segoe UI" pitchFamily="34" charset="0"/>
                <a:ea typeface="Segoe UI" pitchFamily="34" charset="-122"/>
                <a:cs typeface="Segoe UI" pitchFamily="34" charset="-120"/>
              </a:rPr>
              <a:t>Own deployment boundaries and handoff quality</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78D4"/>
          </a:solidFill>
          <a:ln w="12700">
            <a:solidFill>
              <a:srgbClr val="0078D4"/>
            </a:solidFill>
            <a:prstDash val="solid"/>
          </a:ln>
        </p:spPr>
      </p:sp>
      <p:sp>
        <p:nvSpPr>
          <p:cNvPr id="3" name="Text 1"/>
          <p:cNvSpPr/>
          <p:nvPr/>
        </p:nvSpPr>
        <p:spPr>
          <a:xfrm>
            <a:off x="365760" y="0"/>
            <a:ext cx="8412480" cy="640080"/>
          </a:xfrm>
          <a:prstGeom prst="rect">
            <a:avLst/>
          </a:prstGeom>
          <a:noFill/>
          <a:ln/>
        </p:spPr>
        <p:txBody>
          <a:bodyPr wrap="square" rtlCol="0" anchor="ctr"/>
          <a:lstStyle/>
          <a:p>
            <a:pPr indent="0" marL="0">
              <a:buNone/>
            </a:pPr>
            <a:r>
              <a:rPr lang="en-US" sz="900" spc="200" kern="0" dirty="0">
                <a:solidFill>
                  <a:srgbClr val="C5D8F0"/>
                </a:solidFill>
                <a:latin typeface="Segoe UI" pitchFamily="34" charset="0"/>
                <a:ea typeface="Segoe UI" pitchFamily="34" charset="-122"/>
                <a:cs typeface="Segoe UI" pitchFamily="34" charset="-120"/>
              </a:rPr>
              <a:t>MODULE 00  ·  WORKSHOP FRAMING</a:t>
            </a:r>
            <a:endParaRPr lang="en-US" sz="900" dirty="0"/>
          </a:p>
        </p:txBody>
      </p:sp>
      <p:sp>
        <p:nvSpPr>
          <p:cNvPr id="4" name="Text 2"/>
          <p:cNvSpPr/>
          <p:nvPr/>
        </p:nvSpPr>
        <p:spPr>
          <a:xfrm>
            <a:off x="365760" y="749808"/>
            <a:ext cx="8412480" cy="548640"/>
          </a:xfrm>
          <a:prstGeom prst="rect">
            <a:avLst/>
          </a:prstGeom>
          <a:noFill/>
          <a:ln/>
        </p:spPr>
        <p:txBody>
          <a:bodyPr wrap="square" rtlCol="0" anchor="ctr"/>
          <a:lstStyle/>
          <a:p>
            <a:pPr indent="0" marL="0">
              <a:buNone/>
            </a:pPr>
            <a:r>
              <a:rPr lang="en-US" sz="2800" b="1" dirty="0">
                <a:solidFill>
                  <a:srgbClr val="201F1E"/>
                </a:solidFill>
                <a:latin typeface="Segoe UI" pitchFamily="34" charset="0"/>
                <a:ea typeface="Segoe UI" pitchFamily="34" charset="-122"/>
                <a:cs typeface="Segoe UI" pitchFamily="34" charset="-120"/>
              </a:rPr>
              <a:t>GA Delivery Guardrails</a:t>
            </a:r>
            <a:endParaRPr lang="en-US" sz="2800" dirty="0"/>
          </a:p>
        </p:txBody>
      </p:sp>
      <p:sp>
        <p:nvSpPr>
          <p:cNvPr id="5" name="Text 3"/>
          <p:cNvSpPr/>
          <p:nvPr/>
        </p:nvSpPr>
        <p:spPr>
          <a:xfrm>
            <a:off x="365760" y="1344168"/>
            <a:ext cx="8229600" cy="320040"/>
          </a:xfrm>
          <a:prstGeom prst="rect">
            <a:avLst/>
          </a:prstGeom>
          <a:noFill/>
          <a:ln/>
        </p:spPr>
        <p:txBody>
          <a:bodyPr wrap="square" rtlCol="0" anchor="ctr"/>
          <a:lstStyle/>
          <a:p>
            <a:pPr indent="0" marL="0">
              <a:buNone/>
            </a:pPr>
            <a:r>
              <a:rPr lang="en-US" sz="1200" dirty="0">
                <a:solidFill>
                  <a:srgbClr val="605E5C"/>
                </a:solidFill>
                <a:latin typeface="Segoe UI" pitchFamily="34" charset="0"/>
                <a:ea typeface="Segoe UI" pitchFamily="34" charset="-122"/>
                <a:cs typeface="Segoe UI" pitchFamily="34" charset="-120"/>
              </a:rPr>
              <a:t>These guardrails keep every module on supported, reproducible ground.</a:t>
            </a:r>
            <a:endParaRPr lang="en-US" sz="1200" dirty="0"/>
          </a:p>
        </p:txBody>
      </p:sp>
      <p:sp>
        <p:nvSpPr>
          <p:cNvPr id="6" name="Shape 4"/>
          <p:cNvSpPr/>
          <p:nvPr/>
        </p:nvSpPr>
        <p:spPr>
          <a:xfrm>
            <a:off x="4572000" y="1801368"/>
            <a:ext cx="0" cy="3017520"/>
          </a:xfrm>
          <a:prstGeom prst="line">
            <a:avLst/>
          </a:prstGeom>
          <a:noFill/>
          <a:ln w="12700">
            <a:solidFill>
              <a:srgbClr val="E1DFDD"/>
            </a:solidFill>
            <a:prstDash val="solid"/>
          </a:ln>
        </p:spPr>
      </p:sp>
      <p:sp>
        <p:nvSpPr>
          <p:cNvPr id="7" name="Shape 5"/>
          <p:cNvSpPr/>
          <p:nvPr/>
        </p:nvSpPr>
        <p:spPr>
          <a:xfrm>
            <a:off x="320040" y="3310128"/>
            <a:ext cx="8503920" cy="0"/>
          </a:xfrm>
          <a:prstGeom prst="line">
            <a:avLst/>
          </a:prstGeom>
          <a:noFill/>
          <a:ln w="12700">
            <a:solidFill>
              <a:srgbClr val="E1DFDD"/>
            </a:solidFill>
            <a:prstDash val="solid"/>
          </a:ln>
        </p:spPr>
      </p:sp>
      <p:sp>
        <p:nvSpPr>
          <p:cNvPr id="8" name="Shape 6"/>
          <p:cNvSpPr/>
          <p:nvPr/>
        </p:nvSpPr>
        <p:spPr>
          <a:xfrm>
            <a:off x="320040" y="1920240"/>
            <a:ext cx="457200" cy="457200"/>
          </a:xfrm>
          <a:prstGeom prst="ellipse">
            <a:avLst/>
          </a:prstGeom>
          <a:solidFill>
            <a:srgbClr val="0078D4"/>
          </a:solidFill>
          <a:ln w="12700">
            <a:solidFill>
              <a:srgbClr val="0078D4"/>
            </a:solidFill>
            <a:prstDash val="solid"/>
          </a:ln>
        </p:spPr>
      </p:sp>
      <p:sp>
        <p:nvSpPr>
          <p:cNvPr id="9" name="Text 7"/>
          <p:cNvSpPr/>
          <p:nvPr/>
        </p:nvSpPr>
        <p:spPr>
          <a:xfrm>
            <a:off x="320040" y="1920240"/>
            <a:ext cx="457200"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Segoe UI" pitchFamily="34" charset="0"/>
                <a:ea typeface="Segoe UI" pitchFamily="34" charset="-122"/>
                <a:cs typeface="Segoe UI" pitchFamily="34" charset="-120"/>
              </a:rPr>
              <a:t>GA</a:t>
            </a:r>
            <a:endParaRPr lang="en-US" sz="900" dirty="0"/>
          </a:p>
        </p:txBody>
      </p:sp>
      <p:sp>
        <p:nvSpPr>
          <p:cNvPr id="10" name="Text 8"/>
          <p:cNvSpPr/>
          <p:nvPr/>
        </p:nvSpPr>
        <p:spPr>
          <a:xfrm>
            <a:off x="914400" y="1828800"/>
            <a:ext cx="3657600" cy="320040"/>
          </a:xfrm>
          <a:prstGeom prst="rect">
            <a:avLst/>
          </a:prstGeom>
          <a:noFill/>
          <a:ln/>
        </p:spPr>
        <p:txBody>
          <a:bodyPr wrap="square" lIns="0" tIns="0" rIns="0" bIns="0" rtlCol="0" anchor="ctr"/>
          <a:lstStyle/>
          <a:p>
            <a:pPr indent="0" marL="0">
              <a:buNone/>
            </a:pPr>
            <a:r>
              <a:rPr lang="en-US" sz="1300" b="1" dirty="0">
                <a:solidFill>
                  <a:srgbClr val="201F1E"/>
                </a:solidFill>
                <a:latin typeface="Segoe UI" pitchFamily="34" charset="0"/>
                <a:ea typeface="Segoe UI" pitchFamily="34" charset="-122"/>
                <a:cs typeface="Segoe UI" pitchFamily="34" charset="-120"/>
              </a:rPr>
              <a:t>GA capabilities only</a:t>
            </a:r>
            <a:endParaRPr lang="en-US" sz="1300" dirty="0"/>
          </a:p>
        </p:txBody>
      </p:sp>
      <p:sp>
        <p:nvSpPr>
          <p:cNvPr id="11" name="Text 9"/>
          <p:cNvSpPr/>
          <p:nvPr/>
        </p:nvSpPr>
        <p:spPr>
          <a:xfrm>
            <a:off x="914400" y="2176272"/>
            <a:ext cx="3657600" cy="777240"/>
          </a:xfrm>
          <a:prstGeom prst="rect">
            <a:avLst/>
          </a:prstGeom>
          <a:noFill/>
          <a:ln/>
        </p:spPr>
        <p:txBody>
          <a:bodyPr wrap="square" lIns="0" tIns="0" rIns="0" bIns="0" rtlCol="0" anchor="ctr"/>
          <a:lstStyle/>
          <a:p>
            <a:pPr indent="0" marL="0">
              <a:buNone/>
            </a:pPr>
            <a:r>
              <a:rPr lang="en-US" sz="1100" dirty="0">
                <a:solidFill>
                  <a:srgbClr val="605E5C"/>
                </a:solidFill>
                <a:latin typeface="Segoe UI" pitchFamily="34" charset="0"/>
                <a:ea typeface="Segoe UI" pitchFamily="34" charset="-122"/>
                <a:cs typeface="Segoe UI" pitchFamily="34" charset="-120"/>
              </a:rPr>
              <a:t>The core workshop stays on generally available features. No preview paths, no unsupported workarounds.</a:t>
            </a:r>
            <a:endParaRPr lang="en-US" sz="1100" dirty="0"/>
          </a:p>
        </p:txBody>
      </p:sp>
      <p:sp>
        <p:nvSpPr>
          <p:cNvPr id="12" name="Shape 10"/>
          <p:cNvSpPr/>
          <p:nvPr/>
        </p:nvSpPr>
        <p:spPr>
          <a:xfrm>
            <a:off x="4727448" y="1920240"/>
            <a:ext cx="457200" cy="457200"/>
          </a:xfrm>
          <a:prstGeom prst="ellipse">
            <a:avLst/>
          </a:prstGeom>
          <a:solidFill>
            <a:srgbClr val="5C2D91"/>
          </a:solidFill>
          <a:ln w="12700">
            <a:solidFill>
              <a:srgbClr val="5C2D91"/>
            </a:solidFill>
            <a:prstDash val="solid"/>
          </a:ln>
        </p:spPr>
      </p:sp>
      <p:sp>
        <p:nvSpPr>
          <p:cNvPr id="13" name="Text 11"/>
          <p:cNvSpPr/>
          <p:nvPr/>
        </p:nvSpPr>
        <p:spPr>
          <a:xfrm>
            <a:off x="4727448" y="1920240"/>
            <a:ext cx="457200"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Segoe UI" pitchFamily="34" charset="0"/>
                <a:ea typeface="Segoe UI" pitchFamily="34" charset="-122"/>
                <a:cs typeface="Segoe UI" pitchFamily="34" charset="-120"/>
              </a:rPr>
              <a:t>AI</a:t>
            </a:r>
            <a:endParaRPr lang="en-US" sz="900" dirty="0"/>
          </a:p>
        </p:txBody>
      </p:sp>
      <p:sp>
        <p:nvSpPr>
          <p:cNvPr id="14" name="Text 12"/>
          <p:cNvSpPr/>
          <p:nvPr/>
        </p:nvSpPr>
        <p:spPr>
          <a:xfrm>
            <a:off x="5321808" y="1828800"/>
            <a:ext cx="3429000" cy="320040"/>
          </a:xfrm>
          <a:prstGeom prst="rect">
            <a:avLst/>
          </a:prstGeom>
          <a:noFill/>
          <a:ln/>
        </p:spPr>
        <p:txBody>
          <a:bodyPr wrap="square" lIns="0" tIns="0" rIns="0" bIns="0" rtlCol="0" anchor="ctr"/>
          <a:lstStyle/>
          <a:p>
            <a:pPr indent="0" marL="0">
              <a:buNone/>
            </a:pPr>
            <a:r>
              <a:rPr lang="en-US" sz="1300" b="1" dirty="0">
                <a:solidFill>
                  <a:srgbClr val="201F1E"/>
                </a:solidFill>
                <a:latin typeface="Segoe UI" pitchFamily="34" charset="0"/>
                <a:ea typeface="Segoe UI" pitchFamily="34" charset="-122"/>
                <a:cs typeface="Segoe UI" pitchFamily="34" charset="-120"/>
              </a:rPr>
              <a:t>GPT-5 Chat is the hands-on baseline</a:t>
            </a:r>
            <a:endParaRPr lang="en-US" sz="1300" dirty="0"/>
          </a:p>
        </p:txBody>
      </p:sp>
      <p:sp>
        <p:nvSpPr>
          <p:cNvPr id="15" name="Text 13"/>
          <p:cNvSpPr/>
          <p:nvPr/>
        </p:nvSpPr>
        <p:spPr>
          <a:xfrm>
            <a:off x="5321808" y="2176272"/>
            <a:ext cx="3429000" cy="777240"/>
          </a:xfrm>
          <a:prstGeom prst="rect">
            <a:avLst/>
          </a:prstGeom>
          <a:noFill/>
          <a:ln/>
        </p:spPr>
        <p:txBody>
          <a:bodyPr wrap="square" lIns="0" tIns="0" rIns="0" bIns="0" rtlCol="0" anchor="ctr"/>
          <a:lstStyle/>
          <a:p>
            <a:pPr indent="0" marL="0">
              <a:buNone/>
            </a:pPr>
            <a:r>
              <a:rPr lang="en-US" sz="1100" dirty="0">
                <a:solidFill>
                  <a:srgbClr val="605E5C"/>
                </a:solidFill>
                <a:latin typeface="Segoe UI" pitchFamily="34" charset="0"/>
                <a:ea typeface="Segoe UI" pitchFamily="34" charset="-122"/>
                <a:cs typeface="Segoe UI" pitchFamily="34" charset="-120"/>
              </a:rPr>
              <a:t>Use GPT-5 Chat for all labs. Reference GPT-4.1 only when a direct platform comparison is needed.</a:t>
            </a:r>
            <a:endParaRPr lang="en-US" sz="1100" dirty="0"/>
          </a:p>
        </p:txBody>
      </p:sp>
      <p:sp>
        <p:nvSpPr>
          <p:cNvPr id="16" name="Shape 14"/>
          <p:cNvSpPr/>
          <p:nvPr/>
        </p:nvSpPr>
        <p:spPr>
          <a:xfrm>
            <a:off x="320040" y="3429000"/>
            <a:ext cx="457200" cy="457200"/>
          </a:xfrm>
          <a:prstGeom prst="ellipse">
            <a:avLst/>
          </a:prstGeom>
          <a:solidFill>
            <a:srgbClr val="107C10"/>
          </a:solidFill>
          <a:ln w="12700">
            <a:solidFill>
              <a:srgbClr val="107C10"/>
            </a:solidFill>
            <a:prstDash val="solid"/>
          </a:ln>
        </p:spPr>
      </p:sp>
      <p:sp>
        <p:nvSpPr>
          <p:cNvPr id="17" name="Text 15"/>
          <p:cNvSpPr/>
          <p:nvPr/>
        </p:nvSpPr>
        <p:spPr>
          <a:xfrm>
            <a:off x="320040" y="3429000"/>
            <a:ext cx="457200"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Segoe UI" pitchFamily="34" charset="0"/>
                <a:ea typeface="Segoe UI" pitchFamily="34" charset="-122"/>
                <a:cs typeface="Segoe UI" pitchFamily="34" charset="-120"/>
              </a:rPr>
              <a:t>MCP</a:t>
            </a:r>
            <a:endParaRPr lang="en-US" sz="900" dirty="0"/>
          </a:p>
        </p:txBody>
      </p:sp>
      <p:sp>
        <p:nvSpPr>
          <p:cNvPr id="18" name="Text 16"/>
          <p:cNvSpPr/>
          <p:nvPr/>
        </p:nvSpPr>
        <p:spPr>
          <a:xfrm>
            <a:off x="914400" y="3337560"/>
            <a:ext cx="3657600" cy="320040"/>
          </a:xfrm>
          <a:prstGeom prst="rect">
            <a:avLst/>
          </a:prstGeom>
          <a:noFill/>
          <a:ln/>
        </p:spPr>
        <p:txBody>
          <a:bodyPr wrap="square" lIns="0" tIns="0" rIns="0" bIns="0" rtlCol="0" anchor="ctr"/>
          <a:lstStyle/>
          <a:p>
            <a:pPr indent="0" marL="0">
              <a:buNone/>
            </a:pPr>
            <a:r>
              <a:rPr lang="en-US" sz="1300" b="1" dirty="0">
                <a:solidFill>
                  <a:srgbClr val="201F1E"/>
                </a:solidFill>
                <a:latin typeface="Segoe UI" pitchFamily="34" charset="0"/>
                <a:ea typeface="Segoe UI" pitchFamily="34" charset="-122"/>
                <a:cs typeface="Segoe UI" pitchFamily="34" charset="-120"/>
              </a:rPr>
              <a:t>MCP via in-product wizard only</a:t>
            </a:r>
            <a:endParaRPr lang="en-US" sz="1300" dirty="0"/>
          </a:p>
        </p:txBody>
      </p:sp>
      <p:sp>
        <p:nvSpPr>
          <p:cNvPr id="19" name="Text 17"/>
          <p:cNvSpPr/>
          <p:nvPr/>
        </p:nvSpPr>
        <p:spPr>
          <a:xfrm>
            <a:off x="914400" y="3685032"/>
            <a:ext cx="3657600" cy="777240"/>
          </a:xfrm>
          <a:prstGeom prst="rect">
            <a:avLst/>
          </a:prstGeom>
          <a:noFill/>
          <a:ln/>
        </p:spPr>
        <p:txBody>
          <a:bodyPr wrap="square" lIns="0" tIns="0" rIns="0" bIns="0" rtlCol="0" anchor="ctr"/>
          <a:lstStyle/>
          <a:p>
            <a:pPr indent="0" marL="0">
              <a:buNone/>
            </a:pPr>
            <a:r>
              <a:rPr lang="en-US" sz="1100" dirty="0">
                <a:solidFill>
                  <a:srgbClr val="605E5C"/>
                </a:solidFill>
                <a:latin typeface="Segoe UI" pitchFamily="34" charset="0"/>
                <a:ea typeface="Segoe UI" pitchFamily="34" charset="-122"/>
                <a:cs typeface="Segoe UI" pitchFamily="34" charset="-120"/>
              </a:rPr>
              <a:t>Use the in-product onboarding wizard for all MCP setup. No manual secret editing or non-wizard paths.</a:t>
            </a:r>
            <a:endParaRPr lang="en-US" sz="1100" dirty="0"/>
          </a:p>
        </p:txBody>
      </p:sp>
      <p:sp>
        <p:nvSpPr>
          <p:cNvPr id="20" name="Shape 18"/>
          <p:cNvSpPr/>
          <p:nvPr/>
        </p:nvSpPr>
        <p:spPr>
          <a:xfrm>
            <a:off x="4727448" y="3429000"/>
            <a:ext cx="457200" cy="457200"/>
          </a:xfrm>
          <a:prstGeom prst="ellipse">
            <a:avLst/>
          </a:prstGeom>
          <a:solidFill>
            <a:srgbClr val="D83B01"/>
          </a:solidFill>
          <a:ln w="12700">
            <a:solidFill>
              <a:srgbClr val="D83B01"/>
            </a:solidFill>
            <a:prstDash val="solid"/>
          </a:ln>
        </p:spPr>
      </p:sp>
      <p:sp>
        <p:nvSpPr>
          <p:cNvPr id="21" name="Text 19"/>
          <p:cNvSpPr/>
          <p:nvPr/>
        </p:nvSpPr>
        <p:spPr>
          <a:xfrm>
            <a:off x="4727448" y="3429000"/>
            <a:ext cx="457200"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Segoe UI" pitchFamily="34" charset="0"/>
                <a:ea typeface="Segoe UI" pitchFamily="34" charset="-122"/>
                <a:cs typeface="Segoe UI" pitchFamily="34" charset="-120"/>
              </a:rPr>
              <a:t>!</a:t>
            </a:r>
            <a:endParaRPr lang="en-US" sz="900" dirty="0"/>
          </a:p>
        </p:txBody>
      </p:sp>
      <p:sp>
        <p:nvSpPr>
          <p:cNvPr id="22" name="Text 20"/>
          <p:cNvSpPr/>
          <p:nvPr/>
        </p:nvSpPr>
        <p:spPr>
          <a:xfrm>
            <a:off x="5321808" y="3337560"/>
            <a:ext cx="3429000" cy="320040"/>
          </a:xfrm>
          <a:prstGeom prst="rect">
            <a:avLst/>
          </a:prstGeom>
          <a:noFill/>
          <a:ln/>
        </p:spPr>
        <p:txBody>
          <a:bodyPr wrap="square" lIns="0" tIns="0" rIns="0" bIns="0" rtlCol="0" anchor="ctr"/>
          <a:lstStyle/>
          <a:p>
            <a:pPr indent="0" marL="0">
              <a:buNone/>
            </a:pPr>
            <a:r>
              <a:rPr lang="en-US" sz="1300" b="1" dirty="0">
                <a:solidFill>
                  <a:srgbClr val="201F1E"/>
                </a:solidFill>
                <a:latin typeface="Segoe UI" pitchFamily="34" charset="0"/>
                <a:ea typeface="Segoe UI" pitchFamily="34" charset="-122"/>
                <a:cs typeface="Segoe UI" pitchFamily="34" charset="-120"/>
              </a:rPr>
              <a:t>Flag non-GA detours immediately</a:t>
            </a:r>
            <a:endParaRPr lang="en-US" sz="1300" dirty="0"/>
          </a:p>
        </p:txBody>
      </p:sp>
      <p:sp>
        <p:nvSpPr>
          <p:cNvPr id="23" name="Text 21"/>
          <p:cNvSpPr/>
          <p:nvPr/>
        </p:nvSpPr>
        <p:spPr>
          <a:xfrm>
            <a:off x="5321808" y="3685032"/>
            <a:ext cx="3429000" cy="777240"/>
          </a:xfrm>
          <a:prstGeom prst="rect">
            <a:avLst/>
          </a:prstGeom>
          <a:noFill/>
          <a:ln/>
        </p:spPr>
        <p:txBody>
          <a:bodyPr wrap="square" lIns="0" tIns="0" rIns="0" bIns="0" rtlCol="0" anchor="ctr"/>
          <a:lstStyle/>
          <a:p>
            <a:pPr indent="0" marL="0">
              <a:buNone/>
            </a:pPr>
            <a:r>
              <a:rPr lang="en-US" sz="1100" dirty="0">
                <a:solidFill>
                  <a:srgbClr val="605E5C"/>
                </a:solidFill>
                <a:latin typeface="Segoe UI" pitchFamily="34" charset="0"/>
                <a:ea typeface="Segoe UI" pitchFamily="34" charset="-122"/>
                <a:cs typeface="Segoe UI" pitchFamily="34" charset="-120"/>
              </a:rPr>
              <a:t>If guidance drifts into preview or unsupported territory, correct it before the lab begins.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43A5E"/>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78D4"/>
          </a:solidFill>
          <a:ln w="12700">
            <a:solidFill>
              <a:srgbClr val="0078D4"/>
            </a:solidFill>
            <a:prstDash val="solid"/>
          </a:ln>
        </p:spPr>
      </p:sp>
      <p:sp>
        <p:nvSpPr>
          <p:cNvPr id="3" name="Text 1"/>
          <p:cNvSpPr/>
          <p:nvPr/>
        </p:nvSpPr>
        <p:spPr>
          <a:xfrm>
            <a:off x="457200" y="685800"/>
            <a:ext cx="8229600" cy="411480"/>
          </a:xfrm>
          <a:prstGeom prst="rect">
            <a:avLst/>
          </a:prstGeom>
          <a:noFill/>
          <a:ln/>
        </p:spPr>
        <p:txBody>
          <a:bodyPr wrap="square" rtlCol="0" anchor="ctr"/>
          <a:lstStyle/>
          <a:p>
            <a:pPr indent="0" marL="0">
              <a:buNone/>
            </a:pPr>
            <a:r>
              <a:rPr lang="en-US" sz="1000" spc="500" kern="0" dirty="0">
                <a:solidFill>
                  <a:srgbClr val="50E6FF"/>
                </a:solidFill>
                <a:latin typeface="Segoe UI" pitchFamily="34" charset="0"/>
                <a:ea typeface="Segoe UI" pitchFamily="34" charset="-122"/>
                <a:cs typeface="Segoe UI" pitchFamily="34" charset="-120"/>
              </a:rPr>
              <a:t>NEXT UP</a:t>
            </a:r>
            <a:endParaRPr lang="en-US" sz="1000" dirty="0"/>
          </a:p>
        </p:txBody>
      </p:sp>
      <p:sp>
        <p:nvSpPr>
          <p:cNvPr id="4" name="Text 2"/>
          <p:cNvSpPr/>
          <p:nvPr/>
        </p:nvSpPr>
        <p:spPr>
          <a:xfrm>
            <a:off x="457200" y="1188720"/>
            <a:ext cx="8229600" cy="1005840"/>
          </a:xfrm>
          <a:prstGeom prst="rect">
            <a:avLst/>
          </a:prstGeom>
          <a:noFill/>
          <a:ln/>
        </p:spPr>
        <p:txBody>
          <a:bodyPr wrap="square" rtlCol="0" anchor="ctr"/>
          <a:lstStyle/>
          <a:p>
            <a:pPr indent="0" marL="0">
              <a:buNone/>
            </a:pPr>
            <a:r>
              <a:rPr lang="en-US" sz="5200" b="1" dirty="0">
                <a:solidFill>
                  <a:srgbClr val="FFFFFF"/>
                </a:solidFill>
                <a:latin typeface="Segoe UI" pitchFamily="34" charset="0"/>
                <a:ea typeface="Segoe UI" pitchFamily="34" charset="-122"/>
                <a:cs typeface="Segoe UI" pitchFamily="34" charset="-120"/>
              </a:rPr>
              <a:t>Environment Setup</a:t>
            </a:r>
            <a:endParaRPr lang="en-US" sz="5200" dirty="0"/>
          </a:p>
        </p:txBody>
      </p:sp>
      <p:sp>
        <p:nvSpPr>
          <p:cNvPr id="5" name="Text 3"/>
          <p:cNvSpPr/>
          <p:nvPr/>
        </p:nvSpPr>
        <p:spPr>
          <a:xfrm>
            <a:off x="457200" y="2331720"/>
            <a:ext cx="8229600" cy="457200"/>
          </a:xfrm>
          <a:prstGeom prst="rect">
            <a:avLst/>
          </a:prstGeom>
          <a:noFill/>
          <a:ln/>
        </p:spPr>
        <p:txBody>
          <a:bodyPr wrap="square" rtlCol="0" anchor="ctr"/>
          <a:lstStyle/>
          <a:p>
            <a:pPr indent="0" marL="0">
              <a:buNone/>
            </a:pPr>
            <a:r>
              <a:rPr lang="en-US" sz="1700" dirty="0">
                <a:solidFill>
                  <a:srgbClr val="50E6FF"/>
                </a:solidFill>
                <a:latin typeface="Segoe UI" pitchFamily="34" charset="0"/>
                <a:ea typeface="Segoe UI" pitchFamily="34" charset="-122"/>
                <a:cs typeface="Segoe UI" pitchFamily="34" charset="-120"/>
              </a:rPr>
              <a:t>Let's confirm your access before we build anything.</a:t>
            </a:r>
            <a:endParaRPr lang="en-US" sz="1700" dirty="0"/>
          </a:p>
        </p:txBody>
      </p:sp>
      <p:sp>
        <p:nvSpPr>
          <p:cNvPr id="6" name="Text 4"/>
          <p:cNvSpPr/>
          <p:nvPr/>
        </p:nvSpPr>
        <p:spPr>
          <a:xfrm>
            <a:off x="457200" y="2944368"/>
            <a:ext cx="8229600" cy="1828800"/>
          </a:xfrm>
          <a:prstGeom prst="rect">
            <a:avLst/>
          </a:prstGeom>
          <a:noFill/>
          <a:ln/>
        </p:spPr>
        <p:txBody>
          <a:bodyPr wrap="square" rtlCol="0" anchor="ctr"/>
          <a:lstStyle/>
          <a:p>
            <a:pPr marL="342900" indent="-342900">
              <a:buSzPct val="100000"/>
              <a:buChar char="•"/>
            </a:pPr>
            <a:r>
              <a:rPr lang="en-US" sz="1300" dirty="0">
                <a:solidFill>
                  <a:srgbClr val="C5D8F0"/>
                </a:solidFill>
                <a:latin typeface="Segoe UI" pitchFamily="34" charset="0"/>
                <a:ea typeface="Segoe UI" pitchFamily="34" charset="-122"/>
                <a:cs typeface="Segoe UI" pitchFamily="34" charset="-120"/>
              </a:rPr>
              <a:t>Early access issues are the cheapest to fix — before any build step begins</a:t>
            </a:r>
            <a:endParaRPr lang="en-US" sz="1300" dirty="0"/>
          </a:p>
          <a:p>
            <a:pPr marL="342900" indent="-342900">
              <a:buSzPct val="100000"/>
              <a:buChar char="•"/>
            </a:pPr>
            <a:r>
              <a:rPr lang="en-US" sz="1300" dirty="0">
                <a:solidFill>
                  <a:srgbClr val="C5D8F0"/>
                </a:solidFill>
                <a:latin typeface="Segoe UI" pitchFamily="34" charset="0"/>
                <a:ea typeface="Segoe UI" pitchFamily="34" charset="-122"/>
                <a:cs typeface="Segoe UI" pitchFamily="34" charset="-120"/>
              </a:rPr>
              <a:t>Every later module depends on correct account, environment, and browser state</a:t>
            </a:r>
            <a:endParaRPr lang="en-US" sz="1300" dirty="0"/>
          </a:p>
          <a:p>
            <a:pPr marL="342900" indent="-342900">
              <a:buSzPct val="100000"/>
              <a:buChar char="•"/>
            </a:pPr>
            <a:r>
              <a:rPr lang="en-US" sz="1300" dirty="0">
                <a:solidFill>
                  <a:srgbClr val="C5D8F0"/>
                </a:solidFill>
                <a:latin typeface="Segoe UI" pitchFamily="34" charset="0"/>
                <a:ea typeface="Segoe UI" pitchFamily="34" charset="-122"/>
                <a:cs typeface="Segoe UI" pitchFamily="34" charset="-120"/>
              </a:rPr>
              <a:t>Surface blockers now — don't fall silently behind your table</a:t>
            </a:r>
            <a:endParaRPr lang="en-US" sz="1300" dirty="0"/>
          </a:p>
          <a:p>
            <a:pPr marL="342900" indent="-342900">
              <a:buSzPct val="100000"/>
              <a:buChar char="•"/>
            </a:pPr>
            <a:r>
              <a:rPr lang="en-US" sz="1300" dirty="0">
                <a:solidFill>
                  <a:srgbClr val="C5D8F0"/>
                </a:solidFill>
                <a:latin typeface="Segoe UI" pitchFamily="34" charset="0"/>
                <a:ea typeface="Segoe UI" pitchFamily="34" charset="-122"/>
                <a:cs typeface="Segoe UI" pitchFamily="34" charset="-120"/>
              </a:rPr>
              <a:t>Everyone starts from the same baseline before the first lab</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78D4"/>
        </a:solidFill>
      </p:bgPr>
    </p:bg>
    <p:spTree>
      <p:nvGrpSpPr>
        <p:cNvPr id="1" name=""/>
        <p:cNvGrpSpPr/>
        <p:nvPr/>
      </p:nvGrpSpPr>
      <p:grpSpPr>
        <a:xfrm>
          <a:off x="0" y="0"/>
          <a:ext cx="0" cy="0"/>
          <a:chOff x="0" y="0"/>
          <a:chExt cx="0" cy="0"/>
        </a:xfrm>
      </p:grpSpPr>
      <p:sp>
        <p:nvSpPr>
          <p:cNvPr id="2" name="Shape 0"/>
          <p:cNvSpPr/>
          <p:nvPr/>
        </p:nvSpPr>
        <p:spPr>
          <a:xfrm>
            <a:off x="5852160" y="0"/>
            <a:ext cx="3291840" cy="5143500"/>
          </a:xfrm>
          <a:prstGeom prst="rect">
            <a:avLst/>
          </a:prstGeom>
          <a:solidFill>
            <a:srgbClr val="243A5E"/>
          </a:solidFill>
          <a:ln w="12700">
            <a:solidFill>
              <a:srgbClr val="243A5E"/>
            </a:solidFill>
            <a:prstDash val="solid"/>
          </a:ln>
        </p:spPr>
      </p:sp>
      <p:sp>
        <p:nvSpPr>
          <p:cNvPr id="3" name="Text 1"/>
          <p:cNvSpPr/>
          <p:nvPr/>
        </p:nvSpPr>
        <p:spPr>
          <a:xfrm>
            <a:off x="411480" y="365760"/>
            <a:ext cx="5212080" cy="384048"/>
          </a:xfrm>
          <a:prstGeom prst="rect">
            <a:avLst/>
          </a:prstGeom>
          <a:noFill/>
          <a:ln/>
        </p:spPr>
        <p:txBody>
          <a:bodyPr wrap="square" rtlCol="0" anchor="ctr"/>
          <a:lstStyle/>
          <a:p>
            <a:pPr indent="0" marL="0">
              <a:buNone/>
            </a:pPr>
            <a:r>
              <a:rPr lang="en-US" sz="1000" spc="500" kern="0" dirty="0">
                <a:solidFill>
                  <a:srgbClr val="50E6FF"/>
                </a:solidFill>
                <a:latin typeface="Segoe UI" pitchFamily="34" charset="0"/>
                <a:ea typeface="Segoe UI" pitchFamily="34" charset="-122"/>
                <a:cs typeface="Segoe UI" pitchFamily="34" charset="-120"/>
              </a:rPr>
              <a:t>LAB TIME</a:t>
            </a:r>
            <a:endParaRPr lang="en-US" sz="1000" dirty="0"/>
          </a:p>
        </p:txBody>
      </p:sp>
      <p:sp>
        <p:nvSpPr>
          <p:cNvPr id="4" name="Text 2"/>
          <p:cNvSpPr/>
          <p:nvPr/>
        </p:nvSpPr>
        <p:spPr>
          <a:xfrm>
            <a:off x="411480" y="841248"/>
            <a:ext cx="5212080" cy="1005840"/>
          </a:xfrm>
          <a:prstGeom prst="rect">
            <a:avLst/>
          </a:prstGeom>
          <a:noFill/>
          <a:ln/>
        </p:spPr>
        <p:txBody>
          <a:bodyPr wrap="square" rtlCol="0" anchor="ctr"/>
          <a:lstStyle/>
          <a:p>
            <a:pPr indent="0" marL="0">
              <a:buNone/>
            </a:pPr>
            <a:r>
              <a:rPr lang="en-US" sz="5800" b="1" dirty="0">
                <a:solidFill>
                  <a:srgbClr val="FFFFFF"/>
                </a:solidFill>
                <a:latin typeface="Segoe UI" pitchFamily="34" charset="0"/>
                <a:ea typeface="Segoe UI" pitchFamily="34" charset="-122"/>
                <a:cs typeface="Segoe UI" pitchFamily="34" charset="-120"/>
              </a:rPr>
              <a:t>Lab 00</a:t>
            </a:r>
            <a:endParaRPr lang="en-US" sz="5800" dirty="0"/>
          </a:p>
        </p:txBody>
      </p:sp>
      <p:sp>
        <p:nvSpPr>
          <p:cNvPr id="5" name="Text 3"/>
          <p:cNvSpPr/>
          <p:nvPr/>
        </p:nvSpPr>
        <p:spPr>
          <a:xfrm>
            <a:off x="411480" y="1828800"/>
            <a:ext cx="5212080" cy="502920"/>
          </a:xfrm>
          <a:prstGeom prst="rect">
            <a:avLst/>
          </a:prstGeom>
          <a:noFill/>
          <a:ln/>
        </p:spPr>
        <p:txBody>
          <a:bodyPr wrap="square" rtlCol="0" anchor="ctr"/>
          <a:lstStyle/>
          <a:p>
            <a:pPr indent="0" marL="0">
              <a:buNone/>
            </a:pPr>
            <a:r>
              <a:rPr lang="en-US" sz="2200" dirty="0">
                <a:solidFill>
                  <a:srgbClr val="50E6FF"/>
                </a:solidFill>
                <a:latin typeface="Segoe UI" pitchFamily="34" charset="0"/>
                <a:ea typeface="Segoe UI" pitchFamily="34" charset="-122"/>
                <a:cs typeface="Segoe UI" pitchFamily="34" charset="-120"/>
              </a:rPr>
              <a:t>Environment Setup</a:t>
            </a:r>
            <a:endParaRPr lang="en-US" sz="2200" dirty="0"/>
          </a:p>
        </p:txBody>
      </p:sp>
      <p:sp>
        <p:nvSpPr>
          <p:cNvPr id="6" name="Text 4"/>
          <p:cNvSpPr/>
          <p:nvPr/>
        </p:nvSpPr>
        <p:spPr>
          <a:xfrm>
            <a:off x="411480" y="2468880"/>
            <a:ext cx="5212080" cy="2423160"/>
          </a:xfrm>
          <a:prstGeom prst="rect">
            <a:avLst/>
          </a:prstGeom>
          <a:noFill/>
          <a:ln/>
        </p:spPr>
        <p:txBody>
          <a:bodyPr wrap="square" rtlCol="0" anchor="ctr"/>
          <a:lstStyle/>
          <a:p>
            <a:pPr marL="342900" indent="-342900">
              <a:buSzPct val="100000"/>
              <a:buChar char="•"/>
            </a:pPr>
            <a:r>
              <a:rPr lang="en-US" sz="1150" dirty="0">
                <a:solidFill>
                  <a:srgbClr val="DDEEFF"/>
                </a:solidFill>
                <a:latin typeface="Segoe UI" pitchFamily="34" charset="0"/>
                <a:ea typeface="Segoe UI" pitchFamily="34" charset="-122"/>
                <a:cs typeface="Segoe UI" pitchFamily="34" charset="-120"/>
              </a:rPr>
              <a:t>Sign in with the correct workshop account and environment</a:t>
            </a:r>
            <a:endParaRPr lang="en-US" sz="1150" dirty="0"/>
          </a:p>
          <a:p>
            <a:pPr marL="342900" indent="-342900">
              <a:buSzPct val="100000"/>
              <a:buChar char="•"/>
            </a:pPr>
            <a:r>
              <a:rPr lang="en-US" sz="1150" dirty="0">
                <a:solidFill>
                  <a:srgbClr val="DDEEFF"/>
                </a:solidFill>
                <a:latin typeface="Segoe UI" pitchFamily="34" charset="0"/>
                <a:ea typeface="Segoe UI" pitchFamily="34" charset="-122"/>
                <a:cs typeface="Segoe UI" pitchFamily="34" charset="-120"/>
              </a:rPr>
              <a:t>Verify browser readiness and maker access</a:t>
            </a:r>
            <a:endParaRPr lang="en-US" sz="1150" dirty="0"/>
          </a:p>
          <a:p>
            <a:pPr marL="342900" indent="-342900">
              <a:buSzPct val="100000"/>
              <a:buChar char="•"/>
            </a:pPr>
            <a:r>
              <a:rPr lang="en-US" sz="1150" dirty="0">
                <a:solidFill>
                  <a:srgbClr val="DDEEFF"/>
                </a:solidFill>
                <a:latin typeface="Segoe UI" pitchFamily="34" charset="0"/>
                <a:ea typeface="Segoe UI" pitchFamily="34" charset="-122"/>
                <a:cs typeface="Segoe UI" pitchFamily="34" charset="-120"/>
              </a:rPr>
              <a:t>Confirm the facilitator support and escalation path</a:t>
            </a:r>
            <a:endParaRPr lang="en-US" sz="1150" dirty="0"/>
          </a:p>
          <a:p>
            <a:pPr marL="342900" indent="-342900">
              <a:buSzPct val="100000"/>
              <a:buChar char="•"/>
            </a:pPr>
            <a:r>
              <a:rPr lang="en-US" sz="1150" dirty="0">
                <a:solidFill>
                  <a:srgbClr val="DDEEFF"/>
                </a:solidFill>
                <a:latin typeface="Segoe UI" pitchFamily="34" charset="0"/>
                <a:ea typeface="Segoe UI" pitchFamily="34" charset="-122"/>
                <a:cs typeface="Segoe UI" pitchFamily="34" charset="-120"/>
              </a:rPr>
              <a:t>Report blockers immediately — fast triage protects the day</a:t>
            </a:r>
            <a:endParaRPr lang="en-US" sz="1150" dirty="0"/>
          </a:p>
        </p:txBody>
      </p:sp>
      <p:sp>
        <p:nvSpPr>
          <p:cNvPr id="7" name="Text 5"/>
          <p:cNvSpPr/>
          <p:nvPr/>
        </p:nvSpPr>
        <p:spPr>
          <a:xfrm>
            <a:off x="5852160" y="1097280"/>
            <a:ext cx="3291840" cy="1463040"/>
          </a:xfrm>
          <a:prstGeom prst="rect">
            <a:avLst/>
          </a:prstGeom>
          <a:noFill/>
          <a:ln/>
        </p:spPr>
        <p:txBody>
          <a:bodyPr wrap="square" rtlCol="0" anchor="ctr"/>
          <a:lstStyle/>
          <a:p>
            <a:pPr algn="ctr" indent="0" marL="0">
              <a:buNone/>
            </a:pPr>
            <a:r>
              <a:rPr lang="en-US" sz="8000" b="1" dirty="0">
                <a:solidFill>
                  <a:srgbClr val="FFFFFF"/>
                </a:solidFill>
                <a:latin typeface="Segoe UI" pitchFamily="34" charset="0"/>
                <a:ea typeface="Segoe UI" pitchFamily="34" charset="-122"/>
                <a:cs typeface="Segoe UI" pitchFamily="34" charset="-120"/>
              </a:rPr>
              <a:t>45</a:t>
            </a:r>
            <a:endParaRPr lang="en-US" sz="8000" dirty="0"/>
          </a:p>
        </p:txBody>
      </p:sp>
      <p:sp>
        <p:nvSpPr>
          <p:cNvPr id="8" name="Text 6"/>
          <p:cNvSpPr/>
          <p:nvPr/>
        </p:nvSpPr>
        <p:spPr>
          <a:xfrm>
            <a:off x="5852160" y="2633472"/>
            <a:ext cx="3291840" cy="384048"/>
          </a:xfrm>
          <a:prstGeom prst="rect">
            <a:avLst/>
          </a:prstGeom>
          <a:noFill/>
          <a:ln/>
        </p:spPr>
        <p:txBody>
          <a:bodyPr wrap="square" rtlCol="0" anchor="ctr"/>
          <a:lstStyle/>
          <a:p>
            <a:pPr algn="ctr" indent="0" marL="0">
              <a:buNone/>
            </a:pPr>
            <a:r>
              <a:rPr lang="en-US" sz="1400" dirty="0">
                <a:solidFill>
                  <a:srgbClr val="50E6FF"/>
                </a:solidFill>
                <a:latin typeface="Segoe UI" pitchFamily="34" charset="0"/>
                <a:ea typeface="Segoe UI" pitchFamily="34" charset="-122"/>
                <a:cs typeface="Segoe UI" pitchFamily="34" charset="-120"/>
              </a:rPr>
              <a:t>minutes</a:t>
            </a:r>
            <a:endParaRPr lang="en-US" sz="1400" dirty="0"/>
          </a:p>
        </p:txBody>
      </p:sp>
      <p:sp>
        <p:nvSpPr>
          <p:cNvPr id="9" name="Text 7"/>
          <p:cNvSpPr/>
          <p:nvPr/>
        </p:nvSpPr>
        <p:spPr>
          <a:xfrm>
            <a:off x="5852160" y="4160520"/>
            <a:ext cx="3291840" cy="347472"/>
          </a:xfrm>
          <a:prstGeom prst="rect">
            <a:avLst/>
          </a:prstGeom>
          <a:noFill/>
          <a:ln/>
        </p:spPr>
        <p:txBody>
          <a:bodyPr wrap="square" rtlCol="0" anchor="ctr"/>
          <a:lstStyle/>
          <a:p>
            <a:pPr algn="ctr" indent="0" marL="0">
              <a:buNone/>
            </a:pPr>
            <a:r>
              <a:rPr lang="en-US" sz="900" dirty="0">
                <a:solidFill>
                  <a:srgbClr val="7BA7CC"/>
                </a:solidFill>
                <a:latin typeface="Segoe UI" pitchFamily="34" charset="0"/>
                <a:ea typeface="Segoe UI" pitchFamily="34" charset="-122"/>
                <a:cs typeface="Segoe UI" pitchFamily="34" charset="-120"/>
              </a:rPr>
              <a:t>Makers  ·  IT Pros  ·  Developers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78D4"/>
          </a:solidFill>
          <a:ln w="12700">
            <a:solidFill>
              <a:srgbClr val="0078D4"/>
            </a:solidFill>
            <a:prstDash val="solid"/>
          </a:ln>
        </p:spPr>
      </p:sp>
      <p:sp>
        <p:nvSpPr>
          <p:cNvPr id="3" name="Text 1"/>
          <p:cNvSpPr/>
          <p:nvPr/>
        </p:nvSpPr>
        <p:spPr>
          <a:xfrm>
            <a:off x="365760" y="0"/>
            <a:ext cx="8412480" cy="640080"/>
          </a:xfrm>
          <a:prstGeom prst="rect">
            <a:avLst/>
          </a:prstGeom>
          <a:noFill/>
          <a:ln/>
        </p:spPr>
        <p:txBody>
          <a:bodyPr wrap="square" rtlCol="0" anchor="ctr"/>
          <a:lstStyle/>
          <a:p>
            <a:pPr indent="0" marL="0">
              <a:buNone/>
            </a:pPr>
            <a:r>
              <a:rPr lang="en-US" sz="900" spc="200" kern="0" dirty="0">
                <a:solidFill>
                  <a:srgbClr val="C5D8F0"/>
                </a:solidFill>
                <a:latin typeface="Segoe UI" pitchFamily="34" charset="0"/>
                <a:ea typeface="Segoe UI" pitchFamily="34" charset="-122"/>
                <a:cs typeface="Segoe UI" pitchFamily="34" charset="-120"/>
              </a:rPr>
              <a:t>MODULE 00  ·  LAB 00 RECAP</a:t>
            </a:r>
            <a:endParaRPr lang="en-US" sz="900" dirty="0"/>
          </a:p>
        </p:txBody>
      </p:sp>
      <p:sp>
        <p:nvSpPr>
          <p:cNvPr id="4" name="Text 2"/>
          <p:cNvSpPr/>
          <p:nvPr/>
        </p:nvSpPr>
        <p:spPr>
          <a:xfrm>
            <a:off x="365760" y="749808"/>
            <a:ext cx="8412480" cy="548640"/>
          </a:xfrm>
          <a:prstGeom prst="rect">
            <a:avLst/>
          </a:prstGeom>
          <a:noFill/>
          <a:ln/>
        </p:spPr>
        <p:txBody>
          <a:bodyPr wrap="square" rtlCol="0" anchor="ctr"/>
          <a:lstStyle/>
          <a:p>
            <a:pPr indent="0" marL="0">
              <a:buNone/>
            </a:pPr>
            <a:r>
              <a:rPr lang="en-US" sz="2800" b="1" dirty="0">
                <a:solidFill>
                  <a:srgbClr val="201F1E"/>
                </a:solidFill>
                <a:latin typeface="Segoe UI" pitchFamily="34" charset="0"/>
                <a:ea typeface="Segoe UI" pitchFamily="34" charset="-122"/>
                <a:cs typeface="Segoe UI" pitchFamily="34" charset="-120"/>
              </a:rPr>
              <a:t>Lab 00: Environment Setup</a:t>
            </a:r>
            <a:endParaRPr lang="en-US" sz="2800" dirty="0"/>
          </a:p>
        </p:txBody>
      </p:sp>
      <p:sp>
        <p:nvSpPr>
          <p:cNvPr id="5" name="Text 3"/>
          <p:cNvSpPr/>
          <p:nvPr/>
        </p:nvSpPr>
        <p:spPr>
          <a:xfrm>
            <a:off x="365760" y="1344168"/>
            <a:ext cx="8229600" cy="320040"/>
          </a:xfrm>
          <a:prstGeom prst="rect">
            <a:avLst/>
          </a:prstGeom>
          <a:noFill/>
          <a:ln/>
        </p:spPr>
        <p:txBody>
          <a:bodyPr wrap="square" rtlCol="0" anchor="ctr"/>
          <a:lstStyle/>
          <a:p>
            <a:pPr indent="0" marL="0">
              <a:buNone/>
            </a:pPr>
            <a:r>
              <a:rPr lang="en-US" sz="1200" dirty="0">
                <a:solidFill>
                  <a:srgbClr val="605E5C"/>
                </a:solidFill>
                <a:latin typeface="Segoe UI" pitchFamily="34" charset="0"/>
                <a:ea typeface="Segoe UI" pitchFamily="34" charset="-122"/>
                <a:cs typeface="Segoe UI" pitchFamily="34" charset="-120"/>
              </a:rPr>
              <a:t>Your go / no-go readiness check before any build work begins.</a:t>
            </a:r>
            <a:endParaRPr lang="en-US" sz="1200" dirty="0"/>
          </a:p>
        </p:txBody>
      </p:sp>
      <p:sp>
        <p:nvSpPr>
          <p:cNvPr id="6" name="Shape 4"/>
          <p:cNvSpPr/>
          <p:nvPr/>
        </p:nvSpPr>
        <p:spPr>
          <a:xfrm>
            <a:off x="320040" y="1874520"/>
            <a:ext cx="8503920" cy="594360"/>
          </a:xfrm>
          <a:prstGeom prst="rect">
            <a:avLst/>
          </a:prstGeom>
          <a:solidFill>
            <a:srgbClr val="F3F2F1"/>
          </a:solidFill>
          <a:ln w="12700">
            <a:solidFill>
              <a:srgbClr val="E1DFDD"/>
            </a:solidFill>
            <a:prstDash val="solid"/>
          </a:ln>
        </p:spPr>
      </p:sp>
      <p:sp>
        <p:nvSpPr>
          <p:cNvPr id="7" name="Shape 5"/>
          <p:cNvSpPr/>
          <p:nvPr/>
        </p:nvSpPr>
        <p:spPr>
          <a:xfrm>
            <a:off x="457200" y="2011680"/>
            <a:ext cx="320040" cy="320040"/>
          </a:xfrm>
          <a:prstGeom prst="rect">
            <a:avLst/>
          </a:prstGeom>
          <a:solidFill>
            <a:srgbClr val="0078D4"/>
          </a:solidFill>
          <a:ln w="12700">
            <a:solidFill>
              <a:srgbClr val="0078D4"/>
            </a:solidFill>
            <a:prstDash val="solid"/>
          </a:ln>
        </p:spPr>
      </p:sp>
      <p:sp>
        <p:nvSpPr>
          <p:cNvPr id="8" name="Text 6"/>
          <p:cNvSpPr/>
          <p:nvPr/>
        </p:nvSpPr>
        <p:spPr>
          <a:xfrm>
            <a:off x="457200" y="2011680"/>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V</a:t>
            </a:r>
            <a:endParaRPr lang="en-US" sz="1100" dirty="0"/>
          </a:p>
        </p:txBody>
      </p:sp>
      <p:sp>
        <p:nvSpPr>
          <p:cNvPr id="9" name="Text 7"/>
          <p:cNvSpPr/>
          <p:nvPr/>
        </p:nvSpPr>
        <p:spPr>
          <a:xfrm>
            <a:off x="914400" y="2011680"/>
            <a:ext cx="7772400" cy="320040"/>
          </a:xfrm>
          <a:prstGeom prst="rect">
            <a:avLst/>
          </a:prstGeom>
          <a:noFill/>
          <a:ln/>
        </p:spPr>
        <p:txBody>
          <a:bodyPr wrap="square" lIns="0" tIns="0" rIns="0" bIns="0" rtlCol="0" anchor="ctr"/>
          <a:lstStyle/>
          <a:p>
            <a:pPr indent="0" marL="0">
              <a:buNone/>
            </a:pPr>
            <a:r>
              <a:rPr lang="en-US" sz="1250" dirty="0">
                <a:solidFill>
                  <a:srgbClr val="201F1E"/>
                </a:solidFill>
                <a:latin typeface="Segoe UI" pitchFamily="34" charset="0"/>
                <a:ea typeface="Segoe UI" pitchFamily="34" charset="-122"/>
                <a:cs typeface="Segoe UI" pitchFamily="34" charset="-120"/>
              </a:rPr>
              <a:t>Opened Copilot Studio and confirmed the target environment is selected</a:t>
            </a:r>
            <a:endParaRPr lang="en-US" sz="1250" dirty="0"/>
          </a:p>
        </p:txBody>
      </p:sp>
      <p:sp>
        <p:nvSpPr>
          <p:cNvPr id="10" name="Shape 8"/>
          <p:cNvSpPr/>
          <p:nvPr/>
        </p:nvSpPr>
        <p:spPr>
          <a:xfrm>
            <a:off x="320040" y="2606040"/>
            <a:ext cx="8503920" cy="594360"/>
          </a:xfrm>
          <a:prstGeom prst="rect">
            <a:avLst/>
          </a:prstGeom>
          <a:solidFill>
            <a:srgbClr val="FFFFFF"/>
          </a:solidFill>
          <a:ln w="12700">
            <a:solidFill>
              <a:srgbClr val="E1DFDD"/>
            </a:solidFill>
            <a:prstDash val="solid"/>
          </a:ln>
        </p:spPr>
      </p:sp>
      <p:sp>
        <p:nvSpPr>
          <p:cNvPr id="11" name="Shape 9"/>
          <p:cNvSpPr/>
          <p:nvPr/>
        </p:nvSpPr>
        <p:spPr>
          <a:xfrm>
            <a:off x="457200" y="2743200"/>
            <a:ext cx="320040" cy="320040"/>
          </a:xfrm>
          <a:prstGeom prst="rect">
            <a:avLst/>
          </a:prstGeom>
          <a:solidFill>
            <a:srgbClr val="0078D4"/>
          </a:solidFill>
          <a:ln w="12700">
            <a:solidFill>
              <a:srgbClr val="0078D4"/>
            </a:solidFill>
            <a:prstDash val="solid"/>
          </a:ln>
        </p:spPr>
      </p:sp>
      <p:sp>
        <p:nvSpPr>
          <p:cNvPr id="12" name="Text 10"/>
          <p:cNvSpPr/>
          <p:nvPr/>
        </p:nvSpPr>
        <p:spPr>
          <a:xfrm>
            <a:off x="457200" y="2743200"/>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V</a:t>
            </a:r>
            <a:endParaRPr lang="en-US" sz="1100" dirty="0"/>
          </a:p>
        </p:txBody>
      </p:sp>
      <p:sp>
        <p:nvSpPr>
          <p:cNvPr id="13" name="Text 11"/>
          <p:cNvSpPr/>
          <p:nvPr/>
        </p:nvSpPr>
        <p:spPr>
          <a:xfrm>
            <a:off x="914400" y="2743200"/>
            <a:ext cx="7772400" cy="320040"/>
          </a:xfrm>
          <a:prstGeom prst="rect">
            <a:avLst/>
          </a:prstGeom>
          <a:noFill/>
          <a:ln/>
        </p:spPr>
        <p:txBody>
          <a:bodyPr wrap="square" lIns="0" tIns="0" rIns="0" bIns="0" rtlCol="0" anchor="ctr"/>
          <a:lstStyle/>
          <a:p>
            <a:pPr indent="0" marL="0">
              <a:buNone/>
            </a:pPr>
            <a:r>
              <a:rPr lang="en-US" sz="1250" dirty="0">
                <a:solidFill>
                  <a:srgbClr val="201F1E"/>
                </a:solidFill>
                <a:latin typeface="Segoe UI" pitchFamily="34" charset="0"/>
                <a:ea typeface="Segoe UI" pitchFamily="34" charset="-122"/>
                <a:cs typeface="Segoe UI" pitchFamily="34" charset="-120"/>
              </a:rPr>
              <a:t>Verified core menus, agent creation, and Settings are visible for the workshop account</a:t>
            </a:r>
            <a:endParaRPr lang="en-US" sz="1250" dirty="0"/>
          </a:p>
        </p:txBody>
      </p:sp>
      <p:sp>
        <p:nvSpPr>
          <p:cNvPr id="14" name="Shape 12"/>
          <p:cNvSpPr/>
          <p:nvPr/>
        </p:nvSpPr>
        <p:spPr>
          <a:xfrm>
            <a:off x="320040" y="3337560"/>
            <a:ext cx="8503920" cy="594360"/>
          </a:xfrm>
          <a:prstGeom prst="rect">
            <a:avLst/>
          </a:prstGeom>
          <a:solidFill>
            <a:srgbClr val="F3F2F1"/>
          </a:solidFill>
          <a:ln w="12700">
            <a:solidFill>
              <a:srgbClr val="E1DFDD"/>
            </a:solidFill>
            <a:prstDash val="solid"/>
          </a:ln>
        </p:spPr>
      </p:sp>
      <p:sp>
        <p:nvSpPr>
          <p:cNvPr id="15" name="Shape 13"/>
          <p:cNvSpPr/>
          <p:nvPr/>
        </p:nvSpPr>
        <p:spPr>
          <a:xfrm>
            <a:off x="457200" y="3474720"/>
            <a:ext cx="320040" cy="320040"/>
          </a:xfrm>
          <a:prstGeom prst="rect">
            <a:avLst/>
          </a:prstGeom>
          <a:solidFill>
            <a:srgbClr val="0078D4"/>
          </a:solidFill>
          <a:ln w="12700">
            <a:solidFill>
              <a:srgbClr val="0078D4"/>
            </a:solidFill>
            <a:prstDash val="solid"/>
          </a:ln>
        </p:spPr>
      </p:sp>
      <p:sp>
        <p:nvSpPr>
          <p:cNvPr id="16" name="Text 14"/>
          <p:cNvSpPr/>
          <p:nvPr/>
        </p:nvSpPr>
        <p:spPr>
          <a:xfrm>
            <a:off x="457200" y="3474720"/>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V</a:t>
            </a:r>
            <a:endParaRPr lang="en-US" sz="1100" dirty="0"/>
          </a:p>
        </p:txBody>
      </p:sp>
      <p:sp>
        <p:nvSpPr>
          <p:cNvPr id="17" name="Text 15"/>
          <p:cNvSpPr/>
          <p:nvPr/>
        </p:nvSpPr>
        <p:spPr>
          <a:xfrm>
            <a:off x="914400" y="3474720"/>
            <a:ext cx="7772400" cy="320040"/>
          </a:xfrm>
          <a:prstGeom prst="rect">
            <a:avLst/>
          </a:prstGeom>
          <a:noFill/>
          <a:ln/>
        </p:spPr>
        <p:txBody>
          <a:bodyPr wrap="square" lIns="0" tIns="0" rIns="0" bIns="0" rtlCol="0" anchor="ctr"/>
          <a:lstStyle/>
          <a:p>
            <a:pPr indent="0" marL="0">
              <a:buNone/>
            </a:pPr>
            <a:r>
              <a:rPr lang="en-US" sz="1250" dirty="0">
                <a:solidFill>
                  <a:srgbClr val="201F1E"/>
                </a:solidFill>
                <a:latin typeface="Segoe UI" pitchFamily="34" charset="0"/>
                <a:ea typeface="Segoe UI" pitchFamily="34" charset="-122"/>
                <a:cs typeface="Segoe UI" pitchFamily="34" charset="-120"/>
              </a:rPr>
              <a:t>Reviewed the landing experience and confirmed your access level</a:t>
            </a:r>
            <a:endParaRPr lang="en-US" sz="1250" dirty="0"/>
          </a:p>
        </p:txBody>
      </p:sp>
      <p:sp>
        <p:nvSpPr>
          <p:cNvPr id="18" name="Shape 16"/>
          <p:cNvSpPr/>
          <p:nvPr/>
        </p:nvSpPr>
        <p:spPr>
          <a:xfrm>
            <a:off x="320040" y="4069080"/>
            <a:ext cx="8503920" cy="594360"/>
          </a:xfrm>
          <a:prstGeom prst="rect">
            <a:avLst/>
          </a:prstGeom>
          <a:solidFill>
            <a:srgbClr val="FFFFFF"/>
          </a:solidFill>
          <a:ln w="12700">
            <a:solidFill>
              <a:srgbClr val="E1DFDD"/>
            </a:solidFill>
            <a:prstDash val="solid"/>
          </a:ln>
        </p:spPr>
      </p:sp>
      <p:sp>
        <p:nvSpPr>
          <p:cNvPr id="19" name="Shape 17"/>
          <p:cNvSpPr/>
          <p:nvPr/>
        </p:nvSpPr>
        <p:spPr>
          <a:xfrm>
            <a:off x="457200" y="4206240"/>
            <a:ext cx="320040" cy="320040"/>
          </a:xfrm>
          <a:prstGeom prst="rect">
            <a:avLst/>
          </a:prstGeom>
          <a:solidFill>
            <a:srgbClr val="0078D4"/>
          </a:solidFill>
          <a:ln w="12700">
            <a:solidFill>
              <a:srgbClr val="0078D4"/>
            </a:solidFill>
            <a:prstDash val="solid"/>
          </a:ln>
        </p:spPr>
      </p:sp>
      <p:sp>
        <p:nvSpPr>
          <p:cNvPr id="20" name="Text 18"/>
          <p:cNvSpPr/>
          <p:nvPr/>
        </p:nvSpPr>
        <p:spPr>
          <a:xfrm>
            <a:off x="457200" y="4206240"/>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V</a:t>
            </a:r>
            <a:endParaRPr lang="en-US" sz="1100" dirty="0"/>
          </a:p>
        </p:txBody>
      </p:sp>
      <p:sp>
        <p:nvSpPr>
          <p:cNvPr id="21" name="Text 19"/>
          <p:cNvSpPr/>
          <p:nvPr/>
        </p:nvSpPr>
        <p:spPr>
          <a:xfrm>
            <a:off x="914400" y="4206240"/>
            <a:ext cx="7772400" cy="320040"/>
          </a:xfrm>
          <a:prstGeom prst="rect">
            <a:avLst/>
          </a:prstGeom>
          <a:noFill/>
          <a:ln/>
        </p:spPr>
        <p:txBody>
          <a:bodyPr wrap="square" lIns="0" tIns="0" rIns="0" bIns="0" rtlCol="0" anchor="ctr"/>
          <a:lstStyle/>
          <a:p>
            <a:pPr indent="0" marL="0">
              <a:buNone/>
            </a:pPr>
            <a:r>
              <a:rPr lang="en-US" sz="1250" dirty="0">
                <a:solidFill>
                  <a:srgbClr val="201F1E"/>
                </a:solidFill>
                <a:latin typeface="Segoe UI" pitchFamily="34" charset="0"/>
                <a:ea typeface="Segoe UI" pitchFamily="34" charset="-122"/>
                <a:cs typeface="Segoe UI" pitchFamily="34" charset="-120"/>
              </a:rPr>
              <a:t>Captured any licensing or permission issues before moving forward</a:t>
            </a:r>
            <a:endParaRPr lang="en-US" sz="1250" dirty="0"/>
          </a:p>
        </p:txBody>
      </p:sp>
      <p:sp>
        <p:nvSpPr>
          <p:cNvPr id="22" name="Shape 20"/>
          <p:cNvSpPr/>
          <p:nvPr/>
        </p:nvSpPr>
        <p:spPr>
          <a:xfrm>
            <a:off x="320040" y="4663440"/>
            <a:ext cx="8503920" cy="347472"/>
          </a:xfrm>
          <a:prstGeom prst="rect">
            <a:avLst/>
          </a:prstGeom>
          <a:solidFill>
            <a:srgbClr val="EFF6FC"/>
          </a:solidFill>
          <a:ln w="12700">
            <a:solidFill>
              <a:srgbClr val="C7E0F4"/>
            </a:solidFill>
            <a:prstDash val="solid"/>
          </a:ln>
        </p:spPr>
      </p:sp>
      <p:sp>
        <p:nvSpPr>
          <p:cNvPr id="23" name="Text 21"/>
          <p:cNvSpPr/>
          <p:nvPr/>
        </p:nvSpPr>
        <p:spPr>
          <a:xfrm>
            <a:off x="475488" y="4663440"/>
            <a:ext cx="8321040" cy="347472"/>
          </a:xfrm>
          <a:prstGeom prst="rect">
            <a:avLst/>
          </a:prstGeom>
          <a:noFill/>
          <a:ln/>
        </p:spPr>
        <p:txBody>
          <a:bodyPr wrap="square" rtlCol="0" anchor="ctr"/>
          <a:lstStyle/>
          <a:p>
            <a:pPr indent="0" marL="0">
              <a:buNone/>
            </a:pPr>
            <a:r>
              <a:rPr lang="en-US" sz="1100" dirty="0">
                <a:solidFill>
                  <a:srgbClr val="0078D4"/>
                </a:solidFill>
                <a:latin typeface="Segoe UI" pitchFamily="34" charset="0"/>
                <a:ea typeface="Segoe UI" pitchFamily="34" charset="-122"/>
                <a:cs typeface="Segoe UI" pitchFamily="34" charset="-120"/>
              </a:rPr>
              <a:t>If any item is not yet confirmed, resolve it now before moving to Module 1.</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Copilot Studio Workshop — Module 00: Workshop Framing</dc:title>
  <dc:subject>PptxGenJS Presentation</dc:subject>
  <dc:creator>Microsoft</dc:creator>
  <cp:lastModifiedBy>Microsoft</cp:lastModifiedBy>
  <cp:revision>1</cp:revision>
  <dcterms:created xsi:type="dcterms:W3CDTF">2026-03-23T18:06:05Z</dcterms:created>
  <dcterms:modified xsi:type="dcterms:W3CDTF">2026-03-23T18:06:05Z</dcterms:modified>
</cp:coreProperties>
</file>