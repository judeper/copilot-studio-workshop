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mental model for how the workspace, diagnostics, and lifecycle fit together before they start authoring. The three labs in this module build studio familiarity, introduce declarative patterns, and establish solution packaging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lifecycle model throughout the workshop so participants can always place themselves in the build cycle. The goal is a reusable mental model — Define what it does, Ground it in trusted data, Automate the business steps, Test with evidence, Publish with governance, Improve from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 evidence-based troubleshooting early so participants do not rely on intuition alone. Point out the Activity tab explicitly during Lab 02 so later troubleshooting exercises feel familiar instead of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well-architected thinking to everyday build choices instead of treating it as a separate review step. The names, ownership, and support path decisions made in Labs 02–04 directly affect how useful Activity traces and evaluation results are in Labs 18 and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interface once slowly and then ask participants to repeat the navigation themselves. Point out the Activity tab explicitly — call it out so it's familiar before troubleshooting exercises start. The win condition is confident orientation, not exhaustive feature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out that the UI can move tabs into overflow — this prevents unnecessary 'my screen looks different' interruptions later. If the group already has agents, use the same agent throughout the tour to reduce setup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solution is the ALM boundary for the workshop, even when participants are still working in a trial environment. Separate workshop experimentation from the more durable structures teams need for reuse — this framing helps mixed audiences see where delivery discipline starts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participants to keep the declarative agent focused — the point is to extend Microsoft 365 Copilot with a narrow business capability. Requires a Microsoft 365 Copilot license; facilitator demos if unavailable. This lab works best when participants compare trade-offs, not winners.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lab to build pattern recognition, not dependency on canned content. The key learning is when declarative design is enough — and when it is not. Keep the custom prompt lightweight because later labs introduce knowledge sources, topics, adaptive cards,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solution is the ALM boundary for the workshop — even in a trial environment. The added environment variable gives participants a low-risk component to validate export and import before later labs add agents and flows. If time is tight, demo the import step once and let participants complete the validation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import the managed package back into the same source environment where you plan to continue editing the unmanaged version. If solutions are missing from the navigation, confirm the security role includes solution management rights in the current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02</a:t>
            </a:r>
            <a:endParaRPr lang="en-US" sz="1100" dirty="0"/>
          </a:p>
        </p:txBody>
      </p:sp>
      <p:sp>
        <p:nvSpPr>
          <p:cNvPr id="5" name="Text 3"/>
          <p:cNvSpPr/>
          <p:nvPr/>
        </p:nvSpPr>
        <p:spPr>
          <a:xfrm>
            <a:off x="594360" y="1078992"/>
            <a:ext cx="8229600" cy="1051560"/>
          </a:xfrm>
          <a:prstGeom prst="rect">
            <a:avLst/>
          </a:prstGeom>
          <a:noFill/>
          <a:ln/>
        </p:spPr>
        <p:txBody>
          <a:bodyPr wrap="square"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Studio Foundations</a:t>
            </a:r>
            <a:endParaRPr lang="en-US" sz="5200" dirty="0"/>
          </a:p>
        </p:txBody>
      </p:sp>
      <p:sp>
        <p:nvSpPr>
          <p:cNvPr id="6" name="Text 4"/>
          <p:cNvSpPr/>
          <p:nvPr/>
        </p:nvSpPr>
        <p:spPr>
          <a:xfrm>
            <a:off x="594360" y="2212848"/>
            <a:ext cx="7772400" cy="502920"/>
          </a:xfrm>
          <a:prstGeom prst="rect">
            <a:avLst/>
          </a:prstGeom>
          <a:noFill/>
          <a:ln/>
        </p:spPr>
        <p:txBody>
          <a:bodyPr wrap="square" rtlCol="0" anchor="ctr"/>
          <a:lstStyle/>
          <a:p>
            <a:pPr indent="0" marL="0">
              <a:buNone/>
            </a:pPr>
            <a:r>
              <a:rPr lang="en-US" sz="1500" dirty="0">
                <a:solidFill>
                  <a:srgbClr val="C5D8F0"/>
                </a:solidFill>
                <a:latin typeface="Segoe UI" pitchFamily="34" charset="0"/>
                <a:ea typeface="Segoe UI" pitchFamily="34" charset="-122"/>
                <a:cs typeface="Segoe UI" pitchFamily="34" charset="-120"/>
              </a:rPr>
              <a:t>Build your authoring mental model before you build your first real agent</a:t>
            </a:r>
            <a:endParaRPr lang="en-US" sz="1500" dirty="0"/>
          </a:p>
        </p:txBody>
      </p:sp>
      <p:sp>
        <p:nvSpPr>
          <p:cNvPr id="7" name="Shape 5"/>
          <p:cNvSpPr/>
          <p:nvPr/>
        </p:nvSpPr>
        <p:spPr>
          <a:xfrm>
            <a:off x="594360" y="2971800"/>
            <a:ext cx="2633472" cy="438912"/>
          </a:xfrm>
          <a:prstGeom prst="rect">
            <a:avLst/>
          </a:prstGeom>
          <a:solidFill>
            <a:srgbClr val="0078D4"/>
          </a:solidFill>
          <a:ln w="12700">
            <a:solidFill>
              <a:srgbClr val="0078D4"/>
            </a:solidFill>
            <a:prstDash val="solid"/>
          </a:ln>
        </p:spPr>
      </p:sp>
      <p:sp>
        <p:nvSpPr>
          <p:cNvPr id="8" name="Text 6"/>
          <p:cNvSpPr/>
          <p:nvPr/>
        </p:nvSpPr>
        <p:spPr>
          <a:xfrm>
            <a:off x="594360"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Authoring lifecycle</a:t>
            </a:r>
            <a:endParaRPr lang="en-US" sz="1150" dirty="0"/>
          </a:p>
        </p:txBody>
      </p:sp>
      <p:sp>
        <p:nvSpPr>
          <p:cNvPr id="9" name="Shape 7"/>
          <p:cNvSpPr/>
          <p:nvPr/>
        </p:nvSpPr>
        <p:spPr>
          <a:xfrm>
            <a:off x="3410712" y="2971800"/>
            <a:ext cx="2633472" cy="438912"/>
          </a:xfrm>
          <a:prstGeom prst="rect">
            <a:avLst/>
          </a:prstGeom>
          <a:solidFill>
            <a:srgbClr val="5C2D91"/>
          </a:solidFill>
          <a:ln w="12700">
            <a:solidFill>
              <a:srgbClr val="5C2D91"/>
            </a:solidFill>
            <a:prstDash val="solid"/>
          </a:ln>
        </p:spPr>
      </p:sp>
      <p:sp>
        <p:nvSpPr>
          <p:cNvPr id="10" name="Text 8"/>
          <p:cNvSpPr/>
          <p:nvPr/>
        </p:nvSpPr>
        <p:spPr>
          <a:xfrm>
            <a:off x="3410712"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Activity page diagnostics</a:t>
            </a:r>
            <a:endParaRPr lang="en-US" sz="1150" dirty="0"/>
          </a:p>
        </p:txBody>
      </p:sp>
      <p:sp>
        <p:nvSpPr>
          <p:cNvPr id="11" name="Shape 9"/>
          <p:cNvSpPr/>
          <p:nvPr/>
        </p:nvSpPr>
        <p:spPr>
          <a:xfrm>
            <a:off x="6227064" y="2971800"/>
            <a:ext cx="2633472" cy="438912"/>
          </a:xfrm>
          <a:prstGeom prst="rect">
            <a:avLst/>
          </a:prstGeom>
          <a:solidFill>
            <a:srgbClr val="107C10"/>
          </a:solidFill>
          <a:ln w="12700">
            <a:solidFill>
              <a:srgbClr val="107C10"/>
            </a:solidFill>
            <a:prstDash val="solid"/>
          </a:ln>
        </p:spPr>
      </p:sp>
      <p:sp>
        <p:nvSpPr>
          <p:cNvPr id="12" name="Text 10"/>
          <p:cNvSpPr/>
          <p:nvPr/>
        </p:nvSpPr>
        <p:spPr>
          <a:xfrm>
            <a:off x="6227064"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Maintainability principles</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02 · 03 · 04  ·  Day 1 Recruit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STUDIO FOUNDATIONS</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The Agent Authoring Lifecycle</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Every Copilot Studio agent moves through six repeating stages — return to any stage as the agent evolves.</a:t>
            </a:r>
            <a:endParaRPr lang="en-US" sz="1200" dirty="0"/>
          </a:p>
        </p:txBody>
      </p:sp>
      <p:sp>
        <p:nvSpPr>
          <p:cNvPr id="6" name="Shape 4"/>
          <p:cNvSpPr/>
          <p:nvPr/>
        </p:nvSpPr>
        <p:spPr>
          <a:xfrm>
            <a:off x="256032"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847088"/>
            <a:ext cx="1298448" cy="475488"/>
          </a:xfrm>
          <a:prstGeom prst="rect">
            <a:avLst/>
          </a:prstGeom>
          <a:solidFill>
            <a:srgbClr val="0078D4"/>
          </a:solidFill>
          <a:ln w="12700">
            <a:solidFill>
              <a:srgbClr val="0078D4"/>
            </a:solidFill>
            <a:prstDash val="solid"/>
          </a:ln>
        </p:spPr>
      </p:sp>
      <p:sp>
        <p:nvSpPr>
          <p:cNvPr id="8" name="Shape 6"/>
          <p:cNvSpPr/>
          <p:nvPr/>
        </p:nvSpPr>
        <p:spPr>
          <a:xfrm>
            <a:off x="347472" y="1920240"/>
            <a:ext cx="292608" cy="292608"/>
          </a:xfrm>
          <a:prstGeom prst="ellipse">
            <a:avLst/>
          </a:prstGeom>
          <a:solidFill>
            <a:srgbClr val="FFFFFF"/>
          </a:solidFill>
          <a:ln w="12700">
            <a:solidFill>
              <a:srgbClr val="FFFFFF"/>
            </a:solidFill>
            <a:prstDash val="solid"/>
          </a:ln>
        </p:spPr>
      </p:sp>
      <p:sp>
        <p:nvSpPr>
          <p:cNvPr id="9" name="Text 7"/>
          <p:cNvSpPr/>
          <p:nvPr/>
        </p:nvSpPr>
        <p:spPr>
          <a:xfrm>
            <a:off x="347472" y="1920240"/>
            <a:ext cx="292608" cy="292608"/>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713232"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Define</a:t>
            </a:r>
            <a:endParaRPr lang="en-US" sz="1300" dirty="0"/>
          </a:p>
        </p:txBody>
      </p:sp>
      <p:sp>
        <p:nvSpPr>
          <p:cNvPr id="11" name="Text 9"/>
          <p:cNvSpPr/>
          <p:nvPr/>
        </p:nvSpPr>
        <p:spPr>
          <a:xfrm>
            <a:off x="347472"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Purpose, audience,</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boundaries, instructions</a:t>
            </a:r>
            <a:endParaRPr lang="en-US" sz="1050" dirty="0"/>
          </a:p>
        </p:txBody>
      </p:sp>
      <p:sp>
        <p:nvSpPr>
          <p:cNvPr id="12" name="Shape 10"/>
          <p:cNvSpPr/>
          <p:nvPr/>
        </p:nvSpPr>
        <p:spPr>
          <a:xfrm>
            <a:off x="1554480" y="2084832"/>
            <a:ext cx="109728" cy="0"/>
          </a:xfrm>
          <a:prstGeom prst="line">
            <a:avLst/>
          </a:prstGeom>
          <a:noFill/>
          <a:ln w="19050">
            <a:solidFill>
              <a:srgbClr val="0078D4"/>
            </a:solidFill>
            <a:prstDash val="solid"/>
          </a:ln>
        </p:spPr>
      </p:sp>
      <p:sp>
        <p:nvSpPr>
          <p:cNvPr id="13" name="Shape 11"/>
          <p:cNvSpPr/>
          <p:nvPr/>
        </p:nvSpPr>
        <p:spPr>
          <a:xfrm>
            <a:off x="1664208"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1664208" y="1847088"/>
            <a:ext cx="1298448" cy="475488"/>
          </a:xfrm>
          <a:prstGeom prst="rect">
            <a:avLst/>
          </a:prstGeom>
          <a:solidFill>
            <a:srgbClr val="00B294"/>
          </a:solidFill>
          <a:ln w="12700">
            <a:solidFill>
              <a:srgbClr val="00B294"/>
            </a:solidFill>
            <a:prstDash val="solid"/>
          </a:ln>
        </p:spPr>
      </p:sp>
      <p:sp>
        <p:nvSpPr>
          <p:cNvPr id="15" name="Shape 13"/>
          <p:cNvSpPr/>
          <p:nvPr/>
        </p:nvSpPr>
        <p:spPr>
          <a:xfrm>
            <a:off x="1755648" y="1920240"/>
            <a:ext cx="292608" cy="292608"/>
          </a:xfrm>
          <a:prstGeom prst="ellipse">
            <a:avLst/>
          </a:prstGeom>
          <a:solidFill>
            <a:srgbClr val="FFFFFF"/>
          </a:solidFill>
          <a:ln w="12700">
            <a:solidFill>
              <a:srgbClr val="FFFFFF"/>
            </a:solidFill>
            <a:prstDash val="solid"/>
          </a:ln>
        </p:spPr>
      </p:sp>
      <p:sp>
        <p:nvSpPr>
          <p:cNvPr id="16" name="Text 14"/>
          <p:cNvSpPr/>
          <p:nvPr/>
        </p:nvSpPr>
        <p:spPr>
          <a:xfrm>
            <a:off x="1755648" y="1920240"/>
            <a:ext cx="292608" cy="292608"/>
          </a:xfrm>
          <a:prstGeom prst="rect">
            <a:avLst/>
          </a:prstGeom>
          <a:noFill/>
          <a:ln/>
        </p:spPr>
        <p:txBody>
          <a:bodyPr wrap="square" lIns="0" tIns="0" rIns="0" bIns="0" rtlCol="0" anchor="ctr"/>
          <a:lstStyle/>
          <a:p>
            <a:pPr algn="ctr" indent="0" marL="0">
              <a:buNone/>
            </a:pPr>
            <a:r>
              <a:rPr lang="en-US" sz="1000" b="1" dirty="0">
                <a:solidFill>
                  <a:srgbClr val="00B294"/>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2121408"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Ground</a:t>
            </a:r>
            <a:endParaRPr lang="en-US" sz="1300" dirty="0"/>
          </a:p>
        </p:txBody>
      </p:sp>
      <p:sp>
        <p:nvSpPr>
          <p:cNvPr id="18" name="Text 16"/>
          <p:cNvSpPr/>
          <p:nvPr/>
        </p:nvSpPr>
        <p:spPr>
          <a:xfrm>
            <a:off x="1755648"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Knowledge sources:</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web, SharePoint, files, data</a:t>
            </a:r>
            <a:endParaRPr lang="en-US" sz="1050" dirty="0"/>
          </a:p>
        </p:txBody>
      </p:sp>
      <p:sp>
        <p:nvSpPr>
          <p:cNvPr id="19" name="Shape 17"/>
          <p:cNvSpPr/>
          <p:nvPr/>
        </p:nvSpPr>
        <p:spPr>
          <a:xfrm>
            <a:off x="2962656" y="2084832"/>
            <a:ext cx="109728" cy="0"/>
          </a:xfrm>
          <a:prstGeom prst="line">
            <a:avLst/>
          </a:prstGeom>
          <a:noFill/>
          <a:ln w="19050">
            <a:solidFill>
              <a:srgbClr val="0078D4"/>
            </a:solidFill>
            <a:prstDash val="solid"/>
          </a:ln>
        </p:spPr>
      </p:sp>
      <p:sp>
        <p:nvSpPr>
          <p:cNvPr id="20" name="Shape 18"/>
          <p:cNvSpPr/>
          <p:nvPr/>
        </p:nvSpPr>
        <p:spPr>
          <a:xfrm>
            <a:off x="3072384"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3072384" y="1847088"/>
            <a:ext cx="1298448" cy="475488"/>
          </a:xfrm>
          <a:prstGeom prst="rect">
            <a:avLst/>
          </a:prstGeom>
          <a:solidFill>
            <a:srgbClr val="5C2D91"/>
          </a:solidFill>
          <a:ln w="12700">
            <a:solidFill>
              <a:srgbClr val="5C2D91"/>
            </a:solidFill>
            <a:prstDash val="solid"/>
          </a:ln>
        </p:spPr>
      </p:sp>
      <p:sp>
        <p:nvSpPr>
          <p:cNvPr id="22" name="Shape 20"/>
          <p:cNvSpPr/>
          <p:nvPr/>
        </p:nvSpPr>
        <p:spPr>
          <a:xfrm>
            <a:off x="3163824" y="1920240"/>
            <a:ext cx="292608" cy="292608"/>
          </a:xfrm>
          <a:prstGeom prst="ellipse">
            <a:avLst/>
          </a:prstGeom>
          <a:solidFill>
            <a:srgbClr val="FFFFFF"/>
          </a:solidFill>
          <a:ln w="12700">
            <a:solidFill>
              <a:srgbClr val="FFFFFF"/>
            </a:solidFill>
            <a:prstDash val="solid"/>
          </a:ln>
        </p:spPr>
      </p:sp>
      <p:sp>
        <p:nvSpPr>
          <p:cNvPr id="23" name="Text 21"/>
          <p:cNvSpPr/>
          <p:nvPr/>
        </p:nvSpPr>
        <p:spPr>
          <a:xfrm>
            <a:off x="3163824" y="1920240"/>
            <a:ext cx="292608" cy="292608"/>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3529584"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Automate</a:t>
            </a:r>
            <a:endParaRPr lang="en-US" sz="1300" dirty="0"/>
          </a:p>
        </p:txBody>
      </p:sp>
      <p:sp>
        <p:nvSpPr>
          <p:cNvPr id="25" name="Text 23"/>
          <p:cNvSpPr/>
          <p:nvPr/>
        </p:nvSpPr>
        <p:spPr>
          <a:xfrm>
            <a:off x="3163824"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Actions, flows,</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connectors, MCP tools</a:t>
            </a:r>
            <a:endParaRPr lang="en-US" sz="1050" dirty="0"/>
          </a:p>
        </p:txBody>
      </p:sp>
      <p:sp>
        <p:nvSpPr>
          <p:cNvPr id="26" name="Shape 24"/>
          <p:cNvSpPr/>
          <p:nvPr/>
        </p:nvSpPr>
        <p:spPr>
          <a:xfrm>
            <a:off x="4370832" y="2084832"/>
            <a:ext cx="109728" cy="0"/>
          </a:xfrm>
          <a:prstGeom prst="line">
            <a:avLst/>
          </a:prstGeom>
          <a:noFill/>
          <a:ln w="19050">
            <a:solidFill>
              <a:srgbClr val="0078D4"/>
            </a:solidFill>
            <a:prstDash val="solid"/>
          </a:ln>
        </p:spPr>
      </p:sp>
      <p:sp>
        <p:nvSpPr>
          <p:cNvPr id="27" name="Shape 25"/>
          <p:cNvSpPr/>
          <p:nvPr/>
        </p:nvSpPr>
        <p:spPr>
          <a:xfrm>
            <a:off x="4480560"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8" name="Shape 26"/>
          <p:cNvSpPr/>
          <p:nvPr/>
        </p:nvSpPr>
        <p:spPr>
          <a:xfrm>
            <a:off x="4480560" y="1847088"/>
            <a:ext cx="1298448" cy="475488"/>
          </a:xfrm>
          <a:prstGeom prst="rect">
            <a:avLst/>
          </a:prstGeom>
          <a:solidFill>
            <a:srgbClr val="D83B01"/>
          </a:solidFill>
          <a:ln w="12700">
            <a:solidFill>
              <a:srgbClr val="D83B01"/>
            </a:solidFill>
            <a:prstDash val="solid"/>
          </a:ln>
        </p:spPr>
      </p:sp>
      <p:sp>
        <p:nvSpPr>
          <p:cNvPr id="29" name="Shape 27"/>
          <p:cNvSpPr/>
          <p:nvPr/>
        </p:nvSpPr>
        <p:spPr>
          <a:xfrm>
            <a:off x="4572000" y="1920240"/>
            <a:ext cx="292608" cy="292608"/>
          </a:xfrm>
          <a:prstGeom prst="ellipse">
            <a:avLst/>
          </a:prstGeom>
          <a:solidFill>
            <a:srgbClr val="FFFFFF"/>
          </a:solidFill>
          <a:ln w="12700">
            <a:solidFill>
              <a:srgbClr val="FFFFFF"/>
            </a:solidFill>
            <a:prstDash val="solid"/>
          </a:ln>
        </p:spPr>
      </p:sp>
      <p:sp>
        <p:nvSpPr>
          <p:cNvPr id="30" name="Text 28"/>
          <p:cNvSpPr/>
          <p:nvPr/>
        </p:nvSpPr>
        <p:spPr>
          <a:xfrm>
            <a:off x="4572000" y="1920240"/>
            <a:ext cx="292608" cy="292608"/>
          </a:xfrm>
          <a:prstGeom prst="rect">
            <a:avLst/>
          </a:prstGeom>
          <a:noFill/>
          <a:ln/>
        </p:spPr>
        <p:txBody>
          <a:bodyPr wrap="square" lIns="0" tIns="0" rIns="0" bIns="0" rtlCol="0" anchor="ctr"/>
          <a:lstStyle/>
          <a:p>
            <a:pPr algn="ctr" indent="0" marL="0">
              <a:buNone/>
            </a:pPr>
            <a:r>
              <a:rPr lang="en-US" sz="1000" b="1" dirty="0">
                <a:solidFill>
                  <a:srgbClr val="D83B01"/>
                </a:solidFill>
                <a:latin typeface="Segoe UI" pitchFamily="34" charset="0"/>
                <a:ea typeface="Segoe UI" pitchFamily="34" charset="-122"/>
                <a:cs typeface="Segoe UI" pitchFamily="34" charset="-120"/>
              </a:rPr>
              <a:t>4</a:t>
            </a:r>
            <a:endParaRPr lang="en-US" sz="1000" dirty="0"/>
          </a:p>
        </p:txBody>
      </p:sp>
      <p:sp>
        <p:nvSpPr>
          <p:cNvPr id="31" name="Text 29"/>
          <p:cNvSpPr/>
          <p:nvPr/>
        </p:nvSpPr>
        <p:spPr>
          <a:xfrm>
            <a:off x="4937760"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Test</a:t>
            </a:r>
            <a:endParaRPr lang="en-US" sz="1300" dirty="0"/>
          </a:p>
        </p:txBody>
      </p:sp>
      <p:sp>
        <p:nvSpPr>
          <p:cNvPr id="32" name="Text 30"/>
          <p:cNvSpPr/>
          <p:nvPr/>
        </p:nvSpPr>
        <p:spPr>
          <a:xfrm>
            <a:off x="4572000"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Test pane, Activity page,</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red-team prompts</a:t>
            </a:r>
            <a:endParaRPr lang="en-US" sz="1050" dirty="0"/>
          </a:p>
        </p:txBody>
      </p:sp>
      <p:sp>
        <p:nvSpPr>
          <p:cNvPr id="33" name="Shape 31"/>
          <p:cNvSpPr/>
          <p:nvPr/>
        </p:nvSpPr>
        <p:spPr>
          <a:xfrm>
            <a:off x="5779008" y="2084832"/>
            <a:ext cx="109728" cy="0"/>
          </a:xfrm>
          <a:prstGeom prst="line">
            <a:avLst/>
          </a:prstGeom>
          <a:noFill/>
          <a:ln w="19050">
            <a:solidFill>
              <a:srgbClr val="0078D4"/>
            </a:solidFill>
            <a:prstDash val="solid"/>
          </a:ln>
        </p:spPr>
      </p:sp>
      <p:sp>
        <p:nvSpPr>
          <p:cNvPr id="34" name="Shape 32"/>
          <p:cNvSpPr/>
          <p:nvPr/>
        </p:nvSpPr>
        <p:spPr>
          <a:xfrm>
            <a:off x="5888736"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35" name="Shape 33"/>
          <p:cNvSpPr/>
          <p:nvPr/>
        </p:nvSpPr>
        <p:spPr>
          <a:xfrm>
            <a:off x="5888736" y="1847088"/>
            <a:ext cx="1298448" cy="475488"/>
          </a:xfrm>
          <a:prstGeom prst="rect">
            <a:avLst/>
          </a:prstGeom>
          <a:solidFill>
            <a:srgbClr val="107C10"/>
          </a:solidFill>
          <a:ln w="12700">
            <a:solidFill>
              <a:srgbClr val="107C10"/>
            </a:solidFill>
            <a:prstDash val="solid"/>
          </a:ln>
        </p:spPr>
      </p:sp>
      <p:sp>
        <p:nvSpPr>
          <p:cNvPr id="36" name="Shape 34"/>
          <p:cNvSpPr/>
          <p:nvPr/>
        </p:nvSpPr>
        <p:spPr>
          <a:xfrm>
            <a:off x="5980176" y="1920240"/>
            <a:ext cx="292608" cy="292608"/>
          </a:xfrm>
          <a:prstGeom prst="ellipse">
            <a:avLst/>
          </a:prstGeom>
          <a:solidFill>
            <a:srgbClr val="FFFFFF"/>
          </a:solidFill>
          <a:ln w="12700">
            <a:solidFill>
              <a:srgbClr val="FFFFFF"/>
            </a:solidFill>
            <a:prstDash val="solid"/>
          </a:ln>
        </p:spPr>
      </p:sp>
      <p:sp>
        <p:nvSpPr>
          <p:cNvPr id="37" name="Text 35"/>
          <p:cNvSpPr/>
          <p:nvPr/>
        </p:nvSpPr>
        <p:spPr>
          <a:xfrm>
            <a:off x="5980176" y="1920240"/>
            <a:ext cx="292608" cy="292608"/>
          </a:xfrm>
          <a:prstGeom prst="rect">
            <a:avLst/>
          </a:prstGeom>
          <a:noFill/>
          <a:ln/>
        </p:spPr>
        <p:txBody>
          <a:bodyPr wrap="square" lIns="0" tIns="0" rIns="0" bIns="0" rtlCol="0" anchor="ctr"/>
          <a:lstStyle/>
          <a:p>
            <a:pPr algn="ctr" indent="0" marL="0">
              <a:buNone/>
            </a:pPr>
            <a:r>
              <a:rPr lang="en-US" sz="1000" b="1" dirty="0">
                <a:solidFill>
                  <a:srgbClr val="107C10"/>
                </a:solidFill>
                <a:latin typeface="Segoe UI" pitchFamily="34" charset="0"/>
                <a:ea typeface="Segoe UI" pitchFamily="34" charset="-122"/>
                <a:cs typeface="Segoe UI" pitchFamily="34" charset="-120"/>
              </a:rPr>
              <a:t>5</a:t>
            </a:r>
            <a:endParaRPr lang="en-US" sz="1000" dirty="0"/>
          </a:p>
        </p:txBody>
      </p:sp>
      <p:sp>
        <p:nvSpPr>
          <p:cNvPr id="38" name="Text 36"/>
          <p:cNvSpPr/>
          <p:nvPr/>
        </p:nvSpPr>
        <p:spPr>
          <a:xfrm>
            <a:off x="6345936"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Publish</a:t>
            </a:r>
            <a:endParaRPr lang="en-US" sz="1300" dirty="0"/>
          </a:p>
        </p:txBody>
      </p:sp>
      <p:sp>
        <p:nvSpPr>
          <p:cNvPr id="39" name="Text 37"/>
          <p:cNvSpPr/>
          <p:nvPr/>
        </p:nvSpPr>
        <p:spPr>
          <a:xfrm>
            <a:off x="5980176"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Channels, branding,</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admin approvals</a:t>
            </a:r>
            <a:endParaRPr lang="en-US" sz="1050" dirty="0"/>
          </a:p>
        </p:txBody>
      </p:sp>
      <p:sp>
        <p:nvSpPr>
          <p:cNvPr id="40" name="Shape 38"/>
          <p:cNvSpPr/>
          <p:nvPr/>
        </p:nvSpPr>
        <p:spPr>
          <a:xfrm>
            <a:off x="7187184" y="2084832"/>
            <a:ext cx="109728" cy="0"/>
          </a:xfrm>
          <a:prstGeom prst="line">
            <a:avLst/>
          </a:prstGeom>
          <a:noFill/>
          <a:ln w="19050">
            <a:solidFill>
              <a:srgbClr val="0078D4"/>
            </a:solidFill>
            <a:prstDash val="solid"/>
          </a:ln>
        </p:spPr>
      </p:sp>
      <p:sp>
        <p:nvSpPr>
          <p:cNvPr id="41" name="Shape 39"/>
          <p:cNvSpPr/>
          <p:nvPr/>
        </p:nvSpPr>
        <p:spPr>
          <a:xfrm>
            <a:off x="7296912" y="1847088"/>
            <a:ext cx="1298448" cy="292608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42" name="Shape 40"/>
          <p:cNvSpPr/>
          <p:nvPr/>
        </p:nvSpPr>
        <p:spPr>
          <a:xfrm>
            <a:off x="7296912" y="1847088"/>
            <a:ext cx="1298448" cy="475488"/>
          </a:xfrm>
          <a:prstGeom prst="rect">
            <a:avLst/>
          </a:prstGeom>
          <a:solidFill>
            <a:srgbClr val="038387"/>
          </a:solidFill>
          <a:ln w="12700">
            <a:solidFill>
              <a:srgbClr val="038387"/>
            </a:solidFill>
            <a:prstDash val="solid"/>
          </a:ln>
        </p:spPr>
      </p:sp>
      <p:sp>
        <p:nvSpPr>
          <p:cNvPr id="43" name="Shape 41"/>
          <p:cNvSpPr/>
          <p:nvPr/>
        </p:nvSpPr>
        <p:spPr>
          <a:xfrm>
            <a:off x="7388352" y="1920240"/>
            <a:ext cx="292608" cy="292608"/>
          </a:xfrm>
          <a:prstGeom prst="ellipse">
            <a:avLst/>
          </a:prstGeom>
          <a:solidFill>
            <a:srgbClr val="FFFFFF"/>
          </a:solidFill>
          <a:ln w="12700">
            <a:solidFill>
              <a:srgbClr val="FFFFFF"/>
            </a:solidFill>
            <a:prstDash val="solid"/>
          </a:ln>
        </p:spPr>
      </p:sp>
      <p:sp>
        <p:nvSpPr>
          <p:cNvPr id="44" name="Text 42"/>
          <p:cNvSpPr/>
          <p:nvPr/>
        </p:nvSpPr>
        <p:spPr>
          <a:xfrm>
            <a:off x="7388352" y="1920240"/>
            <a:ext cx="292608" cy="292608"/>
          </a:xfrm>
          <a:prstGeom prst="rect">
            <a:avLst/>
          </a:prstGeom>
          <a:noFill/>
          <a:ln/>
        </p:spPr>
        <p:txBody>
          <a:bodyPr wrap="square" lIns="0" tIns="0" rIns="0" bIns="0" rtlCol="0" anchor="ctr"/>
          <a:lstStyle/>
          <a:p>
            <a:pPr algn="ctr" indent="0" marL="0">
              <a:buNone/>
            </a:pPr>
            <a:r>
              <a:rPr lang="en-US" sz="1000" b="1" dirty="0">
                <a:solidFill>
                  <a:srgbClr val="038387"/>
                </a:solidFill>
                <a:latin typeface="Segoe UI" pitchFamily="34" charset="0"/>
                <a:ea typeface="Segoe UI" pitchFamily="34" charset="-122"/>
                <a:cs typeface="Segoe UI" pitchFamily="34" charset="-120"/>
              </a:rPr>
              <a:t>6</a:t>
            </a:r>
            <a:endParaRPr lang="en-US" sz="1000" dirty="0"/>
          </a:p>
        </p:txBody>
      </p:sp>
      <p:sp>
        <p:nvSpPr>
          <p:cNvPr id="45" name="Text 43"/>
          <p:cNvSpPr/>
          <p:nvPr/>
        </p:nvSpPr>
        <p:spPr>
          <a:xfrm>
            <a:off x="7754112" y="1847088"/>
            <a:ext cx="768096" cy="475488"/>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Improve</a:t>
            </a:r>
            <a:endParaRPr lang="en-US" sz="1300" dirty="0"/>
          </a:p>
        </p:txBody>
      </p:sp>
      <p:sp>
        <p:nvSpPr>
          <p:cNvPr id="46" name="Text 44"/>
          <p:cNvSpPr/>
          <p:nvPr/>
        </p:nvSpPr>
        <p:spPr>
          <a:xfrm>
            <a:off x="7388352" y="2395728"/>
            <a:ext cx="1133856" cy="128016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Analytics, evaluation,</a:t>
            </a:r>
            <a:endParaRPr lang="en-US" sz="1050" dirty="0"/>
          </a:p>
          <a:p>
            <a:pPr indent="0" marL="0">
              <a:buNone/>
            </a:pPr>
            <a:r>
              <a:rPr lang="en-US" sz="1050" dirty="0">
                <a:solidFill>
                  <a:srgbClr val="201F1E"/>
                </a:solidFill>
                <a:latin typeface="Segoe UI" pitchFamily="34" charset="0"/>
                <a:ea typeface="Segoe UI" pitchFamily="34" charset="-122"/>
                <a:cs typeface="Segoe UI" pitchFamily="34" charset="-120"/>
              </a:rPr>
              <a:t>feedback, tuning</a:t>
            </a:r>
            <a:endParaRPr lang="en-US" sz="1050" dirty="0"/>
          </a:p>
        </p:txBody>
      </p:sp>
      <p:sp>
        <p:nvSpPr>
          <p:cNvPr id="47" name="Shape 45"/>
          <p:cNvSpPr/>
          <p:nvPr/>
        </p:nvSpPr>
        <p:spPr>
          <a:xfrm>
            <a:off x="256032" y="4681728"/>
            <a:ext cx="8631936" cy="320040"/>
          </a:xfrm>
          <a:prstGeom prst="rect">
            <a:avLst/>
          </a:prstGeom>
          <a:solidFill>
            <a:srgbClr val="EFF6FC"/>
          </a:solidFill>
          <a:ln w="12700">
            <a:solidFill>
              <a:srgbClr val="C7E0F4"/>
            </a:solidFill>
            <a:prstDash val="solid"/>
          </a:ln>
        </p:spPr>
      </p:sp>
      <p:sp>
        <p:nvSpPr>
          <p:cNvPr id="48" name="Text 46"/>
          <p:cNvSpPr/>
          <p:nvPr/>
        </p:nvSpPr>
        <p:spPr>
          <a:xfrm>
            <a:off x="411480" y="4681728"/>
            <a:ext cx="8467344"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This module focuses on stages 1–2 (Define + Ground) — Test and Improve become the focus from Lab 06 onward.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STUDIO FOUNDATIONS</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The Activity Page — Your Diagnostic Habit</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Open Activity before you guess. Every workshop troubleshooting step starts here.</a:t>
            </a:r>
            <a:endParaRPr lang="en-US" sz="1200" dirty="0"/>
          </a:p>
        </p:txBody>
      </p:sp>
      <p:sp>
        <p:nvSpPr>
          <p:cNvPr id="6" name="Shape 4"/>
          <p:cNvSpPr/>
          <p:nvPr/>
        </p:nvSpPr>
        <p:spPr>
          <a:xfrm>
            <a:off x="274320" y="1783080"/>
            <a:ext cx="4114800" cy="3090672"/>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83080"/>
            <a:ext cx="4114800" cy="411480"/>
          </a:xfrm>
          <a:prstGeom prst="rect">
            <a:avLst/>
          </a:prstGeom>
          <a:solidFill>
            <a:srgbClr val="0078D4"/>
          </a:solidFill>
          <a:ln w="12700">
            <a:solidFill>
              <a:srgbClr val="0078D4"/>
            </a:solidFill>
            <a:prstDash val="solid"/>
          </a:ln>
        </p:spPr>
      </p:sp>
      <p:sp>
        <p:nvSpPr>
          <p:cNvPr id="8" name="Text 6"/>
          <p:cNvSpPr/>
          <p:nvPr/>
        </p:nvSpPr>
        <p:spPr>
          <a:xfrm>
            <a:off x="384048" y="1783080"/>
            <a:ext cx="3913632" cy="4114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What Activity shows you</a:t>
            </a:r>
            <a:endParaRPr lang="en-US" sz="1200" dirty="0"/>
          </a:p>
        </p:txBody>
      </p:sp>
      <p:sp>
        <p:nvSpPr>
          <p:cNvPr id="9" name="Shape 7"/>
          <p:cNvSpPr/>
          <p:nvPr/>
        </p:nvSpPr>
        <p:spPr>
          <a:xfrm>
            <a:off x="384048" y="2350008"/>
            <a:ext cx="256032" cy="256032"/>
          </a:xfrm>
          <a:prstGeom prst="rect">
            <a:avLst/>
          </a:prstGeom>
          <a:solidFill>
            <a:srgbClr val="0078D4"/>
          </a:solidFill>
          <a:ln w="12700">
            <a:solidFill>
              <a:srgbClr val="0078D4"/>
            </a:solidFill>
            <a:prstDash val="solid"/>
          </a:ln>
        </p:spPr>
      </p:sp>
      <p:sp>
        <p:nvSpPr>
          <p:cNvPr id="10" name="Text 8"/>
          <p:cNvSpPr/>
          <p:nvPr/>
        </p:nvSpPr>
        <p:spPr>
          <a:xfrm>
            <a:off x="384048" y="235000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11" name="Text 9"/>
          <p:cNvSpPr/>
          <p:nvPr/>
        </p:nvSpPr>
        <p:spPr>
          <a:xfrm>
            <a:off x="749808" y="2304288"/>
            <a:ext cx="347472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What the user said</a:t>
            </a:r>
            <a:endParaRPr lang="en-US" sz="1150" dirty="0"/>
          </a:p>
        </p:txBody>
      </p:sp>
      <p:sp>
        <p:nvSpPr>
          <p:cNvPr id="12" name="Text 10"/>
          <p:cNvSpPr/>
          <p:nvPr/>
        </p:nvSpPr>
        <p:spPr>
          <a:xfrm>
            <a:off x="749808" y="2560320"/>
            <a:ext cx="3474720" cy="292608"/>
          </a:xfrm>
          <a:prstGeom prst="rect">
            <a:avLst/>
          </a:prstGeom>
          <a:noFill/>
          <a:ln/>
        </p:spPr>
        <p:txBody>
          <a:bodyPr wrap="square" lIns="0" tIns="0" rIns="0" bIns="0" rtlCol="0" anchor="ctr"/>
          <a:lstStyle/>
          <a:p>
            <a:pPr indent="0" marL="0">
              <a:buNone/>
            </a:pPr>
            <a:r>
              <a:rPr lang="en-US" sz="1000" dirty="0">
                <a:solidFill>
                  <a:srgbClr val="605E5C"/>
                </a:solidFill>
                <a:latin typeface="Segoe UI" pitchFamily="34" charset="0"/>
                <a:ea typeface="Segoe UI" pitchFamily="34" charset="-122"/>
                <a:cs typeface="Segoe UI" pitchFamily="34" charset="-120"/>
              </a:rPr>
              <a:t>The exact input that triggered the session</a:t>
            </a:r>
            <a:endParaRPr lang="en-US" sz="1000" dirty="0"/>
          </a:p>
        </p:txBody>
      </p:sp>
      <p:sp>
        <p:nvSpPr>
          <p:cNvPr id="13" name="Shape 11"/>
          <p:cNvSpPr/>
          <p:nvPr/>
        </p:nvSpPr>
        <p:spPr>
          <a:xfrm>
            <a:off x="384048" y="2971800"/>
            <a:ext cx="256032" cy="256032"/>
          </a:xfrm>
          <a:prstGeom prst="rect">
            <a:avLst/>
          </a:prstGeom>
          <a:solidFill>
            <a:srgbClr val="0078D4"/>
          </a:solidFill>
          <a:ln w="12700">
            <a:solidFill>
              <a:srgbClr val="0078D4"/>
            </a:solidFill>
            <a:prstDash val="solid"/>
          </a:ln>
        </p:spPr>
      </p:sp>
      <p:sp>
        <p:nvSpPr>
          <p:cNvPr id="14" name="Text 12"/>
          <p:cNvSpPr/>
          <p:nvPr/>
        </p:nvSpPr>
        <p:spPr>
          <a:xfrm>
            <a:off x="384048" y="29718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15" name="Text 13"/>
          <p:cNvSpPr/>
          <p:nvPr/>
        </p:nvSpPr>
        <p:spPr>
          <a:xfrm>
            <a:off x="749808" y="2926080"/>
            <a:ext cx="347472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What the agent decided</a:t>
            </a:r>
            <a:endParaRPr lang="en-US" sz="1150" dirty="0"/>
          </a:p>
        </p:txBody>
      </p:sp>
      <p:sp>
        <p:nvSpPr>
          <p:cNvPr id="16" name="Text 14"/>
          <p:cNvSpPr/>
          <p:nvPr/>
        </p:nvSpPr>
        <p:spPr>
          <a:xfrm>
            <a:off x="749808" y="3182112"/>
            <a:ext cx="3474720" cy="292608"/>
          </a:xfrm>
          <a:prstGeom prst="rect">
            <a:avLst/>
          </a:prstGeom>
          <a:noFill/>
          <a:ln/>
        </p:spPr>
        <p:txBody>
          <a:bodyPr wrap="square" lIns="0" tIns="0" rIns="0" bIns="0" rtlCol="0" anchor="ctr"/>
          <a:lstStyle/>
          <a:p>
            <a:pPr indent="0" marL="0">
              <a:buNone/>
            </a:pPr>
            <a:r>
              <a:rPr lang="en-US" sz="1000" dirty="0">
                <a:solidFill>
                  <a:srgbClr val="605E5C"/>
                </a:solidFill>
                <a:latin typeface="Segoe UI" pitchFamily="34" charset="0"/>
                <a:ea typeface="Segoe UI" pitchFamily="34" charset="-122"/>
                <a:cs typeface="Segoe UI" pitchFamily="34" charset="-120"/>
              </a:rPr>
              <a:t>Which topic, knowledge source, or tool was selected — and why</a:t>
            </a:r>
            <a:endParaRPr lang="en-US" sz="1000" dirty="0"/>
          </a:p>
        </p:txBody>
      </p:sp>
      <p:sp>
        <p:nvSpPr>
          <p:cNvPr id="17" name="Shape 15"/>
          <p:cNvSpPr/>
          <p:nvPr/>
        </p:nvSpPr>
        <p:spPr>
          <a:xfrm>
            <a:off x="384048" y="3593592"/>
            <a:ext cx="256032" cy="256032"/>
          </a:xfrm>
          <a:prstGeom prst="rect">
            <a:avLst/>
          </a:prstGeom>
          <a:solidFill>
            <a:srgbClr val="0078D4"/>
          </a:solidFill>
          <a:ln w="12700">
            <a:solidFill>
              <a:srgbClr val="0078D4"/>
            </a:solidFill>
            <a:prstDash val="solid"/>
          </a:ln>
        </p:spPr>
      </p:sp>
      <p:sp>
        <p:nvSpPr>
          <p:cNvPr id="18" name="Text 16"/>
          <p:cNvSpPr/>
          <p:nvPr/>
        </p:nvSpPr>
        <p:spPr>
          <a:xfrm>
            <a:off x="384048" y="35935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19" name="Text 17"/>
          <p:cNvSpPr/>
          <p:nvPr/>
        </p:nvSpPr>
        <p:spPr>
          <a:xfrm>
            <a:off x="749808" y="3547872"/>
            <a:ext cx="347472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What it returned</a:t>
            </a:r>
            <a:endParaRPr lang="en-US" sz="1150" dirty="0"/>
          </a:p>
        </p:txBody>
      </p:sp>
      <p:sp>
        <p:nvSpPr>
          <p:cNvPr id="20" name="Text 18"/>
          <p:cNvSpPr/>
          <p:nvPr/>
        </p:nvSpPr>
        <p:spPr>
          <a:xfrm>
            <a:off x="749808" y="3803904"/>
            <a:ext cx="3474720" cy="292608"/>
          </a:xfrm>
          <a:prstGeom prst="rect">
            <a:avLst/>
          </a:prstGeom>
          <a:noFill/>
          <a:ln/>
        </p:spPr>
        <p:txBody>
          <a:bodyPr wrap="square" lIns="0" tIns="0" rIns="0" bIns="0" rtlCol="0" anchor="ctr"/>
          <a:lstStyle/>
          <a:p>
            <a:pPr indent="0" marL="0">
              <a:buNone/>
            </a:pPr>
            <a:r>
              <a:rPr lang="en-US" sz="1000" dirty="0">
                <a:solidFill>
                  <a:srgbClr val="605E5C"/>
                </a:solidFill>
                <a:latin typeface="Segoe UI" pitchFamily="34" charset="0"/>
                <a:ea typeface="Segoe UI" pitchFamily="34" charset="-122"/>
                <a:cs typeface="Segoe UI" pitchFamily="34" charset="-120"/>
              </a:rPr>
              <a:t>The full response and any tool outputs or citations</a:t>
            </a:r>
            <a:endParaRPr lang="en-US" sz="1000" dirty="0"/>
          </a:p>
        </p:txBody>
      </p:sp>
      <p:sp>
        <p:nvSpPr>
          <p:cNvPr id="21" name="Shape 19"/>
          <p:cNvSpPr/>
          <p:nvPr/>
        </p:nvSpPr>
        <p:spPr>
          <a:xfrm>
            <a:off x="384048" y="4215384"/>
            <a:ext cx="256032" cy="256032"/>
          </a:xfrm>
          <a:prstGeom prst="rect">
            <a:avLst/>
          </a:prstGeom>
          <a:solidFill>
            <a:srgbClr val="0078D4"/>
          </a:solidFill>
          <a:ln w="12700">
            <a:solidFill>
              <a:srgbClr val="0078D4"/>
            </a:solidFill>
            <a:prstDash val="solid"/>
          </a:ln>
        </p:spPr>
      </p:sp>
      <p:sp>
        <p:nvSpPr>
          <p:cNvPr id="22" name="Text 20"/>
          <p:cNvSpPr/>
          <p:nvPr/>
        </p:nvSpPr>
        <p:spPr>
          <a:xfrm>
            <a:off x="384048" y="421538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4</a:t>
            </a:r>
            <a:endParaRPr lang="en-US" sz="900" dirty="0"/>
          </a:p>
        </p:txBody>
      </p:sp>
      <p:sp>
        <p:nvSpPr>
          <p:cNvPr id="23" name="Text 21"/>
          <p:cNvSpPr/>
          <p:nvPr/>
        </p:nvSpPr>
        <p:spPr>
          <a:xfrm>
            <a:off x="749808" y="4169664"/>
            <a:ext cx="347472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Where it failed</a:t>
            </a:r>
            <a:endParaRPr lang="en-US" sz="1150" dirty="0"/>
          </a:p>
        </p:txBody>
      </p:sp>
      <p:sp>
        <p:nvSpPr>
          <p:cNvPr id="24" name="Text 22"/>
          <p:cNvSpPr/>
          <p:nvPr/>
        </p:nvSpPr>
        <p:spPr>
          <a:xfrm>
            <a:off x="749808" y="4425696"/>
            <a:ext cx="3474720" cy="292608"/>
          </a:xfrm>
          <a:prstGeom prst="rect">
            <a:avLst/>
          </a:prstGeom>
          <a:noFill/>
          <a:ln/>
        </p:spPr>
        <p:txBody>
          <a:bodyPr wrap="square" lIns="0" tIns="0" rIns="0" bIns="0" rtlCol="0" anchor="ctr"/>
          <a:lstStyle/>
          <a:p>
            <a:pPr indent="0" marL="0">
              <a:buNone/>
            </a:pPr>
            <a:r>
              <a:rPr lang="en-US" sz="1000" dirty="0">
                <a:solidFill>
                  <a:srgbClr val="605E5C"/>
                </a:solidFill>
                <a:latin typeface="Segoe UI" pitchFamily="34" charset="0"/>
                <a:ea typeface="Segoe UI" pitchFamily="34" charset="-122"/>
                <a:cs typeface="Segoe UI" pitchFamily="34" charset="-120"/>
              </a:rPr>
              <a:t>Errors, fallbacks, and tool-selection mismatches with timestamps</a:t>
            </a:r>
            <a:endParaRPr lang="en-US" sz="1000" dirty="0"/>
          </a:p>
        </p:txBody>
      </p:sp>
      <p:sp>
        <p:nvSpPr>
          <p:cNvPr id="25" name="Shape 23"/>
          <p:cNvSpPr/>
          <p:nvPr/>
        </p:nvSpPr>
        <p:spPr>
          <a:xfrm>
            <a:off x="4754880" y="1783080"/>
            <a:ext cx="4114800" cy="3090672"/>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6" name="Shape 24"/>
          <p:cNvSpPr/>
          <p:nvPr/>
        </p:nvSpPr>
        <p:spPr>
          <a:xfrm>
            <a:off x="4754880" y="1783080"/>
            <a:ext cx="4114800" cy="411480"/>
          </a:xfrm>
          <a:prstGeom prst="rect">
            <a:avLst/>
          </a:prstGeom>
          <a:solidFill>
            <a:srgbClr val="243A5E"/>
          </a:solidFill>
          <a:ln w="12700">
            <a:solidFill>
              <a:srgbClr val="243A5E"/>
            </a:solidFill>
            <a:prstDash val="solid"/>
          </a:ln>
        </p:spPr>
      </p:sp>
      <p:sp>
        <p:nvSpPr>
          <p:cNvPr id="27" name="Text 25"/>
          <p:cNvSpPr/>
          <p:nvPr/>
        </p:nvSpPr>
        <p:spPr>
          <a:xfrm>
            <a:off x="4864608" y="1783080"/>
            <a:ext cx="3913632" cy="4114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When to open Activity</a:t>
            </a:r>
            <a:endParaRPr lang="en-US" sz="1200" dirty="0"/>
          </a:p>
        </p:txBody>
      </p:sp>
      <p:sp>
        <p:nvSpPr>
          <p:cNvPr id="28" name="Text 26"/>
          <p:cNvSpPr/>
          <p:nvPr/>
        </p:nvSpPr>
        <p:spPr>
          <a:xfrm>
            <a:off x="4864608" y="2286000"/>
            <a:ext cx="3886200" cy="2423160"/>
          </a:xfrm>
          <a:prstGeom prst="rect">
            <a:avLst/>
          </a:prstGeom>
          <a:noFill/>
          <a:ln/>
        </p:spPr>
        <p:txBody>
          <a:bodyPr wrap="square" rtlCol="0" anchor="ctr"/>
          <a:lstStyle/>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Agent returned a wrong, incomplete, or off-topic answer</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You suspect the wrong topic or knowledge source was selected</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A tool or flow did not fire as expected</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You want transcript evidence for an evaluation or release decision</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A participant reports inconsistent behavior during the workshop</a:t>
            </a:r>
            <a:endParaRPr lang="en-US" sz="1100" dirty="0"/>
          </a:p>
        </p:txBody>
      </p:sp>
      <p:sp>
        <p:nvSpPr>
          <p:cNvPr id="29" name="Shape 27"/>
          <p:cNvSpPr/>
          <p:nvPr/>
        </p:nvSpPr>
        <p:spPr>
          <a:xfrm>
            <a:off x="274320" y="4681728"/>
            <a:ext cx="8595360" cy="320040"/>
          </a:xfrm>
          <a:prstGeom prst="rect">
            <a:avLst/>
          </a:prstGeom>
          <a:solidFill>
            <a:srgbClr val="EFF6FC"/>
          </a:solidFill>
          <a:ln w="12700">
            <a:solidFill>
              <a:srgbClr val="C7E0F4"/>
            </a:solidFill>
            <a:prstDash val="solid"/>
          </a:ln>
        </p:spPr>
      </p:sp>
      <p:sp>
        <p:nvSpPr>
          <p:cNvPr id="30" name="Text 28"/>
          <p:cNvSpPr/>
          <p:nvPr/>
        </p:nvSpPr>
        <p:spPr>
          <a:xfrm>
            <a:off x="438912" y="4681728"/>
            <a:ext cx="8449056"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Normalizing Activity now means Lab 24 evaluation feels like a habit — not a new tool.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STUDIO FOUNDATIONS</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Diagnostics &amp; Maintainability</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Design every workshop artifact as something a teammate could support after handoff.</a:t>
            </a:r>
            <a:endParaRPr lang="en-US" sz="1200" dirty="0"/>
          </a:p>
        </p:txBody>
      </p:sp>
      <p:sp>
        <p:nvSpPr>
          <p:cNvPr id="6" name="Shape 4"/>
          <p:cNvSpPr/>
          <p:nvPr/>
        </p:nvSpPr>
        <p:spPr>
          <a:xfrm>
            <a:off x="2560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834640" cy="457200"/>
          </a:xfrm>
          <a:prstGeom prst="rect">
            <a:avLst/>
          </a:prstGeom>
          <a:solidFill>
            <a:srgbClr val="0078D4"/>
          </a:solidFill>
          <a:ln w="12700">
            <a:solidFill>
              <a:srgbClr val="0078D4"/>
            </a:solidFill>
            <a:prstDash val="solid"/>
          </a:ln>
        </p:spPr>
      </p:sp>
      <p:sp>
        <p:nvSpPr>
          <p:cNvPr id="8" name="Shape 6"/>
          <p:cNvSpPr/>
          <p:nvPr/>
        </p:nvSpPr>
        <p:spPr>
          <a:xfrm>
            <a:off x="347472" y="1892808"/>
            <a:ext cx="274320" cy="274320"/>
          </a:xfrm>
          <a:prstGeom prst="ellipse">
            <a:avLst/>
          </a:prstGeom>
          <a:solidFill>
            <a:srgbClr val="FFFFFF"/>
          </a:solidFill>
          <a:ln w="12700">
            <a:solidFill>
              <a:srgbClr val="FFFFFF"/>
            </a:solidFill>
            <a:prstDash val="solid"/>
          </a:ln>
        </p:spPr>
      </p:sp>
      <p:sp>
        <p:nvSpPr>
          <p:cNvPr id="9" name="Text 7"/>
          <p:cNvSpPr/>
          <p:nvPr/>
        </p:nvSpPr>
        <p:spPr>
          <a:xfrm>
            <a:off x="347472" y="1892808"/>
            <a:ext cx="274320" cy="274320"/>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713232" y="1783080"/>
            <a:ext cx="2286000" cy="45720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Name everything precisely</a:t>
            </a:r>
            <a:endParaRPr lang="en-US" sz="1200" dirty="0"/>
          </a:p>
        </p:txBody>
      </p:sp>
      <p:sp>
        <p:nvSpPr>
          <p:cNvPr id="11" name="Text 9"/>
          <p:cNvSpPr/>
          <p:nvPr/>
        </p:nvSpPr>
        <p:spPr>
          <a:xfrm>
            <a:off x="347472" y="2313432"/>
            <a:ext cx="2670048" cy="256032"/>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Tools · Topics · Knowledge sources</a:t>
            </a:r>
            <a:endParaRPr lang="en-US" sz="950" dirty="0"/>
          </a:p>
        </p:txBody>
      </p:sp>
      <p:sp>
        <p:nvSpPr>
          <p:cNvPr id="12" name="Text 10"/>
          <p:cNvSpPr/>
          <p:nvPr/>
        </p:nvSpPr>
        <p:spPr>
          <a:xfrm>
            <a:off x="347472" y="2606040"/>
            <a:ext cx="2670048" cy="210312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Use names that reflect purpose, not sequence ("Device Request Form" not "Topic 3")</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Precise names let orchestration decisions stay understandable months after creation</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Imprecise names make Activity traces and evaluation results hard to interpret</a:t>
            </a:r>
            <a:endParaRPr lang="en-US" sz="1000" dirty="0"/>
          </a:p>
        </p:txBody>
      </p:sp>
      <p:sp>
        <p:nvSpPr>
          <p:cNvPr id="13" name="Shape 11"/>
          <p:cNvSpPr/>
          <p:nvPr/>
        </p:nvSpPr>
        <p:spPr>
          <a:xfrm>
            <a:off x="32278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227832" y="1783080"/>
            <a:ext cx="2834640" cy="457200"/>
          </a:xfrm>
          <a:prstGeom prst="rect">
            <a:avLst/>
          </a:prstGeom>
          <a:solidFill>
            <a:srgbClr val="5C2D91"/>
          </a:solidFill>
          <a:ln w="12700">
            <a:solidFill>
              <a:srgbClr val="5C2D91"/>
            </a:solidFill>
            <a:prstDash val="solid"/>
          </a:ln>
        </p:spPr>
      </p:sp>
      <p:sp>
        <p:nvSpPr>
          <p:cNvPr id="15" name="Shape 13"/>
          <p:cNvSpPr/>
          <p:nvPr/>
        </p:nvSpPr>
        <p:spPr>
          <a:xfrm>
            <a:off x="3319272" y="1892808"/>
            <a:ext cx="274320" cy="274320"/>
          </a:xfrm>
          <a:prstGeom prst="ellipse">
            <a:avLst/>
          </a:prstGeom>
          <a:solidFill>
            <a:srgbClr val="FFFFFF"/>
          </a:solidFill>
          <a:ln w="12700">
            <a:solidFill>
              <a:srgbClr val="FFFFFF"/>
            </a:solidFill>
            <a:prstDash val="solid"/>
          </a:ln>
        </p:spPr>
      </p:sp>
      <p:sp>
        <p:nvSpPr>
          <p:cNvPr id="16" name="Text 14"/>
          <p:cNvSpPr/>
          <p:nvPr/>
        </p:nvSpPr>
        <p:spPr>
          <a:xfrm>
            <a:off x="3319272" y="1892808"/>
            <a:ext cx="274320" cy="274320"/>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3685032" y="1783080"/>
            <a:ext cx="2286000" cy="45720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Keep topics bite-sized</a:t>
            </a:r>
            <a:endParaRPr lang="en-US" sz="1200" dirty="0"/>
          </a:p>
        </p:txBody>
      </p:sp>
      <p:sp>
        <p:nvSpPr>
          <p:cNvPr id="18" name="Text 16"/>
          <p:cNvSpPr/>
          <p:nvPr/>
        </p:nvSpPr>
        <p:spPr>
          <a:xfrm>
            <a:off x="3319272" y="2313432"/>
            <a:ext cx="2670048" cy="256032"/>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One intent · One exit · Clear triggers</a:t>
            </a:r>
            <a:endParaRPr lang="en-US" sz="950" dirty="0"/>
          </a:p>
        </p:txBody>
      </p:sp>
      <p:sp>
        <p:nvSpPr>
          <p:cNvPr id="19" name="Text 17"/>
          <p:cNvSpPr/>
          <p:nvPr/>
        </p:nvSpPr>
        <p:spPr>
          <a:xfrm>
            <a:off x="3319272" y="2606040"/>
            <a:ext cx="2670048" cy="210312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Small focused topics are easier to test, debug, and hand off to new team members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Large monolithic topics hide routing issues and create invisible support debt</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Redirects and shared endings replace repeated logic across topics</a:t>
            </a:r>
            <a:endParaRPr lang="en-US" sz="1000" dirty="0"/>
          </a:p>
        </p:txBody>
      </p:sp>
      <p:sp>
        <p:nvSpPr>
          <p:cNvPr id="20" name="Shape 18"/>
          <p:cNvSpPr/>
          <p:nvPr/>
        </p:nvSpPr>
        <p:spPr>
          <a:xfrm>
            <a:off x="61996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199632" y="1783080"/>
            <a:ext cx="2834640" cy="457200"/>
          </a:xfrm>
          <a:prstGeom prst="rect">
            <a:avLst/>
          </a:prstGeom>
          <a:solidFill>
            <a:srgbClr val="107C10"/>
          </a:solidFill>
          <a:ln w="12700">
            <a:solidFill>
              <a:srgbClr val="107C10"/>
            </a:solidFill>
            <a:prstDash val="solid"/>
          </a:ln>
        </p:spPr>
      </p:sp>
      <p:sp>
        <p:nvSpPr>
          <p:cNvPr id="22" name="Shape 20"/>
          <p:cNvSpPr/>
          <p:nvPr/>
        </p:nvSpPr>
        <p:spPr>
          <a:xfrm>
            <a:off x="6291072" y="1892808"/>
            <a:ext cx="274320" cy="274320"/>
          </a:xfrm>
          <a:prstGeom prst="ellipse">
            <a:avLst/>
          </a:prstGeom>
          <a:solidFill>
            <a:srgbClr val="FFFFFF"/>
          </a:solidFill>
          <a:ln w="12700">
            <a:solidFill>
              <a:srgbClr val="FFFFFF"/>
            </a:solidFill>
            <a:prstDash val="solid"/>
          </a:ln>
        </p:spPr>
      </p:sp>
      <p:sp>
        <p:nvSpPr>
          <p:cNvPr id="23" name="Text 21"/>
          <p:cNvSpPr/>
          <p:nvPr/>
        </p:nvSpPr>
        <p:spPr>
          <a:xfrm>
            <a:off x="6291072" y="1892808"/>
            <a:ext cx="274320" cy="274320"/>
          </a:xfrm>
          <a:prstGeom prst="rect">
            <a:avLst/>
          </a:prstGeom>
          <a:noFill/>
          <a:ln/>
        </p:spPr>
        <p:txBody>
          <a:bodyPr wrap="square" lIns="0" tIns="0" rIns="0" bIns="0" rtlCol="0" anchor="ctr"/>
          <a:lstStyle/>
          <a:p>
            <a:pPr algn="ctr" indent="0" marL="0">
              <a:buNone/>
            </a:pPr>
            <a:r>
              <a:rPr lang="en-US" sz="1000" b="1" dirty="0">
                <a:solidFill>
                  <a:srgbClr val="107C10"/>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6656832" y="1783080"/>
            <a:ext cx="2286000" cy="45720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Plan production from day one</a:t>
            </a:r>
            <a:endParaRPr lang="en-US" sz="1200" dirty="0"/>
          </a:p>
        </p:txBody>
      </p:sp>
      <p:sp>
        <p:nvSpPr>
          <p:cNvPr id="25" name="Text 23"/>
          <p:cNvSpPr/>
          <p:nvPr/>
        </p:nvSpPr>
        <p:spPr>
          <a:xfrm>
            <a:off x="6291072" y="2313432"/>
            <a:ext cx="2670048" cy="256032"/>
          </a:xfrm>
          <a:prstGeom prst="rect">
            <a:avLst/>
          </a:prstGeom>
          <a:noFill/>
          <a:ln/>
        </p:spPr>
        <p:txBody>
          <a:bodyPr wrap="square" rtlCol="0" anchor="ctr"/>
          <a:lstStyle/>
          <a:p>
            <a:pPr indent="0" marL="0">
              <a:buNone/>
            </a:pPr>
            <a:r>
              <a:rPr lang="en-US" sz="950" b="1" dirty="0">
                <a:solidFill>
                  <a:srgbClr val="107C10"/>
                </a:solidFill>
                <a:latin typeface="Segoe UI" pitchFamily="34" charset="0"/>
                <a:ea typeface="Segoe UI" pitchFamily="34" charset="-122"/>
                <a:cs typeface="Segoe UI" pitchFamily="34" charset="-120"/>
              </a:rPr>
              <a:t>Ownership · Support path · Diagnostics</a:t>
            </a:r>
            <a:endParaRPr lang="en-US" sz="950" dirty="0"/>
          </a:p>
        </p:txBody>
      </p:sp>
      <p:sp>
        <p:nvSpPr>
          <p:cNvPr id="26" name="Text 24"/>
          <p:cNvSpPr/>
          <p:nvPr/>
        </p:nvSpPr>
        <p:spPr>
          <a:xfrm>
            <a:off x="6291072" y="2606040"/>
            <a:ext cx="2670048" cy="210312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Name an owner for every agent, knowledge source, and flow before publishing</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Document the support path — who reviews Activity alerts, who tunes the agent</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Pre-stage the evaluation and feedback loop so quality improvement has a home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02</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Copilot Studio Fundamentals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Open or create an agent and confirm your target environment</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Locate Overview, Knowledge, Tools, Topics, and Analytics tabs</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Find and open the Activity page — record where it lives</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Note which surface controls instructions, knowledge, actions, and publishing</a:t>
            </a:r>
            <a:endParaRPr lang="en-US" sz="115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LAB 02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02: Copilot Studio Fundamentals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win condition is confident orientation — not exhaustive feature discovery.</a:t>
            </a:r>
            <a:endParaRPr lang="en-US" sz="1200" dirty="0"/>
          </a:p>
        </p:txBody>
      </p:sp>
      <p:sp>
        <p:nvSpPr>
          <p:cNvPr id="6" name="Shape 4"/>
          <p:cNvSpPr/>
          <p:nvPr/>
        </p:nvSpPr>
        <p:spPr>
          <a:xfrm>
            <a:off x="320040" y="1801368"/>
            <a:ext cx="1463040" cy="320040"/>
          </a:xfrm>
          <a:prstGeom prst="rect">
            <a:avLst/>
          </a:prstGeom>
          <a:solidFill>
            <a:srgbClr val="0078D4"/>
          </a:solidFill>
          <a:ln w="12700">
            <a:solidFill>
              <a:srgbClr val="0078D4"/>
            </a:solidFill>
            <a:prstDash val="solid"/>
          </a:ln>
        </p:spPr>
      </p:sp>
      <p:sp>
        <p:nvSpPr>
          <p:cNvPr id="7" name="Text 5"/>
          <p:cNvSpPr/>
          <p:nvPr/>
        </p:nvSpPr>
        <p:spPr>
          <a:xfrm>
            <a:off x="393192" y="1801368"/>
            <a:ext cx="1353312" cy="32004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Surface</a:t>
            </a:r>
            <a:endParaRPr lang="en-US" sz="1000" dirty="0"/>
          </a:p>
        </p:txBody>
      </p:sp>
      <p:sp>
        <p:nvSpPr>
          <p:cNvPr id="8" name="Shape 6"/>
          <p:cNvSpPr/>
          <p:nvPr/>
        </p:nvSpPr>
        <p:spPr>
          <a:xfrm>
            <a:off x="1874520" y="1801368"/>
            <a:ext cx="1810512" cy="320040"/>
          </a:xfrm>
          <a:prstGeom prst="rect">
            <a:avLst/>
          </a:prstGeom>
          <a:solidFill>
            <a:srgbClr val="0078D4"/>
          </a:solidFill>
          <a:ln w="12700">
            <a:solidFill>
              <a:srgbClr val="0078D4"/>
            </a:solidFill>
            <a:prstDash val="solid"/>
          </a:ln>
        </p:spPr>
      </p:sp>
      <p:sp>
        <p:nvSpPr>
          <p:cNvPr id="9" name="Text 7"/>
          <p:cNvSpPr/>
          <p:nvPr/>
        </p:nvSpPr>
        <p:spPr>
          <a:xfrm>
            <a:off x="1947672" y="1801368"/>
            <a:ext cx="1700784" cy="32004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What to find</a:t>
            </a:r>
            <a:endParaRPr lang="en-US" sz="1000" dirty="0"/>
          </a:p>
        </p:txBody>
      </p:sp>
      <p:sp>
        <p:nvSpPr>
          <p:cNvPr id="10" name="Shape 8"/>
          <p:cNvSpPr/>
          <p:nvPr/>
        </p:nvSpPr>
        <p:spPr>
          <a:xfrm>
            <a:off x="3794760" y="1801368"/>
            <a:ext cx="5010912" cy="320040"/>
          </a:xfrm>
          <a:prstGeom prst="rect">
            <a:avLst/>
          </a:prstGeom>
          <a:solidFill>
            <a:srgbClr val="0078D4"/>
          </a:solidFill>
          <a:ln w="12700">
            <a:solidFill>
              <a:srgbClr val="0078D4"/>
            </a:solidFill>
            <a:prstDash val="solid"/>
          </a:ln>
        </p:spPr>
      </p:sp>
      <p:sp>
        <p:nvSpPr>
          <p:cNvPr id="11" name="Text 9"/>
          <p:cNvSpPr/>
          <p:nvPr/>
        </p:nvSpPr>
        <p:spPr>
          <a:xfrm>
            <a:off x="3867912" y="1801368"/>
            <a:ext cx="4901184" cy="32004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How to get there</a:t>
            </a:r>
            <a:endParaRPr lang="en-US" sz="1000" dirty="0"/>
          </a:p>
        </p:txBody>
      </p:sp>
      <p:sp>
        <p:nvSpPr>
          <p:cNvPr id="12" name="Shape 10"/>
          <p:cNvSpPr/>
          <p:nvPr/>
        </p:nvSpPr>
        <p:spPr>
          <a:xfrm>
            <a:off x="320040" y="2121408"/>
            <a:ext cx="1463040" cy="530352"/>
          </a:xfrm>
          <a:prstGeom prst="rect">
            <a:avLst/>
          </a:prstGeom>
          <a:solidFill>
            <a:srgbClr val="F3F2F1"/>
          </a:solidFill>
          <a:ln w="12700">
            <a:solidFill>
              <a:srgbClr val="E1DFDD"/>
            </a:solidFill>
            <a:prstDash val="solid"/>
          </a:ln>
        </p:spPr>
      </p:sp>
      <p:sp>
        <p:nvSpPr>
          <p:cNvPr id="13" name="Shape 11"/>
          <p:cNvSpPr/>
          <p:nvPr/>
        </p:nvSpPr>
        <p:spPr>
          <a:xfrm>
            <a:off x="1874520" y="2121408"/>
            <a:ext cx="1810512" cy="530352"/>
          </a:xfrm>
          <a:prstGeom prst="rect">
            <a:avLst/>
          </a:prstGeom>
          <a:solidFill>
            <a:srgbClr val="F3F2F1"/>
          </a:solidFill>
          <a:ln w="12700">
            <a:solidFill>
              <a:srgbClr val="E1DFDD"/>
            </a:solidFill>
            <a:prstDash val="solid"/>
          </a:ln>
        </p:spPr>
      </p:sp>
      <p:sp>
        <p:nvSpPr>
          <p:cNvPr id="14" name="Shape 12"/>
          <p:cNvSpPr/>
          <p:nvPr/>
        </p:nvSpPr>
        <p:spPr>
          <a:xfrm>
            <a:off x="3794760" y="2121408"/>
            <a:ext cx="5010912" cy="530352"/>
          </a:xfrm>
          <a:prstGeom prst="rect">
            <a:avLst/>
          </a:prstGeom>
          <a:solidFill>
            <a:srgbClr val="F3F2F1"/>
          </a:solidFill>
          <a:ln w="12700">
            <a:solidFill>
              <a:srgbClr val="E1DFDD"/>
            </a:solidFill>
            <a:prstDash val="solid"/>
          </a:ln>
        </p:spPr>
      </p:sp>
      <p:sp>
        <p:nvSpPr>
          <p:cNvPr id="15" name="Text 13"/>
          <p:cNvSpPr/>
          <p:nvPr/>
        </p:nvSpPr>
        <p:spPr>
          <a:xfrm>
            <a:off x="393192" y="2194560"/>
            <a:ext cx="1353312" cy="402336"/>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Overview tab</a:t>
            </a:r>
            <a:endParaRPr lang="en-US" sz="1000" dirty="0"/>
          </a:p>
        </p:txBody>
      </p:sp>
      <p:sp>
        <p:nvSpPr>
          <p:cNvPr id="16" name="Text 14"/>
          <p:cNvSpPr/>
          <p:nvPr/>
        </p:nvSpPr>
        <p:spPr>
          <a:xfrm>
            <a:off x="1947672" y="2176272"/>
            <a:ext cx="17007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Knowledge section + Instructions / Details area</a:t>
            </a:r>
            <a:endParaRPr lang="en-US" sz="950" dirty="0"/>
          </a:p>
        </p:txBody>
      </p:sp>
      <p:sp>
        <p:nvSpPr>
          <p:cNvPr id="17" name="Text 15"/>
          <p:cNvSpPr/>
          <p:nvPr/>
        </p:nvSpPr>
        <p:spPr>
          <a:xfrm>
            <a:off x="3867912" y="2176272"/>
            <a:ext cx="49011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Scroll on the Overview tab to the Knowledge section. Select + Add knowledge to see source options.</a:t>
            </a:r>
            <a:endParaRPr lang="en-US" sz="950" dirty="0"/>
          </a:p>
        </p:txBody>
      </p:sp>
      <p:sp>
        <p:nvSpPr>
          <p:cNvPr id="18" name="Shape 16"/>
          <p:cNvSpPr/>
          <p:nvPr/>
        </p:nvSpPr>
        <p:spPr>
          <a:xfrm>
            <a:off x="320040" y="2670048"/>
            <a:ext cx="1463040" cy="530352"/>
          </a:xfrm>
          <a:prstGeom prst="rect">
            <a:avLst/>
          </a:prstGeom>
          <a:solidFill>
            <a:srgbClr val="FFFFFF"/>
          </a:solidFill>
          <a:ln w="12700">
            <a:solidFill>
              <a:srgbClr val="E1DFDD"/>
            </a:solidFill>
            <a:prstDash val="solid"/>
          </a:ln>
        </p:spPr>
      </p:sp>
      <p:sp>
        <p:nvSpPr>
          <p:cNvPr id="19" name="Shape 17"/>
          <p:cNvSpPr/>
          <p:nvPr/>
        </p:nvSpPr>
        <p:spPr>
          <a:xfrm>
            <a:off x="1874520" y="2670048"/>
            <a:ext cx="1810512" cy="530352"/>
          </a:xfrm>
          <a:prstGeom prst="rect">
            <a:avLst/>
          </a:prstGeom>
          <a:solidFill>
            <a:srgbClr val="FFFFFF"/>
          </a:solidFill>
          <a:ln w="12700">
            <a:solidFill>
              <a:srgbClr val="E1DFDD"/>
            </a:solidFill>
            <a:prstDash val="solid"/>
          </a:ln>
        </p:spPr>
      </p:sp>
      <p:sp>
        <p:nvSpPr>
          <p:cNvPr id="20" name="Shape 18"/>
          <p:cNvSpPr/>
          <p:nvPr/>
        </p:nvSpPr>
        <p:spPr>
          <a:xfrm>
            <a:off x="3794760" y="2670048"/>
            <a:ext cx="5010912" cy="530352"/>
          </a:xfrm>
          <a:prstGeom prst="rect">
            <a:avLst/>
          </a:prstGeom>
          <a:solidFill>
            <a:srgbClr val="FFFFFF"/>
          </a:solidFill>
          <a:ln w="12700">
            <a:solidFill>
              <a:srgbClr val="E1DFDD"/>
            </a:solidFill>
            <a:prstDash val="solid"/>
          </a:ln>
        </p:spPr>
      </p:sp>
      <p:sp>
        <p:nvSpPr>
          <p:cNvPr id="21" name="Text 19"/>
          <p:cNvSpPr/>
          <p:nvPr/>
        </p:nvSpPr>
        <p:spPr>
          <a:xfrm>
            <a:off x="393192" y="2743200"/>
            <a:ext cx="1353312" cy="402336"/>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Topics tab</a:t>
            </a:r>
            <a:endParaRPr lang="en-US" sz="1000" dirty="0"/>
          </a:p>
        </p:txBody>
      </p:sp>
      <p:sp>
        <p:nvSpPr>
          <p:cNvPr id="22" name="Text 20"/>
          <p:cNvSpPr/>
          <p:nvPr/>
        </p:nvSpPr>
        <p:spPr>
          <a:xfrm>
            <a:off x="1947672" y="2724912"/>
            <a:ext cx="17007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Custom and System topic filters + + Add a topic</a:t>
            </a:r>
            <a:endParaRPr lang="en-US" sz="950" dirty="0"/>
          </a:p>
        </p:txBody>
      </p:sp>
      <p:sp>
        <p:nvSpPr>
          <p:cNvPr id="23" name="Text 21"/>
          <p:cNvSpPr/>
          <p:nvPr/>
        </p:nvSpPr>
        <p:spPr>
          <a:xfrm>
            <a:off x="3867912" y="2724912"/>
            <a:ext cx="49011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Select Topics from the top tab row (use overflow if hidden). Add a topic from blank or description.</a:t>
            </a:r>
            <a:endParaRPr lang="en-US" sz="950" dirty="0"/>
          </a:p>
        </p:txBody>
      </p:sp>
      <p:sp>
        <p:nvSpPr>
          <p:cNvPr id="24" name="Shape 22"/>
          <p:cNvSpPr/>
          <p:nvPr/>
        </p:nvSpPr>
        <p:spPr>
          <a:xfrm>
            <a:off x="320040" y="3218688"/>
            <a:ext cx="1463040" cy="530352"/>
          </a:xfrm>
          <a:prstGeom prst="rect">
            <a:avLst/>
          </a:prstGeom>
          <a:solidFill>
            <a:srgbClr val="F3F2F1"/>
          </a:solidFill>
          <a:ln w="12700">
            <a:solidFill>
              <a:srgbClr val="E1DFDD"/>
            </a:solidFill>
            <a:prstDash val="solid"/>
          </a:ln>
        </p:spPr>
      </p:sp>
      <p:sp>
        <p:nvSpPr>
          <p:cNvPr id="25" name="Shape 23"/>
          <p:cNvSpPr/>
          <p:nvPr/>
        </p:nvSpPr>
        <p:spPr>
          <a:xfrm>
            <a:off x="1874520" y="3218688"/>
            <a:ext cx="1810512" cy="530352"/>
          </a:xfrm>
          <a:prstGeom prst="rect">
            <a:avLst/>
          </a:prstGeom>
          <a:solidFill>
            <a:srgbClr val="F3F2F1"/>
          </a:solidFill>
          <a:ln w="12700">
            <a:solidFill>
              <a:srgbClr val="E1DFDD"/>
            </a:solidFill>
            <a:prstDash val="solid"/>
          </a:ln>
        </p:spPr>
      </p:sp>
      <p:sp>
        <p:nvSpPr>
          <p:cNvPr id="26" name="Shape 24"/>
          <p:cNvSpPr/>
          <p:nvPr/>
        </p:nvSpPr>
        <p:spPr>
          <a:xfrm>
            <a:off x="3794760" y="3218688"/>
            <a:ext cx="5010912" cy="530352"/>
          </a:xfrm>
          <a:prstGeom prst="rect">
            <a:avLst/>
          </a:prstGeom>
          <a:solidFill>
            <a:srgbClr val="F3F2F1"/>
          </a:solidFill>
          <a:ln w="12700">
            <a:solidFill>
              <a:srgbClr val="E1DFDD"/>
            </a:solidFill>
            <a:prstDash val="solid"/>
          </a:ln>
        </p:spPr>
      </p:sp>
      <p:sp>
        <p:nvSpPr>
          <p:cNvPr id="27" name="Text 25"/>
          <p:cNvSpPr/>
          <p:nvPr/>
        </p:nvSpPr>
        <p:spPr>
          <a:xfrm>
            <a:off x="393192" y="3291840"/>
            <a:ext cx="1353312" cy="402336"/>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Tools tab</a:t>
            </a:r>
            <a:endParaRPr lang="en-US" sz="1000" dirty="0"/>
          </a:p>
        </p:txBody>
      </p:sp>
      <p:sp>
        <p:nvSpPr>
          <p:cNvPr id="28" name="Text 26"/>
          <p:cNvSpPr/>
          <p:nvPr/>
        </p:nvSpPr>
        <p:spPr>
          <a:xfrm>
            <a:off x="1947672" y="3273552"/>
            <a:ext cx="17007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 Add a tool — Connector, Prompt, Flow</a:t>
            </a:r>
            <a:endParaRPr lang="en-US" sz="950" dirty="0"/>
          </a:p>
        </p:txBody>
      </p:sp>
      <p:sp>
        <p:nvSpPr>
          <p:cNvPr id="29" name="Text 27"/>
          <p:cNvSpPr/>
          <p:nvPr/>
        </p:nvSpPr>
        <p:spPr>
          <a:xfrm>
            <a:off x="3867912" y="3273552"/>
            <a:ext cx="49011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Select Tools from the top tab row. Use the overflow control if the tab row is compressed.</a:t>
            </a:r>
            <a:endParaRPr lang="en-US" sz="950" dirty="0"/>
          </a:p>
        </p:txBody>
      </p:sp>
      <p:sp>
        <p:nvSpPr>
          <p:cNvPr id="30" name="Shape 28"/>
          <p:cNvSpPr/>
          <p:nvPr/>
        </p:nvSpPr>
        <p:spPr>
          <a:xfrm>
            <a:off x="320040" y="3767328"/>
            <a:ext cx="1463040" cy="530352"/>
          </a:xfrm>
          <a:prstGeom prst="rect">
            <a:avLst/>
          </a:prstGeom>
          <a:solidFill>
            <a:srgbClr val="FFFFFF"/>
          </a:solidFill>
          <a:ln w="12700">
            <a:solidFill>
              <a:srgbClr val="E1DFDD"/>
            </a:solidFill>
            <a:prstDash val="solid"/>
          </a:ln>
        </p:spPr>
      </p:sp>
      <p:sp>
        <p:nvSpPr>
          <p:cNvPr id="31" name="Shape 29"/>
          <p:cNvSpPr/>
          <p:nvPr/>
        </p:nvSpPr>
        <p:spPr>
          <a:xfrm>
            <a:off x="1874520" y="3767328"/>
            <a:ext cx="1810512" cy="530352"/>
          </a:xfrm>
          <a:prstGeom prst="rect">
            <a:avLst/>
          </a:prstGeom>
          <a:solidFill>
            <a:srgbClr val="FFFFFF"/>
          </a:solidFill>
          <a:ln w="12700">
            <a:solidFill>
              <a:srgbClr val="E1DFDD"/>
            </a:solidFill>
            <a:prstDash val="solid"/>
          </a:ln>
        </p:spPr>
      </p:sp>
      <p:sp>
        <p:nvSpPr>
          <p:cNvPr id="32" name="Shape 30"/>
          <p:cNvSpPr/>
          <p:nvPr/>
        </p:nvSpPr>
        <p:spPr>
          <a:xfrm>
            <a:off x="3794760" y="3767328"/>
            <a:ext cx="5010912" cy="530352"/>
          </a:xfrm>
          <a:prstGeom prst="rect">
            <a:avLst/>
          </a:prstGeom>
          <a:solidFill>
            <a:srgbClr val="FFFFFF"/>
          </a:solidFill>
          <a:ln w="12700">
            <a:solidFill>
              <a:srgbClr val="E1DFDD"/>
            </a:solidFill>
            <a:prstDash val="solid"/>
          </a:ln>
        </p:spPr>
      </p:sp>
      <p:sp>
        <p:nvSpPr>
          <p:cNvPr id="33" name="Text 31"/>
          <p:cNvSpPr/>
          <p:nvPr/>
        </p:nvSpPr>
        <p:spPr>
          <a:xfrm>
            <a:off x="393192" y="3840480"/>
            <a:ext cx="1353312" cy="402336"/>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Analytics tab</a:t>
            </a:r>
            <a:endParaRPr lang="en-US" sz="1000" dirty="0"/>
          </a:p>
        </p:txBody>
      </p:sp>
      <p:sp>
        <p:nvSpPr>
          <p:cNvPr id="34" name="Text 32"/>
          <p:cNvSpPr/>
          <p:nvPr/>
        </p:nvSpPr>
        <p:spPr>
          <a:xfrm>
            <a:off x="1947672" y="3822192"/>
            <a:ext cx="17007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Conversation volume, resolution signals, sessions</a:t>
            </a:r>
            <a:endParaRPr lang="en-US" sz="950" dirty="0"/>
          </a:p>
        </p:txBody>
      </p:sp>
      <p:sp>
        <p:nvSpPr>
          <p:cNvPr id="35" name="Text 33"/>
          <p:cNvSpPr/>
          <p:nvPr/>
        </p:nvSpPr>
        <p:spPr>
          <a:xfrm>
            <a:off x="3867912" y="3822192"/>
            <a:ext cx="49011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Select Analytics. If empty, data populates after the first real conversation.</a:t>
            </a:r>
            <a:endParaRPr lang="en-US" sz="950" dirty="0"/>
          </a:p>
        </p:txBody>
      </p:sp>
      <p:sp>
        <p:nvSpPr>
          <p:cNvPr id="36" name="Shape 34"/>
          <p:cNvSpPr/>
          <p:nvPr/>
        </p:nvSpPr>
        <p:spPr>
          <a:xfrm>
            <a:off x="320040" y="4315968"/>
            <a:ext cx="1463040" cy="530352"/>
          </a:xfrm>
          <a:prstGeom prst="rect">
            <a:avLst/>
          </a:prstGeom>
          <a:solidFill>
            <a:srgbClr val="F3F2F1"/>
          </a:solidFill>
          <a:ln w="12700">
            <a:solidFill>
              <a:srgbClr val="E1DFDD"/>
            </a:solidFill>
            <a:prstDash val="solid"/>
          </a:ln>
        </p:spPr>
      </p:sp>
      <p:sp>
        <p:nvSpPr>
          <p:cNvPr id="37" name="Shape 35"/>
          <p:cNvSpPr/>
          <p:nvPr/>
        </p:nvSpPr>
        <p:spPr>
          <a:xfrm>
            <a:off x="1874520" y="4315968"/>
            <a:ext cx="1810512" cy="530352"/>
          </a:xfrm>
          <a:prstGeom prst="rect">
            <a:avLst/>
          </a:prstGeom>
          <a:solidFill>
            <a:srgbClr val="F3F2F1"/>
          </a:solidFill>
          <a:ln w="12700">
            <a:solidFill>
              <a:srgbClr val="E1DFDD"/>
            </a:solidFill>
            <a:prstDash val="solid"/>
          </a:ln>
        </p:spPr>
      </p:sp>
      <p:sp>
        <p:nvSpPr>
          <p:cNvPr id="38" name="Shape 36"/>
          <p:cNvSpPr/>
          <p:nvPr/>
        </p:nvSpPr>
        <p:spPr>
          <a:xfrm>
            <a:off x="3794760" y="4315968"/>
            <a:ext cx="5010912" cy="530352"/>
          </a:xfrm>
          <a:prstGeom prst="rect">
            <a:avLst/>
          </a:prstGeom>
          <a:solidFill>
            <a:srgbClr val="F3F2F1"/>
          </a:solidFill>
          <a:ln w="12700">
            <a:solidFill>
              <a:srgbClr val="E1DFDD"/>
            </a:solidFill>
            <a:prstDash val="solid"/>
          </a:ln>
        </p:spPr>
      </p:sp>
      <p:sp>
        <p:nvSpPr>
          <p:cNvPr id="39" name="Text 37"/>
          <p:cNvSpPr/>
          <p:nvPr/>
        </p:nvSpPr>
        <p:spPr>
          <a:xfrm>
            <a:off x="393192" y="4389120"/>
            <a:ext cx="1353312" cy="402336"/>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Activity page</a:t>
            </a:r>
            <a:endParaRPr lang="en-US" sz="1000" dirty="0"/>
          </a:p>
        </p:txBody>
      </p:sp>
      <p:sp>
        <p:nvSpPr>
          <p:cNvPr id="40" name="Text 38"/>
          <p:cNvSpPr/>
          <p:nvPr/>
        </p:nvSpPr>
        <p:spPr>
          <a:xfrm>
            <a:off x="1947672" y="4370832"/>
            <a:ext cx="17007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Individual session transcripts and diagnostic detail</a:t>
            </a:r>
            <a:endParaRPr lang="en-US" sz="950" dirty="0"/>
          </a:p>
        </p:txBody>
      </p:sp>
      <p:sp>
        <p:nvSpPr>
          <p:cNvPr id="41" name="Text 39"/>
          <p:cNvSpPr/>
          <p:nvPr/>
        </p:nvSpPr>
        <p:spPr>
          <a:xfrm>
            <a:off x="3867912" y="4370832"/>
            <a:ext cx="4901184" cy="438912"/>
          </a:xfrm>
          <a:prstGeom prst="rect">
            <a:avLst/>
          </a:prstGeom>
          <a:noFill/>
          <a:ln/>
        </p:spPr>
        <p:txBody>
          <a:bodyPr wrap="square"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Open from within Analytics or the side navigation. Pin sessions for follow-up review.</a:t>
            </a:r>
            <a:endParaRPr lang="en-US" sz="950" dirty="0"/>
          </a:p>
        </p:txBody>
      </p:sp>
      <p:sp>
        <p:nvSpPr>
          <p:cNvPr id="42" name="Shape 40"/>
          <p:cNvSpPr/>
          <p:nvPr/>
        </p:nvSpPr>
        <p:spPr>
          <a:xfrm>
            <a:off x="320040" y="4681728"/>
            <a:ext cx="8503920" cy="320040"/>
          </a:xfrm>
          <a:prstGeom prst="rect">
            <a:avLst/>
          </a:prstGeom>
          <a:solidFill>
            <a:srgbClr val="EFF6FC"/>
          </a:solidFill>
          <a:ln w="12700">
            <a:solidFill>
              <a:srgbClr val="C7E0F4"/>
            </a:solidFill>
            <a:prstDash val="solid"/>
          </a:ln>
        </p:spPr>
      </p:sp>
      <p:sp>
        <p:nvSpPr>
          <p:cNvPr id="43" name="Text 41"/>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tabs disappear, reduce browser zoom to 90% and check the overflow control.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STUDIO FOUNDATIONS</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Solution-Aware Delivery</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A solution is the transport container that moves your agent and its dependencies between environments.</a:t>
            </a:r>
            <a:endParaRPr lang="en-US" sz="1200" dirty="0"/>
          </a:p>
        </p:txBody>
      </p:sp>
      <p:sp>
        <p:nvSpPr>
          <p:cNvPr id="6" name="Shape 4"/>
          <p:cNvSpPr/>
          <p:nvPr/>
        </p:nvSpPr>
        <p:spPr>
          <a:xfrm>
            <a:off x="274320" y="1755648"/>
            <a:ext cx="5440680" cy="3127248"/>
          </a:xfrm>
          <a:prstGeom prst="rect">
            <a:avLst/>
          </a:prstGeom>
          <a:solidFill>
            <a:srgbClr val="FFFFFF"/>
          </a:solidFill>
          <a:ln w="12700">
            <a:solidFill>
              <a:srgbClr val="0078D4"/>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55648"/>
            <a:ext cx="5440680" cy="384048"/>
          </a:xfrm>
          <a:prstGeom prst="rect">
            <a:avLst/>
          </a:prstGeom>
          <a:solidFill>
            <a:srgbClr val="0078D4"/>
          </a:solidFill>
          <a:ln w="12700">
            <a:solidFill>
              <a:srgbClr val="0078D4"/>
            </a:solidFill>
            <a:prstDash val="solid"/>
          </a:ln>
        </p:spPr>
      </p:sp>
      <p:sp>
        <p:nvSpPr>
          <p:cNvPr id="8" name="Text 6"/>
          <p:cNvSpPr/>
          <p:nvPr/>
        </p:nvSpPr>
        <p:spPr>
          <a:xfrm>
            <a:off x="384048" y="1755648"/>
            <a:ext cx="5239512"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Contoso Helpdesk Agent — Solution</a:t>
            </a:r>
            <a:endParaRPr lang="en-US" sz="1100" dirty="0"/>
          </a:p>
        </p:txBody>
      </p:sp>
      <p:sp>
        <p:nvSpPr>
          <p:cNvPr id="9" name="Shape 7"/>
          <p:cNvSpPr/>
          <p:nvPr/>
        </p:nvSpPr>
        <p:spPr>
          <a:xfrm>
            <a:off x="475488" y="2304288"/>
            <a:ext cx="1554480" cy="777240"/>
          </a:xfrm>
          <a:prstGeom prst="rect">
            <a:avLst/>
          </a:prstGeom>
          <a:solidFill>
            <a:srgbClr val="F3F2F1"/>
          </a:solidFill>
          <a:ln w="12700">
            <a:solidFill>
              <a:srgbClr val="0078D4"/>
            </a:solidFill>
            <a:prstDash val="solid"/>
          </a:ln>
        </p:spPr>
      </p:sp>
      <p:sp>
        <p:nvSpPr>
          <p:cNvPr id="10" name="Shape 8"/>
          <p:cNvSpPr/>
          <p:nvPr/>
        </p:nvSpPr>
        <p:spPr>
          <a:xfrm>
            <a:off x="475488" y="2304288"/>
            <a:ext cx="109728" cy="777240"/>
          </a:xfrm>
          <a:prstGeom prst="rect">
            <a:avLst/>
          </a:prstGeom>
          <a:solidFill>
            <a:srgbClr val="0078D4"/>
          </a:solidFill>
          <a:ln w="12700">
            <a:solidFill>
              <a:srgbClr val="0078D4"/>
            </a:solidFill>
            <a:prstDash val="solid"/>
          </a:ln>
        </p:spPr>
      </p:sp>
      <p:sp>
        <p:nvSpPr>
          <p:cNvPr id="11" name="Text 9"/>
          <p:cNvSpPr/>
          <p:nvPr/>
        </p:nvSpPr>
        <p:spPr>
          <a:xfrm>
            <a:off x="658368" y="2304288"/>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Agent definition</a:t>
            </a:r>
            <a:endParaRPr lang="en-US" sz="1000" dirty="0"/>
          </a:p>
        </p:txBody>
      </p:sp>
      <p:sp>
        <p:nvSpPr>
          <p:cNvPr id="12" name="Shape 10"/>
          <p:cNvSpPr/>
          <p:nvPr/>
        </p:nvSpPr>
        <p:spPr>
          <a:xfrm>
            <a:off x="2194560" y="2304288"/>
            <a:ext cx="1554480" cy="777240"/>
          </a:xfrm>
          <a:prstGeom prst="rect">
            <a:avLst/>
          </a:prstGeom>
          <a:solidFill>
            <a:srgbClr val="F3F2F1"/>
          </a:solidFill>
          <a:ln w="12700">
            <a:solidFill>
              <a:srgbClr val="5C2D91"/>
            </a:solidFill>
            <a:prstDash val="solid"/>
          </a:ln>
        </p:spPr>
      </p:sp>
      <p:sp>
        <p:nvSpPr>
          <p:cNvPr id="13" name="Shape 11"/>
          <p:cNvSpPr/>
          <p:nvPr/>
        </p:nvSpPr>
        <p:spPr>
          <a:xfrm>
            <a:off x="2194560" y="2304288"/>
            <a:ext cx="109728" cy="777240"/>
          </a:xfrm>
          <a:prstGeom prst="rect">
            <a:avLst/>
          </a:prstGeom>
          <a:solidFill>
            <a:srgbClr val="5C2D91"/>
          </a:solidFill>
          <a:ln w="12700">
            <a:solidFill>
              <a:srgbClr val="5C2D91"/>
            </a:solidFill>
            <a:prstDash val="solid"/>
          </a:ln>
        </p:spPr>
      </p:sp>
      <p:sp>
        <p:nvSpPr>
          <p:cNvPr id="14" name="Text 12"/>
          <p:cNvSpPr/>
          <p:nvPr/>
        </p:nvSpPr>
        <p:spPr>
          <a:xfrm>
            <a:off x="2377440" y="2304288"/>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Topics &amp; triggers</a:t>
            </a:r>
            <a:endParaRPr lang="en-US" sz="1000" dirty="0"/>
          </a:p>
        </p:txBody>
      </p:sp>
      <p:sp>
        <p:nvSpPr>
          <p:cNvPr id="15" name="Shape 13"/>
          <p:cNvSpPr/>
          <p:nvPr/>
        </p:nvSpPr>
        <p:spPr>
          <a:xfrm>
            <a:off x="3913632" y="2304288"/>
            <a:ext cx="1554480" cy="777240"/>
          </a:xfrm>
          <a:prstGeom prst="rect">
            <a:avLst/>
          </a:prstGeom>
          <a:solidFill>
            <a:srgbClr val="F3F2F1"/>
          </a:solidFill>
          <a:ln w="12700">
            <a:solidFill>
              <a:srgbClr val="00B294"/>
            </a:solidFill>
            <a:prstDash val="solid"/>
          </a:ln>
        </p:spPr>
      </p:sp>
      <p:sp>
        <p:nvSpPr>
          <p:cNvPr id="16" name="Shape 14"/>
          <p:cNvSpPr/>
          <p:nvPr/>
        </p:nvSpPr>
        <p:spPr>
          <a:xfrm>
            <a:off x="3913632" y="2304288"/>
            <a:ext cx="109728" cy="777240"/>
          </a:xfrm>
          <a:prstGeom prst="rect">
            <a:avLst/>
          </a:prstGeom>
          <a:solidFill>
            <a:srgbClr val="00B294"/>
          </a:solidFill>
          <a:ln w="12700">
            <a:solidFill>
              <a:srgbClr val="00B294"/>
            </a:solidFill>
            <a:prstDash val="solid"/>
          </a:ln>
        </p:spPr>
      </p:sp>
      <p:sp>
        <p:nvSpPr>
          <p:cNvPr id="17" name="Text 15"/>
          <p:cNvSpPr/>
          <p:nvPr/>
        </p:nvSpPr>
        <p:spPr>
          <a:xfrm>
            <a:off x="4096512" y="2304288"/>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Knowledge config</a:t>
            </a:r>
            <a:endParaRPr lang="en-US" sz="1000" dirty="0"/>
          </a:p>
        </p:txBody>
      </p:sp>
      <p:sp>
        <p:nvSpPr>
          <p:cNvPr id="18" name="Shape 16"/>
          <p:cNvSpPr/>
          <p:nvPr/>
        </p:nvSpPr>
        <p:spPr>
          <a:xfrm>
            <a:off x="475488" y="3511296"/>
            <a:ext cx="1554480" cy="777240"/>
          </a:xfrm>
          <a:prstGeom prst="rect">
            <a:avLst/>
          </a:prstGeom>
          <a:solidFill>
            <a:srgbClr val="F3F2F1"/>
          </a:solidFill>
          <a:ln w="12700">
            <a:solidFill>
              <a:srgbClr val="D83B01"/>
            </a:solidFill>
            <a:prstDash val="solid"/>
          </a:ln>
        </p:spPr>
      </p:sp>
      <p:sp>
        <p:nvSpPr>
          <p:cNvPr id="19" name="Shape 17"/>
          <p:cNvSpPr/>
          <p:nvPr/>
        </p:nvSpPr>
        <p:spPr>
          <a:xfrm>
            <a:off x="475488" y="3511296"/>
            <a:ext cx="109728" cy="777240"/>
          </a:xfrm>
          <a:prstGeom prst="rect">
            <a:avLst/>
          </a:prstGeom>
          <a:solidFill>
            <a:srgbClr val="D83B01"/>
          </a:solidFill>
          <a:ln w="12700">
            <a:solidFill>
              <a:srgbClr val="D83B01"/>
            </a:solidFill>
            <a:prstDash val="solid"/>
          </a:ln>
        </p:spPr>
      </p:sp>
      <p:sp>
        <p:nvSpPr>
          <p:cNvPr id="20" name="Text 18"/>
          <p:cNvSpPr/>
          <p:nvPr/>
        </p:nvSpPr>
        <p:spPr>
          <a:xfrm>
            <a:off x="658368" y="3511296"/>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Flows &amp; connectors</a:t>
            </a:r>
            <a:endParaRPr lang="en-US" sz="1000" dirty="0"/>
          </a:p>
        </p:txBody>
      </p:sp>
      <p:sp>
        <p:nvSpPr>
          <p:cNvPr id="21" name="Shape 19"/>
          <p:cNvSpPr/>
          <p:nvPr/>
        </p:nvSpPr>
        <p:spPr>
          <a:xfrm>
            <a:off x="2194560" y="3511296"/>
            <a:ext cx="1554480" cy="777240"/>
          </a:xfrm>
          <a:prstGeom prst="rect">
            <a:avLst/>
          </a:prstGeom>
          <a:solidFill>
            <a:srgbClr val="F3F2F1"/>
          </a:solidFill>
          <a:ln w="12700">
            <a:solidFill>
              <a:srgbClr val="038387"/>
            </a:solidFill>
            <a:prstDash val="solid"/>
          </a:ln>
        </p:spPr>
      </p:sp>
      <p:sp>
        <p:nvSpPr>
          <p:cNvPr id="22" name="Shape 20"/>
          <p:cNvSpPr/>
          <p:nvPr/>
        </p:nvSpPr>
        <p:spPr>
          <a:xfrm>
            <a:off x="2194560" y="3511296"/>
            <a:ext cx="109728" cy="777240"/>
          </a:xfrm>
          <a:prstGeom prst="rect">
            <a:avLst/>
          </a:prstGeom>
          <a:solidFill>
            <a:srgbClr val="038387"/>
          </a:solidFill>
          <a:ln w="12700">
            <a:solidFill>
              <a:srgbClr val="038387"/>
            </a:solidFill>
            <a:prstDash val="solid"/>
          </a:ln>
        </p:spPr>
      </p:sp>
      <p:sp>
        <p:nvSpPr>
          <p:cNvPr id="23" name="Text 21"/>
          <p:cNvSpPr/>
          <p:nvPr/>
        </p:nvSpPr>
        <p:spPr>
          <a:xfrm>
            <a:off x="2377440" y="3511296"/>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Environment variables</a:t>
            </a:r>
            <a:endParaRPr lang="en-US" sz="1000" dirty="0"/>
          </a:p>
        </p:txBody>
      </p:sp>
      <p:sp>
        <p:nvSpPr>
          <p:cNvPr id="24" name="Shape 22"/>
          <p:cNvSpPr/>
          <p:nvPr/>
        </p:nvSpPr>
        <p:spPr>
          <a:xfrm>
            <a:off x="3913632" y="3511296"/>
            <a:ext cx="1554480" cy="777240"/>
          </a:xfrm>
          <a:prstGeom prst="rect">
            <a:avLst/>
          </a:prstGeom>
          <a:solidFill>
            <a:srgbClr val="F3F2F1"/>
          </a:solidFill>
          <a:ln w="12700">
            <a:solidFill>
              <a:srgbClr val="107C10"/>
            </a:solidFill>
            <a:prstDash val="solid"/>
          </a:ln>
        </p:spPr>
      </p:sp>
      <p:sp>
        <p:nvSpPr>
          <p:cNvPr id="25" name="Shape 23"/>
          <p:cNvSpPr/>
          <p:nvPr/>
        </p:nvSpPr>
        <p:spPr>
          <a:xfrm>
            <a:off x="3913632" y="3511296"/>
            <a:ext cx="109728" cy="777240"/>
          </a:xfrm>
          <a:prstGeom prst="rect">
            <a:avLst/>
          </a:prstGeom>
          <a:solidFill>
            <a:srgbClr val="107C10"/>
          </a:solidFill>
          <a:ln w="12700">
            <a:solidFill>
              <a:srgbClr val="107C10"/>
            </a:solidFill>
            <a:prstDash val="solid"/>
          </a:ln>
        </p:spPr>
      </p:sp>
      <p:sp>
        <p:nvSpPr>
          <p:cNvPr id="26" name="Text 24"/>
          <p:cNvSpPr/>
          <p:nvPr/>
        </p:nvSpPr>
        <p:spPr>
          <a:xfrm>
            <a:off x="4096512" y="3511296"/>
            <a:ext cx="1325880" cy="77724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Connection references</a:t>
            </a:r>
            <a:endParaRPr lang="en-US" sz="1000" dirty="0"/>
          </a:p>
        </p:txBody>
      </p:sp>
      <p:sp>
        <p:nvSpPr>
          <p:cNvPr id="27" name="Shape 25"/>
          <p:cNvSpPr/>
          <p:nvPr/>
        </p:nvSpPr>
        <p:spPr>
          <a:xfrm>
            <a:off x="5852160" y="2834640"/>
            <a:ext cx="502920" cy="0"/>
          </a:xfrm>
          <a:prstGeom prst="line">
            <a:avLst/>
          </a:prstGeom>
          <a:noFill/>
          <a:ln w="25400">
            <a:solidFill>
              <a:srgbClr val="0078D4"/>
            </a:solidFill>
            <a:prstDash val="solid"/>
          </a:ln>
        </p:spPr>
      </p:sp>
      <p:sp>
        <p:nvSpPr>
          <p:cNvPr id="28" name="Text 26"/>
          <p:cNvSpPr/>
          <p:nvPr/>
        </p:nvSpPr>
        <p:spPr>
          <a:xfrm>
            <a:off x="5806440" y="2651760"/>
            <a:ext cx="640080" cy="594360"/>
          </a:xfrm>
          <a:prstGeom prst="rect">
            <a:avLst/>
          </a:prstGeom>
          <a:noFill/>
          <a:ln/>
        </p:spPr>
        <p:txBody>
          <a:bodyPr wrap="square" rtlCol="0" anchor="ctr"/>
          <a:lstStyle/>
          <a:p>
            <a:pPr algn="ctr" indent="0" marL="0">
              <a:buNone/>
            </a:pPr>
            <a:r>
              <a:rPr lang="en-US" sz="800" dirty="0">
                <a:solidFill>
                  <a:srgbClr val="0078D4"/>
                </a:solidFill>
                <a:latin typeface="Segoe UI" pitchFamily="34" charset="0"/>
                <a:ea typeface="Segoe UI" pitchFamily="34" charset="-122"/>
                <a:cs typeface="Segoe UI" pitchFamily="34" charset="-120"/>
              </a:rPr>
              <a:t>Export →</a:t>
            </a:r>
            <a:endParaRPr lang="en-US" sz="800" dirty="0"/>
          </a:p>
          <a:p>
            <a:pPr algn="ctr" indent="0" marL="0">
              <a:buNone/>
            </a:pPr>
            <a:r>
              <a:rPr lang="en-US" sz="800" dirty="0">
                <a:solidFill>
                  <a:srgbClr val="0078D4"/>
                </a:solidFill>
                <a:latin typeface="Segoe UI" pitchFamily="34" charset="0"/>
                <a:ea typeface="Segoe UI" pitchFamily="34" charset="-122"/>
                <a:cs typeface="Segoe UI" pitchFamily="34" charset="-120"/>
              </a:rPr>
              <a:t>Import</a:t>
            </a:r>
            <a:endParaRPr lang="en-US" sz="800" dirty="0"/>
          </a:p>
        </p:txBody>
      </p:sp>
      <p:sp>
        <p:nvSpPr>
          <p:cNvPr id="29" name="Shape 27"/>
          <p:cNvSpPr/>
          <p:nvPr/>
        </p:nvSpPr>
        <p:spPr>
          <a:xfrm>
            <a:off x="6400800" y="1755648"/>
            <a:ext cx="2423160" cy="3127248"/>
          </a:xfrm>
          <a:prstGeom prst="rect">
            <a:avLst/>
          </a:prstGeom>
          <a:solidFill>
            <a:srgbClr val="FFFFFF"/>
          </a:solidFill>
          <a:ln w="12700">
            <a:solidFill>
              <a:srgbClr val="243A5E"/>
            </a:solidFill>
            <a:prstDash val="solid"/>
          </a:ln>
          <a:effectLst>
            <a:outerShdw sx="100000" sy="100000" kx="0" ky="0" algn="bl" rotWithShape="0" blurRad="101600" dist="25400" dir="8100000">
              <a:srgbClr val="000000">
                <a:alpha val="10000"/>
              </a:srgbClr>
            </a:outerShdw>
          </a:effectLst>
        </p:spPr>
      </p:sp>
      <p:sp>
        <p:nvSpPr>
          <p:cNvPr id="30" name="Shape 28"/>
          <p:cNvSpPr/>
          <p:nvPr/>
        </p:nvSpPr>
        <p:spPr>
          <a:xfrm>
            <a:off x="6400800" y="1755648"/>
            <a:ext cx="2423160" cy="384048"/>
          </a:xfrm>
          <a:prstGeom prst="rect">
            <a:avLst/>
          </a:prstGeom>
          <a:solidFill>
            <a:srgbClr val="243A5E"/>
          </a:solidFill>
          <a:ln w="12700">
            <a:solidFill>
              <a:srgbClr val="243A5E"/>
            </a:solidFill>
            <a:prstDash val="solid"/>
          </a:ln>
        </p:spPr>
      </p:sp>
      <p:sp>
        <p:nvSpPr>
          <p:cNvPr id="31" name="Text 29"/>
          <p:cNvSpPr/>
          <p:nvPr/>
        </p:nvSpPr>
        <p:spPr>
          <a:xfrm>
            <a:off x="6510528" y="1755648"/>
            <a:ext cx="22402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Target environment</a:t>
            </a:r>
            <a:endParaRPr lang="en-US" sz="1100" dirty="0"/>
          </a:p>
        </p:txBody>
      </p:sp>
      <p:sp>
        <p:nvSpPr>
          <p:cNvPr id="32" name="Text 30"/>
          <p:cNvSpPr/>
          <p:nvPr/>
        </p:nvSpPr>
        <p:spPr>
          <a:xfrm>
            <a:off x="6510528" y="2267712"/>
            <a:ext cx="2240280" cy="1645920"/>
          </a:xfrm>
          <a:prstGeom prst="rect">
            <a:avLst/>
          </a:prstGeom>
          <a:noFill/>
          <a:ln/>
        </p:spPr>
        <p:txBody>
          <a:bodyPr wrap="square" rtlCol="0" anchor="ctr"/>
          <a:lstStyle/>
          <a:p>
            <a:pPr algn="ctr" indent="0" marL="0">
              <a:buNone/>
            </a:pPr>
            <a:r>
              <a:rPr lang="en-US" sz="1100" dirty="0">
                <a:solidFill>
                  <a:srgbClr val="605E5C"/>
                </a:solidFill>
                <a:latin typeface="Segoe UI" pitchFamily="34" charset="0"/>
                <a:ea typeface="Segoe UI" pitchFamily="34" charset="-122"/>
                <a:cs typeface="Segoe UI" pitchFamily="34" charset="-120"/>
              </a:rPr>
              <a:t>Same solution</a:t>
            </a:r>
            <a:endParaRPr lang="en-US" sz="1100" dirty="0"/>
          </a:p>
          <a:p>
            <a:pPr algn="ctr" indent="0" marL="0">
              <a:buNone/>
            </a:pPr>
            <a:r>
              <a:rPr lang="en-US" sz="1100" dirty="0">
                <a:solidFill>
                  <a:srgbClr val="605E5C"/>
                </a:solidFill>
                <a:latin typeface="Segoe UI" pitchFamily="34" charset="0"/>
                <a:ea typeface="Segoe UI" pitchFamily="34" charset="-122"/>
                <a:cs typeface="Segoe UI" pitchFamily="34" charset="-120"/>
              </a:rPr>
              <a:t>installed and</a:t>
            </a:r>
            <a:endParaRPr lang="en-US" sz="1100" dirty="0"/>
          </a:p>
          <a:p>
            <a:pPr algn="ctr" indent="0" marL="0">
              <a:buNone/>
            </a:pPr>
            <a:r>
              <a:rPr lang="en-US" sz="1100" dirty="0">
                <a:solidFill>
                  <a:srgbClr val="605E5C"/>
                </a:solidFill>
                <a:latin typeface="Segoe UI" pitchFamily="34" charset="0"/>
                <a:ea typeface="Segoe UI" pitchFamily="34" charset="-122"/>
                <a:cs typeface="Segoe UI" pitchFamily="34" charset="-120"/>
              </a:rPr>
              <a:t>ready to test</a:t>
            </a:r>
            <a:endParaRPr lang="en-US" sz="1100" dirty="0"/>
          </a:p>
        </p:txBody>
      </p:sp>
      <p:sp>
        <p:nvSpPr>
          <p:cNvPr id="33" name="Shape 31"/>
          <p:cNvSpPr/>
          <p:nvPr/>
        </p:nvSpPr>
        <p:spPr>
          <a:xfrm>
            <a:off x="274320" y="4681728"/>
            <a:ext cx="8595360" cy="320040"/>
          </a:xfrm>
          <a:prstGeom prst="rect">
            <a:avLst/>
          </a:prstGeom>
          <a:solidFill>
            <a:srgbClr val="EFF6FC"/>
          </a:solidFill>
          <a:ln w="12700">
            <a:solidFill>
              <a:srgbClr val="C7E0F4"/>
            </a:solidFill>
            <a:prstDash val="solid"/>
          </a:ln>
        </p:spPr>
      </p:sp>
      <p:sp>
        <p:nvSpPr>
          <p:cNvPr id="34" name="Text 32"/>
          <p:cNvSpPr/>
          <p:nvPr/>
        </p:nvSpPr>
        <p:spPr>
          <a:xfrm>
            <a:off x="438912" y="4681728"/>
            <a:ext cx="8449056"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Think in change sets and ownership boundaries — not isolated clicks — from the first lab.</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03</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Declarative Agents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Create the Contoso Tech Support Pro declarative agent</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Add the IT Expert prompt tool and configure starter prompts</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Update instructions to call the prompt tool by name</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Publish and test in Microsoft 365 Copilot or Teams</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Compare declarative speed vs. custom agent control — capture one fit and one gap</a:t>
            </a:r>
            <a:endParaRPr lang="en-US" sz="115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60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LAB 03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03: Declarative Agents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Use the exercise to sharpen judgment — declarative agents are a speed choice, not a feature limit.</a:t>
            </a:r>
            <a:endParaRPr lang="en-US" sz="1200" dirty="0"/>
          </a:p>
        </p:txBody>
      </p:sp>
      <p:sp>
        <p:nvSpPr>
          <p:cNvPr id="6" name="Shape 4"/>
          <p:cNvSpPr/>
          <p:nvPr/>
        </p:nvSpPr>
        <p:spPr>
          <a:xfrm>
            <a:off x="274320" y="1783080"/>
            <a:ext cx="4114800" cy="3063240"/>
          </a:xfrm>
          <a:prstGeom prst="rect">
            <a:avLst/>
          </a:prstGeom>
          <a:solidFill>
            <a:srgbClr val="F3F2F1"/>
          </a:solidFill>
          <a:ln w="12700">
            <a:solidFill>
              <a:srgbClr val="E1DFDD"/>
            </a:solidFill>
            <a:prstDash val="solid"/>
          </a:ln>
        </p:spPr>
      </p:sp>
      <p:sp>
        <p:nvSpPr>
          <p:cNvPr id="7" name="Text 5"/>
          <p:cNvSpPr/>
          <p:nvPr/>
        </p:nvSpPr>
        <p:spPr>
          <a:xfrm>
            <a:off x="411480" y="1856232"/>
            <a:ext cx="3840480" cy="292608"/>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What you built</a:t>
            </a:r>
            <a:endParaRPr lang="en-US" sz="1200" dirty="0"/>
          </a:p>
        </p:txBody>
      </p:sp>
      <p:sp>
        <p:nvSpPr>
          <p:cNvPr id="8" name="Text 6"/>
          <p:cNvSpPr/>
          <p:nvPr/>
        </p:nvSpPr>
        <p:spPr>
          <a:xfrm>
            <a:off x="411480" y="2212848"/>
            <a:ext cx="3794760" cy="2423160"/>
          </a:xfrm>
          <a:prstGeom prst="rect">
            <a:avLst/>
          </a:prstGeom>
          <a:noFill/>
          <a:ln/>
        </p:spPr>
        <p:txBody>
          <a:bodyPr wrap="square" rtlCol="0" anchor="ctr"/>
          <a:lstStyle/>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Contoso Tech Support Pro declarative agent</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IT Expert prompt tool with a Problem input</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5 starter prompts participants can reuse</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Instructions that call the tool by exact name</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Published to Microsoft 365 Copilot / Teams</a:t>
            </a:r>
            <a:endParaRPr lang="en-US" sz="1100" dirty="0"/>
          </a:p>
        </p:txBody>
      </p:sp>
      <p:sp>
        <p:nvSpPr>
          <p:cNvPr id="9" name="Shape 7"/>
          <p:cNvSpPr/>
          <p:nvPr/>
        </p:nvSpPr>
        <p:spPr>
          <a:xfrm>
            <a:off x="4526280" y="1783080"/>
            <a:ext cx="4297680" cy="3063240"/>
          </a:xfrm>
          <a:prstGeom prst="rect">
            <a:avLst/>
          </a:prstGeom>
          <a:solidFill>
            <a:srgbClr val="FFFFFF"/>
          </a:solidFill>
          <a:ln w="12700">
            <a:solidFill>
              <a:srgbClr val="E1DFDD"/>
            </a:solidFill>
            <a:prstDash val="solid"/>
          </a:ln>
        </p:spPr>
      </p:sp>
      <p:sp>
        <p:nvSpPr>
          <p:cNvPr id="10" name="Text 8"/>
          <p:cNvSpPr/>
          <p:nvPr/>
        </p:nvSpPr>
        <p:spPr>
          <a:xfrm>
            <a:off x="4663440" y="1856232"/>
            <a:ext cx="4023360" cy="292608"/>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Trade-off at a glance</a:t>
            </a:r>
            <a:endParaRPr lang="en-US" sz="1200" dirty="0"/>
          </a:p>
        </p:txBody>
      </p:sp>
      <p:sp>
        <p:nvSpPr>
          <p:cNvPr id="11" name="Shape 9"/>
          <p:cNvSpPr/>
          <p:nvPr/>
        </p:nvSpPr>
        <p:spPr>
          <a:xfrm>
            <a:off x="4663440" y="2194560"/>
            <a:ext cx="1097280" cy="274320"/>
          </a:xfrm>
          <a:prstGeom prst="rect">
            <a:avLst/>
          </a:prstGeom>
          <a:solidFill>
            <a:srgbClr val="0078D4"/>
          </a:solidFill>
          <a:ln w="12700">
            <a:solidFill>
              <a:srgbClr val="0078D4"/>
            </a:solidFill>
            <a:prstDash val="solid"/>
          </a:ln>
        </p:spPr>
      </p:sp>
      <p:sp>
        <p:nvSpPr>
          <p:cNvPr id="12" name="Text 10"/>
          <p:cNvSpPr/>
          <p:nvPr/>
        </p:nvSpPr>
        <p:spPr>
          <a:xfrm>
            <a:off x="4709160" y="2194560"/>
            <a:ext cx="1024128" cy="27432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Aspect</a:t>
            </a:r>
            <a:endParaRPr lang="en-US" sz="900" dirty="0"/>
          </a:p>
        </p:txBody>
      </p:sp>
      <p:sp>
        <p:nvSpPr>
          <p:cNvPr id="13" name="Shape 11"/>
          <p:cNvSpPr/>
          <p:nvPr/>
        </p:nvSpPr>
        <p:spPr>
          <a:xfrm>
            <a:off x="5833872" y="2194560"/>
            <a:ext cx="1444752" cy="274320"/>
          </a:xfrm>
          <a:prstGeom prst="rect">
            <a:avLst/>
          </a:prstGeom>
          <a:solidFill>
            <a:srgbClr val="0078D4"/>
          </a:solidFill>
          <a:ln w="12700">
            <a:solidFill>
              <a:srgbClr val="0078D4"/>
            </a:solidFill>
            <a:prstDash val="solid"/>
          </a:ln>
        </p:spPr>
      </p:sp>
      <p:sp>
        <p:nvSpPr>
          <p:cNvPr id="14" name="Text 12"/>
          <p:cNvSpPr/>
          <p:nvPr/>
        </p:nvSpPr>
        <p:spPr>
          <a:xfrm>
            <a:off x="5879592" y="2194560"/>
            <a:ext cx="1371600" cy="27432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Declarative</a:t>
            </a:r>
            <a:endParaRPr lang="en-US" sz="900" dirty="0"/>
          </a:p>
        </p:txBody>
      </p:sp>
      <p:sp>
        <p:nvSpPr>
          <p:cNvPr id="15" name="Shape 13"/>
          <p:cNvSpPr/>
          <p:nvPr/>
        </p:nvSpPr>
        <p:spPr>
          <a:xfrm>
            <a:off x="7315200" y="2194560"/>
            <a:ext cx="1444752" cy="274320"/>
          </a:xfrm>
          <a:prstGeom prst="rect">
            <a:avLst/>
          </a:prstGeom>
          <a:solidFill>
            <a:srgbClr val="0078D4"/>
          </a:solidFill>
          <a:ln w="12700">
            <a:solidFill>
              <a:srgbClr val="0078D4"/>
            </a:solidFill>
            <a:prstDash val="solid"/>
          </a:ln>
        </p:spPr>
      </p:sp>
      <p:sp>
        <p:nvSpPr>
          <p:cNvPr id="16" name="Text 14"/>
          <p:cNvSpPr/>
          <p:nvPr/>
        </p:nvSpPr>
        <p:spPr>
          <a:xfrm>
            <a:off x="7360920" y="2194560"/>
            <a:ext cx="1371600" cy="27432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Custom agent</a:t>
            </a:r>
            <a:endParaRPr lang="en-US" sz="900" dirty="0"/>
          </a:p>
        </p:txBody>
      </p:sp>
      <p:sp>
        <p:nvSpPr>
          <p:cNvPr id="17" name="Shape 15"/>
          <p:cNvSpPr/>
          <p:nvPr/>
        </p:nvSpPr>
        <p:spPr>
          <a:xfrm>
            <a:off x="4663440" y="2468880"/>
            <a:ext cx="1097280" cy="411480"/>
          </a:xfrm>
          <a:prstGeom prst="rect">
            <a:avLst/>
          </a:prstGeom>
          <a:solidFill>
            <a:srgbClr val="F3F2F1"/>
          </a:solidFill>
          <a:ln w="12700">
            <a:solidFill>
              <a:srgbClr val="E1DFDD"/>
            </a:solidFill>
            <a:prstDash val="solid"/>
          </a:ln>
        </p:spPr>
      </p:sp>
      <p:sp>
        <p:nvSpPr>
          <p:cNvPr id="18" name="Shape 16"/>
          <p:cNvSpPr/>
          <p:nvPr/>
        </p:nvSpPr>
        <p:spPr>
          <a:xfrm>
            <a:off x="5833872" y="2468880"/>
            <a:ext cx="1444752" cy="411480"/>
          </a:xfrm>
          <a:prstGeom prst="rect">
            <a:avLst/>
          </a:prstGeom>
          <a:solidFill>
            <a:srgbClr val="F3F2F1"/>
          </a:solidFill>
          <a:ln w="12700">
            <a:solidFill>
              <a:srgbClr val="E1DFDD"/>
            </a:solidFill>
            <a:prstDash val="solid"/>
          </a:ln>
        </p:spPr>
      </p:sp>
      <p:sp>
        <p:nvSpPr>
          <p:cNvPr id="19" name="Shape 17"/>
          <p:cNvSpPr/>
          <p:nvPr/>
        </p:nvSpPr>
        <p:spPr>
          <a:xfrm>
            <a:off x="7315200" y="2468880"/>
            <a:ext cx="1417320" cy="411480"/>
          </a:xfrm>
          <a:prstGeom prst="rect">
            <a:avLst/>
          </a:prstGeom>
          <a:solidFill>
            <a:srgbClr val="F3F2F1"/>
          </a:solidFill>
          <a:ln w="12700">
            <a:solidFill>
              <a:srgbClr val="E1DFDD"/>
            </a:solidFill>
            <a:prstDash val="solid"/>
          </a:ln>
        </p:spPr>
      </p:sp>
      <p:sp>
        <p:nvSpPr>
          <p:cNvPr id="20" name="Text 18"/>
          <p:cNvSpPr/>
          <p:nvPr/>
        </p:nvSpPr>
        <p:spPr>
          <a:xfrm>
            <a:off x="4709160" y="2523744"/>
            <a:ext cx="1005840" cy="310896"/>
          </a:xfrm>
          <a:prstGeom prst="rect">
            <a:avLst/>
          </a:prstGeom>
          <a:noFill/>
          <a:ln/>
        </p:spPr>
        <p:txBody>
          <a:bodyPr wrap="square" rtlCol="0" anchor="ctr"/>
          <a:lstStyle/>
          <a:p>
            <a:pPr indent="0" marL="0">
              <a:buNone/>
            </a:pPr>
            <a:r>
              <a:rPr lang="en-US" sz="900" b="1" dirty="0">
                <a:solidFill>
                  <a:srgbClr val="201F1E"/>
                </a:solidFill>
                <a:latin typeface="Segoe UI" pitchFamily="34" charset="0"/>
                <a:ea typeface="Segoe UI" pitchFamily="34" charset="-122"/>
                <a:cs typeface="Segoe UI" pitchFamily="34" charset="-120"/>
              </a:rPr>
              <a:t>Authoring speed</a:t>
            </a:r>
            <a:endParaRPr lang="en-US" sz="900" dirty="0"/>
          </a:p>
        </p:txBody>
      </p:sp>
      <p:sp>
        <p:nvSpPr>
          <p:cNvPr id="21" name="Text 19"/>
          <p:cNvSpPr/>
          <p:nvPr/>
        </p:nvSpPr>
        <p:spPr>
          <a:xfrm>
            <a:off x="5879592" y="2523744"/>
            <a:ext cx="1353312"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Fast — instructions only</a:t>
            </a:r>
            <a:endParaRPr lang="en-US" sz="900" dirty="0"/>
          </a:p>
        </p:txBody>
      </p:sp>
      <p:sp>
        <p:nvSpPr>
          <p:cNvPr id="22" name="Text 20"/>
          <p:cNvSpPr/>
          <p:nvPr/>
        </p:nvSpPr>
        <p:spPr>
          <a:xfrm>
            <a:off x="7360920" y="2523744"/>
            <a:ext cx="1325880"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Slower — topics, cards, flows</a:t>
            </a:r>
            <a:endParaRPr lang="en-US" sz="900" dirty="0"/>
          </a:p>
        </p:txBody>
      </p:sp>
      <p:sp>
        <p:nvSpPr>
          <p:cNvPr id="23" name="Shape 21"/>
          <p:cNvSpPr/>
          <p:nvPr/>
        </p:nvSpPr>
        <p:spPr>
          <a:xfrm>
            <a:off x="4663440" y="2907792"/>
            <a:ext cx="1097280" cy="411480"/>
          </a:xfrm>
          <a:prstGeom prst="rect">
            <a:avLst/>
          </a:prstGeom>
          <a:solidFill>
            <a:srgbClr val="FFFFFF"/>
          </a:solidFill>
          <a:ln w="12700">
            <a:solidFill>
              <a:srgbClr val="E1DFDD"/>
            </a:solidFill>
            <a:prstDash val="solid"/>
          </a:ln>
        </p:spPr>
      </p:sp>
      <p:sp>
        <p:nvSpPr>
          <p:cNvPr id="24" name="Shape 22"/>
          <p:cNvSpPr/>
          <p:nvPr/>
        </p:nvSpPr>
        <p:spPr>
          <a:xfrm>
            <a:off x="5833872" y="2907792"/>
            <a:ext cx="1444752" cy="411480"/>
          </a:xfrm>
          <a:prstGeom prst="rect">
            <a:avLst/>
          </a:prstGeom>
          <a:solidFill>
            <a:srgbClr val="FFFFFF"/>
          </a:solidFill>
          <a:ln w="12700">
            <a:solidFill>
              <a:srgbClr val="E1DFDD"/>
            </a:solidFill>
            <a:prstDash val="solid"/>
          </a:ln>
        </p:spPr>
      </p:sp>
      <p:sp>
        <p:nvSpPr>
          <p:cNvPr id="25" name="Shape 23"/>
          <p:cNvSpPr/>
          <p:nvPr/>
        </p:nvSpPr>
        <p:spPr>
          <a:xfrm>
            <a:off x="7315200" y="2907792"/>
            <a:ext cx="1417320" cy="411480"/>
          </a:xfrm>
          <a:prstGeom prst="rect">
            <a:avLst/>
          </a:prstGeom>
          <a:solidFill>
            <a:srgbClr val="FFFFFF"/>
          </a:solidFill>
          <a:ln w="12700">
            <a:solidFill>
              <a:srgbClr val="E1DFDD"/>
            </a:solidFill>
            <a:prstDash val="solid"/>
          </a:ln>
        </p:spPr>
      </p:sp>
      <p:sp>
        <p:nvSpPr>
          <p:cNvPr id="26" name="Text 24"/>
          <p:cNvSpPr/>
          <p:nvPr/>
        </p:nvSpPr>
        <p:spPr>
          <a:xfrm>
            <a:off x="4709160" y="2962656"/>
            <a:ext cx="1005840" cy="310896"/>
          </a:xfrm>
          <a:prstGeom prst="rect">
            <a:avLst/>
          </a:prstGeom>
          <a:noFill/>
          <a:ln/>
        </p:spPr>
        <p:txBody>
          <a:bodyPr wrap="square" rtlCol="0" anchor="ctr"/>
          <a:lstStyle/>
          <a:p>
            <a:pPr indent="0" marL="0">
              <a:buNone/>
            </a:pPr>
            <a:r>
              <a:rPr lang="en-US" sz="900" b="1" dirty="0">
                <a:solidFill>
                  <a:srgbClr val="201F1E"/>
                </a:solidFill>
                <a:latin typeface="Segoe UI" pitchFamily="34" charset="0"/>
                <a:ea typeface="Segoe UI" pitchFamily="34" charset="-122"/>
                <a:cs typeface="Segoe UI" pitchFamily="34" charset="-120"/>
              </a:rPr>
              <a:t>Custom behavior</a:t>
            </a:r>
            <a:endParaRPr lang="en-US" sz="900" dirty="0"/>
          </a:p>
        </p:txBody>
      </p:sp>
      <p:sp>
        <p:nvSpPr>
          <p:cNvPr id="27" name="Text 25"/>
          <p:cNvSpPr/>
          <p:nvPr/>
        </p:nvSpPr>
        <p:spPr>
          <a:xfrm>
            <a:off x="5879592" y="2962656"/>
            <a:ext cx="1353312"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Limited</a:t>
            </a:r>
            <a:endParaRPr lang="en-US" sz="900" dirty="0"/>
          </a:p>
        </p:txBody>
      </p:sp>
      <p:sp>
        <p:nvSpPr>
          <p:cNvPr id="28" name="Text 26"/>
          <p:cNvSpPr/>
          <p:nvPr/>
        </p:nvSpPr>
        <p:spPr>
          <a:xfrm>
            <a:off x="7360920" y="2962656"/>
            <a:ext cx="1325880"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Full control</a:t>
            </a:r>
            <a:endParaRPr lang="en-US" sz="900" dirty="0"/>
          </a:p>
        </p:txBody>
      </p:sp>
      <p:sp>
        <p:nvSpPr>
          <p:cNvPr id="29" name="Shape 27"/>
          <p:cNvSpPr/>
          <p:nvPr/>
        </p:nvSpPr>
        <p:spPr>
          <a:xfrm>
            <a:off x="4663440" y="3346704"/>
            <a:ext cx="1097280" cy="411480"/>
          </a:xfrm>
          <a:prstGeom prst="rect">
            <a:avLst/>
          </a:prstGeom>
          <a:solidFill>
            <a:srgbClr val="F3F2F1"/>
          </a:solidFill>
          <a:ln w="12700">
            <a:solidFill>
              <a:srgbClr val="E1DFDD"/>
            </a:solidFill>
            <a:prstDash val="solid"/>
          </a:ln>
        </p:spPr>
      </p:sp>
      <p:sp>
        <p:nvSpPr>
          <p:cNvPr id="30" name="Shape 28"/>
          <p:cNvSpPr/>
          <p:nvPr/>
        </p:nvSpPr>
        <p:spPr>
          <a:xfrm>
            <a:off x="5833872" y="3346704"/>
            <a:ext cx="1444752" cy="411480"/>
          </a:xfrm>
          <a:prstGeom prst="rect">
            <a:avLst/>
          </a:prstGeom>
          <a:solidFill>
            <a:srgbClr val="F3F2F1"/>
          </a:solidFill>
          <a:ln w="12700">
            <a:solidFill>
              <a:srgbClr val="E1DFDD"/>
            </a:solidFill>
            <a:prstDash val="solid"/>
          </a:ln>
        </p:spPr>
      </p:sp>
      <p:sp>
        <p:nvSpPr>
          <p:cNvPr id="31" name="Shape 29"/>
          <p:cNvSpPr/>
          <p:nvPr/>
        </p:nvSpPr>
        <p:spPr>
          <a:xfrm>
            <a:off x="7315200" y="3346704"/>
            <a:ext cx="1417320" cy="411480"/>
          </a:xfrm>
          <a:prstGeom prst="rect">
            <a:avLst/>
          </a:prstGeom>
          <a:solidFill>
            <a:srgbClr val="F3F2F1"/>
          </a:solidFill>
          <a:ln w="12700">
            <a:solidFill>
              <a:srgbClr val="E1DFDD"/>
            </a:solidFill>
            <a:prstDash val="solid"/>
          </a:ln>
        </p:spPr>
      </p:sp>
      <p:sp>
        <p:nvSpPr>
          <p:cNvPr id="32" name="Text 30"/>
          <p:cNvSpPr/>
          <p:nvPr/>
        </p:nvSpPr>
        <p:spPr>
          <a:xfrm>
            <a:off x="4709160" y="3401568"/>
            <a:ext cx="1005840" cy="310896"/>
          </a:xfrm>
          <a:prstGeom prst="rect">
            <a:avLst/>
          </a:prstGeom>
          <a:noFill/>
          <a:ln/>
        </p:spPr>
        <p:txBody>
          <a:bodyPr wrap="square" rtlCol="0" anchor="ctr"/>
          <a:lstStyle/>
          <a:p>
            <a:pPr indent="0" marL="0">
              <a:buNone/>
            </a:pPr>
            <a:r>
              <a:rPr lang="en-US" sz="900" b="1" dirty="0">
                <a:solidFill>
                  <a:srgbClr val="201F1E"/>
                </a:solidFill>
                <a:latin typeface="Segoe UI" pitchFamily="34" charset="0"/>
                <a:ea typeface="Segoe UI" pitchFamily="34" charset="-122"/>
                <a:cs typeface="Segoe UI" pitchFamily="34" charset="-120"/>
              </a:rPr>
              <a:t>Channel options</a:t>
            </a:r>
            <a:endParaRPr lang="en-US" sz="900" dirty="0"/>
          </a:p>
        </p:txBody>
      </p:sp>
      <p:sp>
        <p:nvSpPr>
          <p:cNvPr id="33" name="Text 31"/>
          <p:cNvSpPr/>
          <p:nvPr/>
        </p:nvSpPr>
        <p:spPr>
          <a:xfrm>
            <a:off x="5879592" y="3401568"/>
            <a:ext cx="1353312"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M365 Copilot / Teams</a:t>
            </a:r>
            <a:endParaRPr lang="en-US" sz="900" dirty="0"/>
          </a:p>
        </p:txBody>
      </p:sp>
      <p:sp>
        <p:nvSpPr>
          <p:cNvPr id="34" name="Text 32"/>
          <p:cNvSpPr/>
          <p:nvPr/>
        </p:nvSpPr>
        <p:spPr>
          <a:xfrm>
            <a:off x="7360920" y="3401568"/>
            <a:ext cx="1325880"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Any supported channel</a:t>
            </a:r>
            <a:endParaRPr lang="en-US" sz="900" dirty="0"/>
          </a:p>
        </p:txBody>
      </p:sp>
      <p:sp>
        <p:nvSpPr>
          <p:cNvPr id="35" name="Shape 33"/>
          <p:cNvSpPr/>
          <p:nvPr/>
        </p:nvSpPr>
        <p:spPr>
          <a:xfrm>
            <a:off x="4663440" y="3785616"/>
            <a:ext cx="1097280" cy="411480"/>
          </a:xfrm>
          <a:prstGeom prst="rect">
            <a:avLst/>
          </a:prstGeom>
          <a:solidFill>
            <a:srgbClr val="FFFFFF"/>
          </a:solidFill>
          <a:ln w="12700">
            <a:solidFill>
              <a:srgbClr val="E1DFDD"/>
            </a:solidFill>
            <a:prstDash val="solid"/>
          </a:ln>
        </p:spPr>
      </p:sp>
      <p:sp>
        <p:nvSpPr>
          <p:cNvPr id="36" name="Shape 34"/>
          <p:cNvSpPr/>
          <p:nvPr/>
        </p:nvSpPr>
        <p:spPr>
          <a:xfrm>
            <a:off x="5833872" y="3785616"/>
            <a:ext cx="1444752" cy="411480"/>
          </a:xfrm>
          <a:prstGeom prst="rect">
            <a:avLst/>
          </a:prstGeom>
          <a:solidFill>
            <a:srgbClr val="FFFFFF"/>
          </a:solidFill>
          <a:ln w="12700">
            <a:solidFill>
              <a:srgbClr val="E1DFDD"/>
            </a:solidFill>
            <a:prstDash val="solid"/>
          </a:ln>
        </p:spPr>
      </p:sp>
      <p:sp>
        <p:nvSpPr>
          <p:cNvPr id="37" name="Shape 35"/>
          <p:cNvSpPr/>
          <p:nvPr/>
        </p:nvSpPr>
        <p:spPr>
          <a:xfrm>
            <a:off x="7315200" y="3785616"/>
            <a:ext cx="1417320" cy="411480"/>
          </a:xfrm>
          <a:prstGeom prst="rect">
            <a:avLst/>
          </a:prstGeom>
          <a:solidFill>
            <a:srgbClr val="FFFFFF"/>
          </a:solidFill>
          <a:ln w="12700">
            <a:solidFill>
              <a:srgbClr val="E1DFDD"/>
            </a:solidFill>
            <a:prstDash val="solid"/>
          </a:ln>
        </p:spPr>
      </p:sp>
      <p:sp>
        <p:nvSpPr>
          <p:cNvPr id="38" name="Text 36"/>
          <p:cNvSpPr/>
          <p:nvPr/>
        </p:nvSpPr>
        <p:spPr>
          <a:xfrm>
            <a:off x="4709160" y="3840480"/>
            <a:ext cx="1005840" cy="310896"/>
          </a:xfrm>
          <a:prstGeom prst="rect">
            <a:avLst/>
          </a:prstGeom>
          <a:noFill/>
          <a:ln/>
        </p:spPr>
        <p:txBody>
          <a:bodyPr wrap="square" rtlCol="0" anchor="ctr"/>
          <a:lstStyle/>
          <a:p>
            <a:pPr indent="0" marL="0">
              <a:buNone/>
            </a:pPr>
            <a:r>
              <a:rPr lang="en-US" sz="900" b="1" dirty="0">
                <a:solidFill>
                  <a:srgbClr val="201F1E"/>
                </a:solidFill>
                <a:latin typeface="Segoe UI" pitchFamily="34" charset="0"/>
                <a:ea typeface="Segoe UI" pitchFamily="34" charset="-122"/>
                <a:cs typeface="Segoe UI" pitchFamily="34" charset="-120"/>
              </a:rPr>
              <a:t>Diagnostics depth</a:t>
            </a:r>
            <a:endParaRPr lang="en-US" sz="900" dirty="0"/>
          </a:p>
        </p:txBody>
      </p:sp>
      <p:sp>
        <p:nvSpPr>
          <p:cNvPr id="39" name="Text 37"/>
          <p:cNvSpPr/>
          <p:nvPr/>
        </p:nvSpPr>
        <p:spPr>
          <a:xfrm>
            <a:off x="5879592" y="3840480"/>
            <a:ext cx="1353312"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Basic</a:t>
            </a:r>
            <a:endParaRPr lang="en-US" sz="900" dirty="0"/>
          </a:p>
        </p:txBody>
      </p:sp>
      <p:sp>
        <p:nvSpPr>
          <p:cNvPr id="40" name="Text 38"/>
          <p:cNvSpPr/>
          <p:nvPr/>
        </p:nvSpPr>
        <p:spPr>
          <a:xfrm>
            <a:off x="7360920" y="3840480"/>
            <a:ext cx="1325880"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Full Activity + evaluation</a:t>
            </a:r>
            <a:endParaRPr lang="en-US" sz="900" dirty="0"/>
          </a:p>
        </p:txBody>
      </p:sp>
      <p:sp>
        <p:nvSpPr>
          <p:cNvPr id="41" name="Shape 39"/>
          <p:cNvSpPr/>
          <p:nvPr/>
        </p:nvSpPr>
        <p:spPr>
          <a:xfrm>
            <a:off x="4663440" y="4224528"/>
            <a:ext cx="1097280" cy="411480"/>
          </a:xfrm>
          <a:prstGeom prst="rect">
            <a:avLst/>
          </a:prstGeom>
          <a:solidFill>
            <a:srgbClr val="F3F2F1"/>
          </a:solidFill>
          <a:ln w="12700">
            <a:solidFill>
              <a:srgbClr val="E1DFDD"/>
            </a:solidFill>
            <a:prstDash val="solid"/>
          </a:ln>
        </p:spPr>
      </p:sp>
      <p:sp>
        <p:nvSpPr>
          <p:cNvPr id="42" name="Shape 40"/>
          <p:cNvSpPr/>
          <p:nvPr/>
        </p:nvSpPr>
        <p:spPr>
          <a:xfrm>
            <a:off x="5833872" y="4224528"/>
            <a:ext cx="1444752" cy="411480"/>
          </a:xfrm>
          <a:prstGeom prst="rect">
            <a:avLst/>
          </a:prstGeom>
          <a:solidFill>
            <a:srgbClr val="F3F2F1"/>
          </a:solidFill>
          <a:ln w="12700">
            <a:solidFill>
              <a:srgbClr val="E1DFDD"/>
            </a:solidFill>
            <a:prstDash val="solid"/>
          </a:ln>
        </p:spPr>
      </p:sp>
      <p:sp>
        <p:nvSpPr>
          <p:cNvPr id="43" name="Shape 41"/>
          <p:cNvSpPr/>
          <p:nvPr/>
        </p:nvSpPr>
        <p:spPr>
          <a:xfrm>
            <a:off x="7315200" y="4224528"/>
            <a:ext cx="1417320" cy="411480"/>
          </a:xfrm>
          <a:prstGeom prst="rect">
            <a:avLst/>
          </a:prstGeom>
          <a:solidFill>
            <a:srgbClr val="F3F2F1"/>
          </a:solidFill>
          <a:ln w="12700">
            <a:solidFill>
              <a:srgbClr val="E1DFDD"/>
            </a:solidFill>
            <a:prstDash val="solid"/>
          </a:ln>
        </p:spPr>
      </p:sp>
      <p:sp>
        <p:nvSpPr>
          <p:cNvPr id="44" name="Text 42"/>
          <p:cNvSpPr/>
          <p:nvPr/>
        </p:nvSpPr>
        <p:spPr>
          <a:xfrm>
            <a:off x="4709160" y="4279392"/>
            <a:ext cx="1005840" cy="310896"/>
          </a:xfrm>
          <a:prstGeom prst="rect">
            <a:avLst/>
          </a:prstGeom>
          <a:noFill/>
          <a:ln/>
        </p:spPr>
        <p:txBody>
          <a:bodyPr wrap="square" rtlCol="0" anchor="ctr"/>
          <a:lstStyle/>
          <a:p>
            <a:pPr indent="0" marL="0">
              <a:buNone/>
            </a:pPr>
            <a:r>
              <a:rPr lang="en-US" sz="900" b="1" dirty="0">
                <a:solidFill>
                  <a:srgbClr val="201F1E"/>
                </a:solidFill>
                <a:latin typeface="Segoe UI" pitchFamily="34" charset="0"/>
                <a:ea typeface="Segoe UI" pitchFamily="34" charset="-122"/>
                <a:cs typeface="Segoe UI" pitchFamily="34" charset="-120"/>
              </a:rPr>
              <a:t>Best fit</a:t>
            </a:r>
            <a:endParaRPr lang="en-US" sz="900" dirty="0"/>
          </a:p>
        </p:txBody>
      </p:sp>
      <p:sp>
        <p:nvSpPr>
          <p:cNvPr id="45" name="Text 43"/>
          <p:cNvSpPr/>
          <p:nvPr/>
        </p:nvSpPr>
        <p:spPr>
          <a:xfrm>
            <a:off x="5879592" y="4279392"/>
            <a:ext cx="1353312"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Narrow focused skill</a:t>
            </a:r>
            <a:endParaRPr lang="en-US" sz="900" dirty="0"/>
          </a:p>
        </p:txBody>
      </p:sp>
      <p:sp>
        <p:nvSpPr>
          <p:cNvPr id="46" name="Text 44"/>
          <p:cNvSpPr/>
          <p:nvPr/>
        </p:nvSpPr>
        <p:spPr>
          <a:xfrm>
            <a:off x="7360920" y="4279392"/>
            <a:ext cx="1325880" cy="310896"/>
          </a:xfrm>
          <a:prstGeom prst="rect">
            <a:avLst/>
          </a:prstGeom>
          <a:noFill/>
          <a:ln/>
        </p:spPr>
        <p:txBody>
          <a:bodyPr wrap="square"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End-to-end business process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04</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Solutions &amp; ALM Packaging</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Create the Contoso Solutions publisher with prefix cts</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Create the Contoso Helpdesk Agent solution and set as preferred</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Add a Workshop Scenario Name environment variable for ALM validation</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Export the solution and import into a validation environment</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Confirm version 1.0.0.0 travels correctly across environments</a:t>
            </a:r>
            <a:endParaRPr lang="en-US" sz="115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02  ·  LAB 04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04: Solutions &amp; ALM Packaging</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solution you created here is the transport container for every asset you build this week.</a:t>
            </a:r>
            <a:endParaRPr lang="en-US" sz="1200" dirty="0"/>
          </a:p>
        </p:txBody>
      </p:sp>
      <p:sp>
        <p:nvSpPr>
          <p:cNvPr id="6" name="Shape 4"/>
          <p:cNvSpPr/>
          <p:nvPr/>
        </p:nvSpPr>
        <p:spPr>
          <a:xfrm>
            <a:off x="320040" y="1801368"/>
            <a:ext cx="8503920" cy="530352"/>
          </a:xfrm>
          <a:prstGeom prst="rect">
            <a:avLst/>
          </a:prstGeom>
          <a:solidFill>
            <a:srgbClr val="F3F2F1"/>
          </a:solidFill>
          <a:ln w="12700">
            <a:solidFill>
              <a:srgbClr val="E1DFDD"/>
            </a:solidFill>
            <a:prstDash val="solid"/>
          </a:ln>
        </p:spPr>
      </p:sp>
      <p:sp>
        <p:nvSpPr>
          <p:cNvPr id="7" name="Shape 5"/>
          <p:cNvSpPr/>
          <p:nvPr/>
        </p:nvSpPr>
        <p:spPr>
          <a:xfrm>
            <a:off x="457200" y="1920240"/>
            <a:ext cx="292608" cy="292608"/>
          </a:xfrm>
          <a:prstGeom prst="rect">
            <a:avLst/>
          </a:prstGeom>
          <a:solidFill>
            <a:srgbClr val="0078D4"/>
          </a:solidFill>
          <a:ln w="12700">
            <a:solidFill>
              <a:srgbClr val="0078D4"/>
            </a:solidFill>
            <a:prstDash val="solid"/>
          </a:ln>
        </p:spPr>
      </p:sp>
      <p:sp>
        <p:nvSpPr>
          <p:cNvPr id="8" name="Text 6"/>
          <p:cNvSpPr/>
          <p:nvPr/>
        </p:nvSpPr>
        <p:spPr>
          <a:xfrm>
            <a:off x="457200"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9" name="Text 7"/>
          <p:cNvSpPr/>
          <p:nvPr/>
        </p:nvSpPr>
        <p:spPr>
          <a:xfrm>
            <a:off x="886968" y="1920240"/>
            <a:ext cx="7818120" cy="292608"/>
          </a:xfrm>
          <a:prstGeom prst="rect">
            <a:avLst/>
          </a:prstGeom>
          <a:noFill/>
          <a:ln/>
        </p:spPr>
        <p:txBody>
          <a:bodyPr wrap="square" lIns="0" tIns="0" rIns="0" bIns="0" rtlCol="0" anchor="ctr"/>
          <a:lstStyle/>
          <a:p>
            <a:pPr indent="0" marL="0">
              <a:buNone/>
            </a:pPr>
            <a:r>
              <a:rPr lang="en-US" sz="1150" dirty="0">
                <a:solidFill>
                  <a:srgbClr val="201F1E"/>
                </a:solidFill>
                <a:latin typeface="Segoe UI" pitchFamily="34" charset="0"/>
                <a:ea typeface="Segoe UI" pitchFamily="34" charset="-122"/>
                <a:cs typeface="Segoe UI" pitchFamily="34" charset="-120"/>
              </a:rPr>
              <a:t>Created the Contoso Solutions publisher with prefix cts and a consistent display name</a:t>
            </a:r>
            <a:endParaRPr lang="en-US" sz="1150" dirty="0"/>
          </a:p>
        </p:txBody>
      </p:sp>
      <p:sp>
        <p:nvSpPr>
          <p:cNvPr id="10" name="Shape 8"/>
          <p:cNvSpPr/>
          <p:nvPr/>
        </p:nvSpPr>
        <p:spPr>
          <a:xfrm>
            <a:off x="320040" y="2368296"/>
            <a:ext cx="8503920" cy="530352"/>
          </a:xfrm>
          <a:prstGeom prst="rect">
            <a:avLst/>
          </a:prstGeom>
          <a:solidFill>
            <a:srgbClr val="FFFFFF"/>
          </a:solidFill>
          <a:ln w="12700">
            <a:solidFill>
              <a:srgbClr val="E1DFDD"/>
            </a:solidFill>
            <a:prstDash val="solid"/>
          </a:ln>
        </p:spPr>
      </p:sp>
      <p:sp>
        <p:nvSpPr>
          <p:cNvPr id="11" name="Shape 9"/>
          <p:cNvSpPr/>
          <p:nvPr/>
        </p:nvSpPr>
        <p:spPr>
          <a:xfrm>
            <a:off x="457200" y="2487168"/>
            <a:ext cx="292608" cy="292608"/>
          </a:xfrm>
          <a:prstGeom prst="rect">
            <a:avLst/>
          </a:prstGeom>
          <a:solidFill>
            <a:srgbClr val="0078D4"/>
          </a:solidFill>
          <a:ln w="12700">
            <a:solidFill>
              <a:srgbClr val="0078D4"/>
            </a:solidFill>
            <a:prstDash val="solid"/>
          </a:ln>
        </p:spPr>
      </p:sp>
      <p:sp>
        <p:nvSpPr>
          <p:cNvPr id="12" name="Text 10"/>
          <p:cNvSpPr/>
          <p:nvPr/>
        </p:nvSpPr>
        <p:spPr>
          <a:xfrm>
            <a:off x="457200" y="2487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13" name="Text 11"/>
          <p:cNvSpPr/>
          <p:nvPr/>
        </p:nvSpPr>
        <p:spPr>
          <a:xfrm>
            <a:off x="886968" y="2487168"/>
            <a:ext cx="7818120" cy="292608"/>
          </a:xfrm>
          <a:prstGeom prst="rect">
            <a:avLst/>
          </a:prstGeom>
          <a:noFill/>
          <a:ln/>
        </p:spPr>
        <p:txBody>
          <a:bodyPr wrap="square" lIns="0" tIns="0" rIns="0" bIns="0" rtlCol="0" anchor="ctr"/>
          <a:lstStyle/>
          <a:p>
            <a:pPr indent="0" marL="0">
              <a:buNone/>
            </a:pPr>
            <a:r>
              <a:rPr lang="en-US" sz="1150" dirty="0">
                <a:solidFill>
                  <a:srgbClr val="201F1E"/>
                </a:solidFill>
                <a:latin typeface="Segoe UI" pitchFamily="34" charset="0"/>
                <a:ea typeface="Segoe UI" pitchFamily="34" charset="-122"/>
                <a:cs typeface="Segoe UI" pitchFamily="34" charset="-120"/>
              </a:rPr>
              <a:t>Created the Contoso Helpdesk Agent solution (v1.0.0.0) and set it as the preferred solution</a:t>
            </a:r>
            <a:endParaRPr lang="en-US" sz="1150" dirty="0"/>
          </a:p>
        </p:txBody>
      </p:sp>
      <p:sp>
        <p:nvSpPr>
          <p:cNvPr id="14" name="Shape 12"/>
          <p:cNvSpPr/>
          <p:nvPr/>
        </p:nvSpPr>
        <p:spPr>
          <a:xfrm>
            <a:off x="320040" y="2935224"/>
            <a:ext cx="8503920" cy="530352"/>
          </a:xfrm>
          <a:prstGeom prst="rect">
            <a:avLst/>
          </a:prstGeom>
          <a:solidFill>
            <a:srgbClr val="F3F2F1"/>
          </a:solidFill>
          <a:ln w="12700">
            <a:solidFill>
              <a:srgbClr val="E1DFDD"/>
            </a:solidFill>
            <a:prstDash val="solid"/>
          </a:ln>
        </p:spPr>
      </p:sp>
      <p:sp>
        <p:nvSpPr>
          <p:cNvPr id="15" name="Shape 13"/>
          <p:cNvSpPr/>
          <p:nvPr/>
        </p:nvSpPr>
        <p:spPr>
          <a:xfrm>
            <a:off x="457200" y="3054096"/>
            <a:ext cx="292608" cy="292608"/>
          </a:xfrm>
          <a:prstGeom prst="rect">
            <a:avLst/>
          </a:prstGeom>
          <a:solidFill>
            <a:srgbClr val="0078D4"/>
          </a:solidFill>
          <a:ln w="12700">
            <a:solidFill>
              <a:srgbClr val="0078D4"/>
            </a:solidFill>
            <a:prstDash val="solid"/>
          </a:ln>
        </p:spPr>
      </p:sp>
      <p:sp>
        <p:nvSpPr>
          <p:cNvPr id="16" name="Text 14"/>
          <p:cNvSpPr/>
          <p:nvPr/>
        </p:nvSpPr>
        <p:spPr>
          <a:xfrm>
            <a:off x="457200" y="3054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17" name="Text 15"/>
          <p:cNvSpPr/>
          <p:nvPr/>
        </p:nvSpPr>
        <p:spPr>
          <a:xfrm>
            <a:off x="886968" y="3054096"/>
            <a:ext cx="7818120" cy="292608"/>
          </a:xfrm>
          <a:prstGeom prst="rect">
            <a:avLst/>
          </a:prstGeom>
          <a:noFill/>
          <a:ln/>
        </p:spPr>
        <p:txBody>
          <a:bodyPr wrap="square" lIns="0" tIns="0" rIns="0" bIns="0" rtlCol="0" anchor="ctr"/>
          <a:lstStyle/>
          <a:p>
            <a:pPr indent="0" marL="0">
              <a:buNone/>
            </a:pPr>
            <a:r>
              <a:rPr lang="en-US" sz="1150" dirty="0">
                <a:solidFill>
                  <a:srgbClr val="201F1E"/>
                </a:solidFill>
                <a:latin typeface="Segoe UI" pitchFamily="34" charset="0"/>
                <a:ea typeface="Segoe UI" pitchFamily="34" charset="-122"/>
                <a:cs typeface="Segoe UI" pitchFamily="34" charset="-120"/>
              </a:rPr>
              <a:t>Added the Workshop Scenario Name environment variable as a transportable ALM component</a:t>
            </a:r>
            <a:endParaRPr lang="en-US" sz="1150" dirty="0"/>
          </a:p>
        </p:txBody>
      </p:sp>
      <p:sp>
        <p:nvSpPr>
          <p:cNvPr id="18" name="Shape 16"/>
          <p:cNvSpPr/>
          <p:nvPr/>
        </p:nvSpPr>
        <p:spPr>
          <a:xfrm>
            <a:off x="320040" y="3502152"/>
            <a:ext cx="8503920" cy="530352"/>
          </a:xfrm>
          <a:prstGeom prst="rect">
            <a:avLst/>
          </a:prstGeom>
          <a:solidFill>
            <a:srgbClr val="FFFFFF"/>
          </a:solidFill>
          <a:ln w="12700">
            <a:solidFill>
              <a:srgbClr val="E1DFDD"/>
            </a:solidFill>
            <a:prstDash val="solid"/>
          </a:ln>
        </p:spPr>
      </p:sp>
      <p:sp>
        <p:nvSpPr>
          <p:cNvPr id="19" name="Shape 17"/>
          <p:cNvSpPr/>
          <p:nvPr/>
        </p:nvSpPr>
        <p:spPr>
          <a:xfrm>
            <a:off x="457200" y="3621024"/>
            <a:ext cx="292608" cy="292608"/>
          </a:xfrm>
          <a:prstGeom prst="rect">
            <a:avLst/>
          </a:prstGeom>
          <a:solidFill>
            <a:srgbClr val="0078D4"/>
          </a:solidFill>
          <a:ln w="12700">
            <a:solidFill>
              <a:srgbClr val="0078D4"/>
            </a:solidFill>
            <a:prstDash val="solid"/>
          </a:ln>
        </p:spPr>
      </p:sp>
      <p:sp>
        <p:nvSpPr>
          <p:cNvPr id="20" name="Text 18"/>
          <p:cNvSpPr/>
          <p:nvPr/>
        </p:nvSpPr>
        <p:spPr>
          <a:xfrm>
            <a:off x="457200" y="36210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21" name="Text 19"/>
          <p:cNvSpPr/>
          <p:nvPr/>
        </p:nvSpPr>
        <p:spPr>
          <a:xfrm>
            <a:off x="886968" y="3621024"/>
            <a:ext cx="7818120" cy="292608"/>
          </a:xfrm>
          <a:prstGeom prst="rect">
            <a:avLst/>
          </a:prstGeom>
          <a:noFill/>
          <a:ln/>
        </p:spPr>
        <p:txBody>
          <a:bodyPr wrap="square" lIns="0" tIns="0" rIns="0" bIns="0" rtlCol="0" anchor="ctr"/>
          <a:lstStyle/>
          <a:p>
            <a:pPr indent="0" marL="0">
              <a:buNone/>
            </a:pPr>
            <a:r>
              <a:rPr lang="en-US" sz="1150" dirty="0">
                <a:solidFill>
                  <a:srgbClr val="201F1E"/>
                </a:solidFill>
                <a:latin typeface="Segoe UI" pitchFamily="34" charset="0"/>
                <a:ea typeface="Segoe UI" pitchFamily="34" charset="-122"/>
                <a:cs typeface="Segoe UI" pitchFamily="34" charset="-120"/>
              </a:rPr>
              <a:t>Exported the solution as a .zip package (Managed or Unmanaged — state which and why)</a:t>
            </a:r>
            <a:endParaRPr lang="en-US" sz="1150" dirty="0"/>
          </a:p>
        </p:txBody>
      </p:sp>
      <p:sp>
        <p:nvSpPr>
          <p:cNvPr id="22" name="Shape 20"/>
          <p:cNvSpPr/>
          <p:nvPr/>
        </p:nvSpPr>
        <p:spPr>
          <a:xfrm>
            <a:off x="320040" y="4069080"/>
            <a:ext cx="8503920" cy="530352"/>
          </a:xfrm>
          <a:prstGeom prst="rect">
            <a:avLst/>
          </a:prstGeom>
          <a:solidFill>
            <a:srgbClr val="F3F2F1"/>
          </a:solidFill>
          <a:ln w="12700">
            <a:solidFill>
              <a:srgbClr val="E1DFDD"/>
            </a:solidFill>
            <a:prstDash val="solid"/>
          </a:ln>
        </p:spPr>
      </p:sp>
      <p:sp>
        <p:nvSpPr>
          <p:cNvPr id="23" name="Shape 21"/>
          <p:cNvSpPr/>
          <p:nvPr/>
        </p:nvSpPr>
        <p:spPr>
          <a:xfrm>
            <a:off x="457200" y="4187952"/>
            <a:ext cx="292608" cy="292608"/>
          </a:xfrm>
          <a:prstGeom prst="rect">
            <a:avLst/>
          </a:prstGeom>
          <a:solidFill>
            <a:srgbClr val="0078D4"/>
          </a:solidFill>
          <a:ln w="12700">
            <a:solidFill>
              <a:srgbClr val="0078D4"/>
            </a:solidFill>
            <a:prstDash val="solid"/>
          </a:ln>
        </p:spPr>
      </p:sp>
      <p:sp>
        <p:nvSpPr>
          <p:cNvPr id="24" name="Text 22"/>
          <p:cNvSpPr/>
          <p:nvPr/>
        </p:nvSpPr>
        <p:spPr>
          <a:xfrm>
            <a:off x="457200" y="41879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25" name="Text 23"/>
          <p:cNvSpPr/>
          <p:nvPr/>
        </p:nvSpPr>
        <p:spPr>
          <a:xfrm>
            <a:off x="886968" y="4187952"/>
            <a:ext cx="7818120" cy="292608"/>
          </a:xfrm>
          <a:prstGeom prst="rect">
            <a:avLst/>
          </a:prstGeom>
          <a:noFill/>
          <a:ln/>
        </p:spPr>
        <p:txBody>
          <a:bodyPr wrap="square" lIns="0" tIns="0" rIns="0" bIns="0" rtlCol="0" anchor="ctr"/>
          <a:lstStyle/>
          <a:p>
            <a:pPr indent="0" marL="0">
              <a:buNone/>
            </a:pPr>
            <a:r>
              <a:rPr lang="en-US" sz="1150" dirty="0">
                <a:solidFill>
                  <a:srgbClr val="201F1E"/>
                </a:solidFill>
                <a:latin typeface="Segoe UI" pitchFamily="34" charset="0"/>
                <a:ea typeface="Segoe UI" pitchFamily="34" charset="-122"/>
                <a:cs typeface="Segoe UI" pitchFamily="34" charset="-120"/>
              </a:rPr>
              <a:t>Imported into the validation environment and confirmed the environment variable is present</a:t>
            </a:r>
            <a:endParaRPr lang="en-US" sz="115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03 — Reuse Patterns  (Lab 05: Prebuilt Agents)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02: Studio Foundations</dc:title>
  <dc:subject>PptxGenJS Presentation</dc:subject>
  <dc:creator>Microsoft</dc:creator>
  <cp:lastModifiedBy>Microsoft</cp:lastModifiedBy>
  <cp:revision>1</cp:revision>
  <dcterms:created xsi:type="dcterms:W3CDTF">2026-03-23T20:35:31Z</dcterms:created>
  <dcterms:modified xsi:type="dcterms:W3CDTF">2026-03-23T20:35:31Z</dcterms:modified>
</cp:coreProperties>
</file>