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final module brings quality, insight, and business value into one decision framework. Evaluation tells the quality and release-readiness story. ROI analytics tells the value story. Together they answer whether the agent is worth scaling and safe enough to scale. Connect the evaluation workflow back to the transcript-analysis reference architecture so quality improvement feels operational and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agent evaluation is an operational control, not just a workshop demo. Connect the failing-case analysis to the transcript-analysis reference architecture: both use real interactions, structured review, and iterative improvement to raise quality over time. Encourage participants to keep the test set after the workshop for regression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the workflow back to the transcript-analysis reference architecture so quality improvement feels operational and repeatable. Show what makes a failing case useful: clear expected behavior, grader reasoning, and an activity map that points to the real fix. Leave the room with the idea that evaluation is a reusable release gate, not a one-time workshop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module clearly optional. Direct non-developers to remain on Lab 23 or Lab 24. Emphasize that this workflow is now generally available and fits real developer team practices. Apply updates the cloud agent definition but does not publish the agent to end users. For MCP tools, setup and authentication should still follow the supported GA onboarding 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participants that Apply updates the cloud agent definition but does not publish the agent to end users. Always validate in Copilot Studio after you sync. If teams ask how MCP fits the developer workflow, MCP is supported in the agent definition but setup and authentication should still follow the supported GA onboarding wizard.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by making the developer add-on feel optional, useful, and safely separated from the core path. Reassure nondevelopers that the core delivery story is already complete. Invite all participants to share their evaluation baseline, ROI analytics, and production rollout plans. The workshop is complete — the deployment journey is just beginning.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3A5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78D4"/>
          </a:solidFill>
          <a:ln w="12700">
            <a:solidFill>
              <a:srgbClr val="0078D4"/>
            </a:solidFill>
            <a:prstDash val="solid"/>
          </a:ln>
        </p:spPr>
      </p:sp>
      <p:sp>
        <p:nvSpPr>
          <p:cNvPr id="3" name="Shape 1"/>
          <p:cNvSpPr/>
          <p:nvPr/>
        </p:nvSpPr>
        <p:spPr>
          <a:xfrm>
            <a:off x="0" y="64008"/>
            <a:ext cx="411480" cy="5079492"/>
          </a:xfrm>
          <a:prstGeom prst="rect">
            <a:avLst/>
          </a:prstGeom>
          <a:solidFill>
            <a:srgbClr val="0078D4"/>
          </a:solidFill>
          <a:ln w="12700">
            <a:solidFill>
              <a:srgbClr val="0078D4"/>
            </a:solidFill>
            <a:prstDash val="solid"/>
          </a:ln>
        </p:spPr>
      </p:sp>
      <p:sp>
        <p:nvSpPr>
          <p:cNvPr id="4" name="Text 2"/>
          <p:cNvSpPr/>
          <p:nvPr/>
        </p:nvSpPr>
        <p:spPr>
          <a:xfrm>
            <a:off x="594360" y="594360"/>
            <a:ext cx="8229600" cy="384048"/>
          </a:xfrm>
          <a:prstGeom prst="rect">
            <a:avLst/>
          </a:prstGeom>
          <a:noFill/>
          <a:ln/>
        </p:spPr>
        <p:txBody>
          <a:bodyPr wrap="square" rtlCol="0" anchor="ctr"/>
          <a:lstStyle/>
          <a:p>
            <a:pPr indent="0" marL="0">
              <a:buNone/>
            </a:pPr>
            <a:r>
              <a:rPr lang="en-US" sz="1100" spc="500" kern="0" dirty="0">
                <a:solidFill>
                  <a:srgbClr val="50E6FF"/>
                </a:solidFill>
                <a:latin typeface="Segoe UI" pitchFamily="34" charset="0"/>
                <a:ea typeface="Segoe UI" pitchFamily="34" charset="-122"/>
                <a:cs typeface="Segoe UI" pitchFamily="34" charset="-120"/>
              </a:rPr>
              <a:t>MODULE 12</a:t>
            </a:r>
            <a:endParaRPr lang="en-US" sz="1100" dirty="0"/>
          </a:p>
        </p:txBody>
      </p:sp>
      <p:sp>
        <p:nvSpPr>
          <p:cNvPr id="5" name="Text 3"/>
          <p:cNvSpPr/>
          <p:nvPr/>
        </p:nvSpPr>
        <p:spPr>
          <a:xfrm>
            <a:off x="594360" y="1078992"/>
            <a:ext cx="8229600" cy="914400"/>
          </a:xfrm>
          <a:prstGeom prst="rect">
            <a:avLst/>
          </a:prstGeom>
          <a:noFill/>
          <a:ln/>
        </p:spPr>
        <p:txBody>
          <a:bodyPr wrap="square"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Evaluation and ROI</a:t>
            </a:r>
            <a:endParaRPr lang="en-US" sz="4800" dirty="0"/>
          </a:p>
        </p:txBody>
      </p:sp>
      <p:sp>
        <p:nvSpPr>
          <p:cNvPr id="6" name="Text 4"/>
          <p:cNvSpPr/>
          <p:nvPr/>
        </p:nvSpPr>
        <p:spPr>
          <a:xfrm>
            <a:off x="594360" y="2103120"/>
            <a:ext cx="7955280" cy="502920"/>
          </a:xfrm>
          <a:prstGeom prst="rect">
            <a:avLst/>
          </a:prstGeom>
          <a:noFill/>
          <a:ln/>
        </p:spPr>
        <p:txBody>
          <a:bodyPr wrap="square" rtlCol="0" anchor="ctr"/>
          <a:lstStyle/>
          <a:p>
            <a:pPr indent="0" marL="0">
              <a:buNone/>
            </a:pPr>
            <a:r>
              <a:rPr lang="en-US" sz="1300" dirty="0">
                <a:solidFill>
                  <a:srgbClr val="C5D8F0"/>
                </a:solidFill>
                <a:latin typeface="Segoe UI" pitchFamily="34" charset="0"/>
                <a:ea typeface="Segoe UI" pitchFamily="34" charset="-122"/>
                <a:cs typeface="Segoe UI" pitchFamily="34" charset="-120"/>
              </a:rPr>
              <a:t>Repeatable release gates, transcript analytics, and ROI evidence — the full value story for sponsors and delivery leaders</a:t>
            </a:r>
            <a:endParaRPr lang="en-US" sz="1300" dirty="0"/>
          </a:p>
        </p:txBody>
      </p:sp>
      <p:sp>
        <p:nvSpPr>
          <p:cNvPr id="7" name="Shape 5"/>
          <p:cNvSpPr/>
          <p:nvPr/>
        </p:nvSpPr>
        <p:spPr>
          <a:xfrm>
            <a:off x="594360" y="2834640"/>
            <a:ext cx="2633472" cy="438912"/>
          </a:xfrm>
          <a:prstGeom prst="rect">
            <a:avLst/>
          </a:prstGeom>
          <a:solidFill>
            <a:srgbClr val="0078D4"/>
          </a:solidFill>
          <a:ln w="12700">
            <a:solidFill>
              <a:srgbClr val="0078D4"/>
            </a:solidFill>
            <a:prstDash val="solid"/>
          </a:ln>
        </p:spPr>
      </p:sp>
      <p:sp>
        <p:nvSpPr>
          <p:cNvPr id="8" name="Text 6"/>
          <p:cNvSpPr/>
          <p:nvPr/>
        </p:nvSpPr>
        <p:spPr>
          <a:xfrm>
            <a:off x="594360" y="283464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Agent Evaluation</a:t>
            </a:r>
            <a:endParaRPr lang="en-US" sz="1150" dirty="0"/>
          </a:p>
        </p:txBody>
      </p:sp>
      <p:sp>
        <p:nvSpPr>
          <p:cNvPr id="9" name="Shape 7"/>
          <p:cNvSpPr/>
          <p:nvPr/>
        </p:nvSpPr>
        <p:spPr>
          <a:xfrm>
            <a:off x="3410712" y="2834640"/>
            <a:ext cx="2633472" cy="438912"/>
          </a:xfrm>
          <a:prstGeom prst="rect">
            <a:avLst/>
          </a:prstGeom>
          <a:solidFill>
            <a:srgbClr val="00B294"/>
          </a:solidFill>
          <a:ln w="12700">
            <a:solidFill>
              <a:srgbClr val="00B294"/>
            </a:solidFill>
            <a:prstDash val="solid"/>
          </a:ln>
        </p:spPr>
      </p:sp>
      <p:sp>
        <p:nvSpPr>
          <p:cNvPr id="10" name="Text 8"/>
          <p:cNvSpPr/>
          <p:nvPr/>
        </p:nvSpPr>
        <p:spPr>
          <a:xfrm>
            <a:off x="3410712" y="283464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VS Code (Optional)</a:t>
            </a:r>
            <a:endParaRPr lang="en-US" sz="1150" dirty="0"/>
          </a:p>
        </p:txBody>
      </p:sp>
      <p:sp>
        <p:nvSpPr>
          <p:cNvPr id="11" name="Shape 9"/>
          <p:cNvSpPr/>
          <p:nvPr/>
        </p:nvSpPr>
        <p:spPr>
          <a:xfrm>
            <a:off x="6227064" y="2834640"/>
            <a:ext cx="2633472" cy="438912"/>
          </a:xfrm>
          <a:prstGeom prst="rect">
            <a:avLst/>
          </a:prstGeom>
          <a:solidFill>
            <a:srgbClr val="5C2D91"/>
          </a:solidFill>
          <a:ln w="12700">
            <a:solidFill>
              <a:srgbClr val="5C2D91"/>
            </a:solidFill>
            <a:prstDash val="solid"/>
          </a:ln>
        </p:spPr>
      </p:sp>
      <p:sp>
        <p:nvSpPr>
          <p:cNvPr id="12" name="Text 10"/>
          <p:cNvSpPr/>
          <p:nvPr/>
        </p:nvSpPr>
        <p:spPr>
          <a:xfrm>
            <a:off x="6227064" y="2834640"/>
            <a:ext cx="2633472" cy="438912"/>
          </a:xfrm>
          <a:prstGeom prst="rect">
            <a:avLst/>
          </a:prstGeom>
          <a:noFill/>
          <a:ln/>
        </p:spPr>
        <p:txBody>
          <a:bodyPr wrap="square"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Workshop Complete</a:t>
            </a:r>
            <a:endParaRPr lang="en-US" sz="1150" dirty="0"/>
          </a:p>
        </p:txBody>
      </p:sp>
      <p:sp>
        <p:nvSpPr>
          <p:cNvPr id="13" name="Text 11"/>
          <p:cNvSpPr/>
          <p:nvPr/>
        </p:nvSpPr>
        <p:spPr>
          <a:xfrm>
            <a:off x="594360" y="4343400"/>
            <a:ext cx="8229600" cy="320040"/>
          </a:xfrm>
          <a:prstGeom prst="rect">
            <a:avLst/>
          </a:prstGeom>
          <a:noFill/>
          <a:ln/>
        </p:spPr>
        <p:txBody>
          <a:bodyPr wrap="square" rtlCol="0" anchor="ctr"/>
          <a:lstStyle/>
          <a:p>
            <a:pPr indent="0" marL="0">
              <a:buNone/>
            </a:pPr>
            <a:r>
              <a:rPr lang="en-US" sz="1000" dirty="0">
                <a:solidFill>
                  <a:srgbClr val="7BA7CC"/>
                </a:solidFill>
                <a:latin typeface="Segoe UI" pitchFamily="34" charset="0"/>
                <a:ea typeface="Segoe UI" pitchFamily="34" charset="-122"/>
                <a:cs typeface="Segoe UI" pitchFamily="34" charset="-120"/>
              </a:rPr>
              <a:t>Labs 24–25  ·  Day 2 Operative Track  ·  Workshop Final Module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500" kern="0" dirty="0">
                <a:solidFill>
                  <a:srgbClr val="50E6FF"/>
                </a:solidFill>
                <a:latin typeface="Segoe UI" pitchFamily="34" charset="0"/>
                <a:ea typeface="Segoe UI" pitchFamily="34" charset="-122"/>
                <a:cs typeface="Segoe UI" pitchFamily="34" charset="-120"/>
              </a:rPr>
              <a:t>LAB TIME</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24</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2000" dirty="0">
                <a:solidFill>
                  <a:srgbClr val="50E6FF"/>
                </a:solidFill>
                <a:latin typeface="Segoe UI" pitchFamily="34" charset="0"/>
                <a:ea typeface="Segoe UI" pitchFamily="34" charset="-122"/>
                <a:cs typeface="Segoe UI" pitchFamily="34" charset="-120"/>
              </a:rPr>
              <a:t>Agent Evaluation</a:t>
            </a:r>
            <a:endParaRPr lang="en-US" sz="20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Open Hiring Agent Evaluation tab → create test set 'Hiring Agent - Day 2 QA Baseline'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Add 5+ test cases: candidate matching, interview prep, feedback, ambiguous request, edge case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Assign graders: General quality, Compare meaning, Tool use, or Keyword match per case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Run evaluation → review overall pass rate in Recent results</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Open one failing case → inspect grader reasoning and activity map → document the root cause</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Improve agent instructions based on evidence → re-run → compare with baseline run</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45</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Evaluation is a release gate —</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not a one-time workshop demo</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Makers  ·  IT Pros  ·  Developers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12  ·  LAB 24 RECAP</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24: Evaluation and QA</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A reusable release gate — score behavior with evidence, diagnose why it failed, and feed improvements back in.</a:t>
            </a:r>
            <a:endParaRPr lang="en-US" sz="1200" dirty="0"/>
          </a:p>
        </p:txBody>
      </p:sp>
      <p:sp>
        <p:nvSpPr>
          <p:cNvPr id="6" name="Shape 4"/>
          <p:cNvSpPr/>
          <p:nvPr/>
        </p:nvSpPr>
        <p:spPr>
          <a:xfrm>
            <a:off x="274320" y="1737360"/>
            <a:ext cx="5029200" cy="2651760"/>
          </a:xfrm>
          <a:prstGeom prst="rect">
            <a:avLst/>
          </a:prstGeom>
          <a:solidFill>
            <a:srgbClr val="F3F2F1"/>
          </a:solidFill>
          <a:ln w="12700">
            <a:solidFill>
              <a:srgbClr val="E1DFDD"/>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274320" y="1737360"/>
            <a:ext cx="5029200" cy="365760"/>
          </a:xfrm>
          <a:prstGeom prst="rect">
            <a:avLst/>
          </a:prstGeom>
          <a:solidFill>
            <a:srgbClr val="0078D4"/>
          </a:solidFill>
          <a:ln w="12700">
            <a:solidFill>
              <a:srgbClr val="0078D4"/>
            </a:solidFill>
            <a:prstDash val="solid"/>
          </a:ln>
        </p:spPr>
      </p:sp>
      <p:sp>
        <p:nvSpPr>
          <p:cNvPr id="8" name="Text 6"/>
          <p:cNvSpPr/>
          <p:nvPr/>
        </p:nvSpPr>
        <p:spPr>
          <a:xfrm>
            <a:off x="384048" y="1737360"/>
            <a:ext cx="4800600" cy="36576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Validation Checklist</a:t>
            </a:r>
            <a:endParaRPr lang="en-US" sz="1100" dirty="0"/>
          </a:p>
        </p:txBody>
      </p:sp>
      <p:sp>
        <p:nvSpPr>
          <p:cNvPr id="9" name="Text 7"/>
          <p:cNvSpPr/>
          <p:nvPr/>
        </p:nvSpPr>
        <p:spPr>
          <a:xfrm>
            <a:off x="384048" y="2212848"/>
            <a:ext cx="4800600" cy="2103120"/>
          </a:xfrm>
          <a:prstGeom prst="rect">
            <a:avLst/>
          </a:prstGeom>
          <a:noFill/>
          <a:ln/>
        </p:spPr>
        <p:txBody>
          <a:bodyPr wrap="square" rtlCol="0" anchor="ctr"/>
          <a:lstStyle/>
          <a:p>
            <a:pPr marL="342900" indent="-342900">
              <a:buSzPct val="100000"/>
              <a:buChar char="•"/>
            </a:pPr>
            <a:r>
              <a:rPr lang="en-US" sz="1050" dirty="0">
                <a:solidFill>
                  <a:srgbClr val="201F1E"/>
                </a:solidFill>
                <a:latin typeface="Segoe UI" pitchFamily="34" charset="0"/>
                <a:ea typeface="Segoe UI" pitchFamily="34" charset="-122"/>
                <a:cs typeface="Segoe UI" pitchFamily="34" charset="-120"/>
              </a:rPr>
              <a:t>Evaluation page shows completed run for 'Hiring Agent - Day 2 QA Baseline'</a:t>
            </a:r>
            <a:endParaRPr lang="en-US" sz="1050" dirty="0"/>
          </a:p>
          <a:p>
            <a:pPr marL="342900" indent="-342900">
              <a:buSzPct val="100000"/>
              <a:buChar char="•"/>
            </a:pPr>
            <a:r>
              <a:rPr lang="en-US" sz="1050" dirty="0">
                <a:solidFill>
                  <a:srgbClr val="201F1E"/>
                </a:solidFill>
                <a:latin typeface="Segoe UI" pitchFamily="34" charset="0"/>
                <a:ea typeface="Segoe UI" pitchFamily="34" charset="-122"/>
                <a:cs typeface="Segoe UI" pitchFamily="34" charset="-120"/>
              </a:rPr>
              <a:t>Failed test case opened with grader reasoning and activity map evidence</a:t>
            </a:r>
            <a:endParaRPr lang="en-US" sz="1050" dirty="0"/>
          </a:p>
          <a:p>
            <a:pPr marL="342900" indent="-342900">
              <a:buSzPct val="100000"/>
              <a:buChar char="•"/>
            </a:pPr>
            <a:r>
              <a:rPr lang="en-US" sz="1050" dirty="0">
                <a:solidFill>
                  <a:srgbClr val="201F1E"/>
                </a:solidFill>
                <a:latin typeface="Segoe UI" pitchFamily="34" charset="0"/>
                <a:ea typeface="Segoe UI" pitchFamily="34" charset="-122"/>
                <a:cs typeface="Segoe UI" pitchFamily="34" charset="-120"/>
              </a:rPr>
              <a:t>Hiring Agent instructions include a targeted improvement based on failing case</a:t>
            </a:r>
            <a:endParaRPr lang="en-US" sz="1050" dirty="0"/>
          </a:p>
          <a:p>
            <a:pPr marL="342900" indent="-342900">
              <a:buSzPct val="100000"/>
              <a:buChar char="•"/>
            </a:pPr>
            <a:r>
              <a:rPr lang="en-US" sz="1050" dirty="0">
                <a:solidFill>
                  <a:srgbClr val="201F1E"/>
                </a:solidFill>
                <a:latin typeface="Segoe UI" pitchFamily="34" charset="0"/>
                <a:ea typeface="Segoe UI" pitchFamily="34" charset="-122"/>
                <a:cs typeface="Segoe UI" pitchFamily="34" charset="-120"/>
              </a:rPr>
              <a:t>Second evaluation run exists and comparison shows the improvement cycle</a:t>
            </a:r>
            <a:endParaRPr lang="en-US" sz="1050" dirty="0"/>
          </a:p>
          <a:p>
            <a:pPr marL="342900" indent="-342900">
              <a:buSzPct val="100000"/>
              <a:buChar char="•"/>
            </a:pPr>
            <a:r>
              <a:rPr lang="en-US" sz="1050" dirty="0">
                <a:solidFill>
                  <a:srgbClr val="201F1E"/>
                </a:solidFill>
                <a:latin typeface="Segoe UI" pitchFamily="34" charset="0"/>
                <a:ea typeface="Segoe UI" pitchFamily="34" charset="-122"/>
                <a:cs typeface="Segoe UI" pitchFamily="34" charset="-120"/>
              </a:rPr>
              <a:t>Pass rate improved or failure reason documented for future work</a:t>
            </a:r>
            <a:endParaRPr lang="en-US" sz="1050" dirty="0"/>
          </a:p>
        </p:txBody>
      </p:sp>
      <p:sp>
        <p:nvSpPr>
          <p:cNvPr id="10" name="Shape 8"/>
          <p:cNvSpPr/>
          <p:nvPr/>
        </p:nvSpPr>
        <p:spPr>
          <a:xfrm>
            <a:off x="5486400" y="1737360"/>
            <a:ext cx="3383280" cy="2651760"/>
          </a:xfrm>
          <a:prstGeom prst="rect">
            <a:avLst/>
          </a:prstGeom>
          <a:solidFill>
            <a:srgbClr val="EFF6FC"/>
          </a:solidFill>
          <a:ln w="12700">
            <a:solidFill>
              <a:srgbClr val="C7E0F4"/>
            </a:solidFill>
            <a:prstDash val="solid"/>
          </a:ln>
          <a:effectLst>
            <a:outerShdw sx="100000" sy="100000" kx="0" ky="0" algn="bl" rotWithShape="0" blurRad="101600" dist="25400" dir="8100000">
              <a:srgbClr val="000000">
                <a:alpha val="10000"/>
              </a:srgbClr>
            </a:outerShdw>
          </a:effectLst>
        </p:spPr>
      </p:sp>
      <p:sp>
        <p:nvSpPr>
          <p:cNvPr id="11" name="Shape 9"/>
          <p:cNvSpPr/>
          <p:nvPr/>
        </p:nvSpPr>
        <p:spPr>
          <a:xfrm>
            <a:off x="5486400" y="1737360"/>
            <a:ext cx="3383280" cy="365760"/>
          </a:xfrm>
          <a:prstGeom prst="rect">
            <a:avLst/>
          </a:prstGeom>
          <a:solidFill>
            <a:srgbClr val="243A5E"/>
          </a:solidFill>
          <a:ln w="12700">
            <a:solidFill>
              <a:srgbClr val="243A5E"/>
            </a:solidFill>
            <a:prstDash val="solid"/>
          </a:ln>
        </p:spPr>
      </p:sp>
      <p:sp>
        <p:nvSpPr>
          <p:cNvPr id="12" name="Text 10"/>
          <p:cNvSpPr/>
          <p:nvPr/>
        </p:nvSpPr>
        <p:spPr>
          <a:xfrm>
            <a:off x="5596128" y="1737360"/>
            <a:ext cx="3154680" cy="365760"/>
          </a:xfrm>
          <a:prstGeom prst="rect">
            <a:avLst/>
          </a:prstGeom>
          <a:noFill/>
          <a:ln/>
        </p:spPr>
        <p:txBody>
          <a:bodyPr wrap="square" rtlCol="0" anchor="ctr"/>
          <a:lstStyle/>
          <a:p>
            <a:pPr indent="0" marL="0">
              <a:buNone/>
            </a:pPr>
            <a:r>
              <a:rPr lang="en-US" sz="1100" b="1" dirty="0">
                <a:solidFill>
                  <a:srgbClr val="FFFFFF"/>
                </a:solidFill>
                <a:latin typeface="Segoe UI" pitchFamily="34" charset="0"/>
                <a:ea typeface="Segoe UI" pitchFamily="34" charset="-122"/>
                <a:cs typeface="Segoe UI" pitchFamily="34" charset="-120"/>
              </a:rPr>
              <a:t>Quality Improvement Loop</a:t>
            </a:r>
            <a:endParaRPr lang="en-US" sz="1100" dirty="0"/>
          </a:p>
        </p:txBody>
      </p:sp>
      <p:sp>
        <p:nvSpPr>
          <p:cNvPr id="13" name="Shape 11"/>
          <p:cNvSpPr/>
          <p:nvPr/>
        </p:nvSpPr>
        <p:spPr>
          <a:xfrm>
            <a:off x="5596128" y="2249424"/>
            <a:ext cx="914400" cy="237744"/>
          </a:xfrm>
          <a:prstGeom prst="rect">
            <a:avLst/>
          </a:prstGeom>
          <a:solidFill>
            <a:srgbClr val="0078D4"/>
          </a:solidFill>
          <a:ln w="12700">
            <a:solidFill>
              <a:srgbClr val="0078D4"/>
            </a:solidFill>
            <a:prstDash val="solid"/>
          </a:ln>
        </p:spPr>
      </p:sp>
      <p:sp>
        <p:nvSpPr>
          <p:cNvPr id="14" name="Text 12"/>
          <p:cNvSpPr/>
          <p:nvPr/>
        </p:nvSpPr>
        <p:spPr>
          <a:xfrm>
            <a:off x="5596128" y="2249424"/>
            <a:ext cx="91440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1  Evaluate</a:t>
            </a:r>
            <a:endParaRPr lang="en-US" sz="850" dirty="0"/>
          </a:p>
        </p:txBody>
      </p:sp>
      <p:sp>
        <p:nvSpPr>
          <p:cNvPr id="15" name="Text 13"/>
          <p:cNvSpPr/>
          <p:nvPr/>
        </p:nvSpPr>
        <p:spPr>
          <a:xfrm>
            <a:off x="6583680" y="2212848"/>
            <a:ext cx="2176272" cy="384048"/>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Run scored test set against the current agent baseline</a:t>
            </a:r>
            <a:endParaRPr lang="en-US" sz="950" dirty="0"/>
          </a:p>
        </p:txBody>
      </p:sp>
      <p:sp>
        <p:nvSpPr>
          <p:cNvPr id="16" name="Shape 14"/>
          <p:cNvSpPr/>
          <p:nvPr/>
        </p:nvSpPr>
        <p:spPr>
          <a:xfrm>
            <a:off x="5596128" y="2779776"/>
            <a:ext cx="914400" cy="237744"/>
          </a:xfrm>
          <a:prstGeom prst="rect">
            <a:avLst/>
          </a:prstGeom>
          <a:solidFill>
            <a:srgbClr val="0078D4"/>
          </a:solidFill>
          <a:ln w="12700">
            <a:solidFill>
              <a:srgbClr val="0078D4"/>
            </a:solidFill>
            <a:prstDash val="solid"/>
          </a:ln>
        </p:spPr>
      </p:sp>
      <p:sp>
        <p:nvSpPr>
          <p:cNvPr id="17" name="Text 15"/>
          <p:cNvSpPr/>
          <p:nvPr/>
        </p:nvSpPr>
        <p:spPr>
          <a:xfrm>
            <a:off x="5596128" y="2779776"/>
            <a:ext cx="91440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2  Diagnose</a:t>
            </a:r>
            <a:endParaRPr lang="en-US" sz="850" dirty="0"/>
          </a:p>
        </p:txBody>
      </p:sp>
      <p:sp>
        <p:nvSpPr>
          <p:cNvPr id="18" name="Text 16"/>
          <p:cNvSpPr/>
          <p:nvPr/>
        </p:nvSpPr>
        <p:spPr>
          <a:xfrm>
            <a:off x="6583680" y="2743200"/>
            <a:ext cx="2176272" cy="384048"/>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Open failing case, inspect activity map, find root cause</a:t>
            </a:r>
            <a:endParaRPr lang="en-US" sz="950" dirty="0"/>
          </a:p>
        </p:txBody>
      </p:sp>
      <p:sp>
        <p:nvSpPr>
          <p:cNvPr id="19" name="Shape 17"/>
          <p:cNvSpPr/>
          <p:nvPr/>
        </p:nvSpPr>
        <p:spPr>
          <a:xfrm>
            <a:off x="5596128" y="3310128"/>
            <a:ext cx="914400" cy="237744"/>
          </a:xfrm>
          <a:prstGeom prst="rect">
            <a:avLst/>
          </a:prstGeom>
          <a:solidFill>
            <a:srgbClr val="0078D4"/>
          </a:solidFill>
          <a:ln w="12700">
            <a:solidFill>
              <a:srgbClr val="0078D4"/>
            </a:solidFill>
            <a:prstDash val="solid"/>
          </a:ln>
        </p:spPr>
      </p:sp>
      <p:sp>
        <p:nvSpPr>
          <p:cNvPr id="20" name="Text 18"/>
          <p:cNvSpPr/>
          <p:nvPr/>
        </p:nvSpPr>
        <p:spPr>
          <a:xfrm>
            <a:off x="5596128" y="3310128"/>
            <a:ext cx="91440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3  Improve</a:t>
            </a:r>
            <a:endParaRPr lang="en-US" sz="850" dirty="0"/>
          </a:p>
        </p:txBody>
      </p:sp>
      <p:sp>
        <p:nvSpPr>
          <p:cNvPr id="21" name="Text 19"/>
          <p:cNvSpPr/>
          <p:nvPr/>
        </p:nvSpPr>
        <p:spPr>
          <a:xfrm>
            <a:off x="6583680" y="3273552"/>
            <a:ext cx="2176272" cy="384048"/>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Edit instructions, tools, or grounding to fix the issue</a:t>
            </a:r>
            <a:endParaRPr lang="en-US" sz="950" dirty="0"/>
          </a:p>
        </p:txBody>
      </p:sp>
      <p:sp>
        <p:nvSpPr>
          <p:cNvPr id="22" name="Shape 20"/>
          <p:cNvSpPr/>
          <p:nvPr/>
        </p:nvSpPr>
        <p:spPr>
          <a:xfrm>
            <a:off x="5596128" y="3840480"/>
            <a:ext cx="914400" cy="237744"/>
          </a:xfrm>
          <a:prstGeom prst="rect">
            <a:avLst/>
          </a:prstGeom>
          <a:solidFill>
            <a:srgbClr val="0078D4"/>
          </a:solidFill>
          <a:ln w="12700">
            <a:solidFill>
              <a:srgbClr val="0078D4"/>
            </a:solidFill>
            <a:prstDash val="solid"/>
          </a:ln>
        </p:spPr>
      </p:sp>
      <p:sp>
        <p:nvSpPr>
          <p:cNvPr id="23" name="Text 21"/>
          <p:cNvSpPr/>
          <p:nvPr/>
        </p:nvSpPr>
        <p:spPr>
          <a:xfrm>
            <a:off x="5596128" y="3840480"/>
            <a:ext cx="91440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Segoe UI" pitchFamily="34" charset="0"/>
                <a:ea typeface="Segoe UI" pitchFamily="34" charset="-122"/>
                <a:cs typeface="Segoe UI" pitchFamily="34" charset="-120"/>
              </a:rPr>
              <a:t>4  Re-evaluate</a:t>
            </a:r>
            <a:endParaRPr lang="en-US" sz="850" dirty="0"/>
          </a:p>
        </p:txBody>
      </p:sp>
      <p:sp>
        <p:nvSpPr>
          <p:cNvPr id="24" name="Text 22"/>
          <p:cNvSpPr/>
          <p:nvPr/>
        </p:nvSpPr>
        <p:spPr>
          <a:xfrm>
            <a:off x="6583680" y="3803904"/>
            <a:ext cx="2176272" cy="384048"/>
          </a:xfrm>
          <a:prstGeom prst="rect">
            <a:avLst/>
          </a:prstGeom>
          <a:noFill/>
          <a:ln/>
        </p:spPr>
        <p:txBody>
          <a:bodyPr wrap="square" lIns="0" tIns="0" rIns="0" bIns="0" rtlCol="0" anchor="ctr"/>
          <a:lstStyle/>
          <a:p>
            <a:pPr indent="0" marL="0">
              <a:buNone/>
            </a:pPr>
            <a:r>
              <a:rPr lang="en-US" sz="950" dirty="0">
                <a:solidFill>
                  <a:srgbClr val="201F1E"/>
                </a:solidFill>
                <a:latin typeface="Segoe UI" pitchFamily="34" charset="0"/>
                <a:ea typeface="Segoe UI" pitchFamily="34" charset="-122"/>
                <a:cs typeface="Segoe UI" pitchFamily="34" charset="-120"/>
              </a:rPr>
              <a:t>Run test set again and compare with the previous run</a:t>
            </a:r>
            <a:endParaRPr lang="en-US" sz="950" dirty="0"/>
          </a:p>
        </p:txBody>
      </p:sp>
      <p:sp>
        <p:nvSpPr>
          <p:cNvPr id="25" name="Shape 23"/>
          <p:cNvSpPr/>
          <p:nvPr/>
        </p:nvSpPr>
        <p:spPr>
          <a:xfrm>
            <a:off x="320040" y="4681728"/>
            <a:ext cx="8503920" cy="320040"/>
          </a:xfrm>
          <a:prstGeom prst="rect">
            <a:avLst/>
          </a:prstGeom>
          <a:solidFill>
            <a:srgbClr val="EFF6FC"/>
          </a:solidFill>
          <a:ln w="12700">
            <a:solidFill>
              <a:srgbClr val="C7E0F4"/>
            </a:solidFill>
            <a:prstDash val="solid"/>
          </a:ln>
        </p:spPr>
      </p:sp>
      <p:sp>
        <p:nvSpPr>
          <p:cNvPr id="26" name="Text 24"/>
          <p:cNvSpPr/>
          <p:nvPr/>
        </p:nvSpPr>
        <p:spPr>
          <a:xfrm>
            <a:off x="475488" y="4681728"/>
            <a:ext cx="8321040" cy="320040"/>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Keep the test set after the workshop — rerun it after future changes to detect regressions before they reach users.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78D4"/>
        </a:solidFill>
      </p:bgPr>
    </p:bg>
    <p:spTree>
      <p:nvGrpSpPr>
        <p:cNvPr id="1" name=""/>
        <p:cNvGrpSpPr/>
        <p:nvPr/>
      </p:nvGrpSpPr>
      <p:grpSpPr>
        <a:xfrm>
          <a:off x="0" y="0"/>
          <a:ext cx="0" cy="0"/>
          <a:chOff x="0" y="0"/>
          <a:chExt cx="0" cy="0"/>
        </a:xfrm>
      </p:grpSpPr>
      <p:sp>
        <p:nvSpPr>
          <p:cNvPr id="2" name="Shape 0"/>
          <p:cNvSpPr/>
          <p:nvPr/>
        </p:nvSpPr>
        <p:spPr>
          <a:xfrm>
            <a:off x="5852160" y="0"/>
            <a:ext cx="3291840" cy="5143500"/>
          </a:xfrm>
          <a:prstGeom prst="rect">
            <a:avLst/>
          </a:prstGeom>
          <a:solidFill>
            <a:srgbClr val="243A5E"/>
          </a:solidFill>
          <a:ln w="12700">
            <a:solidFill>
              <a:srgbClr val="243A5E"/>
            </a:solidFill>
            <a:prstDash val="solid"/>
          </a:ln>
        </p:spPr>
      </p:sp>
      <p:sp>
        <p:nvSpPr>
          <p:cNvPr id="3" name="Text 1"/>
          <p:cNvSpPr/>
          <p:nvPr/>
        </p:nvSpPr>
        <p:spPr>
          <a:xfrm>
            <a:off x="411480" y="365760"/>
            <a:ext cx="5212080" cy="384048"/>
          </a:xfrm>
          <a:prstGeom prst="rect">
            <a:avLst/>
          </a:prstGeom>
          <a:noFill/>
          <a:ln/>
        </p:spPr>
        <p:txBody>
          <a:bodyPr wrap="square" rtlCol="0" anchor="ctr"/>
          <a:lstStyle/>
          <a:p>
            <a:pPr indent="0" marL="0">
              <a:buNone/>
            </a:pPr>
            <a:r>
              <a:rPr lang="en-US" sz="1000" spc="300" kern="0" dirty="0">
                <a:solidFill>
                  <a:srgbClr val="50E6FF"/>
                </a:solidFill>
                <a:latin typeface="Segoe UI" pitchFamily="34" charset="0"/>
                <a:ea typeface="Segoe UI" pitchFamily="34" charset="-122"/>
                <a:cs typeface="Segoe UI" pitchFamily="34" charset="-120"/>
              </a:rPr>
              <a:t>LAB TIME  ·  DEVELOPER TRACK</a:t>
            </a:r>
            <a:endParaRPr lang="en-US" sz="1000" dirty="0"/>
          </a:p>
        </p:txBody>
      </p:sp>
      <p:sp>
        <p:nvSpPr>
          <p:cNvPr id="4" name="Text 2"/>
          <p:cNvSpPr/>
          <p:nvPr/>
        </p:nvSpPr>
        <p:spPr>
          <a:xfrm>
            <a:off x="411480" y="841248"/>
            <a:ext cx="5212080" cy="1005840"/>
          </a:xfrm>
          <a:prstGeom prst="rect">
            <a:avLst/>
          </a:prstGeom>
          <a:noFill/>
          <a:ln/>
        </p:spPr>
        <p:txBody>
          <a:bodyPr wrap="square" rtlCol="0" anchor="ctr"/>
          <a:lstStyle/>
          <a:p>
            <a:pPr indent="0" marL="0">
              <a:buNone/>
            </a:pPr>
            <a:r>
              <a:rPr lang="en-US" sz="5800" b="1" dirty="0">
                <a:solidFill>
                  <a:srgbClr val="FFFFFF"/>
                </a:solidFill>
                <a:latin typeface="Segoe UI" pitchFamily="34" charset="0"/>
                <a:ea typeface="Segoe UI" pitchFamily="34" charset="-122"/>
                <a:cs typeface="Segoe UI" pitchFamily="34" charset="-120"/>
              </a:rPr>
              <a:t>Lab 25</a:t>
            </a:r>
            <a:endParaRPr lang="en-US" sz="5800" dirty="0"/>
          </a:p>
        </p:txBody>
      </p:sp>
      <p:sp>
        <p:nvSpPr>
          <p:cNvPr id="5" name="Text 3"/>
          <p:cNvSpPr/>
          <p:nvPr/>
        </p:nvSpPr>
        <p:spPr>
          <a:xfrm>
            <a:off x="411480" y="1828800"/>
            <a:ext cx="5212080" cy="502920"/>
          </a:xfrm>
          <a:prstGeom prst="rect">
            <a:avLst/>
          </a:prstGeom>
          <a:noFill/>
          <a:ln/>
        </p:spPr>
        <p:txBody>
          <a:bodyPr wrap="square" rtlCol="0" anchor="ctr"/>
          <a:lstStyle/>
          <a:p>
            <a:pPr indent="0" marL="0">
              <a:buNone/>
            </a:pPr>
            <a:r>
              <a:rPr lang="en-US" sz="1800" dirty="0">
                <a:solidFill>
                  <a:srgbClr val="50E6FF"/>
                </a:solidFill>
                <a:latin typeface="Segoe UI" pitchFamily="34" charset="0"/>
                <a:ea typeface="Segoe UI" pitchFamily="34" charset="-122"/>
                <a:cs typeface="Segoe UI" pitchFamily="34" charset="-120"/>
              </a:rPr>
              <a:t>VS Code Workflow  (Optional)</a:t>
            </a:r>
            <a:endParaRPr lang="en-US" sz="1800" dirty="0"/>
          </a:p>
        </p:txBody>
      </p:sp>
      <p:sp>
        <p:nvSpPr>
          <p:cNvPr id="6" name="Text 4"/>
          <p:cNvSpPr/>
          <p:nvPr/>
        </p:nvSpPr>
        <p:spPr>
          <a:xfrm>
            <a:off x="411480" y="2450592"/>
            <a:ext cx="5212080" cy="2377440"/>
          </a:xfrm>
          <a:prstGeom prst="rect">
            <a:avLst/>
          </a:prstGeom>
          <a:noFill/>
          <a:ln/>
        </p:spPr>
        <p:txBody>
          <a:bodyPr wrap="square" rtlCol="0" anchor="ctr"/>
          <a:lstStyle/>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Open VS Code Copilot Studio extension → Clone Agent → select Hiring Agent</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Review Agent Changes pane and Get latest before making any edits</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Open agent.mcs.yaml, locate instructions: block, add one visible improvement</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Check Problems pane — confirm no YAML validation errors before applying</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Select Apply → wait for sync confirmation → switch to browser and refresh Hiring Agent</a:t>
            </a:r>
            <a:endParaRPr lang="en-US" sz="1100" dirty="0"/>
          </a:p>
          <a:p>
            <a:pPr marL="342900" indent="-342900">
              <a:buSzPct val="100000"/>
              <a:buChar char="•"/>
            </a:pPr>
            <a:r>
              <a:rPr lang="en-US" sz="1100" dirty="0">
                <a:solidFill>
                  <a:srgbClr val="FFFFFF"/>
                </a:solidFill>
                <a:latin typeface="Segoe UI" pitchFamily="34" charset="0"/>
                <a:ea typeface="Segoe UI" pitchFamily="34" charset="-122"/>
                <a:cs typeface="Segoe UI" pitchFamily="34" charset="-120"/>
              </a:rPr>
              <a:t>Start a new test session and confirm the change from VS Code appears in the response</a:t>
            </a:r>
            <a:endParaRPr lang="en-US" sz="1100" dirty="0"/>
          </a:p>
        </p:txBody>
      </p:sp>
      <p:sp>
        <p:nvSpPr>
          <p:cNvPr id="7" name="Text 5"/>
          <p:cNvSpPr/>
          <p:nvPr/>
        </p:nvSpPr>
        <p:spPr>
          <a:xfrm>
            <a:off x="5852160" y="1097280"/>
            <a:ext cx="3291840" cy="1463040"/>
          </a:xfrm>
          <a:prstGeom prst="rect">
            <a:avLst/>
          </a:prstGeom>
          <a:noFill/>
          <a:ln/>
        </p:spPr>
        <p:txBody>
          <a:bodyPr wrap="square" rtlCol="0" anchor="ctr"/>
          <a:lstStyle/>
          <a:p>
            <a:pPr algn="ctr" indent="0" marL="0">
              <a:buNone/>
            </a:pPr>
            <a:r>
              <a:rPr lang="en-US" sz="8000" b="1" dirty="0">
                <a:solidFill>
                  <a:srgbClr val="FFFFFF"/>
                </a:solidFill>
                <a:latin typeface="Segoe UI" pitchFamily="34" charset="0"/>
                <a:ea typeface="Segoe UI" pitchFamily="34" charset="-122"/>
                <a:cs typeface="Segoe UI" pitchFamily="34" charset="-120"/>
              </a:rPr>
              <a:t>30</a:t>
            </a:r>
            <a:endParaRPr lang="en-US" sz="8000" dirty="0"/>
          </a:p>
        </p:txBody>
      </p:sp>
      <p:sp>
        <p:nvSpPr>
          <p:cNvPr id="8" name="Text 6"/>
          <p:cNvSpPr/>
          <p:nvPr/>
        </p:nvSpPr>
        <p:spPr>
          <a:xfrm>
            <a:off x="5852160" y="2633472"/>
            <a:ext cx="3291840" cy="384048"/>
          </a:xfrm>
          <a:prstGeom prst="rect">
            <a:avLst/>
          </a:prstGeom>
          <a:noFill/>
          <a:ln/>
        </p:spPr>
        <p:txBody>
          <a:bodyPr wrap="square" rtlCol="0" anchor="ctr"/>
          <a:lstStyle/>
          <a:p>
            <a:pPr algn="ctr" indent="0" marL="0">
              <a:buNone/>
            </a:pPr>
            <a:r>
              <a:rPr lang="en-US" sz="1400" dirty="0">
                <a:solidFill>
                  <a:srgbClr val="50E6FF"/>
                </a:solidFill>
                <a:latin typeface="Segoe UI" pitchFamily="34" charset="0"/>
                <a:ea typeface="Segoe UI" pitchFamily="34" charset="-122"/>
                <a:cs typeface="Segoe UI" pitchFamily="34" charset="-120"/>
              </a:rPr>
              <a:t>minutes</a:t>
            </a:r>
            <a:endParaRPr lang="en-US" sz="1400" dirty="0"/>
          </a:p>
        </p:txBody>
      </p:sp>
      <p:sp>
        <p:nvSpPr>
          <p:cNvPr id="9" name="Text 7"/>
          <p:cNvSpPr/>
          <p:nvPr/>
        </p:nvSpPr>
        <p:spPr>
          <a:xfrm>
            <a:off x="5852160" y="3154680"/>
            <a:ext cx="3291840" cy="640080"/>
          </a:xfrm>
          <a:prstGeom prst="rect">
            <a:avLst/>
          </a:prstGeom>
          <a:noFill/>
          <a:ln/>
        </p:spPr>
        <p:txBody>
          <a:bodyPr wrap="square" rtlCol="0" anchor="ctr"/>
          <a:lstStyle/>
          <a:p>
            <a:pPr algn="ctr" indent="0" marL="0">
              <a:buNone/>
            </a:pPr>
            <a:r>
              <a:rPr lang="en-US" sz="900" dirty="0">
                <a:solidFill>
                  <a:srgbClr val="A0BEDD"/>
                </a:solidFill>
                <a:latin typeface="Segoe UI" pitchFamily="34" charset="0"/>
                <a:ea typeface="Segoe UI" pitchFamily="34" charset="-122"/>
                <a:cs typeface="Segoe UI" pitchFamily="34" charset="-120"/>
              </a:rPr>
              <a:t>Optional — Developers only</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Non-devs: remain on Lab 24</a:t>
            </a:r>
            <a:endParaRPr lang="en-US" sz="900" dirty="0"/>
          </a:p>
          <a:p>
            <a:pPr algn="ctr" indent="0" marL="0">
              <a:buNone/>
            </a:pPr>
            <a:r>
              <a:rPr lang="en-US" sz="900" dirty="0">
                <a:solidFill>
                  <a:srgbClr val="A0BEDD"/>
                </a:solidFill>
                <a:latin typeface="Segoe UI" pitchFamily="34" charset="0"/>
                <a:ea typeface="Segoe UI" pitchFamily="34" charset="-122"/>
                <a:cs typeface="Segoe UI" pitchFamily="34" charset="-120"/>
              </a:rPr>
              <a:t>or begin rollout planning</a:t>
            </a:r>
            <a:endParaRPr lang="en-US" sz="900" dirty="0"/>
          </a:p>
        </p:txBody>
      </p:sp>
      <p:sp>
        <p:nvSpPr>
          <p:cNvPr id="10" name="Text 8"/>
          <p:cNvSpPr/>
          <p:nvPr/>
        </p:nvSpPr>
        <p:spPr>
          <a:xfrm>
            <a:off x="5852160" y="4160520"/>
            <a:ext cx="3291840" cy="347472"/>
          </a:xfrm>
          <a:prstGeom prst="rect">
            <a:avLst/>
          </a:prstGeom>
          <a:noFill/>
          <a:ln/>
        </p:spPr>
        <p:txBody>
          <a:bodyPr wrap="square" rtlCol="0" anchor="ctr"/>
          <a:lstStyle/>
          <a:p>
            <a:pPr algn="ctr" indent="0" marL="0">
              <a:buNone/>
            </a:pPr>
            <a:r>
              <a:rPr lang="en-US" sz="900" dirty="0">
                <a:solidFill>
                  <a:srgbClr val="7BA7CC"/>
                </a:solidFill>
                <a:latin typeface="Segoe UI" pitchFamily="34" charset="0"/>
                <a:ea typeface="Segoe UI" pitchFamily="34" charset="-122"/>
                <a:cs typeface="Segoe UI" pitchFamily="34" charset="-120"/>
              </a:rPr>
              <a:t>Developers  ·  Code-First Authoring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078D4"/>
          </a:solidFill>
          <a:ln w="12700">
            <a:solidFill>
              <a:srgbClr val="0078D4"/>
            </a:solidFill>
            <a:prstDash val="solid"/>
          </a:ln>
        </p:spPr>
      </p:sp>
      <p:sp>
        <p:nvSpPr>
          <p:cNvPr id="3" name="Text 1"/>
          <p:cNvSpPr/>
          <p:nvPr/>
        </p:nvSpPr>
        <p:spPr>
          <a:xfrm>
            <a:off x="365760" y="0"/>
            <a:ext cx="8412480" cy="640080"/>
          </a:xfrm>
          <a:prstGeom prst="rect">
            <a:avLst/>
          </a:prstGeom>
          <a:noFill/>
          <a:ln/>
        </p:spPr>
        <p:txBody>
          <a:bodyPr wrap="square" rtlCol="0" anchor="ctr"/>
          <a:lstStyle/>
          <a:p>
            <a:pPr indent="0" marL="0">
              <a:buNone/>
            </a:pPr>
            <a:r>
              <a:rPr lang="en-US" sz="900" spc="200" kern="0" dirty="0">
                <a:solidFill>
                  <a:srgbClr val="C5D8F0"/>
                </a:solidFill>
                <a:latin typeface="Segoe UI" pitchFamily="34" charset="0"/>
                <a:ea typeface="Segoe UI" pitchFamily="34" charset="-122"/>
                <a:cs typeface="Segoe UI" pitchFamily="34" charset="-120"/>
              </a:rPr>
              <a:t>MODULE 12  ·  LAB 25 RECAP  ·  DEVELOPER TRACK</a:t>
            </a:r>
            <a:endParaRPr lang="en-US" sz="900" dirty="0"/>
          </a:p>
        </p:txBody>
      </p:sp>
      <p:sp>
        <p:nvSpPr>
          <p:cNvPr id="4" name="Text 2"/>
          <p:cNvSpPr/>
          <p:nvPr/>
        </p:nvSpPr>
        <p:spPr>
          <a:xfrm>
            <a:off x="365760" y="749808"/>
            <a:ext cx="8412480" cy="475488"/>
          </a:xfrm>
          <a:prstGeom prst="rect">
            <a:avLst/>
          </a:prstGeom>
          <a:noFill/>
          <a:ln/>
        </p:spPr>
        <p:txBody>
          <a:bodyPr wrap="square" rtlCol="0" anchor="ctr"/>
          <a:lstStyle/>
          <a:p>
            <a:pPr indent="0" marL="0">
              <a:buNone/>
            </a:pPr>
            <a:r>
              <a:rPr lang="en-US" sz="2800" b="1" dirty="0">
                <a:solidFill>
                  <a:srgbClr val="201F1E"/>
                </a:solidFill>
                <a:latin typeface="Segoe UI" pitchFamily="34" charset="0"/>
                <a:ea typeface="Segoe UI" pitchFamily="34" charset="-122"/>
                <a:cs typeface="Segoe UI" pitchFamily="34" charset="-120"/>
              </a:rPr>
              <a:t>Lab 25: VS Code Workflow  (Optional)</a:t>
            </a:r>
            <a:endParaRPr lang="en-US" sz="2800" dirty="0"/>
          </a:p>
        </p:txBody>
      </p:sp>
      <p:sp>
        <p:nvSpPr>
          <p:cNvPr id="5" name="Text 3"/>
          <p:cNvSpPr/>
          <p:nvPr/>
        </p:nvSpPr>
        <p:spPr>
          <a:xfrm>
            <a:off x="365760" y="1280160"/>
            <a:ext cx="8229600" cy="320040"/>
          </a:xfrm>
          <a:prstGeom prst="rect">
            <a:avLst/>
          </a:prstGeom>
          <a:noFill/>
          <a:ln/>
        </p:spPr>
        <p:txBody>
          <a:bodyPr wrap="square" rtlCol="0" anchor="ctr"/>
          <a:lstStyle/>
          <a:p>
            <a:pPr indent="0" marL="0">
              <a:buNone/>
            </a:pPr>
            <a:r>
              <a:rPr lang="en-US" sz="1200" dirty="0">
                <a:solidFill>
                  <a:srgbClr val="605E5C"/>
                </a:solidFill>
                <a:latin typeface="Segoe UI" pitchFamily="34" charset="0"/>
                <a:ea typeface="Segoe UI" pitchFamily="34" charset="-122"/>
                <a:cs typeface="Segoe UI" pitchFamily="34" charset="-120"/>
              </a:rPr>
              <a:t>Local editing complements — not replaces — the governed in-product flow and release controls.</a:t>
            </a:r>
            <a:endParaRPr lang="en-US" sz="1200" dirty="0"/>
          </a:p>
        </p:txBody>
      </p:sp>
      <p:sp>
        <p:nvSpPr>
          <p:cNvPr id="6" name="Shape 4"/>
          <p:cNvSpPr/>
          <p:nvPr/>
        </p:nvSpPr>
        <p:spPr>
          <a:xfrm>
            <a:off x="320040" y="1901952"/>
            <a:ext cx="8503920" cy="475488"/>
          </a:xfrm>
          <a:prstGeom prst="rect">
            <a:avLst/>
          </a:prstGeom>
          <a:solidFill>
            <a:srgbClr val="F3F2F1"/>
          </a:solidFill>
          <a:ln w="12700">
            <a:solidFill>
              <a:srgbClr val="E1DFDD"/>
            </a:solidFill>
            <a:prstDash val="solid"/>
          </a:ln>
        </p:spPr>
      </p:sp>
      <p:sp>
        <p:nvSpPr>
          <p:cNvPr id="7" name="Shape 5"/>
          <p:cNvSpPr/>
          <p:nvPr/>
        </p:nvSpPr>
        <p:spPr>
          <a:xfrm>
            <a:off x="457200" y="1993392"/>
            <a:ext cx="914400" cy="274320"/>
          </a:xfrm>
          <a:prstGeom prst="rect">
            <a:avLst/>
          </a:prstGeom>
          <a:solidFill>
            <a:srgbClr val="0078D4"/>
          </a:solidFill>
          <a:ln w="12700">
            <a:solidFill>
              <a:srgbClr val="0078D4"/>
            </a:solidFill>
            <a:prstDash val="solid"/>
          </a:ln>
        </p:spPr>
      </p:sp>
      <p:sp>
        <p:nvSpPr>
          <p:cNvPr id="8" name="Text 6"/>
          <p:cNvSpPr/>
          <p:nvPr/>
        </p:nvSpPr>
        <p:spPr>
          <a:xfrm>
            <a:off x="457200" y="1993392"/>
            <a:ext cx="9144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Clone</a:t>
            </a:r>
            <a:endParaRPr lang="en-US" sz="800" dirty="0"/>
          </a:p>
        </p:txBody>
      </p:sp>
      <p:sp>
        <p:nvSpPr>
          <p:cNvPr id="9" name="Text 7"/>
          <p:cNvSpPr/>
          <p:nvPr/>
        </p:nvSpPr>
        <p:spPr>
          <a:xfrm>
            <a:off x="1481328" y="1993392"/>
            <a:ext cx="7223760" cy="274320"/>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Hiring Agent opens successfully in the VS Code Copilot Studio extension workspace</a:t>
            </a:r>
            <a:endParaRPr lang="en-US" sz="1100" dirty="0"/>
          </a:p>
        </p:txBody>
      </p:sp>
      <p:sp>
        <p:nvSpPr>
          <p:cNvPr id="10" name="Shape 8"/>
          <p:cNvSpPr/>
          <p:nvPr/>
        </p:nvSpPr>
        <p:spPr>
          <a:xfrm>
            <a:off x="320040" y="2414016"/>
            <a:ext cx="8503920" cy="475488"/>
          </a:xfrm>
          <a:prstGeom prst="rect">
            <a:avLst/>
          </a:prstGeom>
          <a:solidFill>
            <a:srgbClr val="FFFFFF"/>
          </a:solidFill>
          <a:ln w="12700">
            <a:solidFill>
              <a:srgbClr val="E1DFDD"/>
            </a:solidFill>
            <a:prstDash val="solid"/>
          </a:ln>
        </p:spPr>
      </p:sp>
      <p:sp>
        <p:nvSpPr>
          <p:cNvPr id="11" name="Shape 9"/>
          <p:cNvSpPr/>
          <p:nvPr/>
        </p:nvSpPr>
        <p:spPr>
          <a:xfrm>
            <a:off x="457200" y="2505456"/>
            <a:ext cx="914400" cy="274320"/>
          </a:xfrm>
          <a:prstGeom prst="rect">
            <a:avLst/>
          </a:prstGeom>
          <a:solidFill>
            <a:srgbClr val="00B294"/>
          </a:solidFill>
          <a:ln w="12700">
            <a:solidFill>
              <a:srgbClr val="00B294"/>
            </a:solidFill>
            <a:prstDash val="solid"/>
          </a:ln>
        </p:spPr>
      </p:sp>
      <p:sp>
        <p:nvSpPr>
          <p:cNvPr id="12" name="Text 10"/>
          <p:cNvSpPr/>
          <p:nvPr/>
        </p:nvSpPr>
        <p:spPr>
          <a:xfrm>
            <a:off x="457200" y="2505456"/>
            <a:ext cx="9144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Edit</a:t>
            </a:r>
            <a:endParaRPr lang="en-US" sz="800" dirty="0"/>
          </a:p>
        </p:txBody>
      </p:sp>
      <p:sp>
        <p:nvSpPr>
          <p:cNvPr id="13" name="Text 11"/>
          <p:cNvSpPr/>
          <p:nvPr/>
        </p:nvSpPr>
        <p:spPr>
          <a:xfrm>
            <a:off x="1481328" y="2505456"/>
            <a:ext cx="7223760" cy="274320"/>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Local agent definition contains edited instruction text with no YAML validation errors</a:t>
            </a:r>
            <a:endParaRPr lang="en-US" sz="1100" dirty="0"/>
          </a:p>
        </p:txBody>
      </p:sp>
      <p:sp>
        <p:nvSpPr>
          <p:cNvPr id="14" name="Shape 12"/>
          <p:cNvSpPr/>
          <p:nvPr/>
        </p:nvSpPr>
        <p:spPr>
          <a:xfrm>
            <a:off x="320040" y="2926080"/>
            <a:ext cx="8503920" cy="475488"/>
          </a:xfrm>
          <a:prstGeom prst="rect">
            <a:avLst/>
          </a:prstGeom>
          <a:solidFill>
            <a:srgbClr val="F3F2F1"/>
          </a:solidFill>
          <a:ln w="12700">
            <a:solidFill>
              <a:srgbClr val="E1DFDD"/>
            </a:solidFill>
            <a:prstDash val="solid"/>
          </a:ln>
        </p:spPr>
      </p:sp>
      <p:sp>
        <p:nvSpPr>
          <p:cNvPr id="15" name="Shape 13"/>
          <p:cNvSpPr/>
          <p:nvPr/>
        </p:nvSpPr>
        <p:spPr>
          <a:xfrm>
            <a:off x="457200" y="3017520"/>
            <a:ext cx="914400" cy="274320"/>
          </a:xfrm>
          <a:prstGeom prst="rect">
            <a:avLst/>
          </a:prstGeom>
          <a:solidFill>
            <a:srgbClr val="5C2D91"/>
          </a:solidFill>
          <a:ln w="12700">
            <a:solidFill>
              <a:srgbClr val="5C2D91"/>
            </a:solidFill>
            <a:prstDash val="solid"/>
          </a:ln>
        </p:spPr>
      </p:sp>
      <p:sp>
        <p:nvSpPr>
          <p:cNvPr id="16" name="Text 14"/>
          <p:cNvSpPr/>
          <p:nvPr/>
        </p:nvSpPr>
        <p:spPr>
          <a:xfrm>
            <a:off x="457200" y="3017520"/>
            <a:ext cx="9144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Apply</a:t>
            </a:r>
            <a:endParaRPr lang="en-US" sz="800" dirty="0"/>
          </a:p>
        </p:txBody>
      </p:sp>
      <p:sp>
        <p:nvSpPr>
          <p:cNvPr id="17" name="Text 15"/>
          <p:cNvSpPr/>
          <p:nvPr/>
        </p:nvSpPr>
        <p:spPr>
          <a:xfrm>
            <a:off x="1481328" y="3017520"/>
            <a:ext cx="7223760" cy="274320"/>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Apply operation completes without unresolved remote-change conflicts</a:t>
            </a:r>
            <a:endParaRPr lang="en-US" sz="1100" dirty="0"/>
          </a:p>
        </p:txBody>
      </p:sp>
      <p:sp>
        <p:nvSpPr>
          <p:cNvPr id="18" name="Shape 16"/>
          <p:cNvSpPr/>
          <p:nvPr/>
        </p:nvSpPr>
        <p:spPr>
          <a:xfrm>
            <a:off x="320040" y="3438144"/>
            <a:ext cx="8503920" cy="475488"/>
          </a:xfrm>
          <a:prstGeom prst="rect">
            <a:avLst/>
          </a:prstGeom>
          <a:solidFill>
            <a:srgbClr val="FFFFFF"/>
          </a:solidFill>
          <a:ln w="12700">
            <a:solidFill>
              <a:srgbClr val="E1DFDD"/>
            </a:solidFill>
            <a:prstDash val="solid"/>
          </a:ln>
        </p:spPr>
      </p:sp>
      <p:sp>
        <p:nvSpPr>
          <p:cNvPr id="19" name="Shape 17"/>
          <p:cNvSpPr/>
          <p:nvPr/>
        </p:nvSpPr>
        <p:spPr>
          <a:xfrm>
            <a:off x="457200" y="3529584"/>
            <a:ext cx="914400" cy="274320"/>
          </a:xfrm>
          <a:prstGeom prst="rect">
            <a:avLst/>
          </a:prstGeom>
          <a:solidFill>
            <a:srgbClr val="D47900"/>
          </a:solidFill>
          <a:ln w="12700">
            <a:solidFill>
              <a:srgbClr val="D47900"/>
            </a:solidFill>
            <a:prstDash val="solid"/>
          </a:ln>
        </p:spPr>
      </p:sp>
      <p:sp>
        <p:nvSpPr>
          <p:cNvPr id="20" name="Text 18"/>
          <p:cNvSpPr/>
          <p:nvPr/>
        </p:nvSpPr>
        <p:spPr>
          <a:xfrm>
            <a:off x="457200" y="3529584"/>
            <a:ext cx="9144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Synced</a:t>
            </a:r>
            <a:endParaRPr lang="en-US" sz="800" dirty="0"/>
          </a:p>
        </p:txBody>
      </p:sp>
      <p:sp>
        <p:nvSpPr>
          <p:cNvPr id="21" name="Text 19"/>
          <p:cNvSpPr/>
          <p:nvPr/>
        </p:nvSpPr>
        <p:spPr>
          <a:xfrm>
            <a:off x="1481328" y="3529584"/>
            <a:ext cx="7223760" cy="274320"/>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Instruction change is visible in Copilot Studio Overview page after browser refresh</a:t>
            </a:r>
            <a:endParaRPr lang="en-US" sz="1100" dirty="0"/>
          </a:p>
        </p:txBody>
      </p:sp>
      <p:sp>
        <p:nvSpPr>
          <p:cNvPr id="22" name="Shape 20"/>
          <p:cNvSpPr/>
          <p:nvPr/>
        </p:nvSpPr>
        <p:spPr>
          <a:xfrm>
            <a:off x="320040" y="3950208"/>
            <a:ext cx="8503920" cy="475488"/>
          </a:xfrm>
          <a:prstGeom prst="rect">
            <a:avLst/>
          </a:prstGeom>
          <a:solidFill>
            <a:srgbClr val="F3F2F1"/>
          </a:solidFill>
          <a:ln w="12700">
            <a:solidFill>
              <a:srgbClr val="E1DFDD"/>
            </a:solidFill>
            <a:prstDash val="solid"/>
          </a:ln>
        </p:spPr>
      </p:sp>
      <p:sp>
        <p:nvSpPr>
          <p:cNvPr id="23" name="Shape 21"/>
          <p:cNvSpPr/>
          <p:nvPr/>
        </p:nvSpPr>
        <p:spPr>
          <a:xfrm>
            <a:off x="457200" y="4041648"/>
            <a:ext cx="914400" cy="274320"/>
          </a:xfrm>
          <a:prstGeom prst="rect">
            <a:avLst/>
          </a:prstGeom>
          <a:solidFill>
            <a:srgbClr val="107C10"/>
          </a:solidFill>
          <a:ln w="12700">
            <a:solidFill>
              <a:srgbClr val="107C10"/>
            </a:solidFill>
            <a:prstDash val="solid"/>
          </a:ln>
        </p:spPr>
      </p:sp>
      <p:sp>
        <p:nvSpPr>
          <p:cNvPr id="24" name="Text 22"/>
          <p:cNvSpPr/>
          <p:nvPr/>
        </p:nvSpPr>
        <p:spPr>
          <a:xfrm>
            <a:off x="457200" y="4041648"/>
            <a:ext cx="91440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pitchFamily="34" charset="0"/>
                <a:ea typeface="Segoe UI" pitchFamily="34" charset="-122"/>
                <a:cs typeface="Segoe UI" pitchFamily="34" charset="-120"/>
              </a:rPr>
              <a:t>Validated</a:t>
            </a:r>
            <a:endParaRPr lang="en-US" sz="800" dirty="0"/>
          </a:p>
        </p:txBody>
      </p:sp>
      <p:sp>
        <p:nvSpPr>
          <p:cNvPr id="25" name="Text 23"/>
          <p:cNvSpPr/>
          <p:nvPr/>
        </p:nvSpPr>
        <p:spPr>
          <a:xfrm>
            <a:off x="1481328" y="4041648"/>
            <a:ext cx="7223760" cy="274320"/>
          </a:xfrm>
          <a:prstGeom prst="rect">
            <a:avLst/>
          </a:prstGeom>
          <a:noFill/>
          <a:ln/>
        </p:spPr>
        <p:txBody>
          <a:bodyPr wrap="square" lIns="0" tIns="0" rIns="0" bIns="0" rtlCol="0" anchor="ctr"/>
          <a:lstStyle/>
          <a:p>
            <a:pPr indent="0" marL="0">
              <a:buNone/>
            </a:pPr>
            <a:r>
              <a:rPr lang="en-US" sz="1100" dirty="0">
                <a:solidFill>
                  <a:srgbClr val="201F1E"/>
                </a:solidFill>
                <a:latin typeface="Segoe UI" pitchFamily="34" charset="0"/>
                <a:ea typeface="Segoe UI" pitchFamily="34" charset="-122"/>
                <a:cs typeface="Segoe UI" pitchFamily="34" charset="-120"/>
              </a:rPr>
              <a:t>New test session response reflects the instruction change made in VS Code</a:t>
            </a:r>
            <a:endParaRPr lang="en-US" sz="1100" dirty="0"/>
          </a:p>
        </p:txBody>
      </p:sp>
      <p:sp>
        <p:nvSpPr>
          <p:cNvPr id="26" name="Shape 24"/>
          <p:cNvSpPr/>
          <p:nvPr/>
        </p:nvSpPr>
        <p:spPr>
          <a:xfrm>
            <a:off x="320040" y="4681728"/>
            <a:ext cx="8503920" cy="320040"/>
          </a:xfrm>
          <a:prstGeom prst="rect">
            <a:avLst/>
          </a:prstGeom>
          <a:solidFill>
            <a:srgbClr val="EFF6FC"/>
          </a:solidFill>
          <a:ln w="12700">
            <a:solidFill>
              <a:srgbClr val="C7E0F4"/>
            </a:solidFill>
            <a:prstDash val="solid"/>
          </a:ln>
        </p:spPr>
      </p:sp>
      <p:sp>
        <p:nvSpPr>
          <p:cNvPr id="27" name="Text 25"/>
          <p:cNvSpPr/>
          <p:nvPr/>
        </p:nvSpPr>
        <p:spPr>
          <a:xfrm>
            <a:off x="475488" y="4681728"/>
            <a:ext cx="8321040" cy="320040"/>
          </a:xfrm>
          <a:prstGeom prst="rect">
            <a:avLst/>
          </a:prstGeom>
          <a:noFill/>
          <a:ln/>
        </p:spPr>
        <p:txBody>
          <a:bodyPr wrap="square" rtlCol="0" anchor="ctr"/>
          <a:lstStyle/>
          <a:p>
            <a:pPr indent="0" marL="0">
              <a:buNone/>
            </a:pPr>
            <a:r>
              <a:rPr lang="en-US" sz="1050" dirty="0">
                <a:solidFill>
                  <a:srgbClr val="0078D4"/>
                </a:solidFill>
                <a:latin typeface="Segoe UI" pitchFamily="34" charset="0"/>
                <a:ea typeface="Segoe UI" pitchFamily="34" charset="-122"/>
                <a:cs typeface="Segoe UI" pitchFamily="34" charset="-120"/>
              </a:rPr>
              <a:t>Note: Apply syncs the agent definition to the cloud but does NOT publish to end users — publish separately in Copilot Studio.</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43A5E"/>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78D4"/>
          </a:solidFill>
          <a:ln w="12700">
            <a:solidFill>
              <a:srgbClr val="0078D4"/>
            </a:solidFill>
            <a:prstDash val="solid"/>
          </a:ln>
        </p:spPr>
      </p:sp>
      <p:sp>
        <p:nvSpPr>
          <p:cNvPr id="3" name="Shape 1"/>
          <p:cNvSpPr/>
          <p:nvPr/>
        </p:nvSpPr>
        <p:spPr>
          <a:xfrm>
            <a:off x="0" y="64008"/>
            <a:ext cx="411480" cy="5079492"/>
          </a:xfrm>
          <a:prstGeom prst="rect">
            <a:avLst/>
          </a:prstGeom>
          <a:solidFill>
            <a:srgbClr val="0078D4"/>
          </a:solidFill>
          <a:ln w="12700">
            <a:solidFill>
              <a:srgbClr val="0078D4"/>
            </a:solidFill>
            <a:prstDash val="solid"/>
          </a:ln>
        </p:spPr>
      </p:sp>
      <p:sp>
        <p:nvSpPr>
          <p:cNvPr id="4" name="Text 2"/>
          <p:cNvSpPr/>
          <p:nvPr/>
        </p:nvSpPr>
        <p:spPr>
          <a:xfrm>
            <a:off x="594360" y="475488"/>
            <a:ext cx="8229600" cy="384048"/>
          </a:xfrm>
          <a:prstGeom prst="rect">
            <a:avLst/>
          </a:prstGeom>
          <a:noFill/>
          <a:ln/>
        </p:spPr>
        <p:txBody>
          <a:bodyPr wrap="square" rtlCol="0" anchor="ctr"/>
          <a:lstStyle/>
          <a:p>
            <a:pPr indent="0" marL="0">
              <a:buNone/>
            </a:pPr>
            <a:r>
              <a:rPr lang="en-US" sz="1100" spc="500" kern="0" dirty="0">
                <a:solidFill>
                  <a:srgbClr val="50E6FF"/>
                </a:solidFill>
                <a:latin typeface="Segoe UI" pitchFamily="34" charset="0"/>
                <a:ea typeface="Segoe UI" pitchFamily="34" charset="-122"/>
                <a:cs typeface="Segoe UI" pitchFamily="34" charset="-120"/>
              </a:rPr>
              <a:t>WORKSHOP COMPLETE</a:t>
            </a:r>
            <a:endParaRPr lang="en-US" sz="1100" dirty="0"/>
          </a:p>
        </p:txBody>
      </p:sp>
      <p:sp>
        <p:nvSpPr>
          <p:cNvPr id="5" name="Text 3"/>
          <p:cNvSpPr/>
          <p:nvPr/>
        </p:nvSpPr>
        <p:spPr>
          <a:xfrm>
            <a:off x="594360" y="978408"/>
            <a:ext cx="8229600" cy="685800"/>
          </a:xfrm>
          <a:prstGeom prst="rect">
            <a:avLst/>
          </a:prstGeom>
          <a:noFill/>
          <a:ln/>
        </p:spPr>
        <p:txBody>
          <a:bodyPr wrap="square"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Copilot Studio Workshop</a:t>
            </a:r>
            <a:endParaRPr lang="en-US" sz="4000" dirty="0"/>
          </a:p>
        </p:txBody>
      </p:sp>
      <p:sp>
        <p:nvSpPr>
          <p:cNvPr id="6" name="Shape 4"/>
          <p:cNvSpPr/>
          <p:nvPr/>
        </p:nvSpPr>
        <p:spPr>
          <a:xfrm>
            <a:off x="594360" y="1828800"/>
            <a:ext cx="3931920" cy="292608"/>
          </a:xfrm>
          <a:prstGeom prst="rect">
            <a:avLst/>
          </a:prstGeom>
          <a:solidFill>
            <a:srgbClr val="0078D4"/>
          </a:solidFill>
          <a:ln w="12700">
            <a:solidFill>
              <a:srgbClr val="0078D4"/>
            </a:solidFill>
            <a:prstDash val="solid"/>
          </a:ln>
        </p:spPr>
      </p:sp>
      <p:sp>
        <p:nvSpPr>
          <p:cNvPr id="7" name="Text 5"/>
          <p:cNvSpPr/>
          <p:nvPr/>
        </p:nvSpPr>
        <p:spPr>
          <a:xfrm>
            <a:off x="704088" y="1828800"/>
            <a:ext cx="3749040" cy="292608"/>
          </a:xfrm>
          <a:prstGeom prst="rect">
            <a:avLst/>
          </a:prstGeom>
          <a:noFill/>
          <a:ln/>
        </p:spPr>
        <p:txBody>
          <a:bodyPr wrap="square" rtlCol="0" anchor="ctr"/>
          <a:lstStyle/>
          <a:p>
            <a:pPr indent="0" marL="0">
              <a:buNone/>
            </a:pPr>
            <a:r>
              <a:rPr lang="en-US" sz="1000" b="1" spc="200" kern="0" dirty="0">
                <a:solidFill>
                  <a:srgbClr val="FFFFFF"/>
                </a:solidFill>
                <a:latin typeface="Segoe UI" pitchFamily="34" charset="0"/>
                <a:ea typeface="Segoe UI" pitchFamily="34" charset="-122"/>
                <a:cs typeface="Segoe UI" pitchFamily="34" charset="-120"/>
              </a:rPr>
              <a:t>Day 1</a:t>
            </a:r>
            <a:endParaRPr lang="en-US" sz="1000" dirty="0"/>
          </a:p>
        </p:txBody>
      </p:sp>
      <p:sp>
        <p:nvSpPr>
          <p:cNvPr id="8" name="Text 6"/>
          <p:cNvSpPr/>
          <p:nvPr/>
        </p:nvSpPr>
        <p:spPr>
          <a:xfrm>
            <a:off x="685800" y="2176272"/>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00 — Workshop Framing</a:t>
            </a:r>
            <a:endParaRPr lang="en-US" sz="1000" dirty="0"/>
          </a:p>
        </p:txBody>
      </p:sp>
      <p:sp>
        <p:nvSpPr>
          <p:cNvPr id="9" name="Text 7"/>
          <p:cNvSpPr/>
          <p:nvPr/>
        </p:nvSpPr>
        <p:spPr>
          <a:xfrm>
            <a:off x="685800" y="2487168"/>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01 — Agents Today</a:t>
            </a:r>
            <a:endParaRPr lang="en-US" sz="1000" dirty="0"/>
          </a:p>
        </p:txBody>
      </p:sp>
      <p:sp>
        <p:nvSpPr>
          <p:cNvPr id="10" name="Text 8"/>
          <p:cNvSpPr/>
          <p:nvPr/>
        </p:nvSpPr>
        <p:spPr>
          <a:xfrm>
            <a:off x="685800" y="2798064"/>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02 — Studio Foundations</a:t>
            </a:r>
            <a:endParaRPr lang="en-US" sz="1000" dirty="0"/>
          </a:p>
        </p:txBody>
      </p:sp>
      <p:sp>
        <p:nvSpPr>
          <p:cNvPr id="11" name="Text 9"/>
          <p:cNvSpPr/>
          <p:nvPr/>
        </p:nvSpPr>
        <p:spPr>
          <a:xfrm>
            <a:off x="685800" y="3108960"/>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03 — Reuse Patterns</a:t>
            </a:r>
            <a:endParaRPr lang="en-US" sz="1000" dirty="0"/>
          </a:p>
        </p:txBody>
      </p:sp>
      <p:sp>
        <p:nvSpPr>
          <p:cNvPr id="12" name="Text 10"/>
          <p:cNvSpPr/>
          <p:nvPr/>
        </p:nvSpPr>
        <p:spPr>
          <a:xfrm>
            <a:off x="685800" y="3419856"/>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04 — Custom Agent Design</a:t>
            </a:r>
            <a:endParaRPr lang="en-US" sz="1000" dirty="0"/>
          </a:p>
        </p:txBody>
      </p:sp>
      <p:sp>
        <p:nvSpPr>
          <p:cNvPr id="13" name="Text 11"/>
          <p:cNvSpPr/>
          <p:nvPr/>
        </p:nvSpPr>
        <p:spPr>
          <a:xfrm>
            <a:off x="685800" y="3730752"/>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05 — Topic Design</a:t>
            </a:r>
            <a:endParaRPr lang="en-US" sz="1000" dirty="0"/>
          </a:p>
        </p:txBody>
      </p:sp>
      <p:sp>
        <p:nvSpPr>
          <p:cNvPr id="14" name="Text 12"/>
          <p:cNvSpPr/>
          <p:nvPr/>
        </p:nvSpPr>
        <p:spPr>
          <a:xfrm>
            <a:off x="685800" y="4041648"/>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06 — Actions and Events</a:t>
            </a:r>
            <a:endParaRPr lang="en-US" sz="1000" dirty="0"/>
          </a:p>
        </p:txBody>
      </p:sp>
      <p:sp>
        <p:nvSpPr>
          <p:cNvPr id="15" name="Shape 13"/>
          <p:cNvSpPr/>
          <p:nvPr/>
        </p:nvSpPr>
        <p:spPr>
          <a:xfrm>
            <a:off x="4800600" y="1828800"/>
            <a:ext cx="3931920" cy="292608"/>
          </a:xfrm>
          <a:prstGeom prst="rect">
            <a:avLst/>
          </a:prstGeom>
          <a:solidFill>
            <a:srgbClr val="00B294"/>
          </a:solidFill>
          <a:ln w="12700">
            <a:solidFill>
              <a:srgbClr val="00B294"/>
            </a:solidFill>
            <a:prstDash val="solid"/>
          </a:ln>
        </p:spPr>
      </p:sp>
      <p:sp>
        <p:nvSpPr>
          <p:cNvPr id="16" name="Text 14"/>
          <p:cNvSpPr/>
          <p:nvPr/>
        </p:nvSpPr>
        <p:spPr>
          <a:xfrm>
            <a:off x="4910328" y="1828800"/>
            <a:ext cx="3749040" cy="292608"/>
          </a:xfrm>
          <a:prstGeom prst="rect">
            <a:avLst/>
          </a:prstGeom>
          <a:noFill/>
          <a:ln/>
        </p:spPr>
        <p:txBody>
          <a:bodyPr wrap="square" rtlCol="0" anchor="ctr"/>
          <a:lstStyle/>
          <a:p>
            <a:pPr indent="0" marL="0">
              <a:buNone/>
            </a:pPr>
            <a:r>
              <a:rPr lang="en-US" sz="1000" b="1" spc="200" kern="0" dirty="0">
                <a:solidFill>
                  <a:srgbClr val="FFFFFF"/>
                </a:solidFill>
                <a:latin typeface="Segoe UI" pitchFamily="34" charset="0"/>
                <a:ea typeface="Segoe UI" pitchFamily="34" charset="-122"/>
                <a:cs typeface="Segoe UI" pitchFamily="34" charset="-120"/>
              </a:rPr>
              <a:t>Day 2</a:t>
            </a:r>
            <a:endParaRPr lang="en-US" sz="1000" dirty="0"/>
          </a:p>
        </p:txBody>
      </p:sp>
      <p:sp>
        <p:nvSpPr>
          <p:cNvPr id="17" name="Text 15"/>
          <p:cNvSpPr/>
          <p:nvPr/>
        </p:nvSpPr>
        <p:spPr>
          <a:xfrm>
            <a:off x="4892040" y="2176272"/>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07 — Hiring Architecture</a:t>
            </a:r>
            <a:endParaRPr lang="en-US" sz="1000" dirty="0"/>
          </a:p>
        </p:txBody>
      </p:sp>
      <p:sp>
        <p:nvSpPr>
          <p:cNvPr id="18" name="Text 16"/>
          <p:cNvSpPr/>
          <p:nvPr/>
        </p:nvSpPr>
        <p:spPr>
          <a:xfrm>
            <a:off x="4892040" y="2487168"/>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08 — Automation and Models</a:t>
            </a:r>
            <a:endParaRPr lang="en-US" sz="1000" dirty="0"/>
          </a:p>
        </p:txBody>
      </p:sp>
      <p:sp>
        <p:nvSpPr>
          <p:cNvPr id="19" name="Text 17"/>
          <p:cNvSpPr/>
          <p:nvPr/>
        </p:nvSpPr>
        <p:spPr>
          <a:xfrm>
            <a:off x="4892040" y="2798064"/>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09 — Multimodal and Data</a:t>
            </a:r>
            <a:endParaRPr lang="en-US" sz="1000" dirty="0"/>
          </a:p>
        </p:txBody>
      </p:sp>
      <p:sp>
        <p:nvSpPr>
          <p:cNvPr id="20" name="Text 18"/>
          <p:cNvSpPr/>
          <p:nvPr/>
        </p:nvSpPr>
        <p:spPr>
          <a:xfrm>
            <a:off x="4892040" y="3108960"/>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10 — MCP and Extensibility</a:t>
            </a:r>
            <a:endParaRPr lang="en-US" sz="1000" dirty="0"/>
          </a:p>
        </p:txBody>
      </p:sp>
      <p:sp>
        <p:nvSpPr>
          <p:cNvPr id="21" name="Text 19"/>
          <p:cNvSpPr/>
          <p:nvPr/>
        </p:nvSpPr>
        <p:spPr>
          <a:xfrm>
            <a:off x="4892040" y="3419856"/>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11 — Channels and Feedback</a:t>
            </a:r>
            <a:endParaRPr lang="en-US" sz="1000" dirty="0"/>
          </a:p>
        </p:txBody>
      </p:sp>
      <p:sp>
        <p:nvSpPr>
          <p:cNvPr id="22" name="Text 20"/>
          <p:cNvSpPr/>
          <p:nvPr/>
        </p:nvSpPr>
        <p:spPr>
          <a:xfrm>
            <a:off x="4892040" y="3730752"/>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Module 12 — Evaluation and ROI</a:t>
            </a:r>
            <a:endParaRPr lang="en-US" sz="1000" dirty="0"/>
          </a:p>
        </p:txBody>
      </p:sp>
      <p:sp>
        <p:nvSpPr>
          <p:cNvPr id="23" name="Text 21"/>
          <p:cNvSpPr/>
          <p:nvPr/>
        </p:nvSpPr>
        <p:spPr>
          <a:xfrm>
            <a:off x="4892040" y="4041648"/>
            <a:ext cx="3785616" cy="27432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 Lab 25  — VS Code Workflow (Optional)</a:t>
            </a:r>
            <a:endParaRPr lang="en-US" sz="1000" dirty="0"/>
          </a:p>
        </p:txBody>
      </p:sp>
      <p:sp>
        <p:nvSpPr>
          <p:cNvPr id="24" name="Shape 22"/>
          <p:cNvSpPr/>
          <p:nvPr/>
        </p:nvSpPr>
        <p:spPr>
          <a:xfrm>
            <a:off x="594360" y="4462272"/>
            <a:ext cx="8229600" cy="320040"/>
          </a:xfrm>
          <a:prstGeom prst="rect">
            <a:avLst/>
          </a:prstGeom>
          <a:ln w="12700">
            <a:solidFill>
              <a:srgbClr val="00B294"/>
            </a:solidFill>
            <a:prstDash val="solid"/>
          </a:ln>
        </p:spPr>
      </p:sp>
      <p:sp>
        <p:nvSpPr>
          <p:cNvPr id="25" name="Shape 23"/>
          <p:cNvSpPr/>
          <p:nvPr/>
        </p:nvSpPr>
        <p:spPr>
          <a:xfrm>
            <a:off x="594360" y="4462272"/>
            <a:ext cx="54864" cy="320040"/>
          </a:xfrm>
          <a:prstGeom prst="rect">
            <a:avLst/>
          </a:prstGeom>
          <a:solidFill>
            <a:srgbClr val="00B294"/>
          </a:solidFill>
          <a:ln w="12700">
            <a:solidFill>
              <a:srgbClr val="00B294"/>
            </a:solidFill>
            <a:prstDash val="solid"/>
          </a:ln>
        </p:spPr>
      </p:sp>
      <p:sp>
        <p:nvSpPr>
          <p:cNvPr id="26" name="Text 24"/>
          <p:cNvSpPr/>
          <p:nvPr/>
        </p:nvSpPr>
        <p:spPr>
          <a:xfrm>
            <a:off x="758952" y="4462272"/>
            <a:ext cx="8001000" cy="320040"/>
          </a:xfrm>
          <a:prstGeom prst="rect">
            <a:avLst/>
          </a:prstGeom>
          <a:noFill/>
          <a:ln/>
        </p:spPr>
        <p:txBody>
          <a:bodyPr wrap="square" rtlCol="0" anchor="ctr"/>
          <a:lstStyle/>
          <a:p>
            <a:pPr indent="0" marL="0">
              <a:buNone/>
            </a:pPr>
            <a:r>
              <a:rPr lang="en-US" sz="1000" dirty="0">
                <a:solidFill>
                  <a:srgbClr val="C5D8F0"/>
                </a:solidFill>
                <a:latin typeface="Segoe UI" pitchFamily="34" charset="0"/>
                <a:ea typeface="Segoe UI" pitchFamily="34" charset="-122"/>
                <a:cs typeface="Segoe UI" pitchFamily="34" charset="-120"/>
              </a:rPr>
              <a:t>What's next: Establish your evaluation baseline  ·  Plan your production rollout  ·  Share your ROI story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Workshop — Module 12: Evaluation and ROI</dc:title>
  <dc:subject>PptxGenJS Presentation</dc:subject>
  <dc:creator>Microsoft</dc:creator>
  <cp:lastModifiedBy>Microsoft</cp:lastModifiedBy>
  <cp:revision>1</cp:revision>
  <dcterms:created xsi:type="dcterms:W3CDTF">2026-03-23T21:52:31Z</dcterms:created>
  <dcterms:modified xsi:type="dcterms:W3CDTF">2026-03-23T21:52:31Z</dcterms:modified>
</cp:coreProperties>
</file>