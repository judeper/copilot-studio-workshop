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7.xml" ContentType="application/vnd.openxmlformats-officedocument.presentationml.slide+xml"/>
  <Override PartName="/ppt/notesSlides/notesSlide7.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13"/>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module brings quality, insight, and business value into one decision framework. Evaluation tells the quality and release-readiness story. ROI analytics tells the value story. Together they answer whether the agent is worth scaling and safe enough to scale. Connect the evaluation workflow back to the transcript-analysis reference architecture so quality improvement feels operational and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agent evaluation is an operational control, not just a workshop demo. Connect the failing-case analysis to the transcript-analysis reference architecture: both use real interactions, structured review, and iterative improvement to raise quality over time. Encourage participants to keep the test set after the workshop for regression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workflow back to the transcript-analysis reference architecture so quality improvement feels operational and repeatable. Show what makes a failing case useful: clear expected behavior, grader reasoning, and an activity map that points to the real fix. Leave the room with the idea that evaluation is a reusable release gate, not a one-time workshop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module clearly optional. Direct non-developers to remain on Lab 23 or Lab 24. Emphasize that this workflow is now generally available and fits real developer team practices. Apply updates the cloud agent definition but does not publish the agent to end users. For MCP tools, setup and authentication should still follow the supported GA onboarding wizard.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participants that Apply updates the cloud agent definition but does not publish the agent to end users. Always validate in Copilot Studio after you sync. If teams ask how MCP fits the developer workflow, MCP is supported in the agent definition but setup and authentication should still follow the supported GA onboarding wizard.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making the developer add-on feel optional, useful, and safely separated from the core path. Reassure nondevelopers that the core delivery story is already complete. Invite all participants to share their evaluation baseline, ROI analytics, and production rollout plans. The workshop is complete — the deployment journey is just beginning.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four grader types before Lab 24 so participants can make an informed choice when configuring their evaluation test set. Emphasize that General quality is the safe default, but Tool use is critical whenever the agent must invoke a specific action or connector. Connect Keyword match to real compliance scenarios such as mandatory disclosure language or branding terms.</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12</a:t>
            </a:r>
            <a:endParaRPr lang="en-US" sz="1100" dirty="0"/>
          </a:p>
        </p:txBody>
      </p:sp>
      <p:sp>
        <p:nvSpPr>
          <p:cNvPr id="5" name="Text 3"/>
          <p:cNvSpPr/>
          <p:nvPr/>
        </p:nvSpPr>
        <p:spPr>
          <a:xfrm>
            <a:off x="594360" y="1078992"/>
            <a:ext cx="8229600" cy="914400"/>
          </a:xfrm>
          <a:prstGeom prst="rect">
            <a:avLst/>
          </a:prstGeom>
          <a:noFill/>
          <a:ln/>
        </p:spPr>
        <p:txBody>
          <a:bodyPr wrap="square"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Evaluation and ROI</a:t>
            </a:r>
            <a:endParaRPr lang="en-US" sz="4800" dirty="0"/>
          </a:p>
        </p:txBody>
      </p:sp>
      <p:sp>
        <p:nvSpPr>
          <p:cNvPr id="6" name="Text 4"/>
          <p:cNvSpPr/>
          <p:nvPr/>
        </p:nvSpPr>
        <p:spPr>
          <a:xfrm>
            <a:off x="594360" y="2103120"/>
            <a:ext cx="7955280" cy="502920"/>
          </a:xfrm>
          <a:prstGeom prst="rect">
            <a:avLst/>
          </a:prstGeom>
          <a:noFill/>
          <a:ln/>
        </p:spPr>
        <p:txBody>
          <a:bodyPr wrap="square" rtlCol="0" anchor="ctr"/>
          <a:lstStyle/>
          <a:p>
            <a:pPr indent="0" marL="0">
              <a:buNone/>
            </a:pPr>
            <a:r>
              <a:rPr lang="en-US" sz="1300" dirty="0">
                <a:solidFill>
                  <a:srgbClr val="C5D8F0"/>
                </a:solidFill>
                <a:latin typeface="Segoe UI" pitchFamily="34" charset="0"/>
                <a:ea typeface="Segoe UI" pitchFamily="34" charset="-122"/>
                <a:cs typeface="Segoe UI" pitchFamily="34" charset="-120"/>
              </a:rPr>
              <a:t>Repeatable release gates, transcript analytics, and ROI evidence — the full value story for sponsors and delivery leaders</a:t>
            </a:r>
            <a:endParaRPr lang="en-US" sz="1300" dirty="0"/>
          </a:p>
        </p:txBody>
      </p:sp>
      <p:sp>
        <p:nvSpPr>
          <p:cNvPr id="7" name="Shape 5"/>
          <p:cNvSpPr/>
          <p:nvPr/>
        </p:nvSpPr>
        <p:spPr>
          <a:xfrm>
            <a:off x="594360" y="2834640"/>
            <a:ext cx="2633472" cy="438912"/>
          </a:xfrm>
          <a:prstGeom prst="rect">
            <a:avLst/>
          </a:prstGeom>
          <a:solidFill>
            <a:srgbClr val="0078D4"/>
          </a:solidFill>
          <a:ln w="12700">
            <a:solidFill>
              <a:srgbClr val="0078D4"/>
            </a:solidFill>
            <a:prstDash val="solid"/>
          </a:ln>
        </p:spPr>
      </p:sp>
      <p:sp>
        <p:nvSpPr>
          <p:cNvPr id="8" name="Text 6"/>
          <p:cNvSpPr/>
          <p:nvPr/>
        </p:nvSpPr>
        <p:spPr>
          <a:xfrm>
            <a:off x="594360"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Agent Evaluation</a:t>
            </a:r>
            <a:endParaRPr lang="en-US" sz="1150" dirty="0"/>
          </a:p>
        </p:txBody>
      </p:sp>
      <p:sp>
        <p:nvSpPr>
          <p:cNvPr id="9" name="Shape 7"/>
          <p:cNvSpPr/>
          <p:nvPr/>
        </p:nvSpPr>
        <p:spPr>
          <a:xfrm>
            <a:off x="3410712" y="2834640"/>
            <a:ext cx="2633472" cy="438912"/>
          </a:xfrm>
          <a:prstGeom prst="rect">
            <a:avLst/>
          </a:prstGeom>
          <a:solidFill>
            <a:srgbClr val="00B294"/>
          </a:solidFill>
          <a:ln w="12700">
            <a:solidFill>
              <a:srgbClr val="00B294"/>
            </a:solidFill>
            <a:prstDash val="solid"/>
          </a:ln>
        </p:spPr>
      </p:sp>
      <p:sp>
        <p:nvSpPr>
          <p:cNvPr id="10" name="Text 8"/>
          <p:cNvSpPr/>
          <p:nvPr/>
        </p:nvSpPr>
        <p:spPr>
          <a:xfrm>
            <a:off x="3410712"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VS Code (Optional)</a:t>
            </a:r>
            <a:endParaRPr lang="en-US" sz="1150" dirty="0"/>
          </a:p>
        </p:txBody>
      </p:sp>
      <p:sp>
        <p:nvSpPr>
          <p:cNvPr id="11" name="Shape 9"/>
          <p:cNvSpPr/>
          <p:nvPr/>
        </p:nvSpPr>
        <p:spPr>
          <a:xfrm>
            <a:off x="6227064" y="2834640"/>
            <a:ext cx="2633472" cy="438912"/>
          </a:xfrm>
          <a:prstGeom prst="rect">
            <a:avLst/>
          </a:prstGeom>
          <a:solidFill>
            <a:srgbClr val="5C2D91"/>
          </a:solidFill>
          <a:ln w="12700">
            <a:solidFill>
              <a:srgbClr val="5C2D91"/>
            </a:solidFill>
            <a:prstDash val="solid"/>
          </a:ln>
        </p:spPr>
      </p:sp>
      <p:sp>
        <p:nvSpPr>
          <p:cNvPr id="12" name="Text 10"/>
          <p:cNvSpPr/>
          <p:nvPr/>
        </p:nvSpPr>
        <p:spPr>
          <a:xfrm>
            <a:off x="6227064"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Workshop Complete</a:t>
            </a:r>
            <a:endParaRPr lang="en-US" sz="115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Labs 24–25  ·  Day 2 Operative Track  ·  Workshop Final Module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24</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Agent Evaluation</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Open Hiring Agent Evaluation tab → create test set 'Hiring Agent - Day 2 QA Baseline'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5+ test cases: candidate matching, interview prep, feedback, ambiguous request, edge case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Assign graders: General quality, Compare meaning, Tool use, or Keyword match per case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Run evaluation → review overall pass rate in Recent results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Open one failing case → inspect grader reasoning and activity map → document the root cause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Improve agent instructions based on evidence → re-run → compare with baseline run</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Evaluation is a release gate —</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not a one-time workshop demo</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12  ·  LAB 24 RECAP</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24: Evaluation and QA</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A reusable release gate — score behavior with evidence, diagnose why it failed, and feed improvements back in.</a:t>
            </a:r>
            <a:endParaRPr lang="en-US" sz="1200" dirty="0"/>
          </a:p>
        </p:txBody>
      </p:sp>
      <p:sp>
        <p:nvSpPr>
          <p:cNvPr id="6" name="Shape 4"/>
          <p:cNvSpPr/>
          <p:nvPr/>
        </p:nvSpPr>
        <p:spPr>
          <a:xfrm>
            <a:off x="274320" y="1737360"/>
            <a:ext cx="5029200" cy="265176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37360"/>
            <a:ext cx="5029200" cy="365760"/>
          </a:xfrm>
          <a:prstGeom prst="rect">
            <a:avLst/>
          </a:prstGeom>
          <a:solidFill>
            <a:srgbClr val="0078D4"/>
          </a:solidFill>
          <a:ln w="12700">
            <a:solidFill>
              <a:srgbClr val="0078D4"/>
            </a:solidFill>
            <a:prstDash val="solid"/>
          </a:ln>
        </p:spPr>
      </p:sp>
      <p:sp>
        <p:nvSpPr>
          <p:cNvPr id="8" name="Text 6"/>
          <p:cNvSpPr/>
          <p:nvPr/>
        </p:nvSpPr>
        <p:spPr>
          <a:xfrm>
            <a:off x="384048" y="1737360"/>
            <a:ext cx="480060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Validation Checklist</a:t>
            </a:r>
            <a:endParaRPr lang="en-US" sz="1100" dirty="0"/>
          </a:p>
        </p:txBody>
      </p:sp>
      <p:sp>
        <p:nvSpPr>
          <p:cNvPr id="9" name="Text 7"/>
          <p:cNvSpPr/>
          <p:nvPr/>
        </p:nvSpPr>
        <p:spPr>
          <a:xfrm>
            <a:off x="384048" y="2212848"/>
            <a:ext cx="4800600" cy="2103120"/>
          </a:xfrm>
          <a:prstGeom prst="rect">
            <a:avLst/>
          </a:prstGeom>
          <a:noFill/>
          <a:ln/>
        </p:spPr>
        <p:txBody>
          <a:bodyPr wrap="square" rtlCol="0" anchor="ctr"/>
          <a:lstStyle/>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Evaluation page shows completed run for 'Hiring Agent - Day 2 QA Baseline'</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Failed test case opened with grader reasoning and activity map evidence</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Hiring Agent instructions include a targeted improvement based on failing case</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Second evaluation run exists and comparison shows the improvement cycle</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Pass rate improved or failure reason documented for future work</a:t>
            </a:r>
            <a:endParaRPr lang="en-US" sz="1050" dirty="0"/>
          </a:p>
        </p:txBody>
      </p:sp>
      <p:sp>
        <p:nvSpPr>
          <p:cNvPr id="10" name="Shape 8"/>
          <p:cNvSpPr/>
          <p:nvPr/>
        </p:nvSpPr>
        <p:spPr>
          <a:xfrm>
            <a:off x="5486400" y="1737360"/>
            <a:ext cx="3383280" cy="2651760"/>
          </a:xfrm>
          <a:prstGeom prst="rect">
            <a:avLst/>
          </a:prstGeom>
          <a:solidFill>
            <a:srgbClr val="EFF6FC"/>
          </a:solidFill>
          <a:ln w="12700">
            <a:solidFill>
              <a:srgbClr val="C7E0F4"/>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5486400" y="1737360"/>
            <a:ext cx="3383280" cy="365760"/>
          </a:xfrm>
          <a:prstGeom prst="rect">
            <a:avLst/>
          </a:prstGeom>
          <a:solidFill>
            <a:srgbClr val="243A5E"/>
          </a:solidFill>
          <a:ln w="12700">
            <a:solidFill>
              <a:srgbClr val="243A5E"/>
            </a:solidFill>
            <a:prstDash val="solid"/>
          </a:ln>
        </p:spPr>
      </p:sp>
      <p:sp>
        <p:nvSpPr>
          <p:cNvPr id="12" name="Text 10"/>
          <p:cNvSpPr/>
          <p:nvPr/>
        </p:nvSpPr>
        <p:spPr>
          <a:xfrm>
            <a:off x="5596128" y="1737360"/>
            <a:ext cx="315468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Quality Improvement Loop</a:t>
            </a:r>
            <a:endParaRPr lang="en-US" sz="1100" dirty="0"/>
          </a:p>
        </p:txBody>
      </p:sp>
      <p:sp>
        <p:nvSpPr>
          <p:cNvPr id="13" name="Shape 11"/>
          <p:cNvSpPr/>
          <p:nvPr/>
        </p:nvSpPr>
        <p:spPr>
          <a:xfrm>
            <a:off x="5596128" y="2249424"/>
            <a:ext cx="914400" cy="237744"/>
          </a:xfrm>
          <a:prstGeom prst="rect">
            <a:avLst/>
          </a:prstGeom>
          <a:solidFill>
            <a:srgbClr val="0078D4"/>
          </a:solidFill>
          <a:ln w="12700">
            <a:solidFill>
              <a:srgbClr val="0078D4"/>
            </a:solidFill>
            <a:prstDash val="solid"/>
          </a:ln>
        </p:spPr>
      </p:sp>
      <p:sp>
        <p:nvSpPr>
          <p:cNvPr id="14" name="Text 12"/>
          <p:cNvSpPr/>
          <p:nvPr/>
        </p:nvSpPr>
        <p:spPr>
          <a:xfrm>
            <a:off x="5596128" y="2249424"/>
            <a:ext cx="9144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  Evaluate</a:t>
            </a:r>
            <a:endParaRPr lang="en-US" sz="850" dirty="0"/>
          </a:p>
        </p:txBody>
      </p:sp>
      <p:sp>
        <p:nvSpPr>
          <p:cNvPr id="15" name="Text 13"/>
          <p:cNvSpPr/>
          <p:nvPr/>
        </p:nvSpPr>
        <p:spPr>
          <a:xfrm>
            <a:off x="6583680" y="2212848"/>
            <a:ext cx="2176272" cy="384048"/>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Run scored test set against the current agent baseline</a:t>
            </a:r>
            <a:endParaRPr lang="en-US" sz="950" dirty="0"/>
          </a:p>
        </p:txBody>
      </p:sp>
      <p:sp>
        <p:nvSpPr>
          <p:cNvPr id="16" name="Shape 14"/>
          <p:cNvSpPr/>
          <p:nvPr/>
        </p:nvSpPr>
        <p:spPr>
          <a:xfrm>
            <a:off x="5596128" y="2779776"/>
            <a:ext cx="914400" cy="237744"/>
          </a:xfrm>
          <a:prstGeom prst="rect">
            <a:avLst/>
          </a:prstGeom>
          <a:solidFill>
            <a:srgbClr val="0078D4"/>
          </a:solidFill>
          <a:ln w="12700">
            <a:solidFill>
              <a:srgbClr val="0078D4"/>
            </a:solidFill>
            <a:prstDash val="solid"/>
          </a:ln>
        </p:spPr>
      </p:sp>
      <p:sp>
        <p:nvSpPr>
          <p:cNvPr id="17" name="Text 15"/>
          <p:cNvSpPr/>
          <p:nvPr/>
        </p:nvSpPr>
        <p:spPr>
          <a:xfrm>
            <a:off x="5596128" y="2779776"/>
            <a:ext cx="9144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  Diagnose</a:t>
            </a:r>
            <a:endParaRPr lang="en-US" sz="850" dirty="0"/>
          </a:p>
        </p:txBody>
      </p:sp>
      <p:sp>
        <p:nvSpPr>
          <p:cNvPr id="18" name="Text 16"/>
          <p:cNvSpPr/>
          <p:nvPr/>
        </p:nvSpPr>
        <p:spPr>
          <a:xfrm>
            <a:off x="6583680" y="2743200"/>
            <a:ext cx="2176272" cy="384048"/>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Open failing case, inspect activity map, find root cause</a:t>
            </a:r>
            <a:endParaRPr lang="en-US" sz="950" dirty="0"/>
          </a:p>
        </p:txBody>
      </p:sp>
      <p:sp>
        <p:nvSpPr>
          <p:cNvPr id="19" name="Shape 17"/>
          <p:cNvSpPr/>
          <p:nvPr/>
        </p:nvSpPr>
        <p:spPr>
          <a:xfrm>
            <a:off x="5596128" y="3310128"/>
            <a:ext cx="914400" cy="237744"/>
          </a:xfrm>
          <a:prstGeom prst="rect">
            <a:avLst/>
          </a:prstGeom>
          <a:solidFill>
            <a:srgbClr val="0078D4"/>
          </a:solidFill>
          <a:ln w="12700">
            <a:solidFill>
              <a:srgbClr val="0078D4"/>
            </a:solidFill>
            <a:prstDash val="solid"/>
          </a:ln>
        </p:spPr>
      </p:sp>
      <p:sp>
        <p:nvSpPr>
          <p:cNvPr id="20" name="Text 18"/>
          <p:cNvSpPr/>
          <p:nvPr/>
        </p:nvSpPr>
        <p:spPr>
          <a:xfrm>
            <a:off x="5596128" y="3310128"/>
            <a:ext cx="9144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  Improve</a:t>
            </a:r>
            <a:endParaRPr lang="en-US" sz="850" dirty="0"/>
          </a:p>
        </p:txBody>
      </p:sp>
      <p:sp>
        <p:nvSpPr>
          <p:cNvPr id="21" name="Text 19"/>
          <p:cNvSpPr/>
          <p:nvPr/>
        </p:nvSpPr>
        <p:spPr>
          <a:xfrm>
            <a:off x="6583680" y="3273552"/>
            <a:ext cx="2176272" cy="384048"/>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Edit instructions, tools, or grounding to fix the issue</a:t>
            </a:r>
            <a:endParaRPr lang="en-US" sz="950" dirty="0"/>
          </a:p>
        </p:txBody>
      </p:sp>
      <p:sp>
        <p:nvSpPr>
          <p:cNvPr id="22" name="Shape 20"/>
          <p:cNvSpPr/>
          <p:nvPr/>
        </p:nvSpPr>
        <p:spPr>
          <a:xfrm>
            <a:off x="5596128" y="3840480"/>
            <a:ext cx="914400" cy="237744"/>
          </a:xfrm>
          <a:prstGeom prst="rect">
            <a:avLst/>
          </a:prstGeom>
          <a:solidFill>
            <a:srgbClr val="0078D4"/>
          </a:solidFill>
          <a:ln w="12700">
            <a:solidFill>
              <a:srgbClr val="0078D4"/>
            </a:solidFill>
            <a:prstDash val="solid"/>
          </a:ln>
        </p:spPr>
      </p:sp>
      <p:sp>
        <p:nvSpPr>
          <p:cNvPr id="23" name="Text 21"/>
          <p:cNvSpPr/>
          <p:nvPr/>
        </p:nvSpPr>
        <p:spPr>
          <a:xfrm>
            <a:off x="5596128" y="3840480"/>
            <a:ext cx="9144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  Re-evaluate</a:t>
            </a:r>
            <a:endParaRPr lang="en-US" sz="850" dirty="0"/>
          </a:p>
        </p:txBody>
      </p:sp>
      <p:sp>
        <p:nvSpPr>
          <p:cNvPr id="24" name="Text 22"/>
          <p:cNvSpPr/>
          <p:nvPr/>
        </p:nvSpPr>
        <p:spPr>
          <a:xfrm>
            <a:off x="6583680" y="3803904"/>
            <a:ext cx="2176272" cy="384048"/>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Run test set again and compare with the previous run</a:t>
            </a:r>
            <a:endParaRPr lang="en-US" sz="950" dirty="0"/>
          </a:p>
        </p:txBody>
      </p:sp>
      <p:sp>
        <p:nvSpPr>
          <p:cNvPr id="25" name="Shape 23"/>
          <p:cNvSpPr/>
          <p:nvPr/>
        </p:nvSpPr>
        <p:spPr>
          <a:xfrm>
            <a:off x="320040" y="4681728"/>
            <a:ext cx="8503920" cy="320040"/>
          </a:xfrm>
          <a:prstGeom prst="rect">
            <a:avLst/>
          </a:prstGeom>
          <a:solidFill>
            <a:srgbClr val="EFF6FC"/>
          </a:solidFill>
          <a:ln w="12700">
            <a:solidFill>
              <a:srgbClr val="C7E0F4"/>
            </a:solidFill>
            <a:prstDash val="solid"/>
          </a:ln>
        </p:spPr>
      </p:sp>
      <p:sp>
        <p:nvSpPr>
          <p:cNvPr id="26" name="Text 24"/>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Keep the test set after the workshop — rerun it after future changes to detect regressions before they reach users.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300" kern="0" dirty="0">
                <a:solidFill>
                  <a:srgbClr val="50E6FF"/>
                </a:solidFill>
                <a:latin typeface="Segoe UI" pitchFamily="34" charset="0"/>
                <a:ea typeface="Segoe UI" pitchFamily="34" charset="-122"/>
                <a:cs typeface="Segoe UI" pitchFamily="34" charset="-120"/>
              </a:rPr>
              <a:t>LAB TIME  ·  DEVELOPER TRACK</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25</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1800" dirty="0">
                <a:solidFill>
                  <a:srgbClr val="50E6FF"/>
                </a:solidFill>
                <a:latin typeface="Segoe UI" pitchFamily="34" charset="0"/>
                <a:ea typeface="Segoe UI" pitchFamily="34" charset="-122"/>
                <a:cs typeface="Segoe UI" pitchFamily="34" charset="-120"/>
              </a:rPr>
              <a:t>VS Code Workflow  (Optional)</a:t>
            </a:r>
            <a:endParaRPr lang="en-US" sz="18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Open VS Code Copilot Studio extension → Clone Agent → select Hiring Agent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Review Agent Changes pane and Get latest before making any edits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Open agent.mcs.yaml, locate instructions: block, add one visible improvement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Check Problems pane — confirm no YAML validation errors before applying</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Select Apply → wait for sync confirmation → switch to browser and refresh Hiring Agent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Start a new test session and confirm the change from VS Code appears in the response</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30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Optional — Developers only</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Non-devs: remain on Lab 24</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or begin rollout planning</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Developers  ·  Code-First Authoring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12  ·  LAB 25 RECAP  ·  DEVELOPER TRACK</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25: VS Code Workflow  (Optional)</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Local editing complements — not replaces — the governed in-product flow and release controls.</a:t>
            </a:r>
            <a:endParaRPr lang="en-US" sz="1200" dirty="0"/>
          </a:p>
        </p:txBody>
      </p:sp>
      <p:sp>
        <p:nvSpPr>
          <p:cNvPr id="6" name="Shape 4"/>
          <p:cNvSpPr/>
          <p:nvPr/>
        </p:nvSpPr>
        <p:spPr>
          <a:xfrm>
            <a:off x="320040" y="1901952"/>
            <a:ext cx="8503920" cy="475488"/>
          </a:xfrm>
          <a:prstGeom prst="rect">
            <a:avLst/>
          </a:prstGeom>
          <a:solidFill>
            <a:srgbClr val="F3F2F1"/>
          </a:solidFill>
          <a:ln w="12700">
            <a:solidFill>
              <a:srgbClr val="E1DFDD"/>
            </a:solidFill>
            <a:prstDash val="solid"/>
          </a:ln>
        </p:spPr>
      </p:sp>
      <p:sp>
        <p:nvSpPr>
          <p:cNvPr id="7" name="Shape 5"/>
          <p:cNvSpPr/>
          <p:nvPr/>
        </p:nvSpPr>
        <p:spPr>
          <a:xfrm>
            <a:off x="457200" y="1993392"/>
            <a:ext cx="914400" cy="274320"/>
          </a:xfrm>
          <a:prstGeom prst="rect">
            <a:avLst/>
          </a:prstGeom>
          <a:solidFill>
            <a:srgbClr val="0078D4"/>
          </a:solidFill>
          <a:ln w="12700">
            <a:solidFill>
              <a:srgbClr val="0078D4"/>
            </a:solidFill>
            <a:prstDash val="solid"/>
          </a:ln>
        </p:spPr>
      </p:sp>
      <p:sp>
        <p:nvSpPr>
          <p:cNvPr id="8" name="Text 6"/>
          <p:cNvSpPr/>
          <p:nvPr/>
        </p:nvSpPr>
        <p:spPr>
          <a:xfrm>
            <a:off x="457200" y="1993392"/>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Clone</a:t>
            </a:r>
            <a:endParaRPr lang="en-US" sz="800" dirty="0"/>
          </a:p>
        </p:txBody>
      </p:sp>
      <p:sp>
        <p:nvSpPr>
          <p:cNvPr id="9" name="Text 7"/>
          <p:cNvSpPr/>
          <p:nvPr/>
        </p:nvSpPr>
        <p:spPr>
          <a:xfrm>
            <a:off x="1481328" y="1993392"/>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Hiring Agent opens successfully in the VS Code Copilot Studio extension workspace</a:t>
            </a:r>
            <a:endParaRPr lang="en-US" sz="1100" dirty="0"/>
          </a:p>
        </p:txBody>
      </p:sp>
      <p:sp>
        <p:nvSpPr>
          <p:cNvPr id="10" name="Shape 8"/>
          <p:cNvSpPr/>
          <p:nvPr/>
        </p:nvSpPr>
        <p:spPr>
          <a:xfrm>
            <a:off x="320040" y="2414016"/>
            <a:ext cx="8503920" cy="475488"/>
          </a:xfrm>
          <a:prstGeom prst="rect">
            <a:avLst/>
          </a:prstGeom>
          <a:solidFill>
            <a:srgbClr val="FFFFFF"/>
          </a:solidFill>
          <a:ln w="12700">
            <a:solidFill>
              <a:srgbClr val="E1DFDD"/>
            </a:solidFill>
            <a:prstDash val="solid"/>
          </a:ln>
        </p:spPr>
      </p:sp>
      <p:sp>
        <p:nvSpPr>
          <p:cNvPr id="11" name="Shape 9"/>
          <p:cNvSpPr/>
          <p:nvPr/>
        </p:nvSpPr>
        <p:spPr>
          <a:xfrm>
            <a:off x="457200" y="2505456"/>
            <a:ext cx="914400" cy="274320"/>
          </a:xfrm>
          <a:prstGeom prst="rect">
            <a:avLst/>
          </a:prstGeom>
          <a:solidFill>
            <a:srgbClr val="00B294"/>
          </a:solidFill>
          <a:ln w="12700">
            <a:solidFill>
              <a:srgbClr val="00B294"/>
            </a:solidFill>
            <a:prstDash val="solid"/>
          </a:ln>
        </p:spPr>
      </p:sp>
      <p:sp>
        <p:nvSpPr>
          <p:cNvPr id="12" name="Text 10"/>
          <p:cNvSpPr/>
          <p:nvPr/>
        </p:nvSpPr>
        <p:spPr>
          <a:xfrm>
            <a:off x="457200" y="2505456"/>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Edit</a:t>
            </a:r>
            <a:endParaRPr lang="en-US" sz="800" dirty="0"/>
          </a:p>
        </p:txBody>
      </p:sp>
      <p:sp>
        <p:nvSpPr>
          <p:cNvPr id="13" name="Text 11"/>
          <p:cNvSpPr/>
          <p:nvPr/>
        </p:nvSpPr>
        <p:spPr>
          <a:xfrm>
            <a:off x="1481328" y="2505456"/>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Local agent definition contains edited instruction text with no YAML validation errors</a:t>
            </a:r>
            <a:endParaRPr lang="en-US" sz="1100" dirty="0"/>
          </a:p>
        </p:txBody>
      </p:sp>
      <p:sp>
        <p:nvSpPr>
          <p:cNvPr id="14" name="Shape 12"/>
          <p:cNvSpPr/>
          <p:nvPr/>
        </p:nvSpPr>
        <p:spPr>
          <a:xfrm>
            <a:off x="320040" y="2926080"/>
            <a:ext cx="8503920" cy="475488"/>
          </a:xfrm>
          <a:prstGeom prst="rect">
            <a:avLst/>
          </a:prstGeom>
          <a:solidFill>
            <a:srgbClr val="F3F2F1"/>
          </a:solidFill>
          <a:ln w="12700">
            <a:solidFill>
              <a:srgbClr val="E1DFDD"/>
            </a:solidFill>
            <a:prstDash val="solid"/>
          </a:ln>
        </p:spPr>
      </p:sp>
      <p:sp>
        <p:nvSpPr>
          <p:cNvPr id="15" name="Shape 13"/>
          <p:cNvSpPr/>
          <p:nvPr/>
        </p:nvSpPr>
        <p:spPr>
          <a:xfrm>
            <a:off x="457200" y="3017520"/>
            <a:ext cx="914400" cy="274320"/>
          </a:xfrm>
          <a:prstGeom prst="rect">
            <a:avLst/>
          </a:prstGeom>
          <a:solidFill>
            <a:srgbClr val="5C2D91"/>
          </a:solidFill>
          <a:ln w="12700">
            <a:solidFill>
              <a:srgbClr val="5C2D91"/>
            </a:solidFill>
            <a:prstDash val="solid"/>
          </a:ln>
        </p:spPr>
      </p:sp>
      <p:sp>
        <p:nvSpPr>
          <p:cNvPr id="16" name="Text 14"/>
          <p:cNvSpPr/>
          <p:nvPr/>
        </p:nvSpPr>
        <p:spPr>
          <a:xfrm>
            <a:off x="457200" y="3017520"/>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Apply</a:t>
            </a:r>
            <a:endParaRPr lang="en-US" sz="800" dirty="0"/>
          </a:p>
        </p:txBody>
      </p:sp>
      <p:sp>
        <p:nvSpPr>
          <p:cNvPr id="17" name="Text 15"/>
          <p:cNvSpPr/>
          <p:nvPr/>
        </p:nvSpPr>
        <p:spPr>
          <a:xfrm>
            <a:off x="1481328" y="3017520"/>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Apply operation completes without unresolved remote-change conflicts</a:t>
            </a:r>
            <a:endParaRPr lang="en-US" sz="1100" dirty="0"/>
          </a:p>
        </p:txBody>
      </p:sp>
      <p:sp>
        <p:nvSpPr>
          <p:cNvPr id="18" name="Shape 16"/>
          <p:cNvSpPr/>
          <p:nvPr/>
        </p:nvSpPr>
        <p:spPr>
          <a:xfrm>
            <a:off x="320040" y="3438144"/>
            <a:ext cx="8503920" cy="475488"/>
          </a:xfrm>
          <a:prstGeom prst="rect">
            <a:avLst/>
          </a:prstGeom>
          <a:solidFill>
            <a:srgbClr val="FFFFFF"/>
          </a:solidFill>
          <a:ln w="12700">
            <a:solidFill>
              <a:srgbClr val="E1DFDD"/>
            </a:solidFill>
            <a:prstDash val="solid"/>
          </a:ln>
        </p:spPr>
      </p:sp>
      <p:sp>
        <p:nvSpPr>
          <p:cNvPr id="19" name="Shape 17"/>
          <p:cNvSpPr/>
          <p:nvPr/>
        </p:nvSpPr>
        <p:spPr>
          <a:xfrm>
            <a:off x="457200" y="3529584"/>
            <a:ext cx="914400" cy="274320"/>
          </a:xfrm>
          <a:prstGeom prst="rect">
            <a:avLst/>
          </a:prstGeom>
          <a:solidFill>
            <a:srgbClr val="D47900"/>
          </a:solidFill>
          <a:ln w="12700">
            <a:solidFill>
              <a:srgbClr val="D47900"/>
            </a:solidFill>
            <a:prstDash val="solid"/>
          </a:ln>
        </p:spPr>
      </p:sp>
      <p:sp>
        <p:nvSpPr>
          <p:cNvPr id="20" name="Text 18"/>
          <p:cNvSpPr/>
          <p:nvPr/>
        </p:nvSpPr>
        <p:spPr>
          <a:xfrm>
            <a:off x="457200" y="3529584"/>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Synced</a:t>
            </a:r>
            <a:endParaRPr lang="en-US" sz="800" dirty="0"/>
          </a:p>
        </p:txBody>
      </p:sp>
      <p:sp>
        <p:nvSpPr>
          <p:cNvPr id="21" name="Text 19"/>
          <p:cNvSpPr/>
          <p:nvPr/>
        </p:nvSpPr>
        <p:spPr>
          <a:xfrm>
            <a:off x="1481328" y="3529584"/>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Instruction change is visible in Copilot Studio Overview page after browser refresh</a:t>
            </a:r>
            <a:endParaRPr lang="en-US" sz="1100" dirty="0"/>
          </a:p>
        </p:txBody>
      </p:sp>
      <p:sp>
        <p:nvSpPr>
          <p:cNvPr id="22" name="Shape 20"/>
          <p:cNvSpPr/>
          <p:nvPr/>
        </p:nvSpPr>
        <p:spPr>
          <a:xfrm>
            <a:off x="320040" y="3950208"/>
            <a:ext cx="8503920" cy="475488"/>
          </a:xfrm>
          <a:prstGeom prst="rect">
            <a:avLst/>
          </a:prstGeom>
          <a:solidFill>
            <a:srgbClr val="F3F2F1"/>
          </a:solidFill>
          <a:ln w="12700">
            <a:solidFill>
              <a:srgbClr val="E1DFDD"/>
            </a:solidFill>
            <a:prstDash val="solid"/>
          </a:ln>
        </p:spPr>
      </p:sp>
      <p:sp>
        <p:nvSpPr>
          <p:cNvPr id="23" name="Shape 21"/>
          <p:cNvSpPr/>
          <p:nvPr/>
        </p:nvSpPr>
        <p:spPr>
          <a:xfrm>
            <a:off x="457200" y="4041648"/>
            <a:ext cx="914400" cy="274320"/>
          </a:xfrm>
          <a:prstGeom prst="rect">
            <a:avLst/>
          </a:prstGeom>
          <a:solidFill>
            <a:srgbClr val="107C10"/>
          </a:solidFill>
          <a:ln w="12700">
            <a:solidFill>
              <a:srgbClr val="107C10"/>
            </a:solidFill>
            <a:prstDash val="solid"/>
          </a:ln>
        </p:spPr>
      </p:sp>
      <p:sp>
        <p:nvSpPr>
          <p:cNvPr id="24" name="Text 22"/>
          <p:cNvSpPr/>
          <p:nvPr/>
        </p:nvSpPr>
        <p:spPr>
          <a:xfrm>
            <a:off x="457200" y="4041648"/>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Validated</a:t>
            </a:r>
            <a:endParaRPr lang="en-US" sz="800" dirty="0"/>
          </a:p>
        </p:txBody>
      </p:sp>
      <p:sp>
        <p:nvSpPr>
          <p:cNvPr id="25" name="Text 23"/>
          <p:cNvSpPr/>
          <p:nvPr/>
        </p:nvSpPr>
        <p:spPr>
          <a:xfrm>
            <a:off x="1481328" y="4041648"/>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New test session response reflects the instruction change made in VS Code</a:t>
            </a:r>
            <a:endParaRPr lang="en-US" sz="1100" dirty="0"/>
          </a:p>
        </p:txBody>
      </p:sp>
      <p:sp>
        <p:nvSpPr>
          <p:cNvPr id="26" name="Shape 24"/>
          <p:cNvSpPr/>
          <p:nvPr/>
        </p:nvSpPr>
        <p:spPr>
          <a:xfrm>
            <a:off x="320040" y="4681728"/>
            <a:ext cx="8503920" cy="320040"/>
          </a:xfrm>
          <a:prstGeom prst="rect">
            <a:avLst/>
          </a:prstGeom>
          <a:solidFill>
            <a:srgbClr val="EFF6FC"/>
          </a:solidFill>
          <a:ln w="12700">
            <a:solidFill>
              <a:srgbClr val="C7E0F4"/>
            </a:solidFill>
            <a:prstDash val="solid"/>
          </a:ln>
        </p:spPr>
      </p:sp>
      <p:sp>
        <p:nvSpPr>
          <p:cNvPr id="27" name="Text 25"/>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Note: Apply syncs the agent definition to the cloud but does NOT publish to end users — publish separately in Copilot Studio.</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475488"/>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WORKSHOP COMPLETE</a:t>
            </a:r>
            <a:endParaRPr lang="en-US" sz="1100" dirty="0"/>
          </a:p>
        </p:txBody>
      </p:sp>
      <p:sp>
        <p:nvSpPr>
          <p:cNvPr id="5" name="Text 3"/>
          <p:cNvSpPr/>
          <p:nvPr/>
        </p:nvSpPr>
        <p:spPr>
          <a:xfrm>
            <a:off x="594360" y="978408"/>
            <a:ext cx="8229600" cy="68580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Copilot Studio Workshop</a:t>
            </a:r>
            <a:endParaRPr lang="en-US" sz="4000" dirty="0"/>
          </a:p>
        </p:txBody>
      </p:sp>
      <p:sp>
        <p:nvSpPr>
          <p:cNvPr id="6" name="Shape 4"/>
          <p:cNvSpPr/>
          <p:nvPr/>
        </p:nvSpPr>
        <p:spPr>
          <a:xfrm>
            <a:off x="594360" y="1828800"/>
            <a:ext cx="3931920" cy="292608"/>
          </a:xfrm>
          <a:prstGeom prst="rect">
            <a:avLst/>
          </a:prstGeom>
          <a:solidFill>
            <a:srgbClr val="0078D4"/>
          </a:solidFill>
          <a:ln w="12700">
            <a:solidFill>
              <a:srgbClr val="0078D4"/>
            </a:solidFill>
            <a:prstDash val="solid"/>
          </a:ln>
        </p:spPr>
      </p:sp>
      <p:sp>
        <p:nvSpPr>
          <p:cNvPr id="7" name="Text 5"/>
          <p:cNvSpPr/>
          <p:nvPr/>
        </p:nvSpPr>
        <p:spPr>
          <a:xfrm>
            <a:off x="704088" y="1828800"/>
            <a:ext cx="3749040" cy="292608"/>
          </a:xfrm>
          <a:prstGeom prst="rect">
            <a:avLst/>
          </a:prstGeom>
          <a:noFill/>
          <a:ln/>
        </p:spPr>
        <p:txBody>
          <a:bodyPr wrap="square" rtlCol="0" anchor="ctr"/>
          <a:lstStyle/>
          <a:p>
            <a:pPr indent="0" marL="0">
              <a:buNone/>
            </a:pPr>
            <a:r>
              <a:rPr lang="en-US" sz="1000" b="1" spc="200" kern="0" dirty="0">
                <a:solidFill>
                  <a:srgbClr val="FFFFFF"/>
                </a:solidFill>
                <a:latin typeface="Segoe UI" pitchFamily="34" charset="0"/>
                <a:ea typeface="Segoe UI" pitchFamily="34" charset="-122"/>
                <a:cs typeface="Segoe UI" pitchFamily="34" charset="-120"/>
              </a:rPr>
              <a:t>Day 1</a:t>
            </a:r>
            <a:endParaRPr lang="en-US" sz="1000" dirty="0"/>
          </a:p>
        </p:txBody>
      </p:sp>
      <p:sp>
        <p:nvSpPr>
          <p:cNvPr id="8" name="Text 6"/>
          <p:cNvSpPr/>
          <p:nvPr/>
        </p:nvSpPr>
        <p:spPr>
          <a:xfrm>
            <a:off x="685800" y="2176272"/>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00 — Workshop Framing</a:t>
            </a:r>
            <a:endParaRPr lang="en-US" sz="1000" dirty="0"/>
          </a:p>
        </p:txBody>
      </p:sp>
      <p:sp>
        <p:nvSpPr>
          <p:cNvPr id="9" name="Text 7"/>
          <p:cNvSpPr/>
          <p:nvPr/>
        </p:nvSpPr>
        <p:spPr>
          <a:xfrm>
            <a:off x="685800" y="2487168"/>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01 — Agents Today</a:t>
            </a:r>
            <a:endParaRPr lang="en-US" sz="1000" dirty="0"/>
          </a:p>
        </p:txBody>
      </p:sp>
      <p:sp>
        <p:nvSpPr>
          <p:cNvPr id="10" name="Text 8"/>
          <p:cNvSpPr/>
          <p:nvPr/>
        </p:nvSpPr>
        <p:spPr>
          <a:xfrm>
            <a:off x="685800" y="2798064"/>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02 — Studio Foundations</a:t>
            </a:r>
            <a:endParaRPr lang="en-US" sz="1000" dirty="0"/>
          </a:p>
        </p:txBody>
      </p:sp>
      <p:sp>
        <p:nvSpPr>
          <p:cNvPr id="11" name="Text 9"/>
          <p:cNvSpPr/>
          <p:nvPr/>
        </p:nvSpPr>
        <p:spPr>
          <a:xfrm>
            <a:off x="685800" y="3108960"/>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03 — Reuse Patterns</a:t>
            </a:r>
            <a:endParaRPr lang="en-US" sz="1000" dirty="0"/>
          </a:p>
        </p:txBody>
      </p:sp>
      <p:sp>
        <p:nvSpPr>
          <p:cNvPr id="12" name="Text 10"/>
          <p:cNvSpPr/>
          <p:nvPr/>
        </p:nvSpPr>
        <p:spPr>
          <a:xfrm>
            <a:off x="685800" y="3419856"/>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04 — Custom Agent Design</a:t>
            </a:r>
            <a:endParaRPr lang="en-US" sz="1000" dirty="0"/>
          </a:p>
        </p:txBody>
      </p:sp>
      <p:sp>
        <p:nvSpPr>
          <p:cNvPr id="13" name="Text 11"/>
          <p:cNvSpPr/>
          <p:nvPr/>
        </p:nvSpPr>
        <p:spPr>
          <a:xfrm>
            <a:off x="685800" y="3730752"/>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05 — Topic Design</a:t>
            </a:r>
            <a:endParaRPr lang="en-US" sz="1000" dirty="0"/>
          </a:p>
        </p:txBody>
      </p:sp>
      <p:sp>
        <p:nvSpPr>
          <p:cNvPr id="14" name="Text 12"/>
          <p:cNvSpPr/>
          <p:nvPr/>
        </p:nvSpPr>
        <p:spPr>
          <a:xfrm>
            <a:off x="685800" y="4041648"/>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06 — Actions and Events</a:t>
            </a:r>
            <a:endParaRPr lang="en-US" sz="1000" dirty="0"/>
          </a:p>
        </p:txBody>
      </p:sp>
      <p:sp>
        <p:nvSpPr>
          <p:cNvPr id="15" name="Shape 13"/>
          <p:cNvSpPr/>
          <p:nvPr/>
        </p:nvSpPr>
        <p:spPr>
          <a:xfrm>
            <a:off x="4800600" y="1828800"/>
            <a:ext cx="3931920" cy="292608"/>
          </a:xfrm>
          <a:prstGeom prst="rect">
            <a:avLst/>
          </a:prstGeom>
          <a:solidFill>
            <a:srgbClr val="00B294"/>
          </a:solidFill>
          <a:ln w="12700">
            <a:solidFill>
              <a:srgbClr val="00B294"/>
            </a:solidFill>
            <a:prstDash val="solid"/>
          </a:ln>
        </p:spPr>
      </p:sp>
      <p:sp>
        <p:nvSpPr>
          <p:cNvPr id="16" name="Text 14"/>
          <p:cNvSpPr/>
          <p:nvPr/>
        </p:nvSpPr>
        <p:spPr>
          <a:xfrm>
            <a:off x="4910328" y="1828800"/>
            <a:ext cx="3749040" cy="292608"/>
          </a:xfrm>
          <a:prstGeom prst="rect">
            <a:avLst/>
          </a:prstGeom>
          <a:noFill/>
          <a:ln/>
        </p:spPr>
        <p:txBody>
          <a:bodyPr wrap="square" rtlCol="0" anchor="ctr"/>
          <a:lstStyle/>
          <a:p>
            <a:pPr indent="0" marL="0">
              <a:buNone/>
            </a:pPr>
            <a:r>
              <a:rPr lang="en-US" sz="1000" b="1" spc="200" kern="0" dirty="0">
                <a:solidFill>
                  <a:srgbClr val="FFFFFF"/>
                </a:solidFill>
                <a:latin typeface="Segoe UI" pitchFamily="34" charset="0"/>
                <a:ea typeface="Segoe UI" pitchFamily="34" charset="-122"/>
                <a:cs typeface="Segoe UI" pitchFamily="34" charset="-120"/>
              </a:rPr>
              <a:t>Day 2</a:t>
            </a:r>
            <a:endParaRPr lang="en-US" sz="1000" dirty="0"/>
          </a:p>
        </p:txBody>
      </p:sp>
      <p:sp>
        <p:nvSpPr>
          <p:cNvPr id="17" name="Text 15"/>
          <p:cNvSpPr/>
          <p:nvPr/>
        </p:nvSpPr>
        <p:spPr>
          <a:xfrm>
            <a:off x="4892040" y="2176272"/>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07 — Hiring Architecture</a:t>
            </a:r>
            <a:endParaRPr lang="en-US" sz="1000" dirty="0"/>
          </a:p>
        </p:txBody>
      </p:sp>
      <p:sp>
        <p:nvSpPr>
          <p:cNvPr id="18" name="Text 16"/>
          <p:cNvSpPr/>
          <p:nvPr/>
        </p:nvSpPr>
        <p:spPr>
          <a:xfrm>
            <a:off x="4892040" y="2487168"/>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08 — Automation and Models</a:t>
            </a:r>
            <a:endParaRPr lang="en-US" sz="1000" dirty="0"/>
          </a:p>
        </p:txBody>
      </p:sp>
      <p:sp>
        <p:nvSpPr>
          <p:cNvPr id="19" name="Text 17"/>
          <p:cNvSpPr/>
          <p:nvPr/>
        </p:nvSpPr>
        <p:spPr>
          <a:xfrm>
            <a:off x="4892040" y="2798064"/>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09 — Multimodal and Data</a:t>
            </a:r>
            <a:endParaRPr lang="en-US" sz="1000" dirty="0"/>
          </a:p>
        </p:txBody>
      </p:sp>
      <p:sp>
        <p:nvSpPr>
          <p:cNvPr id="20" name="Text 18"/>
          <p:cNvSpPr/>
          <p:nvPr/>
        </p:nvSpPr>
        <p:spPr>
          <a:xfrm>
            <a:off x="4892040" y="3108960"/>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10 — MCP and Extensibility</a:t>
            </a:r>
            <a:endParaRPr lang="en-US" sz="1000" dirty="0"/>
          </a:p>
        </p:txBody>
      </p:sp>
      <p:sp>
        <p:nvSpPr>
          <p:cNvPr id="21" name="Text 19"/>
          <p:cNvSpPr/>
          <p:nvPr/>
        </p:nvSpPr>
        <p:spPr>
          <a:xfrm>
            <a:off x="4892040" y="3419856"/>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11 — Channels and Feedback</a:t>
            </a:r>
            <a:endParaRPr lang="en-US" sz="1000" dirty="0"/>
          </a:p>
        </p:txBody>
      </p:sp>
      <p:sp>
        <p:nvSpPr>
          <p:cNvPr id="22" name="Text 20"/>
          <p:cNvSpPr/>
          <p:nvPr/>
        </p:nvSpPr>
        <p:spPr>
          <a:xfrm>
            <a:off x="4892040" y="3730752"/>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Module 12 — Evaluation and ROI</a:t>
            </a:r>
            <a:endParaRPr lang="en-US" sz="1000" dirty="0"/>
          </a:p>
        </p:txBody>
      </p:sp>
      <p:sp>
        <p:nvSpPr>
          <p:cNvPr id="23" name="Text 21"/>
          <p:cNvSpPr/>
          <p:nvPr/>
        </p:nvSpPr>
        <p:spPr>
          <a:xfrm>
            <a:off x="4892040" y="4041648"/>
            <a:ext cx="3785616" cy="27432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 Lab 25  — VS Code Workflow (Optional)</a:t>
            </a:r>
            <a:endParaRPr lang="en-US" sz="1000" dirty="0"/>
          </a:p>
        </p:txBody>
      </p:sp>
      <p:sp>
        <p:nvSpPr>
          <p:cNvPr id="24" name="Shape 22"/>
          <p:cNvSpPr/>
          <p:nvPr/>
        </p:nvSpPr>
        <p:spPr>
          <a:xfrm>
            <a:off x="594360" y="4462272"/>
            <a:ext cx="8229600" cy="320040"/>
          </a:xfrm>
          <a:prstGeom prst="rect">
            <a:avLst/>
          </a:prstGeom>
          <a:ln w="12700">
            <a:solidFill>
              <a:srgbClr val="00B294"/>
            </a:solidFill>
            <a:prstDash val="solid"/>
          </a:ln>
        </p:spPr>
      </p:sp>
      <p:sp>
        <p:nvSpPr>
          <p:cNvPr id="25" name="Shape 23"/>
          <p:cNvSpPr/>
          <p:nvPr/>
        </p:nvSpPr>
        <p:spPr>
          <a:xfrm>
            <a:off x="594360" y="4462272"/>
            <a:ext cx="54864" cy="320040"/>
          </a:xfrm>
          <a:prstGeom prst="rect">
            <a:avLst/>
          </a:prstGeom>
          <a:solidFill>
            <a:srgbClr val="00B294"/>
          </a:solidFill>
          <a:ln w="12700">
            <a:solidFill>
              <a:srgbClr val="00B294"/>
            </a:solidFill>
            <a:prstDash val="solid"/>
          </a:ln>
        </p:spPr>
      </p:sp>
      <p:sp>
        <p:nvSpPr>
          <p:cNvPr id="26" name="Text 24"/>
          <p:cNvSpPr/>
          <p:nvPr/>
        </p:nvSpPr>
        <p:spPr>
          <a:xfrm>
            <a:off x="758952" y="4462272"/>
            <a:ext cx="8001000" cy="320040"/>
          </a:xfrm>
          <a:prstGeom prst="rect">
            <a:avLst/>
          </a:prstGeom>
          <a:noFill/>
          <a:ln/>
        </p:spPr>
        <p:txBody>
          <a:bodyPr wrap="square" rtlCol="0" anchor="ctr"/>
          <a:lstStyle/>
          <a:p>
            <a:pPr indent="0" marL="0">
              <a:buNone/>
            </a:pPr>
            <a:r>
              <a:rPr lang="en-US" sz="1000" dirty="0">
                <a:solidFill>
                  <a:srgbClr val="C5D8F0"/>
                </a:solidFill>
                <a:latin typeface="Segoe UI" pitchFamily="34" charset="0"/>
                <a:ea typeface="Segoe UI" pitchFamily="34" charset="-122"/>
                <a:cs typeface="Segoe UI" pitchFamily="34" charset="-120"/>
              </a:rPr>
              <a:t>What's next: Establish your evaluation baseline  ·  Plan your production rollout  ·  Share your ROI story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Evaluation Grader Type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12  ·  EVALUATION FRAMEWORK</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Evaluation Grader Types</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A reusable release gate — score behavior with evidence, diagnose why it failed, and feed improvements back in.</a:t>
            </a:r>
            <a:endParaRPr lang="en-US" sz="1200" dirty="0"/>
          </a:p>
        </p:txBody>
      </p:sp>
      <p:sp>
        <p:nvSpPr>
          <p:cNvPr id="6" name="Shape 4"/>
          <p:cNvSpPr/>
          <p:nvPr/>
        </p:nvSpPr>
        <p:spPr>
          <a:xfrm>
            <a:off x="274320" y="1737360"/>
            <a:ext cx="5029200" cy="265176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37360"/>
            <a:ext cx="5029200" cy="365760"/>
          </a:xfrm>
          <a:prstGeom prst="rect">
            <a:avLst/>
          </a:prstGeom>
          <a:solidFill>
            <a:srgbClr val="0078D4"/>
          </a:solidFill>
          <a:ln w="12700">
            <a:solidFill>
              <a:srgbClr val="0078D4"/>
            </a:solidFill>
            <a:prstDash val="solid"/>
          </a:ln>
        </p:spPr>
      </p:sp>
      <p:sp>
        <p:nvSpPr>
          <p:cNvPr id="8" name="Text 6"/>
          <p:cNvSpPr/>
          <p:nvPr/>
        </p:nvSpPr>
        <p:spPr>
          <a:xfrm>
            <a:off x="384048" y="1737360"/>
            <a:ext cx="480060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General Quality</a:t>
            </a:r>
            <a:endParaRPr lang="en-US" sz="1100" dirty="0"/>
          </a:p>
        </p:txBody>
      </p:sp>
      <p:sp>
        <p:nvSpPr>
          <p:cNvPr id="9" name="Text 7"/>
          <p:cNvSpPr/>
          <p:nvPr/>
        </p:nvSpPr>
        <p:spPr>
          <a:xfrm>
            <a:off x="384048" y="2212848"/>
            <a:ext cx="4800600" cy="2103120"/>
          </a:xfrm>
          <a:prstGeom prst="rect">
            <a:avLst/>
          </a:prstGeom>
          <a:noFill/>
          <a:ln/>
        </p:spPr>
        <p:txBody>
          <a:bodyPr wrap="square" rtlCol="0" anchor="ctr"/>
          <a:lstStyle/>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Evaluation page shows completed run for 'Hiring Agent - Day 2 QA Baseline'</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Failed test case opened with grader reasoning and activity map evidence</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Hiring Agent instructions include a targeted improvement based on failing case</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Second evaluation run exists and comparison shows the improvement cycle</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Pass rate improved or failure reason documented for future work</a:t>
            </a:r>
            <a:endParaRPr lang="en-US" sz="1050" dirty="0"/>
          </a:p>
        </p:txBody>
      </p:sp>
      <p:sp>
        <p:nvSpPr>
          <p:cNvPr id="10" name="Shape 8"/>
          <p:cNvSpPr/>
          <p:nvPr/>
        </p:nvSpPr>
        <p:spPr>
          <a:xfrm>
            <a:off x="5486400" y="1737360"/>
            <a:ext cx="3383280" cy="2651760"/>
          </a:xfrm>
          <a:prstGeom prst="rect">
            <a:avLst/>
          </a:prstGeom>
          <a:solidFill>
            <a:srgbClr val="EFF6FC"/>
          </a:solidFill>
          <a:ln w="12700">
            <a:solidFill>
              <a:srgbClr val="C7E0F4"/>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5486400" y="1737360"/>
            <a:ext cx="3383280" cy="365760"/>
          </a:xfrm>
          <a:prstGeom prst="rect">
            <a:avLst/>
          </a:prstGeom>
          <a:solidFill>
            <a:srgbClr val="243A5E"/>
          </a:solidFill>
          <a:ln w="12700">
            <a:solidFill>
              <a:srgbClr val="243A5E"/>
            </a:solidFill>
            <a:prstDash val="solid"/>
          </a:ln>
        </p:spPr>
      </p:sp>
      <p:sp>
        <p:nvSpPr>
          <p:cNvPr id="12" name="Text 10"/>
          <p:cNvSpPr/>
          <p:nvPr/>
        </p:nvSpPr>
        <p:spPr>
          <a:xfrm>
            <a:off x="5596128" y="1737360"/>
            <a:ext cx="315468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Quality Tool Use</a:t>
            </a:r>
            <a:endParaRPr lang="en-US" sz="1100" dirty="0"/>
          </a:p>
        </p:txBody>
      </p:sp>
      <p:sp>
        <p:nvSpPr>
          <p:cNvPr id="13" name="Shape 11"/>
          <p:cNvSpPr/>
          <p:nvPr/>
        </p:nvSpPr>
        <p:spPr>
          <a:xfrm>
            <a:off x="5596128" y="2249424"/>
            <a:ext cx="914400" cy="237744"/>
          </a:xfrm>
          <a:prstGeom prst="rect">
            <a:avLst/>
          </a:prstGeom>
          <a:solidFill>
            <a:srgbClr val="0078D4"/>
          </a:solidFill>
          <a:ln w="12700">
            <a:solidFill>
              <a:srgbClr val="0078D4"/>
            </a:solidFill>
            <a:prstDash val="solid"/>
          </a:ln>
        </p:spPr>
      </p:sp>
      <p:sp>
        <p:nvSpPr>
          <p:cNvPr id="14" name="Text 12"/>
          <p:cNvSpPr/>
          <p:nvPr/>
        </p:nvSpPr>
        <p:spPr>
          <a:xfrm>
            <a:off x="5596128" y="2249424"/>
            <a:ext cx="9144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  Evaluate</a:t>
            </a:r>
            <a:endParaRPr lang="en-US" sz="850" dirty="0"/>
          </a:p>
        </p:txBody>
      </p:sp>
      <p:sp>
        <p:nvSpPr>
          <p:cNvPr id="15" name="Text 13"/>
          <p:cNvSpPr/>
          <p:nvPr/>
        </p:nvSpPr>
        <p:spPr>
          <a:xfrm>
            <a:off x="6583680" y="2212848"/>
            <a:ext cx="2176272" cy="384048"/>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Run scored test set against the current agent baseline</a:t>
            </a:r>
            <a:endParaRPr lang="en-US" sz="950" dirty="0"/>
          </a:p>
        </p:txBody>
      </p:sp>
      <p:sp>
        <p:nvSpPr>
          <p:cNvPr id="16" name="Shape 14"/>
          <p:cNvSpPr/>
          <p:nvPr/>
        </p:nvSpPr>
        <p:spPr>
          <a:xfrm>
            <a:off x="5596128" y="2779776"/>
            <a:ext cx="914400" cy="237744"/>
          </a:xfrm>
          <a:prstGeom prst="rect">
            <a:avLst/>
          </a:prstGeom>
          <a:solidFill>
            <a:srgbClr val="0078D4"/>
          </a:solidFill>
          <a:ln w="12700">
            <a:solidFill>
              <a:srgbClr val="0078D4"/>
            </a:solidFill>
            <a:prstDash val="solid"/>
          </a:ln>
        </p:spPr>
      </p:sp>
      <p:sp>
        <p:nvSpPr>
          <p:cNvPr id="17" name="Text 15"/>
          <p:cNvSpPr/>
          <p:nvPr/>
        </p:nvSpPr>
        <p:spPr>
          <a:xfrm>
            <a:off x="5596128" y="2779776"/>
            <a:ext cx="9144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  Diagnose</a:t>
            </a:r>
            <a:endParaRPr lang="en-US" sz="850" dirty="0"/>
          </a:p>
        </p:txBody>
      </p:sp>
      <p:sp>
        <p:nvSpPr>
          <p:cNvPr id="18" name="Text 16"/>
          <p:cNvSpPr/>
          <p:nvPr/>
        </p:nvSpPr>
        <p:spPr>
          <a:xfrm>
            <a:off x="6583680" y="2743200"/>
            <a:ext cx="2176272" cy="384048"/>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Open failing case, inspect activity map, find root cause</a:t>
            </a:r>
            <a:endParaRPr lang="en-US" sz="950" dirty="0"/>
          </a:p>
        </p:txBody>
      </p:sp>
      <p:sp>
        <p:nvSpPr>
          <p:cNvPr id="19" name="Shape 17"/>
          <p:cNvSpPr/>
          <p:nvPr/>
        </p:nvSpPr>
        <p:spPr>
          <a:xfrm>
            <a:off x="5596128" y="3310128"/>
            <a:ext cx="914400" cy="237744"/>
          </a:xfrm>
          <a:prstGeom prst="rect">
            <a:avLst/>
          </a:prstGeom>
          <a:solidFill>
            <a:srgbClr val="0078D4"/>
          </a:solidFill>
          <a:ln w="12700">
            <a:solidFill>
              <a:srgbClr val="0078D4"/>
            </a:solidFill>
            <a:prstDash val="solid"/>
          </a:ln>
        </p:spPr>
      </p:sp>
      <p:sp>
        <p:nvSpPr>
          <p:cNvPr id="20" name="Text 18"/>
          <p:cNvSpPr/>
          <p:nvPr/>
        </p:nvSpPr>
        <p:spPr>
          <a:xfrm>
            <a:off x="5596128" y="3310128"/>
            <a:ext cx="9144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  Improve</a:t>
            </a:r>
            <a:endParaRPr lang="en-US" sz="850" dirty="0"/>
          </a:p>
        </p:txBody>
      </p:sp>
      <p:sp>
        <p:nvSpPr>
          <p:cNvPr id="21" name="Text 19"/>
          <p:cNvSpPr/>
          <p:nvPr/>
        </p:nvSpPr>
        <p:spPr>
          <a:xfrm>
            <a:off x="6583680" y="3273552"/>
            <a:ext cx="2176272" cy="384048"/>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Edit instructions, tools, or grounding to fix the issue</a:t>
            </a:r>
            <a:endParaRPr lang="en-US" sz="950" dirty="0"/>
          </a:p>
        </p:txBody>
      </p:sp>
      <p:sp>
        <p:nvSpPr>
          <p:cNvPr id="22" name="Shape 20"/>
          <p:cNvSpPr/>
          <p:nvPr/>
        </p:nvSpPr>
        <p:spPr>
          <a:xfrm>
            <a:off x="5596128" y="3840480"/>
            <a:ext cx="914400" cy="237744"/>
          </a:xfrm>
          <a:prstGeom prst="rect">
            <a:avLst/>
          </a:prstGeom>
          <a:solidFill>
            <a:srgbClr val="0078D4"/>
          </a:solidFill>
          <a:ln w="12700">
            <a:solidFill>
              <a:srgbClr val="0078D4"/>
            </a:solidFill>
            <a:prstDash val="solid"/>
          </a:ln>
        </p:spPr>
      </p:sp>
      <p:sp>
        <p:nvSpPr>
          <p:cNvPr id="23" name="Text 21"/>
          <p:cNvSpPr/>
          <p:nvPr/>
        </p:nvSpPr>
        <p:spPr>
          <a:xfrm>
            <a:off x="5596128" y="3840480"/>
            <a:ext cx="9144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  Re-evaluate</a:t>
            </a:r>
            <a:endParaRPr lang="en-US" sz="850" dirty="0"/>
          </a:p>
        </p:txBody>
      </p:sp>
      <p:sp>
        <p:nvSpPr>
          <p:cNvPr id="24" name="Text 22"/>
          <p:cNvSpPr/>
          <p:nvPr/>
        </p:nvSpPr>
        <p:spPr>
          <a:xfrm>
            <a:off x="6583680" y="3803904"/>
            <a:ext cx="2176272" cy="384048"/>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Run test set again and compare with the previous run</a:t>
            </a:r>
            <a:endParaRPr lang="en-US" sz="950" dirty="0"/>
          </a:p>
        </p:txBody>
      </p:sp>
      <p:sp>
        <p:nvSpPr>
          <p:cNvPr id="25" name="Shape 23"/>
          <p:cNvSpPr/>
          <p:nvPr/>
        </p:nvSpPr>
        <p:spPr>
          <a:xfrm>
            <a:off x="320040" y="4681728"/>
            <a:ext cx="8503920" cy="320040"/>
          </a:xfrm>
          <a:prstGeom prst="rect">
            <a:avLst/>
          </a:prstGeom>
          <a:solidFill>
            <a:srgbClr val="EFF6FC"/>
          </a:solidFill>
          <a:ln w="12700">
            <a:solidFill>
              <a:srgbClr val="C7E0F4"/>
            </a:solidFill>
            <a:prstDash val="solid"/>
          </a:ln>
        </p:spPr>
      </p:sp>
      <p:sp>
        <p:nvSpPr>
          <p:cNvPr id="26" name="Text 24"/>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Keep the test set after the workshop — rerun it after future changes to detect regressions before they reach users.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12: Evaluation and ROI</dc:title>
  <dc:subject>PptxGenJS Presentation</dc:subject>
  <dc:creator>Microsoft</dc:creator>
  <cp:lastModifiedBy>Microsoft</cp:lastModifiedBy>
  <cp:revision>1</cp:revision>
  <dcterms:created xsi:type="dcterms:W3CDTF">2026-03-23T21:52:31Z</dcterms:created>
  <dcterms:modified xsi:type="dcterms:W3CDTF">2026-03-23T21:52:31Z</dcterms:modified>
</cp:coreProperties>
</file>