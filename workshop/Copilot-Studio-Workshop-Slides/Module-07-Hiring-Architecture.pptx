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0.xml" ContentType="application/vnd.openxmlformats-officedocument.presentationml.slide+xml"/>
  <Override PartName="/ppt/notesSlides/notesSlide10.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5" r:id="rId16"/>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restart to create momentum without replaying the entire previous day. Day 2 is not a reset: reuse the Day 1 habits of scoped instructions, grounded sources, clean diagnostics, and disciplined naming. Then show how orchestration, governed data, MCP, and evaluation extend the same operating model. Participants should feel that the scenario is getting deeper, not unrelated.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the Hiring Agent as a structured solution, not a larger prompt. The architecture introduces the multi-agent pattern — core orchestrator, delegated specialists, governed data, and shared operating model. Align makers, IT pros, and developers around shared delivery responsibilities from the start of Day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Application Intake and Interview Prep split to explain delegation boundaries, escalation, and ownership. Call out that the Activity map becomes the operating view for debugging handoffs. The same boundary-setting later makes flows, MCP tools, and evaluation results easier to reason about. Coordinated components over one oversized agent — that is the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before class that the import package and CSV files are distributed through the course delivery channel. Keep one completed environment available to demonstrate expected table relationships. Encourage participants to keep exact object names — later labs reference Hiring Agent and the imported tables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setup lab to align expectations before the day becomes more complex. Lab 14 instructions directly affect routing quality in Lab 15. If participants rush through the data setup, they may not have the Dataverse records needed for Lab 19 (Dataverse grounding) and Lab 21 (document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Instructions are not decorative text — they are operational guidance for orchestration and tool choice. Ask participants to compare restrictive and balanced outputs verbally so they can hear how small wording changes alter the experience. Keep participants on the balanced set before they continue to Lab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lab is most valuable when participants connect instruction quality to predictable outcomes. Ask participants to compare the restrictive and balanced outputs verbally. The balanced instructions carry directly into Lab 15's delegation language — participants must save the balanced set before continuing.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collaboration pattern simple so the operating model stays visible. Explain why the intake specialist is a child agent (tight delegation) and the interview specialist is a connected agent (reusable across scenarios). If participants are short on time, pre-create the connected agent and let them focus on descriptions, instructions, and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out that this lab establishes the collaboration pattern used in later labs for automation, grounding, and document generation. Labs 16 through 21 all depend on the Hiring Agent, Application Intake Agent, and Interview Prep Agent being correctly configured. If the Activity map is empty, start a new test session after saving all configuration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on this slide long enough for participants to self-check. Anyone who cannot confirm an item should raise it now rather than discovering the gap during Lab 14 or Lab 20. For facilitators: if several participants are missing a baseline item (for example, web search is still on or solution packaging was skipped), fix it as a group before proceeding. This two-minute checkpoint prevents the most common Day 2 compounding errors and gives late joiners a concrete catch-up reference.</a:t>
            </a: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3A5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78D4"/>
          </a:solidFill>
          <a:ln w="12700">
            <a:solidFill>
              <a:srgbClr val="0078D4"/>
            </a:solidFill>
            <a:prstDash val="solid"/>
          </a:ln>
        </p:spPr>
      </p:sp>
      <p:sp>
        <p:nvSpPr>
          <p:cNvPr id="3" name="Shape 1"/>
          <p:cNvSpPr/>
          <p:nvPr/>
        </p:nvSpPr>
        <p:spPr>
          <a:xfrm>
            <a:off x="0" y="64008"/>
            <a:ext cx="411480" cy="5079492"/>
          </a:xfrm>
          <a:prstGeom prst="rect">
            <a:avLst/>
          </a:prstGeom>
          <a:solidFill>
            <a:srgbClr val="0078D4"/>
          </a:solidFill>
          <a:ln w="12700">
            <a:solidFill>
              <a:srgbClr val="0078D4"/>
            </a:solidFill>
            <a:prstDash val="solid"/>
          </a:ln>
        </p:spPr>
      </p:sp>
      <p:sp>
        <p:nvSpPr>
          <p:cNvPr id="4" name="Text 2"/>
          <p:cNvSpPr/>
          <p:nvPr/>
        </p:nvSpPr>
        <p:spPr>
          <a:xfrm>
            <a:off x="594360" y="594360"/>
            <a:ext cx="8229600" cy="384048"/>
          </a:xfrm>
          <a:prstGeom prst="rect">
            <a:avLst/>
          </a:prstGeom>
          <a:noFill/>
          <a:ln/>
        </p:spPr>
        <p:txBody>
          <a:bodyPr wrap="square" rtlCol="0" anchor="ctr"/>
          <a:lstStyle/>
          <a:p>
            <a:pPr indent="0" marL="0">
              <a:buNone/>
            </a:pPr>
            <a:r>
              <a:rPr lang="en-US" sz="1100" spc="500" kern="0" dirty="0">
                <a:solidFill>
                  <a:srgbClr val="50E6FF"/>
                </a:solidFill>
                <a:latin typeface="Segoe UI" pitchFamily="34" charset="0"/>
                <a:ea typeface="Segoe UI" pitchFamily="34" charset="-122"/>
                <a:cs typeface="Segoe UI" pitchFamily="34" charset="-120"/>
              </a:rPr>
              <a:t>DAY 2  ·  OPERATIVE TRACK</a:t>
            </a:r>
            <a:endParaRPr lang="en-US" sz="1100" dirty="0"/>
          </a:p>
        </p:txBody>
      </p:sp>
      <p:sp>
        <p:nvSpPr>
          <p:cNvPr id="5" name="Text 3"/>
          <p:cNvSpPr/>
          <p:nvPr/>
        </p:nvSpPr>
        <p:spPr>
          <a:xfrm>
            <a:off x="594360" y="1078992"/>
            <a:ext cx="8229600" cy="914400"/>
          </a:xfrm>
          <a:prstGeom prst="rect">
            <a:avLst/>
          </a:prstGeom>
          <a:noFill/>
          <a:ln/>
        </p:spPr>
        <p:txBody>
          <a:bodyPr wrap="square" rtlCol="0" anchor="ctr"/>
          <a:lstStyle/>
          <a:p>
            <a:pPr indent="0" marL="0">
              <a:buNone/>
            </a:pPr>
            <a:r>
              <a:rPr lang="en-US" sz="5200" b="1" dirty="0">
                <a:solidFill>
                  <a:srgbClr val="FFFFFF"/>
                </a:solidFill>
                <a:latin typeface="Segoe UI" pitchFamily="34" charset="0"/>
                <a:ea typeface="Segoe UI" pitchFamily="34" charset="-122"/>
                <a:cs typeface="Segoe UI" pitchFamily="34" charset="-120"/>
              </a:rPr>
              <a:t>Day 2 Restart</a:t>
            </a:r>
            <a:endParaRPr lang="en-US" sz="5200" dirty="0"/>
          </a:p>
        </p:txBody>
      </p:sp>
      <p:sp>
        <p:nvSpPr>
          <p:cNvPr id="6" name="Text 4"/>
          <p:cNvSpPr/>
          <p:nvPr/>
        </p:nvSpPr>
        <p:spPr>
          <a:xfrm>
            <a:off x="594360" y="2103120"/>
            <a:ext cx="7772400" cy="475488"/>
          </a:xfrm>
          <a:prstGeom prst="rect">
            <a:avLst/>
          </a:prstGeom>
          <a:noFill/>
          <a:ln/>
        </p:spPr>
        <p:txBody>
          <a:bodyPr wrap="square" rtlCol="0" anchor="ctr"/>
          <a:lstStyle/>
          <a:p>
            <a:pPr indent="0" marL="0">
              <a:buNone/>
            </a:pPr>
            <a:r>
              <a:rPr lang="en-US" sz="1350" dirty="0">
                <a:solidFill>
                  <a:srgbClr val="C5D8F0"/>
                </a:solidFill>
                <a:latin typeface="Segoe UI" pitchFamily="34" charset="0"/>
                <a:ea typeface="Segoe UI" pitchFamily="34" charset="-122"/>
                <a:cs typeface="Segoe UI" pitchFamily="34" charset="-120"/>
              </a:rPr>
              <a:t>Same disciplines, deeper complexity — carry the strongest Day 1 practices into operational scenarios</a:t>
            </a:r>
            <a:endParaRPr lang="en-US" sz="1350" dirty="0"/>
          </a:p>
        </p:txBody>
      </p:sp>
      <p:sp>
        <p:nvSpPr>
          <p:cNvPr id="7" name="Shape 5"/>
          <p:cNvSpPr/>
          <p:nvPr/>
        </p:nvSpPr>
        <p:spPr>
          <a:xfrm>
            <a:off x="594360" y="2788920"/>
            <a:ext cx="2633472" cy="658368"/>
          </a:xfrm>
          <a:prstGeom prst="rect">
            <a:avLst/>
          </a:prstGeom>
          <a:solidFill>
            <a:srgbClr val="000000"/>
          </a:solidFill>
          <a:ln w="12700">
            <a:solidFill>
              <a:srgbClr val="0078D4"/>
            </a:solidFill>
            <a:prstDash val="solid"/>
          </a:ln>
        </p:spPr>
      </p:sp>
      <p:sp>
        <p:nvSpPr>
          <p:cNvPr id="8" name="Shape 6"/>
          <p:cNvSpPr/>
          <p:nvPr/>
        </p:nvSpPr>
        <p:spPr>
          <a:xfrm>
            <a:off x="594360" y="2788920"/>
            <a:ext cx="54864" cy="658368"/>
          </a:xfrm>
          <a:prstGeom prst="rect">
            <a:avLst/>
          </a:prstGeom>
          <a:solidFill>
            <a:srgbClr val="0078D4"/>
          </a:solidFill>
          <a:ln w="12700">
            <a:solidFill>
              <a:srgbClr val="0078D4"/>
            </a:solidFill>
            <a:prstDash val="solid"/>
          </a:ln>
        </p:spPr>
      </p:sp>
      <p:sp>
        <p:nvSpPr>
          <p:cNvPr id="9" name="Text 7"/>
          <p:cNvSpPr/>
          <p:nvPr/>
        </p:nvSpPr>
        <p:spPr>
          <a:xfrm>
            <a:off x="722376" y="2807208"/>
            <a:ext cx="2487168" cy="292608"/>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Scoped instructions</a:t>
            </a:r>
            <a:endParaRPr lang="en-US" sz="1150" dirty="0"/>
          </a:p>
        </p:txBody>
      </p:sp>
      <p:sp>
        <p:nvSpPr>
          <p:cNvPr id="10" name="Text 8"/>
          <p:cNvSpPr/>
          <p:nvPr/>
        </p:nvSpPr>
        <p:spPr>
          <a:xfrm>
            <a:off x="722376" y="3127248"/>
            <a:ext cx="2487168" cy="256032"/>
          </a:xfrm>
          <a:prstGeom prst="rect">
            <a:avLst/>
          </a:prstGeom>
          <a:noFill/>
          <a:ln/>
        </p:spPr>
        <p:txBody>
          <a:bodyPr wrap="square" rtlCol="0" anchor="ctr"/>
          <a:lstStyle/>
          <a:p>
            <a:pPr indent="0" marL="0">
              <a:buNone/>
            </a:pPr>
            <a:r>
              <a:rPr lang="en-US" sz="1000" dirty="0">
                <a:solidFill>
                  <a:srgbClr val="A0BEDD"/>
                </a:solidFill>
                <a:latin typeface="Segoe UI" pitchFamily="34" charset="0"/>
                <a:ea typeface="Segoe UI" pitchFamily="34" charset="-122"/>
                <a:cs typeface="Segoe UI" pitchFamily="34" charset="-120"/>
              </a:rPr>
              <a:t>Purpose + boundaries + format</a:t>
            </a:r>
            <a:endParaRPr lang="en-US" sz="1000" dirty="0"/>
          </a:p>
        </p:txBody>
      </p:sp>
      <p:sp>
        <p:nvSpPr>
          <p:cNvPr id="11" name="Shape 9"/>
          <p:cNvSpPr/>
          <p:nvPr/>
        </p:nvSpPr>
        <p:spPr>
          <a:xfrm>
            <a:off x="3410712" y="2788920"/>
            <a:ext cx="2633472" cy="658368"/>
          </a:xfrm>
          <a:prstGeom prst="rect">
            <a:avLst/>
          </a:prstGeom>
          <a:solidFill>
            <a:srgbClr val="000000"/>
          </a:solidFill>
          <a:ln w="12700">
            <a:solidFill>
              <a:srgbClr val="00B294"/>
            </a:solidFill>
            <a:prstDash val="solid"/>
          </a:ln>
        </p:spPr>
      </p:sp>
      <p:sp>
        <p:nvSpPr>
          <p:cNvPr id="12" name="Shape 10"/>
          <p:cNvSpPr/>
          <p:nvPr/>
        </p:nvSpPr>
        <p:spPr>
          <a:xfrm>
            <a:off x="3410712" y="2788920"/>
            <a:ext cx="54864" cy="658368"/>
          </a:xfrm>
          <a:prstGeom prst="rect">
            <a:avLst/>
          </a:prstGeom>
          <a:solidFill>
            <a:srgbClr val="00B294"/>
          </a:solidFill>
          <a:ln w="12700">
            <a:solidFill>
              <a:srgbClr val="00B294"/>
            </a:solidFill>
            <a:prstDash val="solid"/>
          </a:ln>
        </p:spPr>
      </p:sp>
      <p:sp>
        <p:nvSpPr>
          <p:cNvPr id="13" name="Text 11"/>
          <p:cNvSpPr/>
          <p:nvPr/>
        </p:nvSpPr>
        <p:spPr>
          <a:xfrm>
            <a:off x="3538728" y="2807208"/>
            <a:ext cx="2487168" cy="292608"/>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Grounded knowledge</a:t>
            </a:r>
            <a:endParaRPr lang="en-US" sz="1150" dirty="0"/>
          </a:p>
        </p:txBody>
      </p:sp>
      <p:sp>
        <p:nvSpPr>
          <p:cNvPr id="14" name="Text 12"/>
          <p:cNvSpPr/>
          <p:nvPr/>
        </p:nvSpPr>
        <p:spPr>
          <a:xfrm>
            <a:off x="3538728" y="3127248"/>
            <a:ext cx="2487168" cy="256032"/>
          </a:xfrm>
          <a:prstGeom prst="rect">
            <a:avLst/>
          </a:prstGeom>
          <a:noFill/>
          <a:ln/>
        </p:spPr>
        <p:txBody>
          <a:bodyPr wrap="square" rtlCol="0" anchor="ctr"/>
          <a:lstStyle/>
          <a:p>
            <a:pPr indent="0" marL="0">
              <a:buNone/>
            </a:pPr>
            <a:r>
              <a:rPr lang="en-US" sz="1000" dirty="0">
                <a:solidFill>
                  <a:srgbClr val="A0BEDD"/>
                </a:solidFill>
                <a:latin typeface="Segoe UI" pitchFamily="34" charset="0"/>
                <a:ea typeface="Segoe UI" pitchFamily="34" charset="-122"/>
                <a:cs typeface="Segoe UI" pitchFamily="34" charset="-120"/>
              </a:rPr>
              <a:t>Trusted sources only</a:t>
            </a:r>
            <a:endParaRPr lang="en-US" sz="1000" dirty="0"/>
          </a:p>
        </p:txBody>
      </p:sp>
      <p:sp>
        <p:nvSpPr>
          <p:cNvPr id="15" name="Shape 13"/>
          <p:cNvSpPr/>
          <p:nvPr/>
        </p:nvSpPr>
        <p:spPr>
          <a:xfrm>
            <a:off x="6227064" y="2788920"/>
            <a:ext cx="2633472" cy="658368"/>
          </a:xfrm>
          <a:prstGeom prst="rect">
            <a:avLst/>
          </a:prstGeom>
          <a:solidFill>
            <a:srgbClr val="000000"/>
          </a:solidFill>
          <a:ln w="12700">
            <a:solidFill>
              <a:srgbClr val="5C2D91"/>
            </a:solidFill>
            <a:prstDash val="solid"/>
          </a:ln>
        </p:spPr>
      </p:sp>
      <p:sp>
        <p:nvSpPr>
          <p:cNvPr id="16" name="Shape 14"/>
          <p:cNvSpPr/>
          <p:nvPr/>
        </p:nvSpPr>
        <p:spPr>
          <a:xfrm>
            <a:off x="6227064" y="2788920"/>
            <a:ext cx="54864" cy="658368"/>
          </a:xfrm>
          <a:prstGeom prst="rect">
            <a:avLst/>
          </a:prstGeom>
          <a:solidFill>
            <a:srgbClr val="5C2D91"/>
          </a:solidFill>
          <a:ln w="12700">
            <a:solidFill>
              <a:srgbClr val="5C2D91"/>
            </a:solidFill>
            <a:prstDash val="solid"/>
          </a:ln>
        </p:spPr>
      </p:sp>
      <p:sp>
        <p:nvSpPr>
          <p:cNvPr id="17" name="Text 15"/>
          <p:cNvSpPr/>
          <p:nvPr/>
        </p:nvSpPr>
        <p:spPr>
          <a:xfrm>
            <a:off x="6355080" y="2807208"/>
            <a:ext cx="2487168" cy="292608"/>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Clean diagnostics</a:t>
            </a:r>
            <a:endParaRPr lang="en-US" sz="1150" dirty="0"/>
          </a:p>
        </p:txBody>
      </p:sp>
      <p:sp>
        <p:nvSpPr>
          <p:cNvPr id="18" name="Text 16"/>
          <p:cNvSpPr/>
          <p:nvPr/>
        </p:nvSpPr>
        <p:spPr>
          <a:xfrm>
            <a:off x="6355080" y="3127248"/>
            <a:ext cx="2487168" cy="256032"/>
          </a:xfrm>
          <a:prstGeom prst="rect">
            <a:avLst/>
          </a:prstGeom>
          <a:noFill/>
          <a:ln/>
        </p:spPr>
        <p:txBody>
          <a:bodyPr wrap="square" rtlCol="0" anchor="ctr"/>
          <a:lstStyle/>
          <a:p>
            <a:pPr indent="0" marL="0">
              <a:buNone/>
            </a:pPr>
            <a:r>
              <a:rPr lang="en-US" sz="1000" dirty="0">
                <a:solidFill>
                  <a:srgbClr val="A0BEDD"/>
                </a:solidFill>
                <a:latin typeface="Segoe UI" pitchFamily="34" charset="0"/>
                <a:ea typeface="Segoe UI" pitchFamily="34" charset="-122"/>
                <a:cs typeface="Segoe UI" pitchFamily="34" charset="-120"/>
              </a:rPr>
              <a:t>Activity traces + named tools</a:t>
            </a:r>
            <a:endParaRPr lang="en-US" sz="1000" dirty="0"/>
          </a:p>
        </p:txBody>
      </p:sp>
      <p:sp>
        <p:nvSpPr>
          <p:cNvPr id="19" name="Text 17"/>
          <p:cNvSpPr/>
          <p:nvPr/>
        </p:nvSpPr>
        <p:spPr>
          <a:xfrm>
            <a:off x="594360" y="3749040"/>
            <a:ext cx="8229600" cy="320040"/>
          </a:xfrm>
          <a:prstGeom prst="rect">
            <a:avLst/>
          </a:prstGeom>
          <a:noFill/>
          <a:ln/>
        </p:spPr>
        <p:txBody>
          <a:bodyPr wrap="square" rtlCol="0" anchor="ctr"/>
          <a:lstStyle/>
          <a:p>
            <a:pPr indent="0" marL="0">
              <a:buNone/>
            </a:pPr>
            <a:r>
              <a:rPr lang="en-US" sz="1050" dirty="0">
                <a:solidFill>
                  <a:srgbClr val="C5D8F0"/>
                </a:solidFill>
                <a:latin typeface="Segoe UI" pitchFamily="34" charset="0"/>
                <a:ea typeface="Segoe UI" pitchFamily="34" charset="-122"/>
                <a:cs typeface="Segoe UI" pitchFamily="34" charset="-120"/>
              </a:rPr>
              <a:t>Day 2 adds: Orchestration  ·  Enterprise data  ·  Safety  ·  Evaluation  ·  Optional developer workflow</a:t>
            </a:r>
            <a:endParaRPr lang="en-US" sz="1050" dirty="0"/>
          </a:p>
        </p:txBody>
      </p:sp>
      <p:sp>
        <p:nvSpPr>
          <p:cNvPr id="20" name="Text 18"/>
          <p:cNvSpPr/>
          <p:nvPr/>
        </p:nvSpPr>
        <p:spPr>
          <a:xfrm>
            <a:off x="594360" y="4325112"/>
            <a:ext cx="8229600" cy="320040"/>
          </a:xfrm>
          <a:prstGeom prst="rect">
            <a:avLst/>
          </a:prstGeom>
          <a:noFill/>
          <a:ln/>
        </p:spPr>
        <p:txBody>
          <a:bodyPr wrap="square" rtlCol="0" anchor="ctr"/>
          <a:lstStyle/>
          <a:p>
            <a:pPr indent="0" marL="0">
              <a:buNone/>
            </a:pPr>
            <a:r>
              <a:rPr lang="en-US" sz="1000" dirty="0">
                <a:solidFill>
                  <a:srgbClr val="7BA7CC"/>
                </a:solidFill>
                <a:latin typeface="Segoe UI" pitchFamily="34" charset="0"/>
                <a:ea typeface="Segoe UI" pitchFamily="34" charset="-122"/>
                <a:cs typeface="Segoe UI" pitchFamily="34" charset="-120"/>
              </a:rPr>
              <a:t>Day 2 starts here — Labs 13 through 24 + Optional Lab 25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43A5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78D4"/>
          </a:solidFill>
          <a:ln w="12700">
            <a:solidFill>
              <a:srgbClr val="0078D4"/>
            </a:solidFill>
            <a:prstDash val="solid"/>
          </a:ln>
        </p:spPr>
      </p:sp>
      <p:sp>
        <p:nvSpPr>
          <p:cNvPr id="3" name="Shape 1"/>
          <p:cNvSpPr/>
          <p:nvPr/>
        </p:nvSpPr>
        <p:spPr>
          <a:xfrm>
            <a:off x="0" y="64008"/>
            <a:ext cx="411480" cy="5079492"/>
          </a:xfrm>
          <a:prstGeom prst="rect">
            <a:avLst/>
          </a:prstGeom>
          <a:solidFill>
            <a:srgbClr val="0078D4"/>
          </a:solidFill>
          <a:ln w="12700">
            <a:solidFill>
              <a:srgbClr val="0078D4"/>
            </a:solidFill>
            <a:prstDash val="solid"/>
          </a:ln>
        </p:spPr>
      </p:sp>
      <p:sp>
        <p:nvSpPr>
          <p:cNvPr id="4" name="Text 2"/>
          <p:cNvSpPr/>
          <p:nvPr/>
        </p:nvSpPr>
        <p:spPr>
          <a:xfrm>
            <a:off x="594360" y="594360"/>
            <a:ext cx="8229600" cy="384048"/>
          </a:xfrm>
          <a:prstGeom prst="rect">
            <a:avLst/>
          </a:prstGeom>
          <a:noFill/>
          <a:ln/>
        </p:spPr>
        <p:txBody>
          <a:bodyPr wrap="square" rtlCol="0" anchor="ctr"/>
          <a:lstStyle/>
          <a:p>
            <a:pPr indent="0" marL="0">
              <a:buNone/>
            </a:pPr>
            <a:r>
              <a:rPr lang="en-US" sz="1100" spc="500" kern="0" dirty="0">
                <a:solidFill>
                  <a:srgbClr val="50E6FF"/>
                </a:solidFill>
                <a:latin typeface="Segoe UI" pitchFamily="34" charset="0"/>
                <a:ea typeface="Segoe UI" pitchFamily="34" charset="-122"/>
                <a:cs typeface="Segoe UI" pitchFamily="34" charset="-120"/>
              </a:rPr>
              <a:t>MODULE 07</a:t>
            </a:r>
            <a:endParaRPr lang="en-US" sz="1100" dirty="0"/>
          </a:p>
        </p:txBody>
      </p:sp>
      <p:sp>
        <p:nvSpPr>
          <p:cNvPr id="5" name="Text 3"/>
          <p:cNvSpPr/>
          <p:nvPr/>
        </p:nvSpPr>
        <p:spPr>
          <a:xfrm>
            <a:off x="594360" y="1078992"/>
            <a:ext cx="8229600" cy="1005840"/>
          </a:xfrm>
          <a:prstGeom prst="rect">
            <a:avLst/>
          </a:prstGeom>
          <a:noFill/>
          <a:ln/>
        </p:spPr>
        <p:txBody>
          <a:bodyPr wrap="square" rtlCol="0" anchor="ctr"/>
          <a:lstStyle/>
          <a:p>
            <a:pPr indent="0" marL="0">
              <a:buNone/>
            </a:pPr>
            <a:r>
              <a:rPr lang="en-US" sz="5000" b="1" dirty="0">
                <a:solidFill>
                  <a:srgbClr val="FFFFFF"/>
                </a:solidFill>
                <a:latin typeface="Segoe UI" pitchFamily="34" charset="0"/>
                <a:ea typeface="Segoe UI" pitchFamily="34" charset="-122"/>
                <a:cs typeface="Segoe UI" pitchFamily="34" charset="-120"/>
              </a:rPr>
              <a:t>Hiring Architecture</a:t>
            </a:r>
            <a:endParaRPr lang="en-US" sz="5000" dirty="0"/>
          </a:p>
        </p:txBody>
      </p:sp>
      <p:sp>
        <p:nvSpPr>
          <p:cNvPr id="6" name="Text 4"/>
          <p:cNvSpPr/>
          <p:nvPr/>
        </p:nvSpPr>
        <p:spPr>
          <a:xfrm>
            <a:off x="594360" y="2194560"/>
            <a:ext cx="7955280" cy="502920"/>
          </a:xfrm>
          <a:prstGeom prst="rect">
            <a:avLst/>
          </a:prstGeom>
          <a:noFill/>
          <a:ln/>
        </p:spPr>
        <p:txBody>
          <a:bodyPr wrap="square" rtlCol="0" anchor="ctr"/>
          <a:lstStyle/>
          <a:p>
            <a:pPr indent="0" marL="0">
              <a:buNone/>
            </a:pPr>
            <a:r>
              <a:rPr lang="en-US" sz="1350" dirty="0">
                <a:solidFill>
                  <a:srgbClr val="C5D8F0"/>
                </a:solidFill>
                <a:latin typeface="Segoe UI" pitchFamily="34" charset="0"/>
                <a:ea typeface="Segoe UI" pitchFamily="34" charset="-122"/>
                <a:cs typeface="Segoe UI" pitchFamily="34" charset="-120"/>
              </a:rPr>
              <a:t>A structured multi-agent solution — orchestrator, specialists, governed data, and maintainable handoffs</a:t>
            </a:r>
            <a:endParaRPr lang="en-US" sz="1350" dirty="0"/>
          </a:p>
        </p:txBody>
      </p:sp>
      <p:sp>
        <p:nvSpPr>
          <p:cNvPr id="7" name="Shape 5"/>
          <p:cNvSpPr/>
          <p:nvPr/>
        </p:nvSpPr>
        <p:spPr>
          <a:xfrm>
            <a:off x="594360" y="2971800"/>
            <a:ext cx="2633472" cy="438912"/>
          </a:xfrm>
          <a:prstGeom prst="rect">
            <a:avLst/>
          </a:prstGeom>
          <a:solidFill>
            <a:srgbClr val="0078D4"/>
          </a:solidFill>
          <a:ln w="12700">
            <a:solidFill>
              <a:srgbClr val="0078D4"/>
            </a:solidFill>
            <a:prstDash val="solid"/>
          </a:ln>
        </p:spPr>
      </p:sp>
      <p:sp>
        <p:nvSpPr>
          <p:cNvPr id="8" name="Text 6"/>
          <p:cNvSpPr/>
          <p:nvPr/>
        </p:nvSpPr>
        <p:spPr>
          <a:xfrm>
            <a:off x="594360" y="2971800"/>
            <a:ext cx="2633472" cy="438912"/>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Hiring Agent setup</a:t>
            </a:r>
            <a:endParaRPr lang="en-US" sz="1150" dirty="0"/>
          </a:p>
        </p:txBody>
      </p:sp>
      <p:sp>
        <p:nvSpPr>
          <p:cNvPr id="9" name="Shape 7"/>
          <p:cNvSpPr/>
          <p:nvPr/>
        </p:nvSpPr>
        <p:spPr>
          <a:xfrm>
            <a:off x="3410712" y="2971800"/>
            <a:ext cx="2633472" cy="438912"/>
          </a:xfrm>
          <a:prstGeom prst="rect">
            <a:avLst/>
          </a:prstGeom>
          <a:solidFill>
            <a:srgbClr val="00B294"/>
          </a:solidFill>
          <a:ln w="12700">
            <a:solidFill>
              <a:srgbClr val="00B294"/>
            </a:solidFill>
            <a:prstDash val="solid"/>
          </a:ln>
        </p:spPr>
      </p:sp>
      <p:sp>
        <p:nvSpPr>
          <p:cNvPr id="10" name="Text 8"/>
          <p:cNvSpPr/>
          <p:nvPr/>
        </p:nvSpPr>
        <p:spPr>
          <a:xfrm>
            <a:off x="3410712" y="2971800"/>
            <a:ext cx="2633472" cy="438912"/>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Instruction quality</a:t>
            </a:r>
            <a:endParaRPr lang="en-US" sz="1150" dirty="0"/>
          </a:p>
        </p:txBody>
      </p:sp>
      <p:sp>
        <p:nvSpPr>
          <p:cNvPr id="11" name="Shape 9"/>
          <p:cNvSpPr/>
          <p:nvPr/>
        </p:nvSpPr>
        <p:spPr>
          <a:xfrm>
            <a:off x="6227064" y="2971800"/>
            <a:ext cx="2633472" cy="438912"/>
          </a:xfrm>
          <a:prstGeom prst="rect">
            <a:avLst/>
          </a:prstGeom>
          <a:solidFill>
            <a:srgbClr val="5C2D91"/>
          </a:solidFill>
          <a:ln w="12700">
            <a:solidFill>
              <a:srgbClr val="5C2D91"/>
            </a:solidFill>
            <a:prstDash val="solid"/>
          </a:ln>
        </p:spPr>
      </p:sp>
      <p:sp>
        <p:nvSpPr>
          <p:cNvPr id="12" name="Text 10"/>
          <p:cNvSpPr/>
          <p:nvPr/>
        </p:nvSpPr>
        <p:spPr>
          <a:xfrm>
            <a:off x="6227064" y="2971800"/>
            <a:ext cx="2633472" cy="438912"/>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Multi-agent team</a:t>
            </a:r>
            <a:endParaRPr lang="en-US" sz="1150" dirty="0"/>
          </a:p>
        </p:txBody>
      </p:sp>
      <p:sp>
        <p:nvSpPr>
          <p:cNvPr id="13" name="Text 11"/>
          <p:cNvSpPr/>
          <p:nvPr/>
        </p:nvSpPr>
        <p:spPr>
          <a:xfrm>
            <a:off x="594360" y="4343400"/>
            <a:ext cx="8229600" cy="320040"/>
          </a:xfrm>
          <a:prstGeom prst="rect">
            <a:avLst/>
          </a:prstGeom>
          <a:noFill/>
          <a:ln/>
        </p:spPr>
        <p:txBody>
          <a:bodyPr wrap="square" rtlCol="0" anchor="ctr"/>
          <a:lstStyle/>
          <a:p>
            <a:pPr indent="0" marL="0">
              <a:buNone/>
            </a:pPr>
            <a:r>
              <a:rPr lang="en-US" sz="1000" dirty="0">
                <a:solidFill>
                  <a:srgbClr val="7BA7CC"/>
                </a:solidFill>
                <a:latin typeface="Segoe UI" pitchFamily="34" charset="0"/>
                <a:ea typeface="Segoe UI" pitchFamily="34" charset="-122"/>
                <a:cs typeface="Segoe UI" pitchFamily="34" charset="-120"/>
              </a:rPr>
              <a:t>Labs 13–15  ·  Day 2 Operative Track</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07  ·  HIRING ARCHITECTURE</a:t>
            </a:r>
            <a:endParaRPr lang="en-US" sz="900" dirty="0"/>
          </a:p>
        </p:txBody>
      </p:sp>
      <p:sp>
        <p:nvSpPr>
          <p:cNvPr id="4" name="Text 2"/>
          <p:cNvSpPr/>
          <p:nvPr/>
        </p:nvSpPr>
        <p:spPr>
          <a:xfrm>
            <a:off x="365760" y="749808"/>
            <a:ext cx="8412480" cy="530352"/>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Multi-Agent Operating Model</a:t>
            </a:r>
            <a:endParaRPr lang="en-US" sz="2800" dirty="0"/>
          </a:p>
        </p:txBody>
      </p:sp>
      <p:sp>
        <p:nvSpPr>
          <p:cNvPr id="5" name="Text 3"/>
          <p:cNvSpPr/>
          <p:nvPr/>
        </p:nvSpPr>
        <p:spPr>
          <a:xfrm>
            <a:off x="365760" y="132588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Clear boundaries so each agent owns a focused responsibility — easier to test, support, and extend.</a:t>
            </a:r>
            <a:endParaRPr lang="en-US" sz="1200" dirty="0"/>
          </a:p>
        </p:txBody>
      </p:sp>
      <p:sp>
        <p:nvSpPr>
          <p:cNvPr id="6" name="Shape 4"/>
          <p:cNvSpPr/>
          <p:nvPr/>
        </p:nvSpPr>
        <p:spPr>
          <a:xfrm>
            <a:off x="256032" y="1783080"/>
            <a:ext cx="2788920" cy="23774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256032" y="1783080"/>
            <a:ext cx="2788920" cy="384048"/>
          </a:xfrm>
          <a:prstGeom prst="rect">
            <a:avLst/>
          </a:prstGeom>
          <a:solidFill>
            <a:srgbClr val="0078D4"/>
          </a:solidFill>
          <a:ln w="12700">
            <a:solidFill>
              <a:srgbClr val="0078D4"/>
            </a:solidFill>
            <a:prstDash val="solid"/>
          </a:ln>
        </p:spPr>
      </p:sp>
      <p:sp>
        <p:nvSpPr>
          <p:cNvPr id="8" name="Shape 6"/>
          <p:cNvSpPr/>
          <p:nvPr/>
        </p:nvSpPr>
        <p:spPr>
          <a:xfrm>
            <a:off x="347472" y="1874520"/>
            <a:ext cx="731520" cy="201168"/>
          </a:xfrm>
          <a:prstGeom prst="rect">
            <a:avLst/>
          </a:prstGeom>
          <a:solidFill>
            <a:srgbClr val="FFFFFF"/>
          </a:solidFill>
          <a:ln w="12700">
            <a:solidFill>
              <a:srgbClr val="FFFFFF"/>
            </a:solidFill>
            <a:prstDash val="solid"/>
          </a:ln>
        </p:spPr>
      </p:sp>
      <p:sp>
        <p:nvSpPr>
          <p:cNvPr id="9" name="Text 7"/>
          <p:cNvSpPr/>
          <p:nvPr/>
        </p:nvSpPr>
        <p:spPr>
          <a:xfrm>
            <a:off x="347472" y="1874520"/>
            <a:ext cx="731520" cy="201168"/>
          </a:xfrm>
          <a:prstGeom prst="rect">
            <a:avLst/>
          </a:prstGeom>
          <a:noFill/>
          <a:ln/>
        </p:spPr>
        <p:txBody>
          <a:bodyPr wrap="square" lIns="0" tIns="0" rIns="0" bIns="0" rtlCol="0" anchor="ctr"/>
          <a:lstStyle/>
          <a:p>
            <a:pPr algn="ctr" indent="0" marL="0">
              <a:buNone/>
            </a:pPr>
            <a:r>
              <a:rPr lang="en-US" sz="800" b="1" dirty="0">
                <a:solidFill>
                  <a:srgbClr val="0078D4"/>
                </a:solidFill>
                <a:latin typeface="Segoe UI" pitchFamily="34" charset="0"/>
                <a:ea typeface="Segoe UI" pitchFamily="34" charset="-122"/>
                <a:cs typeface="Segoe UI" pitchFamily="34" charset="-120"/>
              </a:rPr>
              <a:t>Orchestrator</a:t>
            </a:r>
            <a:endParaRPr lang="en-US" sz="800" dirty="0"/>
          </a:p>
        </p:txBody>
      </p:sp>
      <p:sp>
        <p:nvSpPr>
          <p:cNvPr id="10" name="Text 8"/>
          <p:cNvSpPr/>
          <p:nvPr/>
        </p:nvSpPr>
        <p:spPr>
          <a:xfrm>
            <a:off x="1170432" y="1783080"/>
            <a:ext cx="1783080" cy="384048"/>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Hiring Agent</a:t>
            </a:r>
            <a:endParaRPr lang="en-US" sz="1100" dirty="0"/>
          </a:p>
        </p:txBody>
      </p:sp>
      <p:sp>
        <p:nvSpPr>
          <p:cNvPr id="11" name="Text 9"/>
          <p:cNvSpPr/>
          <p:nvPr/>
        </p:nvSpPr>
        <p:spPr>
          <a:xfrm>
            <a:off x="347472" y="2231136"/>
            <a:ext cx="2624328" cy="274320"/>
          </a:xfrm>
          <a:prstGeom prst="rect">
            <a:avLst/>
          </a:prstGeom>
          <a:noFill/>
          <a:ln/>
        </p:spPr>
        <p:txBody>
          <a:bodyPr wrap="square" rtlCol="0" anchor="ctr"/>
          <a:lstStyle/>
          <a:p>
            <a:pPr indent="0" marL="0">
              <a:buNone/>
            </a:pPr>
            <a:r>
              <a:rPr lang="en-US" sz="950" b="1" dirty="0">
                <a:solidFill>
                  <a:srgbClr val="0078D4"/>
                </a:solidFill>
                <a:latin typeface="Segoe UI" pitchFamily="34" charset="0"/>
                <a:ea typeface="Segoe UI" pitchFamily="34" charset="-122"/>
                <a:cs typeface="Segoe UI" pitchFamily="34" charset="-120"/>
              </a:rPr>
              <a:t>Owns the recruiter conversation and routes to specialists</a:t>
            </a:r>
            <a:endParaRPr lang="en-US" sz="950" dirty="0"/>
          </a:p>
        </p:txBody>
      </p:sp>
      <p:sp>
        <p:nvSpPr>
          <p:cNvPr id="12" name="Text 10"/>
          <p:cNvSpPr/>
          <p:nvPr/>
        </p:nvSpPr>
        <p:spPr>
          <a:xfrm>
            <a:off x="347472" y="2542032"/>
            <a:ext cx="2624328" cy="1536192"/>
          </a:xfrm>
          <a:prstGeom prst="rect">
            <a:avLst/>
          </a:prstGeom>
          <a:noFill/>
          <a:ln/>
        </p:spPr>
        <p:txBody>
          <a:bodyPr wrap="square" rtlCol="0" anchor="ctr"/>
          <a:lstStyle/>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Delegates intake tasks to Application Intake Agent</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Delegates interview prep to Interview Prep Agent</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Maintains conversation context across all specialist calls</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Uses generative AI orchestration for routing decisions</a:t>
            </a:r>
            <a:endParaRPr lang="en-US" sz="950" dirty="0"/>
          </a:p>
        </p:txBody>
      </p:sp>
      <p:sp>
        <p:nvSpPr>
          <p:cNvPr id="13" name="Shape 11"/>
          <p:cNvSpPr/>
          <p:nvPr/>
        </p:nvSpPr>
        <p:spPr>
          <a:xfrm>
            <a:off x="3163824" y="1783080"/>
            <a:ext cx="2788920" cy="23774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14" name="Shape 12"/>
          <p:cNvSpPr/>
          <p:nvPr/>
        </p:nvSpPr>
        <p:spPr>
          <a:xfrm>
            <a:off x="3163824" y="1783080"/>
            <a:ext cx="2788920" cy="384048"/>
          </a:xfrm>
          <a:prstGeom prst="rect">
            <a:avLst/>
          </a:prstGeom>
          <a:solidFill>
            <a:srgbClr val="00B294"/>
          </a:solidFill>
          <a:ln w="12700">
            <a:solidFill>
              <a:srgbClr val="00B294"/>
            </a:solidFill>
            <a:prstDash val="solid"/>
          </a:ln>
        </p:spPr>
      </p:sp>
      <p:sp>
        <p:nvSpPr>
          <p:cNvPr id="15" name="Shape 13"/>
          <p:cNvSpPr/>
          <p:nvPr/>
        </p:nvSpPr>
        <p:spPr>
          <a:xfrm>
            <a:off x="3255264" y="1874520"/>
            <a:ext cx="731520" cy="201168"/>
          </a:xfrm>
          <a:prstGeom prst="rect">
            <a:avLst/>
          </a:prstGeom>
          <a:solidFill>
            <a:srgbClr val="FFFFFF"/>
          </a:solidFill>
          <a:ln w="12700">
            <a:solidFill>
              <a:srgbClr val="FFFFFF"/>
            </a:solidFill>
            <a:prstDash val="solid"/>
          </a:ln>
        </p:spPr>
      </p:sp>
      <p:sp>
        <p:nvSpPr>
          <p:cNvPr id="16" name="Text 14"/>
          <p:cNvSpPr/>
          <p:nvPr/>
        </p:nvSpPr>
        <p:spPr>
          <a:xfrm>
            <a:off x="3255264" y="1874520"/>
            <a:ext cx="731520" cy="201168"/>
          </a:xfrm>
          <a:prstGeom prst="rect">
            <a:avLst/>
          </a:prstGeom>
          <a:noFill/>
          <a:ln/>
        </p:spPr>
        <p:txBody>
          <a:bodyPr wrap="square" lIns="0" tIns="0" rIns="0" bIns="0" rtlCol="0" anchor="ctr"/>
          <a:lstStyle/>
          <a:p>
            <a:pPr algn="ctr" indent="0" marL="0">
              <a:buNone/>
            </a:pPr>
            <a:r>
              <a:rPr lang="en-US" sz="800" b="1" dirty="0">
                <a:solidFill>
                  <a:srgbClr val="00B294"/>
                </a:solidFill>
                <a:latin typeface="Segoe UI" pitchFamily="34" charset="0"/>
                <a:ea typeface="Segoe UI" pitchFamily="34" charset="-122"/>
                <a:cs typeface="Segoe UI" pitchFamily="34" charset="-120"/>
              </a:rPr>
              <a:t>Child Agent</a:t>
            </a:r>
            <a:endParaRPr lang="en-US" sz="800" dirty="0"/>
          </a:p>
        </p:txBody>
      </p:sp>
      <p:sp>
        <p:nvSpPr>
          <p:cNvPr id="17" name="Text 15"/>
          <p:cNvSpPr/>
          <p:nvPr/>
        </p:nvSpPr>
        <p:spPr>
          <a:xfrm>
            <a:off x="4078224" y="1783080"/>
            <a:ext cx="1783080" cy="384048"/>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Application Intake Agent</a:t>
            </a:r>
            <a:endParaRPr lang="en-US" sz="1100" dirty="0"/>
          </a:p>
        </p:txBody>
      </p:sp>
      <p:sp>
        <p:nvSpPr>
          <p:cNvPr id="18" name="Text 16"/>
          <p:cNvSpPr/>
          <p:nvPr/>
        </p:nvSpPr>
        <p:spPr>
          <a:xfrm>
            <a:off x="3255264" y="2231136"/>
            <a:ext cx="2624328" cy="274320"/>
          </a:xfrm>
          <a:prstGeom prst="rect">
            <a:avLst/>
          </a:prstGeom>
          <a:noFill/>
          <a:ln/>
        </p:spPr>
        <p:txBody>
          <a:bodyPr wrap="square" rtlCol="0" anchor="ctr"/>
          <a:lstStyle/>
          <a:p>
            <a:pPr indent="0" marL="0">
              <a:buNone/>
            </a:pPr>
            <a:r>
              <a:rPr lang="en-US" sz="950" b="1" dirty="0">
                <a:solidFill>
                  <a:srgbClr val="00B294"/>
                </a:solidFill>
                <a:latin typeface="Segoe UI" pitchFamily="34" charset="0"/>
                <a:ea typeface="Segoe UI" pitchFamily="34" charset="-122"/>
                <a:cs typeface="Segoe UI" pitchFamily="34" charset="-120"/>
              </a:rPr>
              <a:t>Handles new resumes and candidate data collection</a:t>
            </a:r>
            <a:endParaRPr lang="en-US" sz="950" dirty="0"/>
          </a:p>
        </p:txBody>
      </p:sp>
      <p:sp>
        <p:nvSpPr>
          <p:cNvPr id="19" name="Text 17"/>
          <p:cNvSpPr/>
          <p:nvPr/>
        </p:nvSpPr>
        <p:spPr>
          <a:xfrm>
            <a:off x="3255264" y="2542032"/>
            <a:ext cx="2624328" cy="1536192"/>
          </a:xfrm>
          <a:prstGeom prst="rect">
            <a:avLst/>
          </a:prstGeom>
          <a:noFill/>
          <a:ln/>
        </p:spPr>
        <p:txBody>
          <a:bodyPr wrap="square" rtlCol="0" anchor="ctr"/>
          <a:lstStyle/>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Receives delegated intake tasks from the orchestrator</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Collects missing candidate details and prepares summaries</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Stores candidate and application records to Dataverse</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Stays focused on intake — routes interview requests back</a:t>
            </a:r>
            <a:endParaRPr lang="en-US" sz="950" dirty="0"/>
          </a:p>
        </p:txBody>
      </p:sp>
      <p:sp>
        <p:nvSpPr>
          <p:cNvPr id="20" name="Shape 18"/>
          <p:cNvSpPr/>
          <p:nvPr/>
        </p:nvSpPr>
        <p:spPr>
          <a:xfrm>
            <a:off x="6071616" y="1783080"/>
            <a:ext cx="2788920" cy="23774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21" name="Shape 19"/>
          <p:cNvSpPr/>
          <p:nvPr/>
        </p:nvSpPr>
        <p:spPr>
          <a:xfrm>
            <a:off x="6071616" y="1783080"/>
            <a:ext cx="2788920" cy="384048"/>
          </a:xfrm>
          <a:prstGeom prst="rect">
            <a:avLst/>
          </a:prstGeom>
          <a:solidFill>
            <a:srgbClr val="5C2D91"/>
          </a:solidFill>
          <a:ln w="12700">
            <a:solidFill>
              <a:srgbClr val="5C2D91"/>
            </a:solidFill>
            <a:prstDash val="solid"/>
          </a:ln>
        </p:spPr>
      </p:sp>
      <p:sp>
        <p:nvSpPr>
          <p:cNvPr id="22" name="Shape 20"/>
          <p:cNvSpPr/>
          <p:nvPr/>
        </p:nvSpPr>
        <p:spPr>
          <a:xfrm>
            <a:off x="6163056" y="1874520"/>
            <a:ext cx="731520" cy="201168"/>
          </a:xfrm>
          <a:prstGeom prst="rect">
            <a:avLst/>
          </a:prstGeom>
          <a:solidFill>
            <a:srgbClr val="FFFFFF"/>
          </a:solidFill>
          <a:ln w="12700">
            <a:solidFill>
              <a:srgbClr val="FFFFFF"/>
            </a:solidFill>
            <a:prstDash val="solid"/>
          </a:ln>
        </p:spPr>
      </p:sp>
      <p:sp>
        <p:nvSpPr>
          <p:cNvPr id="23" name="Text 21"/>
          <p:cNvSpPr/>
          <p:nvPr/>
        </p:nvSpPr>
        <p:spPr>
          <a:xfrm>
            <a:off x="6163056" y="1874520"/>
            <a:ext cx="731520" cy="201168"/>
          </a:xfrm>
          <a:prstGeom prst="rect">
            <a:avLst/>
          </a:prstGeom>
          <a:noFill/>
          <a:ln/>
        </p:spPr>
        <p:txBody>
          <a:bodyPr wrap="square" lIns="0" tIns="0" rIns="0" bIns="0" rtlCol="0" anchor="ctr"/>
          <a:lstStyle/>
          <a:p>
            <a:pPr algn="ctr" indent="0" marL="0">
              <a:buNone/>
            </a:pPr>
            <a:r>
              <a:rPr lang="en-US" sz="800" b="1" dirty="0">
                <a:solidFill>
                  <a:srgbClr val="5C2D91"/>
                </a:solidFill>
                <a:latin typeface="Segoe UI" pitchFamily="34" charset="0"/>
                <a:ea typeface="Segoe UI" pitchFamily="34" charset="-122"/>
                <a:cs typeface="Segoe UI" pitchFamily="34" charset="-120"/>
              </a:rPr>
              <a:t>Connected Agent</a:t>
            </a:r>
            <a:endParaRPr lang="en-US" sz="800" dirty="0"/>
          </a:p>
        </p:txBody>
      </p:sp>
      <p:sp>
        <p:nvSpPr>
          <p:cNvPr id="24" name="Text 22"/>
          <p:cNvSpPr/>
          <p:nvPr/>
        </p:nvSpPr>
        <p:spPr>
          <a:xfrm>
            <a:off x="6986016" y="1783080"/>
            <a:ext cx="1783080" cy="384048"/>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Interview Prep Agent</a:t>
            </a:r>
            <a:endParaRPr lang="en-US" sz="1100" dirty="0"/>
          </a:p>
        </p:txBody>
      </p:sp>
      <p:sp>
        <p:nvSpPr>
          <p:cNvPr id="25" name="Text 23"/>
          <p:cNvSpPr/>
          <p:nvPr/>
        </p:nvSpPr>
        <p:spPr>
          <a:xfrm>
            <a:off x="6163056" y="2231136"/>
            <a:ext cx="2624328" cy="274320"/>
          </a:xfrm>
          <a:prstGeom prst="rect">
            <a:avLst/>
          </a:prstGeom>
          <a:noFill/>
          <a:ln/>
        </p:spPr>
        <p:txBody>
          <a:bodyPr wrap="square" rtlCol="0" anchor="ctr"/>
          <a:lstStyle/>
          <a:p>
            <a:pPr indent="0" marL="0">
              <a:buNone/>
            </a:pPr>
            <a:r>
              <a:rPr lang="en-US" sz="950" b="1" dirty="0">
                <a:solidFill>
                  <a:srgbClr val="5C2D91"/>
                </a:solidFill>
                <a:latin typeface="Segoe UI" pitchFamily="34" charset="0"/>
                <a:ea typeface="Segoe UI" pitchFamily="34" charset="-122"/>
                <a:cs typeface="Segoe UI" pitchFamily="34" charset="-120"/>
              </a:rPr>
              <a:t>Creates interview guides, questions, and evaluation support</a:t>
            </a:r>
            <a:endParaRPr lang="en-US" sz="950" dirty="0"/>
          </a:p>
        </p:txBody>
      </p:sp>
      <p:sp>
        <p:nvSpPr>
          <p:cNvPr id="26" name="Text 24"/>
          <p:cNvSpPr/>
          <p:nvPr/>
        </p:nvSpPr>
        <p:spPr>
          <a:xfrm>
            <a:off x="6163056" y="2542032"/>
            <a:ext cx="2624328" cy="1536192"/>
          </a:xfrm>
          <a:prstGeom prst="rect">
            <a:avLst/>
          </a:prstGeom>
          <a:noFill/>
          <a:ln/>
        </p:spPr>
        <p:txBody>
          <a:bodyPr wrap="square" rtlCol="0" anchor="ctr"/>
          <a:lstStyle/>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Discoverable by other agents in the same environment</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Grounded in Dataverse Job Role and Evaluation Criteria tables</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Produces structured interview rubrics and question sets</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Configured with 'Allow connections' on for orchestrator discovery</a:t>
            </a:r>
            <a:endParaRPr lang="en-US" sz="950" dirty="0"/>
          </a:p>
        </p:txBody>
      </p:sp>
      <p:sp>
        <p:nvSpPr>
          <p:cNvPr id="27" name="Shape 25"/>
          <p:cNvSpPr/>
          <p:nvPr/>
        </p:nvSpPr>
        <p:spPr>
          <a:xfrm>
            <a:off x="256032" y="4251960"/>
            <a:ext cx="8631936" cy="347472"/>
          </a:xfrm>
          <a:prstGeom prst="rect">
            <a:avLst/>
          </a:prstGeom>
          <a:solidFill>
            <a:srgbClr val="D47900"/>
          </a:solidFill>
          <a:ln w="12700">
            <a:solidFill>
              <a:srgbClr val="D47900"/>
            </a:solidFill>
            <a:prstDash val="solid"/>
          </a:ln>
        </p:spPr>
      </p:sp>
      <p:sp>
        <p:nvSpPr>
          <p:cNvPr id="28" name="Text 26"/>
          <p:cNvSpPr/>
          <p:nvPr/>
        </p:nvSpPr>
        <p:spPr>
          <a:xfrm>
            <a:off x="320040" y="4251960"/>
            <a:ext cx="8503920" cy="347472"/>
          </a:xfrm>
          <a:prstGeom prst="rect">
            <a:avLst/>
          </a:prstGeom>
          <a:noFill/>
          <a:ln/>
        </p:spPr>
        <p:txBody>
          <a:bodyPr wrap="square"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Shared Data  ·  Dataverse: Candidate, Resume, Job Application, Job Role, Evaluation Criteria</a:t>
            </a:r>
            <a:endParaRPr lang="en-US" sz="1050" dirty="0"/>
          </a:p>
        </p:txBody>
      </p:sp>
      <p:sp>
        <p:nvSpPr>
          <p:cNvPr id="29" name="Shape 27"/>
          <p:cNvSpPr/>
          <p:nvPr/>
        </p:nvSpPr>
        <p:spPr>
          <a:xfrm>
            <a:off x="256032" y="4663440"/>
            <a:ext cx="8631936" cy="320040"/>
          </a:xfrm>
          <a:prstGeom prst="rect">
            <a:avLst/>
          </a:prstGeom>
          <a:solidFill>
            <a:srgbClr val="EFF6FC"/>
          </a:solidFill>
          <a:ln w="12700">
            <a:solidFill>
              <a:srgbClr val="C7E0F4"/>
            </a:solidFill>
            <a:prstDash val="solid"/>
          </a:ln>
        </p:spPr>
      </p:sp>
      <p:sp>
        <p:nvSpPr>
          <p:cNvPr id="30" name="Text 28"/>
          <p:cNvSpPr/>
          <p:nvPr/>
        </p:nvSpPr>
        <p:spPr>
          <a:xfrm>
            <a:off x="402336" y="4663440"/>
            <a:ext cx="8485632" cy="320040"/>
          </a:xfrm>
          <a:prstGeom prst="rect">
            <a:avLst/>
          </a:prstGeom>
          <a:noFill/>
          <a:ln/>
        </p:spPr>
        <p:txBody>
          <a:bodyPr wrap="square" rtlCol="0" anchor="ctr"/>
          <a:lstStyle/>
          <a:p>
            <a:pPr indent="0" marL="0">
              <a:buNone/>
            </a:pPr>
            <a:r>
              <a:rPr lang="en-US" sz="1050" dirty="0">
                <a:solidFill>
                  <a:srgbClr val="0078D4"/>
                </a:solidFill>
                <a:latin typeface="Segoe UI" pitchFamily="34" charset="0"/>
                <a:ea typeface="Segoe UI" pitchFamily="34" charset="-122"/>
                <a:cs typeface="Segoe UI" pitchFamily="34" charset="-120"/>
              </a:rPr>
              <a:t>The Activity map is the operating view for debugging handoffs — confirm each agent call is visible before moving on.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78D4"/>
        </a:solidFill>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243A5E"/>
          </a:solidFill>
          <a:ln w="12700">
            <a:solidFill>
              <a:srgbClr val="243A5E"/>
            </a:solidFill>
            <a:prstDash val="solid"/>
          </a:ln>
        </p:spPr>
      </p:sp>
      <p:sp>
        <p:nvSpPr>
          <p:cNvPr id="3" name="Text 1"/>
          <p:cNvSpPr/>
          <p:nvPr/>
        </p:nvSpPr>
        <p:spPr>
          <a:xfrm>
            <a:off x="411480" y="365760"/>
            <a:ext cx="5212080" cy="384048"/>
          </a:xfrm>
          <a:prstGeom prst="rect">
            <a:avLst/>
          </a:prstGeom>
          <a:noFill/>
          <a:ln/>
        </p:spPr>
        <p:txBody>
          <a:bodyPr wrap="square" rtlCol="0" anchor="ctr"/>
          <a:lstStyle/>
          <a:p>
            <a:pPr indent="0" marL="0">
              <a:buNone/>
            </a:pPr>
            <a:r>
              <a:rPr lang="en-US" sz="1000" spc="500" kern="0" dirty="0">
                <a:solidFill>
                  <a:srgbClr val="50E6FF"/>
                </a:solidFill>
                <a:latin typeface="Segoe UI" pitchFamily="34" charset="0"/>
                <a:ea typeface="Segoe UI" pitchFamily="34" charset="-122"/>
                <a:cs typeface="Segoe UI" pitchFamily="34" charset="-120"/>
              </a:rPr>
              <a:t>LAB TIME</a:t>
            </a:r>
            <a:endParaRPr lang="en-US" sz="1000" dirty="0"/>
          </a:p>
        </p:txBody>
      </p:sp>
      <p:sp>
        <p:nvSpPr>
          <p:cNvPr id="4" name="Text 2"/>
          <p:cNvSpPr/>
          <p:nvPr/>
        </p:nvSpPr>
        <p:spPr>
          <a:xfrm>
            <a:off x="411480" y="841248"/>
            <a:ext cx="5212080" cy="1005840"/>
          </a:xfrm>
          <a:prstGeom prst="rect">
            <a:avLst/>
          </a:prstGeom>
          <a:noFill/>
          <a:ln/>
        </p:spPr>
        <p:txBody>
          <a:bodyPr wrap="square" rtlCol="0" anchor="ctr"/>
          <a:lstStyle/>
          <a:p>
            <a:pPr indent="0" marL="0">
              <a:buNone/>
            </a:pPr>
            <a:r>
              <a:rPr lang="en-US" sz="5800" b="1" dirty="0">
                <a:solidFill>
                  <a:srgbClr val="FFFFFF"/>
                </a:solidFill>
                <a:latin typeface="Segoe UI" pitchFamily="34" charset="0"/>
                <a:ea typeface="Segoe UI" pitchFamily="34" charset="-122"/>
                <a:cs typeface="Segoe UI" pitchFamily="34" charset="-120"/>
              </a:rPr>
              <a:t>Lab 13</a:t>
            </a:r>
            <a:endParaRPr lang="en-US" sz="5800" dirty="0"/>
          </a:p>
        </p:txBody>
      </p:sp>
      <p:sp>
        <p:nvSpPr>
          <p:cNvPr id="5" name="Text 3"/>
          <p:cNvSpPr/>
          <p:nvPr/>
        </p:nvSpPr>
        <p:spPr>
          <a:xfrm>
            <a:off x="411480" y="1828800"/>
            <a:ext cx="5212080" cy="502920"/>
          </a:xfrm>
          <a:prstGeom prst="rect">
            <a:avLst/>
          </a:prstGeom>
          <a:noFill/>
          <a:ln/>
        </p:spPr>
        <p:txBody>
          <a:bodyPr wrap="square" rtlCol="0" anchor="ctr"/>
          <a:lstStyle/>
          <a:p>
            <a:pPr indent="0" marL="0">
              <a:buNone/>
            </a:pPr>
            <a:r>
              <a:rPr lang="en-US" sz="2000" dirty="0">
                <a:solidFill>
                  <a:srgbClr val="50E6FF"/>
                </a:solidFill>
                <a:latin typeface="Segoe UI" pitchFamily="34" charset="0"/>
                <a:ea typeface="Segoe UI" pitchFamily="34" charset="-122"/>
                <a:cs typeface="Segoe UI" pitchFamily="34" charset="-120"/>
              </a:rPr>
              <a:t>Hiring Agent Setup</a:t>
            </a:r>
            <a:endParaRPr lang="en-US" sz="2000" dirty="0"/>
          </a:p>
        </p:txBody>
      </p:sp>
      <p:sp>
        <p:nvSpPr>
          <p:cNvPr id="6" name="Text 4"/>
          <p:cNvSpPr/>
          <p:nvPr/>
        </p:nvSpPr>
        <p:spPr>
          <a:xfrm>
            <a:off x="411480" y="2450592"/>
            <a:ext cx="5212080" cy="2377440"/>
          </a:xfrm>
          <a:prstGeom prst="rect">
            <a:avLst/>
          </a:prstGeom>
          <a:noFill/>
          <a:ln/>
        </p:spPr>
        <p:txBody>
          <a:bodyPr wrap="square" rtlCol="0" anchor="ctr"/>
          <a:lstStyle/>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Import Operative_1_0_0_0.zip solution — confirm 5 tables and Hiring Hub app</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Create sample candidate records (Jordan Lee, Casey Bennett) and one job application</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Import job-roles.csv and evaluation-criteria.csv into the Hiring Hub app</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Create Hiring Agent in the Operative solution using Advanced create</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Configure settings: Generative orchestration On, File uploads On, Web = Off, General knowledge = Off</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Validate: test session opens and all 5 Dataverse tables visible in Hiring Hub</a:t>
            </a:r>
            <a:endParaRPr lang="en-US" sz="1100" dirty="0"/>
          </a:p>
        </p:txBody>
      </p:sp>
      <p:sp>
        <p:nvSpPr>
          <p:cNvPr id="7" name="Text 5"/>
          <p:cNvSpPr/>
          <p:nvPr/>
        </p:nvSpPr>
        <p:spPr>
          <a:xfrm>
            <a:off x="5852160" y="1097280"/>
            <a:ext cx="3291840" cy="1463040"/>
          </a:xfrm>
          <a:prstGeom prst="rect">
            <a:avLst/>
          </a:prstGeom>
          <a:noFill/>
          <a:ln/>
        </p:spPr>
        <p:txBody>
          <a:bodyPr wrap="square"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45</a:t>
            </a:r>
            <a:endParaRPr lang="en-US" sz="8000" dirty="0"/>
          </a:p>
        </p:txBody>
      </p:sp>
      <p:sp>
        <p:nvSpPr>
          <p:cNvPr id="8" name="Text 6"/>
          <p:cNvSpPr/>
          <p:nvPr/>
        </p:nvSpPr>
        <p:spPr>
          <a:xfrm>
            <a:off x="5852160" y="2633472"/>
            <a:ext cx="3291840" cy="384048"/>
          </a:xfrm>
          <a:prstGeom prst="rect">
            <a:avLst/>
          </a:prstGeom>
          <a:noFill/>
          <a:ln/>
        </p:spPr>
        <p:txBody>
          <a:bodyPr wrap="square" rtlCol="0" anchor="ctr"/>
          <a:lstStyle/>
          <a:p>
            <a:pPr algn="ctr" indent="0" marL="0">
              <a:buNone/>
            </a:pPr>
            <a:r>
              <a:rPr lang="en-US" sz="1400" dirty="0">
                <a:solidFill>
                  <a:srgbClr val="50E6FF"/>
                </a:solidFill>
                <a:latin typeface="Segoe UI" pitchFamily="34" charset="0"/>
                <a:ea typeface="Segoe UI" pitchFamily="34" charset="-122"/>
                <a:cs typeface="Segoe UI" pitchFamily="34" charset="-120"/>
              </a:rPr>
              <a:t>minutes</a:t>
            </a:r>
            <a:endParaRPr lang="en-US" sz="1400" dirty="0"/>
          </a:p>
        </p:txBody>
      </p:sp>
      <p:sp>
        <p:nvSpPr>
          <p:cNvPr id="9" name="Text 7"/>
          <p:cNvSpPr/>
          <p:nvPr/>
        </p:nvSpPr>
        <p:spPr>
          <a:xfrm>
            <a:off x="5852160" y="3154680"/>
            <a:ext cx="3291840" cy="640080"/>
          </a:xfrm>
          <a:prstGeom prst="rect">
            <a:avLst/>
          </a:prstGeom>
          <a:noFill/>
          <a:ln/>
        </p:spPr>
        <p:txBody>
          <a:bodyPr wrap="square" rtlCol="0" anchor="ctr"/>
          <a:lstStyle/>
          <a:p>
            <a:pPr algn="ctr" indent="0" marL="0">
              <a:buNone/>
            </a:pPr>
            <a:r>
              <a:rPr lang="en-US" sz="900" dirty="0">
                <a:solidFill>
                  <a:srgbClr val="A0BEDD"/>
                </a:solidFill>
                <a:latin typeface="Segoe UI" pitchFamily="34" charset="0"/>
                <a:ea typeface="Segoe UI" pitchFamily="34" charset="-122"/>
                <a:cs typeface="Segoe UI" pitchFamily="34" charset="-120"/>
              </a:rPr>
              <a:t>Exact object names here —</a:t>
            </a:r>
            <a:endParaRPr lang="en-US" sz="900" dirty="0"/>
          </a:p>
          <a:p>
            <a:pPr algn="ctr" indent="0" marL="0">
              <a:buNone/>
            </a:pPr>
            <a:r>
              <a:rPr lang="en-US" sz="900" dirty="0">
                <a:solidFill>
                  <a:srgbClr val="A0BEDD"/>
                </a:solidFill>
                <a:latin typeface="Segoe UI" pitchFamily="34" charset="0"/>
                <a:ea typeface="Segoe UI" pitchFamily="34" charset="-122"/>
                <a:cs typeface="Segoe UI" pitchFamily="34" charset="-120"/>
              </a:rPr>
              <a:t>later labs depend on them</a:t>
            </a:r>
            <a:endParaRPr lang="en-US" sz="900" dirty="0"/>
          </a:p>
        </p:txBody>
      </p:sp>
      <p:sp>
        <p:nvSpPr>
          <p:cNvPr id="10" name="Text 8"/>
          <p:cNvSpPr/>
          <p:nvPr/>
        </p:nvSpPr>
        <p:spPr>
          <a:xfrm>
            <a:off x="5852160" y="4160520"/>
            <a:ext cx="3291840" cy="347472"/>
          </a:xfrm>
          <a:prstGeom prst="rect">
            <a:avLst/>
          </a:prstGeom>
          <a:noFill/>
          <a:ln/>
        </p:spPr>
        <p:txBody>
          <a:bodyPr wrap="square" rtlCol="0" anchor="ctr"/>
          <a:lstStyle/>
          <a:p>
            <a:pPr algn="ctr" indent="0" marL="0">
              <a:buNone/>
            </a:pPr>
            <a:r>
              <a:rPr lang="en-US" sz="900" dirty="0">
                <a:solidFill>
                  <a:srgbClr val="7BA7CC"/>
                </a:solidFill>
                <a:latin typeface="Segoe UI" pitchFamily="34" charset="0"/>
                <a:ea typeface="Segoe UI" pitchFamily="34" charset="-122"/>
                <a:cs typeface="Segoe UI" pitchFamily="34" charset="-120"/>
              </a:rPr>
              <a:t>Makers  ·  IT Pros  ·  Developers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07  ·  LAB 13 RECAP</a:t>
            </a:r>
            <a:endParaRPr lang="en-US" sz="900" dirty="0"/>
          </a:p>
        </p:txBody>
      </p:sp>
      <p:sp>
        <p:nvSpPr>
          <p:cNvPr id="4" name="Text 2"/>
          <p:cNvSpPr/>
          <p:nvPr/>
        </p:nvSpPr>
        <p:spPr>
          <a:xfrm>
            <a:off x="365760" y="749808"/>
            <a:ext cx="8412480" cy="530352"/>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Lab 13: Hiring Agent Setup</a:t>
            </a:r>
            <a:endParaRPr lang="en-US" sz="2800" dirty="0"/>
          </a:p>
        </p:txBody>
      </p:sp>
      <p:sp>
        <p:nvSpPr>
          <p:cNvPr id="5" name="Text 3"/>
          <p:cNvSpPr/>
          <p:nvPr/>
        </p:nvSpPr>
        <p:spPr>
          <a:xfrm>
            <a:off x="365760" y="132588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A stable baseline now prevents compounded confusion across every lab that follows.</a:t>
            </a:r>
            <a:endParaRPr lang="en-US" sz="1200" dirty="0"/>
          </a:p>
        </p:txBody>
      </p:sp>
      <p:sp>
        <p:nvSpPr>
          <p:cNvPr id="6" name="Shape 4"/>
          <p:cNvSpPr/>
          <p:nvPr/>
        </p:nvSpPr>
        <p:spPr>
          <a:xfrm>
            <a:off x="320040" y="1801368"/>
            <a:ext cx="8503920" cy="384048"/>
          </a:xfrm>
          <a:prstGeom prst="rect">
            <a:avLst/>
          </a:prstGeom>
          <a:solidFill>
            <a:srgbClr val="F3F2F1"/>
          </a:solidFill>
          <a:ln w="12700">
            <a:solidFill>
              <a:srgbClr val="E1DFDD"/>
            </a:solidFill>
            <a:prstDash val="solid"/>
          </a:ln>
        </p:spPr>
      </p:sp>
      <p:sp>
        <p:nvSpPr>
          <p:cNvPr id="7" name="Shape 5"/>
          <p:cNvSpPr/>
          <p:nvPr/>
        </p:nvSpPr>
        <p:spPr>
          <a:xfrm>
            <a:off x="457200" y="1865376"/>
            <a:ext cx="822960" cy="237744"/>
          </a:xfrm>
          <a:prstGeom prst="rect">
            <a:avLst/>
          </a:prstGeom>
          <a:solidFill>
            <a:srgbClr val="0078D4"/>
          </a:solidFill>
          <a:ln w="12700">
            <a:solidFill>
              <a:srgbClr val="0078D4"/>
            </a:solidFill>
            <a:prstDash val="solid"/>
          </a:ln>
        </p:spPr>
      </p:sp>
      <p:sp>
        <p:nvSpPr>
          <p:cNvPr id="8" name="Text 6"/>
          <p:cNvSpPr/>
          <p:nvPr/>
        </p:nvSpPr>
        <p:spPr>
          <a:xfrm>
            <a:off x="457200" y="1865376"/>
            <a:ext cx="82296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Solution</a:t>
            </a:r>
            <a:endParaRPr lang="en-US" sz="800" dirty="0"/>
          </a:p>
        </p:txBody>
      </p:sp>
      <p:sp>
        <p:nvSpPr>
          <p:cNvPr id="9" name="Text 7"/>
          <p:cNvSpPr/>
          <p:nvPr/>
        </p:nvSpPr>
        <p:spPr>
          <a:xfrm>
            <a:off x="1389888" y="1865376"/>
            <a:ext cx="7315200" cy="237744"/>
          </a:xfrm>
          <a:prstGeom prst="rect">
            <a:avLst/>
          </a:prstGeom>
          <a:noFill/>
          <a:ln/>
        </p:spPr>
        <p:txBody>
          <a:bodyPr wrap="square" lIns="0" tIns="0" rIns="0" bIns="0" rtlCol="0" anchor="ctr"/>
          <a:lstStyle/>
          <a:p>
            <a:pPr indent="0" marL="0">
              <a:buNone/>
            </a:pPr>
            <a:r>
              <a:rPr lang="en-US" sz="1000" dirty="0">
                <a:solidFill>
                  <a:srgbClr val="201F1E"/>
                </a:solidFill>
                <a:latin typeface="Segoe UI" pitchFamily="34" charset="0"/>
                <a:ea typeface="Segoe UI" pitchFamily="34" charset="-122"/>
                <a:cs typeface="Segoe UI" pitchFamily="34" charset="-120"/>
              </a:rPr>
              <a:t>Operative solution imported — Job Roles, Evaluation Criteria, Candidate, Resume, Job Application tables present</a:t>
            </a:r>
            <a:endParaRPr lang="en-US" sz="1000" dirty="0"/>
          </a:p>
        </p:txBody>
      </p:sp>
      <p:sp>
        <p:nvSpPr>
          <p:cNvPr id="10" name="Shape 8"/>
          <p:cNvSpPr/>
          <p:nvPr/>
        </p:nvSpPr>
        <p:spPr>
          <a:xfrm>
            <a:off x="320040" y="2203704"/>
            <a:ext cx="8503920" cy="384048"/>
          </a:xfrm>
          <a:prstGeom prst="rect">
            <a:avLst/>
          </a:prstGeom>
          <a:solidFill>
            <a:srgbClr val="FFFFFF"/>
          </a:solidFill>
          <a:ln w="12700">
            <a:solidFill>
              <a:srgbClr val="E1DFDD"/>
            </a:solidFill>
            <a:prstDash val="solid"/>
          </a:ln>
        </p:spPr>
      </p:sp>
      <p:sp>
        <p:nvSpPr>
          <p:cNvPr id="11" name="Shape 9"/>
          <p:cNvSpPr/>
          <p:nvPr/>
        </p:nvSpPr>
        <p:spPr>
          <a:xfrm>
            <a:off x="457200" y="2267712"/>
            <a:ext cx="822960" cy="237744"/>
          </a:xfrm>
          <a:prstGeom prst="rect">
            <a:avLst/>
          </a:prstGeom>
          <a:solidFill>
            <a:srgbClr val="00B294"/>
          </a:solidFill>
          <a:ln w="12700">
            <a:solidFill>
              <a:srgbClr val="00B294"/>
            </a:solidFill>
            <a:prstDash val="solid"/>
          </a:ln>
        </p:spPr>
      </p:sp>
      <p:sp>
        <p:nvSpPr>
          <p:cNvPr id="12" name="Text 10"/>
          <p:cNvSpPr/>
          <p:nvPr/>
        </p:nvSpPr>
        <p:spPr>
          <a:xfrm>
            <a:off x="457200" y="2267712"/>
            <a:ext cx="82296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App</a:t>
            </a:r>
            <a:endParaRPr lang="en-US" sz="800" dirty="0"/>
          </a:p>
        </p:txBody>
      </p:sp>
      <p:sp>
        <p:nvSpPr>
          <p:cNvPr id="13" name="Text 11"/>
          <p:cNvSpPr/>
          <p:nvPr/>
        </p:nvSpPr>
        <p:spPr>
          <a:xfrm>
            <a:off x="1389888" y="2267712"/>
            <a:ext cx="7315200" cy="237744"/>
          </a:xfrm>
          <a:prstGeom prst="rect">
            <a:avLst/>
          </a:prstGeom>
          <a:noFill/>
          <a:ln/>
        </p:spPr>
        <p:txBody>
          <a:bodyPr wrap="square" lIns="0" tIns="0" rIns="0" bIns="0" rtlCol="0" anchor="ctr"/>
          <a:lstStyle/>
          <a:p>
            <a:pPr indent="0" marL="0">
              <a:buNone/>
            </a:pPr>
            <a:r>
              <a:rPr lang="en-US" sz="1000" dirty="0">
                <a:solidFill>
                  <a:srgbClr val="201F1E"/>
                </a:solidFill>
                <a:latin typeface="Segoe UI" pitchFamily="34" charset="0"/>
                <a:ea typeface="Segoe UI" pitchFamily="34" charset="-122"/>
                <a:cs typeface="Segoe UI" pitchFamily="34" charset="-120"/>
              </a:rPr>
              <a:t>Hiring Hub model-driven app opens with Job Roles and Evaluation Criteria in the navigation</a:t>
            </a:r>
            <a:endParaRPr lang="en-US" sz="1000" dirty="0"/>
          </a:p>
        </p:txBody>
      </p:sp>
      <p:sp>
        <p:nvSpPr>
          <p:cNvPr id="14" name="Shape 12"/>
          <p:cNvSpPr/>
          <p:nvPr/>
        </p:nvSpPr>
        <p:spPr>
          <a:xfrm>
            <a:off x="320040" y="2606040"/>
            <a:ext cx="8503920" cy="384048"/>
          </a:xfrm>
          <a:prstGeom prst="rect">
            <a:avLst/>
          </a:prstGeom>
          <a:solidFill>
            <a:srgbClr val="F3F2F1"/>
          </a:solidFill>
          <a:ln w="12700">
            <a:solidFill>
              <a:srgbClr val="E1DFDD"/>
            </a:solidFill>
            <a:prstDash val="solid"/>
          </a:ln>
        </p:spPr>
      </p:sp>
      <p:sp>
        <p:nvSpPr>
          <p:cNvPr id="15" name="Shape 13"/>
          <p:cNvSpPr/>
          <p:nvPr/>
        </p:nvSpPr>
        <p:spPr>
          <a:xfrm>
            <a:off x="457200" y="2670048"/>
            <a:ext cx="822960" cy="237744"/>
          </a:xfrm>
          <a:prstGeom prst="rect">
            <a:avLst/>
          </a:prstGeom>
          <a:solidFill>
            <a:srgbClr val="5C2D91"/>
          </a:solidFill>
          <a:ln w="12700">
            <a:solidFill>
              <a:srgbClr val="5C2D91"/>
            </a:solidFill>
            <a:prstDash val="solid"/>
          </a:ln>
        </p:spPr>
      </p:sp>
      <p:sp>
        <p:nvSpPr>
          <p:cNvPr id="16" name="Text 14"/>
          <p:cNvSpPr/>
          <p:nvPr/>
        </p:nvSpPr>
        <p:spPr>
          <a:xfrm>
            <a:off x="457200" y="2670048"/>
            <a:ext cx="82296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Data</a:t>
            </a:r>
            <a:endParaRPr lang="en-US" sz="800" dirty="0"/>
          </a:p>
        </p:txBody>
      </p:sp>
      <p:sp>
        <p:nvSpPr>
          <p:cNvPr id="17" name="Text 15"/>
          <p:cNvSpPr/>
          <p:nvPr/>
        </p:nvSpPr>
        <p:spPr>
          <a:xfrm>
            <a:off x="1389888" y="2670048"/>
            <a:ext cx="7315200" cy="237744"/>
          </a:xfrm>
          <a:prstGeom prst="rect">
            <a:avLst/>
          </a:prstGeom>
          <a:noFill/>
          <a:ln/>
        </p:spPr>
        <p:txBody>
          <a:bodyPr wrap="square" lIns="0" tIns="0" rIns="0" bIns="0" rtlCol="0" anchor="ctr"/>
          <a:lstStyle/>
          <a:p>
            <a:pPr indent="0" marL="0">
              <a:buNone/>
            </a:pPr>
            <a:r>
              <a:rPr lang="en-US" sz="1000" dirty="0">
                <a:solidFill>
                  <a:srgbClr val="201F1E"/>
                </a:solidFill>
                <a:latin typeface="Segoe UI" pitchFamily="34" charset="0"/>
                <a:ea typeface="Segoe UI" pitchFamily="34" charset="-122"/>
                <a:cs typeface="Segoe UI" pitchFamily="34" charset="-120"/>
              </a:rPr>
              <a:t>Job Roles view shows imported records from job-roles.csv</a:t>
            </a:r>
            <a:endParaRPr lang="en-US" sz="1000" dirty="0"/>
          </a:p>
        </p:txBody>
      </p:sp>
      <p:sp>
        <p:nvSpPr>
          <p:cNvPr id="18" name="Shape 16"/>
          <p:cNvSpPr/>
          <p:nvPr/>
        </p:nvSpPr>
        <p:spPr>
          <a:xfrm>
            <a:off x="320040" y="3008376"/>
            <a:ext cx="8503920" cy="384048"/>
          </a:xfrm>
          <a:prstGeom prst="rect">
            <a:avLst/>
          </a:prstGeom>
          <a:solidFill>
            <a:srgbClr val="FFFFFF"/>
          </a:solidFill>
          <a:ln w="12700">
            <a:solidFill>
              <a:srgbClr val="E1DFDD"/>
            </a:solidFill>
            <a:prstDash val="solid"/>
          </a:ln>
        </p:spPr>
      </p:sp>
      <p:sp>
        <p:nvSpPr>
          <p:cNvPr id="19" name="Shape 17"/>
          <p:cNvSpPr/>
          <p:nvPr/>
        </p:nvSpPr>
        <p:spPr>
          <a:xfrm>
            <a:off x="457200" y="3072384"/>
            <a:ext cx="822960" cy="237744"/>
          </a:xfrm>
          <a:prstGeom prst="rect">
            <a:avLst/>
          </a:prstGeom>
          <a:solidFill>
            <a:srgbClr val="D47900"/>
          </a:solidFill>
          <a:ln w="12700">
            <a:solidFill>
              <a:srgbClr val="D47900"/>
            </a:solidFill>
            <a:prstDash val="solid"/>
          </a:ln>
        </p:spPr>
      </p:sp>
      <p:sp>
        <p:nvSpPr>
          <p:cNvPr id="20" name="Text 18"/>
          <p:cNvSpPr/>
          <p:nvPr/>
        </p:nvSpPr>
        <p:spPr>
          <a:xfrm>
            <a:off x="457200" y="3072384"/>
            <a:ext cx="82296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Criteria</a:t>
            </a:r>
            <a:endParaRPr lang="en-US" sz="800" dirty="0"/>
          </a:p>
        </p:txBody>
      </p:sp>
      <p:sp>
        <p:nvSpPr>
          <p:cNvPr id="21" name="Text 19"/>
          <p:cNvSpPr/>
          <p:nvPr/>
        </p:nvSpPr>
        <p:spPr>
          <a:xfrm>
            <a:off x="1389888" y="3072384"/>
            <a:ext cx="7315200" cy="237744"/>
          </a:xfrm>
          <a:prstGeom prst="rect">
            <a:avLst/>
          </a:prstGeom>
          <a:noFill/>
          <a:ln/>
        </p:spPr>
        <p:txBody>
          <a:bodyPr wrap="square" lIns="0" tIns="0" rIns="0" bIns="0" rtlCol="0" anchor="ctr"/>
          <a:lstStyle/>
          <a:p>
            <a:pPr indent="0" marL="0">
              <a:buNone/>
            </a:pPr>
            <a:r>
              <a:rPr lang="en-US" sz="1000" dirty="0">
                <a:solidFill>
                  <a:srgbClr val="201F1E"/>
                </a:solidFill>
                <a:latin typeface="Segoe UI" pitchFamily="34" charset="0"/>
                <a:ea typeface="Segoe UI" pitchFamily="34" charset="-122"/>
                <a:cs typeface="Segoe UI" pitchFamily="34" charset="-120"/>
              </a:rPr>
              <a:t>Evaluation Criteria view shows records with correct Job Role lookup relationships</a:t>
            </a:r>
            <a:endParaRPr lang="en-US" sz="1000" dirty="0"/>
          </a:p>
        </p:txBody>
      </p:sp>
      <p:sp>
        <p:nvSpPr>
          <p:cNvPr id="22" name="Shape 20"/>
          <p:cNvSpPr/>
          <p:nvPr/>
        </p:nvSpPr>
        <p:spPr>
          <a:xfrm>
            <a:off x="320040" y="3410712"/>
            <a:ext cx="8503920" cy="384048"/>
          </a:xfrm>
          <a:prstGeom prst="rect">
            <a:avLst/>
          </a:prstGeom>
          <a:solidFill>
            <a:srgbClr val="F3F2F1"/>
          </a:solidFill>
          <a:ln w="12700">
            <a:solidFill>
              <a:srgbClr val="E1DFDD"/>
            </a:solidFill>
            <a:prstDash val="solid"/>
          </a:ln>
        </p:spPr>
      </p:sp>
      <p:sp>
        <p:nvSpPr>
          <p:cNvPr id="23" name="Shape 21"/>
          <p:cNvSpPr/>
          <p:nvPr/>
        </p:nvSpPr>
        <p:spPr>
          <a:xfrm>
            <a:off x="457200" y="3474720"/>
            <a:ext cx="822960" cy="237744"/>
          </a:xfrm>
          <a:prstGeom prst="rect">
            <a:avLst/>
          </a:prstGeom>
          <a:solidFill>
            <a:srgbClr val="107C10"/>
          </a:solidFill>
          <a:ln w="12700">
            <a:solidFill>
              <a:srgbClr val="107C10"/>
            </a:solidFill>
            <a:prstDash val="solid"/>
          </a:ln>
        </p:spPr>
      </p:sp>
      <p:sp>
        <p:nvSpPr>
          <p:cNvPr id="24" name="Text 22"/>
          <p:cNvSpPr/>
          <p:nvPr/>
        </p:nvSpPr>
        <p:spPr>
          <a:xfrm>
            <a:off x="457200" y="3474720"/>
            <a:ext cx="82296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Agent</a:t>
            </a:r>
            <a:endParaRPr lang="en-US" sz="800" dirty="0"/>
          </a:p>
        </p:txBody>
      </p:sp>
      <p:sp>
        <p:nvSpPr>
          <p:cNvPr id="25" name="Text 23"/>
          <p:cNvSpPr/>
          <p:nvPr/>
        </p:nvSpPr>
        <p:spPr>
          <a:xfrm>
            <a:off x="1389888" y="3474720"/>
            <a:ext cx="7315200" cy="237744"/>
          </a:xfrm>
          <a:prstGeom prst="rect">
            <a:avLst/>
          </a:prstGeom>
          <a:noFill/>
          <a:ln/>
        </p:spPr>
        <p:txBody>
          <a:bodyPr wrap="square" lIns="0" tIns="0" rIns="0" bIns="0" rtlCol="0" anchor="ctr"/>
          <a:lstStyle/>
          <a:p>
            <a:pPr indent="0" marL="0">
              <a:buNone/>
            </a:pPr>
            <a:r>
              <a:rPr lang="en-US" sz="1000" dirty="0">
                <a:solidFill>
                  <a:srgbClr val="201F1E"/>
                </a:solidFill>
                <a:latin typeface="Segoe UI" pitchFamily="34" charset="0"/>
                <a:ea typeface="Segoe UI" pitchFamily="34" charset="-122"/>
                <a:cs typeface="Segoe UI" pitchFamily="34" charset="-120"/>
              </a:rPr>
              <a:t>Hiring Agent created in Operative solution with description 'Central orchestrator for the Contoso hiring process'</a:t>
            </a:r>
            <a:endParaRPr lang="en-US" sz="1000" dirty="0"/>
          </a:p>
        </p:txBody>
      </p:sp>
      <p:sp>
        <p:nvSpPr>
          <p:cNvPr id="26" name="Shape 24"/>
          <p:cNvSpPr/>
          <p:nvPr/>
        </p:nvSpPr>
        <p:spPr>
          <a:xfrm>
            <a:off x="320040" y="3813048"/>
            <a:ext cx="8503920" cy="384048"/>
          </a:xfrm>
          <a:prstGeom prst="rect">
            <a:avLst/>
          </a:prstGeom>
          <a:solidFill>
            <a:srgbClr val="FFFFFF"/>
          </a:solidFill>
          <a:ln w="12700">
            <a:solidFill>
              <a:srgbClr val="E1DFDD"/>
            </a:solidFill>
            <a:prstDash val="solid"/>
          </a:ln>
        </p:spPr>
      </p:sp>
      <p:sp>
        <p:nvSpPr>
          <p:cNvPr id="27" name="Shape 25"/>
          <p:cNvSpPr/>
          <p:nvPr/>
        </p:nvSpPr>
        <p:spPr>
          <a:xfrm>
            <a:off x="457200" y="3877056"/>
            <a:ext cx="822960" cy="237744"/>
          </a:xfrm>
          <a:prstGeom prst="rect">
            <a:avLst/>
          </a:prstGeom>
          <a:solidFill>
            <a:srgbClr val="D83B01"/>
          </a:solidFill>
          <a:ln w="12700">
            <a:solidFill>
              <a:srgbClr val="D83B01"/>
            </a:solidFill>
            <a:prstDash val="solid"/>
          </a:ln>
        </p:spPr>
      </p:sp>
      <p:sp>
        <p:nvSpPr>
          <p:cNvPr id="28" name="Text 26"/>
          <p:cNvSpPr/>
          <p:nvPr/>
        </p:nvSpPr>
        <p:spPr>
          <a:xfrm>
            <a:off x="457200" y="3877056"/>
            <a:ext cx="82296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Settings</a:t>
            </a:r>
            <a:endParaRPr lang="en-US" sz="800" dirty="0"/>
          </a:p>
        </p:txBody>
      </p:sp>
      <p:sp>
        <p:nvSpPr>
          <p:cNvPr id="29" name="Text 27"/>
          <p:cNvSpPr/>
          <p:nvPr/>
        </p:nvSpPr>
        <p:spPr>
          <a:xfrm>
            <a:off x="1389888" y="3877056"/>
            <a:ext cx="7315200" cy="237744"/>
          </a:xfrm>
          <a:prstGeom prst="rect">
            <a:avLst/>
          </a:prstGeom>
          <a:noFill/>
          <a:ln/>
        </p:spPr>
        <p:txBody>
          <a:bodyPr wrap="square" lIns="0" tIns="0" rIns="0" bIns="0" rtlCol="0" anchor="ctr"/>
          <a:lstStyle/>
          <a:p>
            <a:pPr indent="0" marL="0">
              <a:buNone/>
            </a:pPr>
            <a:r>
              <a:rPr lang="en-US" sz="1000" dirty="0">
                <a:solidFill>
                  <a:srgbClr val="201F1E"/>
                </a:solidFill>
                <a:latin typeface="Segoe UI" pitchFamily="34" charset="0"/>
                <a:ea typeface="Segoe UI" pitchFamily="34" charset="-122"/>
                <a:cs typeface="Segoe UI" pitchFamily="34" charset="-120"/>
              </a:rPr>
              <a:t>Settings confirm: Generative orchestration On, File uploads On, Web = Off, General knowledge = Off</a:t>
            </a:r>
            <a:endParaRPr lang="en-US" sz="1000" dirty="0"/>
          </a:p>
        </p:txBody>
      </p:sp>
      <p:sp>
        <p:nvSpPr>
          <p:cNvPr id="30" name="Shape 28"/>
          <p:cNvSpPr/>
          <p:nvPr/>
        </p:nvSpPr>
        <p:spPr>
          <a:xfrm>
            <a:off x="320040" y="4215384"/>
            <a:ext cx="8503920" cy="384048"/>
          </a:xfrm>
          <a:prstGeom prst="rect">
            <a:avLst/>
          </a:prstGeom>
          <a:solidFill>
            <a:srgbClr val="F3F2F1"/>
          </a:solidFill>
          <a:ln w="12700">
            <a:solidFill>
              <a:srgbClr val="E1DFDD"/>
            </a:solidFill>
            <a:prstDash val="solid"/>
          </a:ln>
        </p:spPr>
      </p:sp>
      <p:sp>
        <p:nvSpPr>
          <p:cNvPr id="31" name="Shape 29"/>
          <p:cNvSpPr/>
          <p:nvPr/>
        </p:nvSpPr>
        <p:spPr>
          <a:xfrm>
            <a:off x="457200" y="4279392"/>
            <a:ext cx="822960" cy="237744"/>
          </a:xfrm>
          <a:prstGeom prst="rect">
            <a:avLst/>
          </a:prstGeom>
          <a:solidFill>
            <a:srgbClr val="243A5E"/>
          </a:solidFill>
          <a:ln w="12700">
            <a:solidFill>
              <a:srgbClr val="243A5E"/>
            </a:solidFill>
            <a:prstDash val="solid"/>
          </a:ln>
        </p:spPr>
      </p:sp>
      <p:sp>
        <p:nvSpPr>
          <p:cNvPr id="32" name="Text 30"/>
          <p:cNvSpPr/>
          <p:nvPr/>
        </p:nvSpPr>
        <p:spPr>
          <a:xfrm>
            <a:off x="457200" y="4279392"/>
            <a:ext cx="82296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Test</a:t>
            </a:r>
            <a:endParaRPr lang="en-US" sz="800" dirty="0"/>
          </a:p>
        </p:txBody>
      </p:sp>
      <p:sp>
        <p:nvSpPr>
          <p:cNvPr id="33" name="Text 31"/>
          <p:cNvSpPr/>
          <p:nvPr/>
        </p:nvSpPr>
        <p:spPr>
          <a:xfrm>
            <a:off x="1389888" y="4279392"/>
            <a:ext cx="7315200" cy="237744"/>
          </a:xfrm>
          <a:prstGeom prst="rect">
            <a:avLst/>
          </a:prstGeom>
          <a:noFill/>
          <a:ln/>
        </p:spPr>
        <p:txBody>
          <a:bodyPr wrap="square" lIns="0" tIns="0" rIns="0" bIns="0" rtlCol="0" anchor="ctr"/>
          <a:lstStyle/>
          <a:p>
            <a:pPr indent="0" marL="0">
              <a:buNone/>
            </a:pPr>
            <a:r>
              <a:rPr lang="en-US" sz="1000" dirty="0">
                <a:solidFill>
                  <a:srgbClr val="201F1E"/>
                </a:solidFill>
                <a:latin typeface="Segoe UI" pitchFamily="34" charset="0"/>
                <a:ea typeface="Segoe UI" pitchFamily="34" charset="-122"/>
                <a:cs typeface="Segoe UI" pitchFamily="34" charset="-120"/>
              </a:rPr>
              <a:t>New test session opens for Hiring Agent without errors — baseline is ready for Lab 14</a:t>
            </a:r>
            <a:endParaRPr lang="en-US" sz="1000" dirty="0"/>
          </a:p>
        </p:txBody>
      </p:sp>
      <p:sp>
        <p:nvSpPr>
          <p:cNvPr id="34" name="Shape 32"/>
          <p:cNvSpPr/>
          <p:nvPr/>
        </p:nvSpPr>
        <p:spPr>
          <a:xfrm>
            <a:off x="320040" y="4663440"/>
            <a:ext cx="8503920" cy="347472"/>
          </a:xfrm>
          <a:prstGeom prst="rect">
            <a:avLst/>
          </a:prstGeom>
          <a:solidFill>
            <a:srgbClr val="EFF6FC"/>
          </a:solidFill>
          <a:ln w="12700">
            <a:solidFill>
              <a:srgbClr val="C7E0F4"/>
            </a:solidFill>
            <a:prstDash val="solid"/>
          </a:ln>
        </p:spPr>
      </p:sp>
      <p:sp>
        <p:nvSpPr>
          <p:cNvPr id="35" name="Text 33"/>
          <p:cNvSpPr/>
          <p:nvPr/>
        </p:nvSpPr>
        <p:spPr>
          <a:xfrm>
            <a:off x="475488" y="4663440"/>
            <a:ext cx="8321040" cy="347472"/>
          </a:xfrm>
          <a:prstGeom prst="rect">
            <a:avLst/>
          </a:prstGeom>
          <a:noFill/>
          <a:ln/>
        </p:spPr>
        <p:txBody>
          <a:bodyPr wrap="square" rtlCol="0" anchor="ctr"/>
          <a:lstStyle/>
          <a:p>
            <a:pPr indent="0" marL="0">
              <a:buNone/>
            </a:pPr>
            <a:r>
              <a:rPr lang="en-US" sz="1050" dirty="0">
                <a:solidFill>
                  <a:srgbClr val="0078D4"/>
                </a:solidFill>
                <a:latin typeface="Segoe UI" pitchFamily="34" charset="0"/>
                <a:ea typeface="Segoe UI" pitchFamily="34" charset="-122"/>
                <a:cs typeface="Segoe UI" pitchFamily="34" charset="-120"/>
              </a:rPr>
              <a:t>Tip: Sample candidate records created here are required by Lab 21 (Document Generation) and Lab 24 (Evaluation).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78D4"/>
        </a:solidFill>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243A5E"/>
          </a:solidFill>
          <a:ln w="12700">
            <a:solidFill>
              <a:srgbClr val="243A5E"/>
            </a:solidFill>
            <a:prstDash val="solid"/>
          </a:ln>
        </p:spPr>
      </p:sp>
      <p:sp>
        <p:nvSpPr>
          <p:cNvPr id="3" name="Text 1"/>
          <p:cNvSpPr/>
          <p:nvPr/>
        </p:nvSpPr>
        <p:spPr>
          <a:xfrm>
            <a:off x="411480" y="365760"/>
            <a:ext cx="5212080" cy="384048"/>
          </a:xfrm>
          <a:prstGeom prst="rect">
            <a:avLst/>
          </a:prstGeom>
          <a:noFill/>
          <a:ln/>
        </p:spPr>
        <p:txBody>
          <a:bodyPr wrap="square" rtlCol="0" anchor="ctr"/>
          <a:lstStyle/>
          <a:p>
            <a:pPr indent="0" marL="0">
              <a:buNone/>
            </a:pPr>
            <a:r>
              <a:rPr lang="en-US" sz="1000" spc="500" kern="0" dirty="0">
                <a:solidFill>
                  <a:srgbClr val="50E6FF"/>
                </a:solidFill>
                <a:latin typeface="Segoe UI" pitchFamily="34" charset="0"/>
                <a:ea typeface="Segoe UI" pitchFamily="34" charset="-122"/>
                <a:cs typeface="Segoe UI" pitchFamily="34" charset="-120"/>
              </a:rPr>
              <a:t>LAB TIME</a:t>
            </a:r>
            <a:endParaRPr lang="en-US" sz="1000" dirty="0"/>
          </a:p>
        </p:txBody>
      </p:sp>
      <p:sp>
        <p:nvSpPr>
          <p:cNvPr id="4" name="Text 2"/>
          <p:cNvSpPr/>
          <p:nvPr/>
        </p:nvSpPr>
        <p:spPr>
          <a:xfrm>
            <a:off x="411480" y="841248"/>
            <a:ext cx="5212080" cy="1005840"/>
          </a:xfrm>
          <a:prstGeom prst="rect">
            <a:avLst/>
          </a:prstGeom>
          <a:noFill/>
          <a:ln/>
        </p:spPr>
        <p:txBody>
          <a:bodyPr wrap="square" rtlCol="0" anchor="ctr"/>
          <a:lstStyle/>
          <a:p>
            <a:pPr indent="0" marL="0">
              <a:buNone/>
            </a:pPr>
            <a:r>
              <a:rPr lang="en-US" sz="5800" b="1" dirty="0">
                <a:solidFill>
                  <a:srgbClr val="FFFFFF"/>
                </a:solidFill>
                <a:latin typeface="Segoe UI" pitchFamily="34" charset="0"/>
                <a:ea typeface="Segoe UI" pitchFamily="34" charset="-122"/>
                <a:cs typeface="Segoe UI" pitchFamily="34" charset="-120"/>
              </a:rPr>
              <a:t>Lab 14</a:t>
            </a:r>
            <a:endParaRPr lang="en-US" sz="5800" dirty="0"/>
          </a:p>
        </p:txBody>
      </p:sp>
      <p:sp>
        <p:nvSpPr>
          <p:cNvPr id="5" name="Text 3"/>
          <p:cNvSpPr/>
          <p:nvPr/>
        </p:nvSpPr>
        <p:spPr>
          <a:xfrm>
            <a:off x="411480" y="1828800"/>
            <a:ext cx="5212080" cy="502920"/>
          </a:xfrm>
          <a:prstGeom prst="rect">
            <a:avLst/>
          </a:prstGeom>
          <a:noFill/>
          <a:ln/>
        </p:spPr>
        <p:txBody>
          <a:bodyPr wrap="square" rtlCol="0" anchor="ctr"/>
          <a:lstStyle/>
          <a:p>
            <a:pPr indent="0" marL="0">
              <a:buNone/>
            </a:pPr>
            <a:r>
              <a:rPr lang="en-US" sz="2000" dirty="0">
                <a:solidFill>
                  <a:srgbClr val="50E6FF"/>
                </a:solidFill>
                <a:latin typeface="Segoe UI" pitchFamily="34" charset="0"/>
                <a:ea typeface="Segoe UI" pitchFamily="34" charset="-122"/>
                <a:cs typeface="Segoe UI" pitchFamily="34" charset="-120"/>
              </a:rPr>
              <a:t>Agent Instructions</a:t>
            </a:r>
            <a:endParaRPr lang="en-US" sz="2000" dirty="0"/>
          </a:p>
        </p:txBody>
      </p:sp>
      <p:sp>
        <p:nvSpPr>
          <p:cNvPr id="6" name="Text 4"/>
          <p:cNvSpPr/>
          <p:nvPr/>
        </p:nvSpPr>
        <p:spPr>
          <a:xfrm>
            <a:off x="411480" y="2450592"/>
            <a:ext cx="5212080" cy="2377440"/>
          </a:xfrm>
          <a:prstGeom prst="rect">
            <a:avLst/>
          </a:prstGeom>
          <a:noFill/>
          <a:ln/>
        </p:spPr>
        <p:txBody>
          <a:bodyPr wrap="square" rtlCol="0" anchor="ctr"/>
          <a:lstStyle/>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Open the Hiring Agent Instructions editor and review the current state</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Read all three instruction styles: Restrictive, Balanced, and Open</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Apply the Balanced instruction set plus the 'next recommended action' line</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Test: in-scope query stays in hiring domain with a useful next action</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Test: ambiguous query triggers a clarifying question; out-of-scope is redirected</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Briefly swap to Restrictive to compare outputs, then restore Balanced before Lab 15</a:t>
            </a:r>
            <a:endParaRPr lang="en-US" sz="1100" dirty="0"/>
          </a:p>
        </p:txBody>
      </p:sp>
      <p:sp>
        <p:nvSpPr>
          <p:cNvPr id="7" name="Text 5"/>
          <p:cNvSpPr/>
          <p:nvPr/>
        </p:nvSpPr>
        <p:spPr>
          <a:xfrm>
            <a:off x="5852160" y="1097280"/>
            <a:ext cx="3291840" cy="1463040"/>
          </a:xfrm>
          <a:prstGeom prst="rect">
            <a:avLst/>
          </a:prstGeom>
          <a:noFill/>
          <a:ln/>
        </p:spPr>
        <p:txBody>
          <a:bodyPr wrap="square"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25</a:t>
            </a:r>
            <a:endParaRPr lang="en-US" sz="8000" dirty="0"/>
          </a:p>
        </p:txBody>
      </p:sp>
      <p:sp>
        <p:nvSpPr>
          <p:cNvPr id="8" name="Text 6"/>
          <p:cNvSpPr/>
          <p:nvPr/>
        </p:nvSpPr>
        <p:spPr>
          <a:xfrm>
            <a:off x="5852160" y="2633472"/>
            <a:ext cx="3291840" cy="384048"/>
          </a:xfrm>
          <a:prstGeom prst="rect">
            <a:avLst/>
          </a:prstGeom>
          <a:noFill/>
          <a:ln/>
        </p:spPr>
        <p:txBody>
          <a:bodyPr wrap="square" rtlCol="0" anchor="ctr"/>
          <a:lstStyle/>
          <a:p>
            <a:pPr algn="ctr" indent="0" marL="0">
              <a:buNone/>
            </a:pPr>
            <a:r>
              <a:rPr lang="en-US" sz="1400" dirty="0">
                <a:solidFill>
                  <a:srgbClr val="50E6FF"/>
                </a:solidFill>
                <a:latin typeface="Segoe UI" pitchFamily="34" charset="0"/>
                <a:ea typeface="Segoe UI" pitchFamily="34" charset="-122"/>
                <a:cs typeface="Segoe UI" pitchFamily="34" charset="-120"/>
              </a:rPr>
              <a:t>minutes</a:t>
            </a:r>
            <a:endParaRPr lang="en-US" sz="1400" dirty="0"/>
          </a:p>
        </p:txBody>
      </p:sp>
      <p:sp>
        <p:nvSpPr>
          <p:cNvPr id="9" name="Text 7"/>
          <p:cNvSpPr/>
          <p:nvPr/>
        </p:nvSpPr>
        <p:spPr>
          <a:xfrm>
            <a:off x="5852160" y="3154680"/>
            <a:ext cx="3291840" cy="640080"/>
          </a:xfrm>
          <a:prstGeom prst="rect">
            <a:avLst/>
          </a:prstGeom>
          <a:noFill/>
          <a:ln/>
        </p:spPr>
        <p:txBody>
          <a:bodyPr wrap="square" rtlCol="0" anchor="ctr"/>
          <a:lstStyle/>
          <a:p>
            <a:pPr algn="ctr" indent="0" marL="0">
              <a:buNone/>
            </a:pPr>
            <a:r>
              <a:rPr lang="en-US" sz="900" dirty="0">
                <a:solidFill>
                  <a:srgbClr val="A0BEDD"/>
                </a:solidFill>
                <a:latin typeface="Segoe UI" pitchFamily="34" charset="0"/>
                <a:ea typeface="Segoe UI" pitchFamily="34" charset="-122"/>
                <a:cs typeface="Segoe UI" pitchFamily="34" charset="-120"/>
              </a:rPr>
              <a:t>Instructions are the</a:t>
            </a:r>
            <a:endParaRPr lang="en-US" sz="900" dirty="0"/>
          </a:p>
          <a:p>
            <a:pPr algn="ctr" indent="0" marL="0">
              <a:buNone/>
            </a:pPr>
            <a:r>
              <a:rPr lang="en-US" sz="900" dirty="0">
                <a:solidFill>
                  <a:srgbClr val="A0BEDD"/>
                </a:solidFill>
                <a:latin typeface="Segoe UI" pitchFamily="34" charset="0"/>
                <a:ea typeface="Segoe UI" pitchFamily="34" charset="-122"/>
                <a:cs typeface="Segoe UI" pitchFamily="34" charset="-120"/>
              </a:rPr>
              <a:t>control plane — invest here</a:t>
            </a:r>
            <a:endParaRPr lang="en-US" sz="900" dirty="0"/>
          </a:p>
        </p:txBody>
      </p:sp>
      <p:sp>
        <p:nvSpPr>
          <p:cNvPr id="10" name="Text 8"/>
          <p:cNvSpPr/>
          <p:nvPr/>
        </p:nvSpPr>
        <p:spPr>
          <a:xfrm>
            <a:off x="5852160" y="4160520"/>
            <a:ext cx="3291840" cy="347472"/>
          </a:xfrm>
          <a:prstGeom prst="rect">
            <a:avLst/>
          </a:prstGeom>
          <a:noFill/>
          <a:ln/>
        </p:spPr>
        <p:txBody>
          <a:bodyPr wrap="square" rtlCol="0" anchor="ctr"/>
          <a:lstStyle/>
          <a:p>
            <a:pPr algn="ctr" indent="0" marL="0">
              <a:buNone/>
            </a:pPr>
            <a:r>
              <a:rPr lang="en-US" sz="900" dirty="0">
                <a:solidFill>
                  <a:srgbClr val="7BA7CC"/>
                </a:solidFill>
                <a:latin typeface="Segoe UI" pitchFamily="34" charset="0"/>
                <a:ea typeface="Segoe UI" pitchFamily="34" charset="-122"/>
                <a:cs typeface="Segoe UI" pitchFamily="34" charset="-120"/>
              </a:rPr>
              <a:t>Makers  ·  IT Pros  ·  Developers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07  ·  LAB 14 RECAP</a:t>
            </a:r>
            <a:endParaRPr lang="en-US" sz="900" dirty="0"/>
          </a:p>
        </p:txBody>
      </p:sp>
      <p:sp>
        <p:nvSpPr>
          <p:cNvPr id="4" name="Text 2"/>
          <p:cNvSpPr/>
          <p:nvPr/>
        </p:nvSpPr>
        <p:spPr>
          <a:xfrm>
            <a:off x="365760" y="749808"/>
            <a:ext cx="8412480" cy="530352"/>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Lab 14: Agent Instructions</a:t>
            </a:r>
            <a:endParaRPr lang="en-US" sz="2800" dirty="0"/>
          </a:p>
        </p:txBody>
      </p:sp>
      <p:sp>
        <p:nvSpPr>
          <p:cNvPr id="5" name="Text 3"/>
          <p:cNvSpPr/>
          <p:nvPr/>
        </p:nvSpPr>
        <p:spPr>
          <a:xfrm>
            <a:off x="365760" y="132588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Instructions are the control plane — small wording changes alter scope, tone, and delegation behavior.</a:t>
            </a:r>
            <a:endParaRPr lang="en-US" sz="1200" dirty="0"/>
          </a:p>
        </p:txBody>
      </p:sp>
      <p:sp>
        <p:nvSpPr>
          <p:cNvPr id="6" name="Shape 4"/>
          <p:cNvSpPr/>
          <p:nvPr/>
        </p:nvSpPr>
        <p:spPr>
          <a:xfrm>
            <a:off x="274320" y="1783080"/>
            <a:ext cx="4846320" cy="2633472"/>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274320" y="1783080"/>
            <a:ext cx="4846320" cy="365760"/>
          </a:xfrm>
          <a:prstGeom prst="rect">
            <a:avLst/>
          </a:prstGeom>
          <a:solidFill>
            <a:srgbClr val="243A5E"/>
          </a:solidFill>
          <a:ln w="12700">
            <a:solidFill>
              <a:srgbClr val="243A5E"/>
            </a:solidFill>
            <a:prstDash val="solid"/>
          </a:ln>
        </p:spPr>
      </p:sp>
      <p:sp>
        <p:nvSpPr>
          <p:cNvPr id="8" name="Text 6"/>
          <p:cNvSpPr/>
          <p:nvPr/>
        </p:nvSpPr>
        <p:spPr>
          <a:xfrm>
            <a:off x="384048" y="1783080"/>
            <a:ext cx="4617720" cy="36576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Instruction Style Comparison</a:t>
            </a:r>
            <a:endParaRPr lang="en-US" sz="1100" dirty="0"/>
          </a:p>
        </p:txBody>
      </p:sp>
      <p:sp>
        <p:nvSpPr>
          <p:cNvPr id="9" name="Shape 7"/>
          <p:cNvSpPr/>
          <p:nvPr/>
        </p:nvSpPr>
        <p:spPr>
          <a:xfrm>
            <a:off x="384048" y="2267712"/>
            <a:ext cx="960120" cy="237744"/>
          </a:xfrm>
          <a:prstGeom prst="rect">
            <a:avLst/>
          </a:prstGeom>
          <a:solidFill>
            <a:srgbClr val="D83B01"/>
          </a:solidFill>
          <a:ln w="12700">
            <a:solidFill>
              <a:srgbClr val="D83B01"/>
            </a:solidFill>
            <a:prstDash val="solid"/>
          </a:ln>
        </p:spPr>
      </p:sp>
      <p:sp>
        <p:nvSpPr>
          <p:cNvPr id="10" name="Text 8"/>
          <p:cNvSpPr/>
          <p:nvPr/>
        </p:nvSpPr>
        <p:spPr>
          <a:xfrm>
            <a:off x="384048" y="2267712"/>
            <a:ext cx="96012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Restrictive</a:t>
            </a:r>
            <a:endParaRPr lang="en-US" sz="850" dirty="0"/>
          </a:p>
        </p:txBody>
      </p:sp>
      <p:sp>
        <p:nvSpPr>
          <p:cNvPr id="11" name="Text 9"/>
          <p:cNvSpPr/>
          <p:nvPr/>
        </p:nvSpPr>
        <p:spPr>
          <a:xfrm>
            <a:off x="1426464" y="2267712"/>
            <a:ext cx="3566160" cy="237744"/>
          </a:xfrm>
          <a:prstGeom prst="rect">
            <a:avLst/>
          </a:prstGeom>
          <a:noFill/>
          <a:ln/>
        </p:spPr>
        <p:txBody>
          <a:bodyPr wrap="square" lIns="0" tIns="0" rIns="0" bIns="0"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Under 120 words, one clarifying question then stop. Tight scope. Less engagement.</a:t>
            </a:r>
            <a:endParaRPr lang="en-US" sz="950" dirty="0"/>
          </a:p>
        </p:txBody>
      </p:sp>
      <p:sp>
        <p:nvSpPr>
          <p:cNvPr id="12" name="Shape 10"/>
          <p:cNvSpPr/>
          <p:nvPr/>
        </p:nvSpPr>
        <p:spPr>
          <a:xfrm>
            <a:off x="384048" y="2926080"/>
            <a:ext cx="960120" cy="237744"/>
          </a:xfrm>
          <a:prstGeom prst="rect">
            <a:avLst/>
          </a:prstGeom>
          <a:solidFill>
            <a:srgbClr val="0078D4"/>
          </a:solidFill>
          <a:ln w="12700">
            <a:solidFill>
              <a:srgbClr val="0078D4"/>
            </a:solidFill>
            <a:prstDash val="solid"/>
          </a:ln>
        </p:spPr>
      </p:sp>
      <p:sp>
        <p:nvSpPr>
          <p:cNvPr id="13" name="Text 11"/>
          <p:cNvSpPr/>
          <p:nvPr/>
        </p:nvSpPr>
        <p:spPr>
          <a:xfrm>
            <a:off x="384048" y="2926080"/>
            <a:ext cx="96012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Balanced</a:t>
            </a:r>
            <a:endParaRPr lang="en-US" sz="850" dirty="0"/>
          </a:p>
        </p:txBody>
      </p:sp>
      <p:sp>
        <p:nvSpPr>
          <p:cNvPr id="14" name="Text 12"/>
          <p:cNvSpPr/>
          <p:nvPr/>
        </p:nvSpPr>
        <p:spPr>
          <a:xfrm>
            <a:off x="1426464" y="2926080"/>
            <a:ext cx="3566160" cy="237744"/>
          </a:xfrm>
          <a:prstGeom prst="rect">
            <a:avLst/>
          </a:prstGeom>
          <a:noFill/>
          <a:ln/>
        </p:spPr>
        <p:txBody>
          <a:bodyPr wrap="square" lIns="0" tIns="0" rIns="0" bIns="0"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Purpose, scope, tools, format, escalation, protected-characteristic guardrail.</a:t>
            </a:r>
            <a:endParaRPr lang="en-US" sz="950" dirty="0"/>
          </a:p>
        </p:txBody>
      </p:sp>
      <p:sp>
        <p:nvSpPr>
          <p:cNvPr id="15" name="Shape 13"/>
          <p:cNvSpPr/>
          <p:nvPr/>
        </p:nvSpPr>
        <p:spPr>
          <a:xfrm>
            <a:off x="384048" y="3584448"/>
            <a:ext cx="960120" cy="237744"/>
          </a:xfrm>
          <a:prstGeom prst="rect">
            <a:avLst/>
          </a:prstGeom>
          <a:solidFill>
            <a:srgbClr val="00B294"/>
          </a:solidFill>
          <a:ln w="12700">
            <a:solidFill>
              <a:srgbClr val="00B294"/>
            </a:solidFill>
            <a:prstDash val="solid"/>
          </a:ln>
        </p:spPr>
      </p:sp>
      <p:sp>
        <p:nvSpPr>
          <p:cNvPr id="16" name="Text 14"/>
          <p:cNvSpPr/>
          <p:nvPr/>
        </p:nvSpPr>
        <p:spPr>
          <a:xfrm>
            <a:off x="384048" y="3584448"/>
            <a:ext cx="96012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Open</a:t>
            </a:r>
            <a:endParaRPr lang="en-US" sz="850" dirty="0"/>
          </a:p>
        </p:txBody>
      </p:sp>
      <p:sp>
        <p:nvSpPr>
          <p:cNvPr id="17" name="Text 15"/>
          <p:cNvSpPr/>
          <p:nvPr/>
        </p:nvSpPr>
        <p:spPr>
          <a:xfrm>
            <a:off x="1426464" y="3584448"/>
            <a:ext cx="3566160" cy="237744"/>
          </a:xfrm>
          <a:prstGeom prst="rect">
            <a:avLst/>
          </a:prstGeom>
          <a:noFill/>
          <a:ln/>
        </p:spPr>
        <p:txBody>
          <a:bodyPr wrap="square" lIns="0" tIns="0" rIns="0" bIns="0" rtlCol="0" anchor="ctr"/>
          <a:lstStyle/>
          <a:p>
            <a:pPr indent="0" marL="0">
              <a:buNone/>
            </a:pPr>
            <a:r>
              <a:rPr lang="en-US" sz="950" dirty="0">
                <a:solidFill>
                  <a:srgbClr val="201F1E"/>
                </a:solidFill>
                <a:latin typeface="Segoe UI" pitchFamily="34" charset="0"/>
                <a:ea typeface="Segoe UI" pitchFamily="34" charset="-122"/>
                <a:cs typeface="Segoe UI" pitchFamily="34" charset="-120"/>
              </a:rPr>
              <a:t>Friendly and creative. Unpredictable workshop results — not recommended for Labs 15+.</a:t>
            </a:r>
            <a:endParaRPr lang="en-US" sz="950" dirty="0"/>
          </a:p>
        </p:txBody>
      </p:sp>
      <p:sp>
        <p:nvSpPr>
          <p:cNvPr id="18" name="Shape 16"/>
          <p:cNvSpPr/>
          <p:nvPr/>
        </p:nvSpPr>
        <p:spPr>
          <a:xfrm>
            <a:off x="5303520" y="1783080"/>
            <a:ext cx="3566160" cy="2633472"/>
          </a:xfrm>
          <a:prstGeom prst="rect">
            <a:avLst/>
          </a:prstGeom>
          <a:solidFill>
            <a:srgbClr val="EFF6FC"/>
          </a:solidFill>
          <a:ln w="12700">
            <a:solidFill>
              <a:srgbClr val="C7E0F4"/>
            </a:solidFill>
            <a:prstDash val="solid"/>
          </a:ln>
          <a:effectLst>
            <a:outerShdw sx="100000" sy="100000" kx="0" ky="0" algn="bl" rotWithShape="0" blurRad="101600" dist="25400" dir="8100000">
              <a:srgbClr val="000000">
                <a:alpha val="10000"/>
              </a:srgbClr>
            </a:outerShdw>
          </a:effectLst>
        </p:spPr>
      </p:sp>
      <p:sp>
        <p:nvSpPr>
          <p:cNvPr id="19" name="Shape 17"/>
          <p:cNvSpPr/>
          <p:nvPr/>
        </p:nvSpPr>
        <p:spPr>
          <a:xfrm>
            <a:off x="5303520" y="1783080"/>
            <a:ext cx="3566160" cy="365760"/>
          </a:xfrm>
          <a:prstGeom prst="rect">
            <a:avLst/>
          </a:prstGeom>
          <a:solidFill>
            <a:srgbClr val="0078D4"/>
          </a:solidFill>
          <a:ln w="12700">
            <a:solidFill>
              <a:srgbClr val="0078D4"/>
            </a:solidFill>
            <a:prstDash val="solid"/>
          </a:ln>
        </p:spPr>
      </p:sp>
      <p:sp>
        <p:nvSpPr>
          <p:cNvPr id="20" name="Text 18"/>
          <p:cNvSpPr/>
          <p:nvPr/>
        </p:nvSpPr>
        <p:spPr>
          <a:xfrm>
            <a:off x="5413248" y="1783080"/>
            <a:ext cx="3337560" cy="36576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Validation</a:t>
            </a:r>
            <a:endParaRPr lang="en-US" sz="1100" dirty="0"/>
          </a:p>
        </p:txBody>
      </p:sp>
      <p:sp>
        <p:nvSpPr>
          <p:cNvPr id="21" name="Text 19"/>
          <p:cNvSpPr/>
          <p:nvPr/>
        </p:nvSpPr>
        <p:spPr>
          <a:xfrm>
            <a:off x="5413248" y="2249424"/>
            <a:ext cx="3337560" cy="2084832"/>
          </a:xfrm>
          <a:prstGeom prst="rect">
            <a:avLst/>
          </a:prstGeom>
          <a:noFill/>
          <a:ln/>
        </p:spPr>
        <p:txBody>
          <a:bodyPr wrap="square" rtlCol="0" anchor="ctr"/>
          <a:lstStyle/>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Balanced instructions saved — includes 'next recommended hiring action' line</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In-scope queries return concise hiring-focused answers</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Ambiguous queries trigger a focused clarifying question</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Out-of-scope requests redirected without breaking the hiring persona</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Balanced set confirmed as final config before Lab 15</a:t>
            </a:r>
            <a:endParaRPr lang="en-US" sz="1000" dirty="0"/>
          </a:p>
        </p:txBody>
      </p:sp>
      <p:sp>
        <p:nvSpPr>
          <p:cNvPr id="22" name="Shape 20"/>
          <p:cNvSpPr/>
          <p:nvPr/>
        </p:nvSpPr>
        <p:spPr>
          <a:xfrm>
            <a:off x="320040" y="4681728"/>
            <a:ext cx="8503920" cy="320040"/>
          </a:xfrm>
          <a:prstGeom prst="rect">
            <a:avLst/>
          </a:prstGeom>
          <a:solidFill>
            <a:srgbClr val="EFF6FC"/>
          </a:solidFill>
          <a:ln w="12700">
            <a:solidFill>
              <a:srgbClr val="C7E0F4"/>
            </a:solidFill>
            <a:prstDash val="solid"/>
          </a:ln>
        </p:spPr>
      </p:sp>
      <p:sp>
        <p:nvSpPr>
          <p:cNvPr id="23" name="Text 21"/>
          <p:cNvSpPr/>
          <p:nvPr/>
        </p:nvSpPr>
        <p:spPr>
          <a:xfrm>
            <a:off x="475488" y="4681728"/>
            <a:ext cx="8321040" cy="320040"/>
          </a:xfrm>
          <a:prstGeom prst="rect">
            <a:avLst/>
          </a:prstGeom>
          <a:noFill/>
          <a:ln/>
        </p:spPr>
        <p:txBody>
          <a:bodyPr wrap="square" rtlCol="0" anchor="ctr"/>
          <a:lstStyle/>
          <a:p>
            <a:pPr indent="0" marL="0">
              <a:buNone/>
            </a:pPr>
            <a:r>
              <a:rPr lang="en-US" sz="1050" dirty="0">
                <a:solidFill>
                  <a:srgbClr val="0078D4"/>
                </a:solidFill>
                <a:latin typeface="Segoe UI" pitchFamily="34" charset="0"/>
                <a:ea typeface="Segoe UI" pitchFamily="34" charset="-122"/>
                <a:cs typeface="Segoe UI" pitchFamily="34" charset="-120"/>
              </a:rPr>
              <a:t>Tip: If the agent ignores instructions, start a new test session — old sessions may carry prior context.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78D4"/>
        </a:solidFill>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243A5E"/>
          </a:solidFill>
          <a:ln w="12700">
            <a:solidFill>
              <a:srgbClr val="243A5E"/>
            </a:solidFill>
            <a:prstDash val="solid"/>
          </a:ln>
        </p:spPr>
      </p:sp>
      <p:sp>
        <p:nvSpPr>
          <p:cNvPr id="3" name="Text 1"/>
          <p:cNvSpPr/>
          <p:nvPr/>
        </p:nvSpPr>
        <p:spPr>
          <a:xfrm>
            <a:off x="411480" y="365760"/>
            <a:ext cx="5212080" cy="384048"/>
          </a:xfrm>
          <a:prstGeom prst="rect">
            <a:avLst/>
          </a:prstGeom>
          <a:noFill/>
          <a:ln/>
        </p:spPr>
        <p:txBody>
          <a:bodyPr wrap="square" rtlCol="0" anchor="ctr"/>
          <a:lstStyle/>
          <a:p>
            <a:pPr indent="0" marL="0">
              <a:buNone/>
            </a:pPr>
            <a:r>
              <a:rPr lang="en-US" sz="1000" spc="500" kern="0" dirty="0">
                <a:solidFill>
                  <a:srgbClr val="50E6FF"/>
                </a:solidFill>
                <a:latin typeface="Segoe UI" pitchFamily="34" charset="0"/>
                <a:ea typeface="Segoe UI" pitchFamily="34" charset="-122"/>
                <a:cs typeface="Segoe UI" pitchFamily="34" charset="-120"/>
              </a:rPr>
              <a:t>LAB TIME</a:t>
            </a:r>
            <a:endParaRPr lang="en-US" sz="1000" dirty="0"/>
          </a:p>
        </p:txBody>
      </p:sp>
      <p:sp>
        <p:nvSpPr>
          <p:cNvPr id="4" name="Text 2"/>
          <p:cNvSpPr/>
          <p:nvPr/>
        </p:nvSpPr>
        <p:spPr>
          <a:xfrm>
            <a:off x="411480" y="841248"/>
            <a:ext cx="5212080" cy="1005840"/>
          </a:xfrm>
          <a:prstGeom prst="rect">
            <a:avLst/>
          </a:prstGeom>
          <a:noFill/>
          <a:ln/>
        </p:spPr>
        <p:txBody>
          <a:bodyPr wrap="square" rtlCol="0" anchor="ctr"/>
          <a:lstStyle/>
          <a:p>
            <a:pPr indent="0" marL="0">
              <a:buNone/>
            </a:pPr>
            <a:r>
              <a:rPr lang="en-US" sz="5800" b="1" dirty="0">
                <a:solidFill>
                  <a:srgbClr val="FFFFFF"/>
                </a:solidFill>
                <a:latin typeface="Segoe UI" pitchFamily="34" charset="0"/>
                <a:ea typeface="Segoe UI" pitchFamily="34" charset="-122"/>
                <a:cs typeface="Segoe UI" pitchFamily="34" charset="-120"/>
              </a:rPr>
              <a:t>Lab 15</a:t>
            </a:r>
            <a:endParaRPr lang="en-US" sz="5800" dirty="0"/>
          </a:p>
        </p:txBody>
      </p:sp>
      <p:sp>
        <p:nvSpPr>
          <p:cNvPr id="5" name="Text 3"/>
          <p:cNvSpPr/>
          <p:nvPr/>
        </p:nvSpPr>
        <p:spPr>
          <a:xfrm>
            <a:off x="411480" y="1828800"/>
            <a:ext cx="5212080" cy="502920"/>
          </a:xfrm>
          <a:prstGeom prst="rect">
            <a:avLst/>
          </a:prstGeom>
          <a:noFill/>
          <a:ln/>
        </p:spPr>
        <p:txBody>
          <a:bodyPr wrap="square" rtlCol="0" anchor="ctr"/>
          <a:lstStyle/>
          <a:p>
            <a:pPr indent="0" marL="0">
              <a:buNone/>
            </a:pPr>
            <a:r>
              <a:rPr lang="en-US" sz="2000" dirty="0">
                <a:solidFill>
                  <a:srgbClr val="50E6FF"/>
                </a:solidFill>
                <a:latin typeface="Segoe UI" pitchFamily="34" charset="0"/>
                <a:ea typeface="Segoe UI" pitchFamily="34" charset="-122"/>
                <a:cs typeface="Segoe UI" pitchFamily="34" charset="-120"/>
              </a:rPr>
              <a:t>Multi-Agent Team</a:t>
            </a:r>
            <a:endParaRPr lang="en-US" sz="2000" dirty="0"/>
          </a:p>
        </p:txBody>
      </p:sp>
      <p:sp>
        <p:nvSpPr>
          <p:cNvPr id="6" name="Text 4"/>
          <p:cNvSpPr/>
          <p:nvPr/>
        </p:nvSpPr>
        <p:spPr>
          <a:xfrm>
            <a:off x="411480" y="2450592"/>
            <a:ext cx="5212080" cy="2377440"/>
          </a:xfrm>
          <a:prstGeom prst="rect">
            <a:avLst/>
          </a:prstGeom>
          <a:noFill/>
          <a:ln/>
        </p:spPr>
        <p:txBody>
          <a:bodyPr wrap="square" rtlCol="0" anchor="ctr"/>
          <a:lstStyle/>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Append delegation language to Hiring Agent instructions and enable 'Let others connect'</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Create Application Intake child agent: intake-only scope, Priority 10000, Web disabled</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Create Interview Prep Agent as a separate agent in the Operative solution</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Add Dataverse Job Role and Evaluation Criteria knowledge to Interview Prep Agent</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Connect Interview Prep Agent to Hiring Agent using the Agents tab</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Test: intake request routes to App Intake, interview prep routes to Interview Prep</a:t>
            </a:r>
            <a:endParaRPr lang="en-US" sz="1100" dirty="0"/>
          </a:p>
        </p:txBody>
      </p:sp>
      <p:sp>
        <p:nvSpPr>
          <p:cNvPr id="7" name="Text 5"/>
          <p:cNvSpPr/>
          <p:nvPr/>
        </p:nvSpPr>
        <p:spPr>
          <a:xfrm>
            <a:off x="5852160" y="1097280"/>
            <a:ext cx="3291840" cy="1463040"/>
          </a:xfrm>
          <a:prstGeom prst="rect">
            <a:avLst/>
          </a:prstGeom>
          <a:noFill/>
          <a:ln/>
        </p:spPr>
        <p:txBody>
          <a:bodyPr wrap="square"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40</a:t>
            </a:r>
            <a:endParaRPr lang="en-US" sz="8000" dirty="0"/>
          </a:p>
        </p:txBody>
      </p:sp>
      <p:sp>
        <p:nvSpPr>
          <p:cNvPr id="8" name="Text 6"/>
          <p:cNvSpPr/>
          <p:nvPr/>
        </p:nvSpPr>
        <p:spPr>
          <a:xfrm>
            <a:off x="5852160" y="2633472"/>
            <a:ext cx="3291840" cy="384048"/>
          </a:xfrm>
          <a:prstGeom prst="rect">
            <a:avLst/>
          </a:prstGeom>
          <a:noFill/>
          <a:ln/>
        </p:spPr>
        <p:txBody>
          <a:bodyPr wrap="square" rtlCol="0" anchor="ctr"/>
          <a:lstStyle/>
          <a:p>
            <a:pPr algn="ctr" indent="0" marL="0">
              <a:buNone/>
            </a:pPr>
            <a:r>
              <a:rPr lang="en-US" sz="1400" dirty="0">
                <a:solidFill>
                  <a:srgbClr val="50E6FF"/>
                </a:solidFill>
                <a:latin typeface="Segoe UI" pitchFamily="34" charset="0"/>
                <a:ea typeface="Segoe UI" pitchFamily="34" charset="-122"/>
                <a:cs typeface="Segoe UI" pitchFamily="34" charset="-120"/>
              </a:rPr>
              <a:t>minutes</a:t>
            </a:r>
            <a:endParaRPr lang="en-US" sz="1400" dirty="0"/>
          </a:p>
        </p:txBody>
      </p:sp>
      <p:sp>
        <p:nvSpPr>
          <p:cNvPr id="9" name="Text 7"/>
          <p:cNvSpPr/>
          <p:nvPr/>
        </p:nvSpPr>
        <p:spPr>
          <a:xfrm>
            <a:off x="5852160" y="3154680"/>
            <a:ext cx="3291840" cy="640080"/>
          </a:xfrm>
          <a:prstGeom prst="rect">
            <a:avLst/>
          </a:prstGeom>
          <a:noFill/>
          <a:ln/>
        </p:spPr>
        <p:txBody>
          <a:bodyPr wrap="square" rtlCol="0" anchor="ctr"/>
          <a:lstStyle/>
          <a:p>
            <a:pPr algn="ctr" indent="0" marL="0">
              <a:buNone/>
            </a:pPr>
            <a:r>
              <a:rPr lang="en-US" sz="900" dirty="0">
                <a:solidFill>
                  <a:srgbClr val="A0BEDD"/>
                </a:solidFill>
                <a:latin typeface="Segoe UI" pitchFamily="34" charset="0"/>
                <a:ea typeface="Segoe UI" pitchFamily="34" charset="-122"/>
                <a:cs typeface="Segoe UI" pitchFamily="34" charset="-120"/>
              </a:rPr>
              <a:t>Keep each role narrow —</a:t>
            </a:r>
            <a:endParaRPr lang="en-US" sz="900" dirty="0"/>
          </a:p>
          <a:p>
            <a:pPr algn="ctr" indent="0" marL="0">
              <a:buNone/>
            </a:pPr>
            <a:r>
              <a:rPr lang="en-US" sz="900" dirty="0">
                <a:solidFill>
                  <a:srgbClr val="A0BEDD"/>
                </a:solidFill>
                <a:latin typeface="Segoe UI" pitchFamily="34" charset="0"/>
                <a:ea typeface="Segoe UI" pitchFamily="34" charset="-122"/>
                <a:cs typeface="Segoe UI" pitchFamily="34" charset="-120"/>
              </a:rPr>
              <a:t>ownership must stay clear</a:t>
            </a:r>
            <a:endParaRPr lang="en-US" sz="900" dirty="0"/>
          </a:p>
        </p:txBody>
      </p:sp>
      <p:sp>
        <p:nvSpPr>
          <p:cNvPr id="10" name="Text 8"/>
          <p:cNvSpPr/>
          <p:nvPr/>
        </p:nvSpPr>
        <p:spPr>
          <a:xfrm>
            <a:off x="5852160" y="4160520"/>
            <a:ext cx="3291840" cy="347472"/>
          </a:xfrm>
          <a:prstGeom prst="rect">
            <a:avLst/>
          </a:prstGeom>
          <a:noFill/>
          <a:ln/>
        </p:spPr>
        <p:txBody>
          <a:bodyPr wrap="square" rtlCol="0" anchor="ctr"/>
          <a:lstStyle/>
          <a:p>
            <a:pPr algn="ctr" indent="0" marL="0">
              <a:buNone/>
            </a:pPr>
            <a:r>
              <a:rPr lang="en-US" sz="900" dirty="0">
                <a:solidFill>
                  <a:srgbClr val="7BA7CC"/>
                </a:solidFill>
                <a:latin typeface="Segoe UI" pitchFamily="34" charset="0"/>
                <a:ea typeface="Segoe UI" pitchFamily="34" charset="-122"/>
                <a:cs typeface="Segoe UI" pitchFamily="34" charset="-120"/>
              </a:rPr>
              <a:t>Makers  ·  IT Pros  ·  Developers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07  ·  LAB 15 RECAP</a:t>
            </a:r>
            <a:endParaRPr lang="en-US" sz="900" dirty="0"/>
          </a:p>
        </p:txBody>
      </p:sp>
      <p:sp>
        <p:nvSpPr>
          <p:cNvPr id="4" name="Text 2"/>
          <p:cNvSpPr/>
          <p:nvPr/>
        </p:nvSpPr>
        <p:spPr>
          <a:xfrm>
            <a:off x="365760" y="749808"/>
            <a:ext cx="8412480" cy="530352"/>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Lab 15: Multi-Agent Team</a:t>
            </a:r>
            <a:endParaRPr lang="en-US" sz="2800" dirty="0"/>
          </a:p>
        </p:txBody>
      </p:sp>
      <p:sp>
        <p:nvSpPr>
          <p:cNvPr id="5" name="Text 3"/>
          <p:cNvSpPr/>
          <p:nvPr/>
        </p:nvSpPr>
        <p:spPr>
          <a:xfrm>
            <a:off x="365760" y="132588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Disciplined orchestration — not maximum branching — is the Day 2 operating model.</a:t>
            </a:r>
            <a:endParaRPr lang="en-US" sz="1200" dirty="0"/>
          </a:p>
        </p:txBody>
      </p:sp>
      <p:sp>
        <p:nvSpPr>
          <p:cNvPr id="6" name="Shape 4"/>
          <p:cNvSpPr/>
          <p:nvPr/>
        </p:nvSpPr>
        <p:spPr>
          <a:xfrm>
            <a:off x="320040" y="1801368"/>
            <a:ext cx="8503920" cy="448056"/>
          </a:xfrm>
          <a:prstGeom prst="rect">
            <a:avLst/>
          </a:prstGeom>
          <a:solidFill>
            <a:srgbClr val="F3F2F1"/>
          </a:solidFill>
          <a:ln w="12700">
            <a:solidFill>
              <a:srgbClr val="E1DFDD"/>
            </a:solidFill>
            <a:prstDash val="solid"/>
          </a:ln>
        </p:spPr>
      </p:sp>
      <p:sp>
        <p:nvSpPr>
          <p:cNvPr id="7" name="Shape 5"/>
          <p:cNvSpPr/>
          <p:nvPr/>
        </p:nvSpPr>
        <p:spPr>
          <a:xfrm>
            <a:off x="457200" y="1883664"/>
            <a:ext cx="1051560" cy="274320"/>
          </a:xfrm>
          <a:prstGeom prst="rect">
            <a:avLst/>
          </a:prstGeom>
          <a:solidFill>
            <a:srgbClr val="0078D4"/>
          </a:solidFill>
          <a:ln w="12700">
            <a:solidFill>
              <a:srgbClr val="0078D4"/>
            </a:solidFill>
            <a:prstDash val="solid"/>
          </a:ln>
        </p:spPr>
      </p:sp>
      <p:sp>
        <p:nvSpPr>
          <p:cNvPr id="8" name="Text 6"/>
          <p:cNvSpPr/>
          <p:nvPr/>
        </p:nvSpPr>
        <p:spPr>
          <a:xfrm>
            <a:off x="457200" y="1883664"/>
            <a:ext cx="10515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Orchestrator</a:t>
            </a:r>
            <a:endParaRPr lang="en-US" sz="800" dirty="0"/>
          </a:p>
        </p:txBody>
      </p:sp>
      <p:sp>
        <p:nvSpPr>
          <p:cNvPr id="9" name="Text 7"/>
          <p:cNvSpPr/>
          <p:nvPr/>
        </p:nvSpPr>
        <p:spPr>
          <a:xfrm>
            <a:off x="1627632" y="1883664"/>
            <a:ext cx="7077456"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Hiring Agent includes delegation language routing intake to Application Intake Agent</a:t>
            </a:r>
            <a:endParaRPr lang="en-US" sz="1050" dirty="0"/>
          </a:p>
        </p:txBody>
      </p:sp>
      <p:sp>
        <p:nvSpPr>
          <p:cNvPr id="10" name="Shape 8"/>
          <p:cNvSpPr/>
          <p:nvPr/>
        </p:nvSpPr>
        <p:spPr>
          <a:xfrm>
            <a:off x="320040" y="2286000"/>
            <a:ext cx="8503920" cy="448056"/>
          </a:xfrm>
          <a:prstGeom prst="rect">
            <a:avLst/>
          </a:prstGeom>
          <a:solidFill>
            <a:srgbClr val="FFFFFF"/>
          </a:solidFill>
          <a:ln w="12700">
            <a:solidFill>
              <a:srgbClr val="E1DFDD"/>
            </a:solidFill>
            <a:prstDash val="solid"/>
          </a:ln>
        </p:spPr>
      </p:sp>
      <p:sp>
        <p:nvSpPr>
          <p:cNvPr id="11" name="Shape 9"/>
          <p:cNvSpPr/>
          <p:nvPr/>
        </p:nvSpPr>
        <p:spPr>
          <a:xfrm>
            <a:off x="457200" y="2368296"/>
            <a:ext cx="1051560" cy="274320"/>
          </a:xfrm>
          <a:prstGeom prst="rect">
            <a:avLst/>
          </a:prstGeom>
          <a:solidFill>
            <a:srgbClr val="00B294"/>
          </a:solidFill>
          <a:ln w="12700">
            <a:solidFill>
              <a:srgbClr val="00B294"/>
            </a:solidFill>
            <a:prstDash val="solid"/>
          </a:ln>
        </p:spPr>
      </p:sp>
      <p:sp>
        <p:nvSpPr>
          <p:cNvPr id="12" name="Text 10"/>
          <p:cNvSpPr/>
          <p:nvPr/>
        </p:nvSpPr>
        <p:spPr>
          <a:xfrm>
            <a:off x="457200" y="2368296"/>
            <a:ext cx="10515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Child</a:t>
            </a:r>
            <a:endParaRPr lang="en-US" sz="800" dirty="0"/>
          </a:p>
        </p:txBody>
      </p:sp>
      <p:sp>
        <p:nvSpPr>
          <p:cNvPr id="13" name="Text 11"/>
          <p:cNvSpPr/>
          <p:nvPr/>
        </p:nvSpPr>
        <p:spPr>
          <a:xfrm>
            <a:off x="1627632" y="2368296"/>
            <a:ext cx="7077456"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Application Intake Agent listed as a child agent under Hiring Agent with intake-only scope</a:t>
            </a:r>
            <a:endParaRPr lang="en-US" sz="1050" dirty="0"/>
          </a:p>
        </p:txBody>
      </p:sp>
      <p:sp>
        <p:nvSpPr>
          <p:cNvPr id="14" name="Shape 12"/>
          <p:cNvSpPr/>
          <p:nvPr/>
        </p:nvSpPr>
        <p:spPr>
          <a:xfrm>
            <a:off x="320040" y="2770632"/>
            <a:ext cx="8503920" cy="448056"/>
          </a:xfrm>
          <a:prstGeom prst="rect">
            <a:avLst/>
          </a:prstGeom>
          <a:solidFill>
            <a:srgbClr val="F3F2F1"/>
          </a:solidFill>
          <a:ln w="12700">
            <a:solidFill>
              <a:srgbClr val="E1DFDD"/>
            </a:solidFill>
            <a:prstDash val="solid"/>
          </a:ln>
        </p:spPr>
      </p:sp>
      <p:sp>
        <p:nvSpPr>
          <p:cNvPr id="15" name="Shape 13"/>
          <p:cNvSpPr/>
          <p:nvPr/>
        </p:nvSpPr>
        <p:spPr>
          <a:xfrm>
            <a:off x="457200" y="2852928"/>
            <a:ext cx="1051560" cy="274320"/>
          </a:xfrm>
          <a:prstGeom prst="rect">
            <a:avLst/>
          </a:prstGeom>
          <a:solidFill>
            <a:srgbClr val="5C2D91"/>
          </a:solidFill>
          <a:ln w="12700">
            <a:solidFill>
              <a:srgbClr val="5C2D91"/>
            </a:solidFill>
            <a:prstDash val="solid"/>
          </a:ln>
        </p:spPr>
      </p:sp>
      <p:sp>
        <p:nvSpPr>
          <p:cNvPr id="16" name="Text 14"/>
          <p:cNvSpPr/>
          <p:nvPr/>
        </p:nvSpPr>
        <p:spPr>
          <a:xfrm>
            <a:off x="457200" y="2852928"/>
            <a:ext cx="10515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Connected</a:t>
            </a:r>
            <a:endParaRPr lang="en-US" sz="800" dirty="0"/>
          </a:p>
        </p:txBody>
      </p:sp>
      <p:sp>
        <p:nvSpPr>
          <p:cNvPr id="17" name="Text 15"/>
          <p:cNvSpPr/>
          <p:nvPr/>
        </p:nvSpPr>
        <p:spPr>
          <a:xfrm>
            <a:off x="1627632" y="2852928"/>
            <a:ext cx="7077456"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Interview Prep Agent is a separate agent with 'Let other agents connect' enabled</a:t>
            </a:r>
            <a:endParaRPr lang="en-US" sz="1050" dirty="0"/>
          </a:p>
        </p:txBody>
      </p:sp>
      <p:sp>
        <p:nvSpPr>
          <p:cNvPr id="18" name="Shape 16"/>
          <p:cNvSpPr/>
          <p:nvPr/>
        </p:nvSpPr>
        <p:spPr>
          <a:xfrm>
            <a:off x="320040" y="3255264"/>
            <a:ext cx="8503920" cy="448056"/>
          </a:xfrm>
          <a:prstGeom prst="rect">
            <a:avLst/>
          </a:prstGeom>
          <a:solidFill>
            <a:srgbClr val="FFFFFF"/>
          </a:solidFill>
          <a:ln w="12700">
            <a:solidFill>
              <a:srgbClr val="E1DFDD"/>
            </a:solidFill>
            <a:prstDash val="solid"/>
          </a:ln>
        </p:spPr>
      </p:sp>
      <p:sp>
        <p:nvSpPr>
          <p:cNvPr id="19" name="Shape 17"/>
          <p:cNvSpPr/>
          <p:nvPr/>
        </p:nvSpPr>
        <p:spPr>
          <a:xfrm>
            <a:off x="457200" y="3337560"/>
            <a:ext cx="1051560" cy="274320"/>
          </a:xfrm>
          <a:prstGeom prst="rect">
            <a:avLst/>
          </a:prstGeom>
          <a:solidFill>
            <a:srgbClr val="D47900"/>
          </a:solidFill>
          <a:ln w="12700">
            <a:solidFill>
              <a:srgbClr val="D47900"/>
            </a:solidFill>
            <a:prstDash val="solid"/>
          </a:ln>
        </p:spPr>
      </p:sp>
      <p:sp>
        <p:nvSpPr>
          <p:cNvPr id="20" name="Text 18"/>
          <p:cNvSpPr/>
          <p:nvPr/>
        </p:nvSpPr>
        <p:spPr>
          <a:xfrm>
            <a:off x="457200" y="3337560"/>
            <a:ext cx="10515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Dataverse</a:t>
            </a:r>
            <a:endParaRPr lang="en-US" sz="800" dirty="0"/>
          </a:p>
        </p:txBody>
      </p:sp>
      <p:sp>
        <p:nvSpPr>
          <p:cNvPr id="21" name="Text 19"/>
          <p:cNvSpPr/>
          <p:nvPr/>
        </p:nvSpPr>
        <p:spPr>
          <a:xfrm>
            <a:off x="1627632" y="3337560"/>
            <a:ext cx="7077456"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Interview Prep Agent knowledge includes Dataverse Job Role and Evaluation Criteria tables</a:t>
            </a:r>
            <a:endParaRPr lang="en-US" sz="1050" dirty="0"/>
          </a:p>
        </p:txBody>
      </p:sp>
      <p:sp>
        <p:nvSpPr>
          <p:cNvPr id="22" name="Shape 20"/>
          <p:cNvSpPr/>
          <p:nvPr/>
        </p:nvSpPr>
        <p:spPr>
          <a:xfrm>
            <a:off x="320040" y="3739896"/>
            <a:ext cx="8503920" cy="448056"/>
          </a:xfrm>
          <a:prstGeom prst="rect">
            <a:avLst/>
          </a:prstGeom>
          <a:solidFill>
            <a:srgbClr val="F3F2F1"/>
          </a:solidFill>
          <a:ln w="12700">
            <a:solidFill>
              <a:srgbClr val="E1DFDD"/>
            </a:solidFill>
            <a:prstDash val="solid"/>
          </a:ln>
        </p:spPr>
      </p:sp>
      <p:sp>
        <p:nvSpPr>
          <p:cNvPr id="23" name="Shape 21"/>
          <p:cNvSpPr/>
          <p:nvPr/>
        </p:nvSpPr>
        <p:spPr>
          <a:xfrm>
            <a:off x="457200" y="3822192"/>
            <a:ext cx="1051560" cy="274320"/>
          </a:xfrm>
          <a:prstGeom prst="rect">
            <a:avLst/>
          </a:prstGeom>
          <a:solidFill>
            <a:srgbClr val="107C10"/>
          </a:solidFill>
          <a:ln w="12700">
            <a:solidFill>
              <a:srgbClr val="107C10"/>
            </a:solidFill>
            <a:prstDash val="solid"/>
          </a:ln>
        </p:spPr>
      </p:sp>
      <p:sp>
        <p:nvSpPr>
          <p:cNvPr id="24" name="Text 22"/>
          <p:cNvSpPr/>
          <p:nvPr/>
        </p:nvSpPr>
        <p:spPr>
          <a:xfrm>
            <a:off x="457200" y="3822192"/>
            <a:ext cx="10515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Wired</a:t>
            </a:r>
            <a:endParaRPr lang="en-US" sz="800" dirty="0"/>
          </a:p>
        </p:txBody>
      </p:sp>
      <p:sp>
        <p:nvSpPr>
          <p:cNvPr id="25" name="Text 23"/>
          <p:cNvSpPr/>
          <p:nvPr/>
        </p:nvSpPr>
        <p:spPr>
          <a:xfrm>
            <a:off x="1627632" y="3822192"/>
            <a:ext cx="7077456"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Interview Prep Agent appears as a connected agent in Hiring Agent's Agents tab</a:t>
            </a:r>
            <a:endParaRPr lang="en-US" sz="1050" dirty="0"/>
          </a:p>
        </p:txBody>
      </p:sp>
      <p:sp>
        <p:nvSpPr>
          <p:cNvPr id="26" name="Shape 24"/>
          <p:cNvSpPr/>
          <p:nvPr/>
        </p:nvSpPr>
        <p:spPr>
          <a:xfrm>
            <a:off x="320040" y="4224528"/>
            <a:ext cx="8503920" cy="448056"/>
          </a:xfrm>
          <a:prstGeom prst="rect">
            <a:avLst/>
          </a:prstGeom>
          <a:solidFill>
            <a:srgbClr val="FFFFFF"/>
          </a:solidFill>
          <a:ln w="12700">
            <a:solidFill>
              <a:srgbClr val="E1DFDD"/>
            </a:solidFill>
            <a:prstDash val="solid"/>
          </a:ln>
        </p:spPr>
      </p:sp>
      <p:sp>
        <p:nvSpPr>
          <p:cNvPr id="27" name="Shape 25"/>
          <p:cNvSpPr/>
          <p:nvPr/>
        </p:nvSpPr>
        <p:spPr>
          <a:xfrm>
            <a:off x="457200" y="4306824"/>
            <a:ext cx="1051560" cy="274320"/>
          </a:xfrm>
          <a:prstGeom prst="rect">
            <a:avLst/>
          </a:prstGeom>
          <a:solidFill>
            <a:srgbClr val="243A5E"/>
          </a:solidFill>
          <a:ln w="12700">
            <a:solidFill>
              <a:srgbClr val="243A5E"/>
            </a:solidFill>
            <a:prstDash val="solid"/>
          </a:ln>
        </p:spPr>
      </p:sp>
      <p:sp>
        <p:nvSpPr>
          <p:cNvPr id="28" name="Text 26"/>
          <p:cNvSpPr/>
          <p:nvPr/>
        </p:nvSpPr>
        <p:spPr>
          <a:xfrm>
            <a:off x="457200" y="4306824"/>
            <a:ext cx="10515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Activity</a:t>
            </a:r>
            <a:endParaRPr lang="en-US" sz="800" dirty="0"/>
          </a:p>
        </p:txBody>
      </p:sp>
      <p:sp>
        <p:nvSpPr>
          <p:cNvPr id="29" name="Text 27"/>
          <p:cNvSpPr/>
          <p:nvPr/>
        </p:nvSpPr>
        <p:spPr>
          <a:xfrm>
            <a:off x="1627632" y="4306824"/>
            <a:ext cx="7077456"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Activity map shows routing to both specialists during the test session</a:t>
            </a:r>
            <a:endParaRPr lang="en-US" sz="1050" dirty="0"/>
          </a:p>
        </p:txBody>
      </p:sp>
      <p:sp>
        <p:nvSpPr>
          <p:cNvPr id="30" name="Shape 28"/>
          <p:cNvSpPr/>
          <p:nvPr/>
        </p:nvSpPr>
        <p:spPr>
          <a:xfrm>
            <a:off x="320040" y="4681728"/>
            <a:ext cx="8503920" cy="320040"/>
          </a:xfrm>
          <a:prstGeom prst="rect">
            <a:avLst/>
          </a:prstGeom>
          <a:solidFill>
            <a:srgbClr val="EFF6FC"/>
          </a:solidFill>
          <a:ln w="12700">
            <a:solidFill>
              <a:srgbClr val="C7E0F4"/>
            </a:solidFill>
            <a:prstDash val="solid"/>
          </a:ln>
        </p:spPr>
      </p:sp>
      <p:sp>
        <p:nvSpPr>
          <p:cNvPr id="31" name="Text 29"/>
          <p:cNvSpPr/>
          <p:nvPr/>
        </p:nvSpPr>
        <p:spPr>
          <a:xfrm>
            <a:off x="475488" y="4681728"/>
            <a:ext cx="8321040" cy="320040"/>
          </a:xfrm>
          <a:prstGeom prst="rect">
            <a:avLst/>
          </a:prstGeom>
          <a:noFill/>
          <a:ln/>
        </p:spPr>
        <p:txBody>
          <a:bodyPr wrap="square"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Up next: Module 08 — Automation and Models  (Labs 16–18: Triggers, model selection, content moderation)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Day 1 Carryover Checklis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07  ·  HIRING ARCHITECTURE</a:t>
            </a:r>
            <a:endParaRPr lang="en-US" sz="900" dirty="0"/>
          </a:p>
        </p:txBody>
      </p:sp>
      <p:sp>
        <p:nvSpPr>
          <p:cNvPr id="4" name="Text 2"/>
          <p:cNvSpPr/>
          <p:nvPr/>
        </p:nvSpPr>
        <p:spPr>
          <a:xfrm>
            <a:off x="365760" y="749808"/>
            <a:ext cx="8412480" cy="530352"/>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Day 1 Carryover Checklist</a:t>
            </a:r>
            <a:endParaRPr lang="en-US" sz="2800" dirty="0"/>
          </a:p>
        </p:txBody>
      </p:sp>
      <p:sp>
        <p:nvSpPr>
          <p:cNvPr id="5" name="Text 3"/>
          <p:cNvSpPr/>
          <p:nvPr/>
        </p:nvSpPr>
        <p:spPr>
          <a:xfrm>
            <a:off x="365760" y="132588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Clear boundaries so each agent owns a focused responsibility — easier to test, support, and extend.</a:t>
            </a:r>
            <a:endParaRPr lang="en-US" sz="1200" dirty="0"/>
          </a:p>
        </p:txBody>
      </p:sp>
      <p:sp>
        <p:nvSpPr>
          <p:cNvPr id="6" name="Shape 4"/>
          <p:cNvSpPr/>
          <p:nvPr/>
        </p:nvSpPr>
        <p:spPr>
          <a:xfrm>
            <a:off x="256032" y="1783080"/>
            <a:ext cx="2788920" cy="23774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256032" y="1783080"/>
            <a:ext cx="2788920" cy="384048"/>
          </a:xfrm>
          <a:prstGeom prst="rect">
            <a:avLst/>
          </a:prstGeom>
          <a:solidFill>
            <a:srgbClr val="0078D4"/>
          </a:solidFill>
          <a:ln w="12700">
            <a:solidFill>
              <a:srgbClr val="0078D4"/>
            </a:solidFill>
            <a:prstDash val="solid"/>
          </a:ln>
        </p:spPr>
      </p:sp>
      <p:sp>
        <p:nvSpPr>
          <p:cNvPr id="8" name="Shape 6"/>
          <p:cNvSpPr/>
          <p:nvPr/>
        </p:nvSpPr>
        <p:spPr>
          <a:xfrm>
            <a:off x="347472" y="1874520"/>
            <a:ext cx="731520" cy="201168"/>
          </a:xfrm>
          <a:prstGeom prst="rect">
            <a:avLst/>
          </a:prstGeom>
          <a:solidFill>
            <a:srgbClr val="FFFFFF"/>
          </a:solidFill>
          <a:ln w="12700">
            <a:solidFill>
              <a:srgbClr val="FFFFFF"/>
            </a:solidFill>
            <a:prstDash val="solid"/>
          </a:ln>
        </p:spPr>
      </p:sp>
      <p:sp>
        <p:nvSpPr>
          <p:cNvPr id="9" name="Text 7"/>
          <p:cNvSpPr/>
          <p:nvPr/>
        </p:nvSpPr>
        <p:spPr>
          <a:xfrm>
            <a:off x="347472" y="1874520"/>
            <a:ext cx="731520" cy="201168"/>
          </a:xfrm>
          <a:prstGeom prst="rect">
            <a:avLst/>
          </a:prstGeom>
          <a:noFill/>
          <a:ln/>
        </p:spPr>
        <p:txBody>
          <a:bodyPr wrap="square" lIns="0" tIns="0" rIns="0" bIns="0" rtlCol="0" anchor="ctr"/>
          <a:lstStyle/>
          <a:p>
            <a:pPr algn="ctr" indent="0" marL="0">
              <a:buNone/>
            </a:pPr>
            <a:r>
              <a:rPr lang="en-US" sz="800" b="1" dirty="0">
                <a:solidFill>
                  <a:srgbClr val="0078D4"/>
                </a:solidFill>
                <a:latin typeface="Segoe UI" pitchFamily="34" charset="0"/>
                <a:ea typeface="Segoe UI" pitchFamily="34" charset="-122"/>
                <a:cs typeface="Segoe UI" pitchFamily="34" charset="-120"/>
              </a:rPr>
              <a:t>✓ Instructions aligned to tools</a:t>
            </a:r>
            <a:endParaRPr lang="en-US" sz="800" dirty="0"/>
          </a:p>
        </p:txBody>
      </p:sp>
      <p:sp>
        <p:nvSpPr>
          <p:cNvPr id="10" name="Text 8"/>
          <p:cNvSpPr/>
          <p:nvPr/>
        </p:nvSpPr>
        <p:spPr>
          <a:xfrm>
            <a:off x="1170432" y="1783080"/>
            <a:ext cx="1783080" cy="384048"/>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Hiring Agent</a:t>
            </a:r>
            <a:endParaRPr lang="en-US" sz="1100" dirty="0"/>
          </a:p>
        </p:txBody>
      </p:sp>
      <p:sp>
        <p:nvSpPr>
          <p:cNvPr id="11" name="Text 9"/>
          <p:cNvSpPr/>
          <p:nvPr/>
        </p:nvSpPr>
        <p:spPr>
          <a:xfrm>
            <a:off x="347472" y="2231136"/>
            <a:ext cx="2624328" cy="274320"/>
          </a:xfrm>
          <a:prstGeom prst="rect">
            <a:avLst/>
          </a:prstGeom>
          <a:noFill/>
          <a:ln/>
        </p:spPr>
        <p:txBody>
          <a:bodyPr wrap="square" rtlCol="0" anchor="ctr"/>
          <a:lstStyle/>
          <a:p>
            <a:pPr indent="0" marL="0">
              <a:buNone/>
            </a:pPr>
            <a:r>
              <a:rPr lang="en-US" sz="950" b="1" dirty="0">
                <a:solidFill>
                  <a:srgbClr val="0078D4"/>
                </a:solidFill>
                <a:latin typeface="Segoe UI" pitchFamily="34" charset="0"/>
                <a:ea typeface="Segoe UI" pitchFamily="34" charset="-122"/>
                <a:cs typeface="Segoe UI" pitchFamily="34" charset="-120"/>
              </a:rPr>
              <a:t>Owns the recruiter conversation and routes to specialists</a:t>
            </a:r>
            <a:endParaRPr lang="en-US" sz="950" dirty="0"/>
          </a:p>
        </p:txBody>
      </p:sp>
      <p:sp>
        <p:nvSpPr>
          <p:cNvPr id="12" name="Text 10"/>
          <p:cNvSpPr/>
          <p:nvPr/>
        </p:nvSpPr>
        <p:spPr>
          <a:xfrm>
            <a:off x="347472" y="2542032"/>
            <a:ext cx="2624328" cy="1536192"/>
          </a:xfrm>
          <a:prstGeom prst="rect">
            <a:avLst/>
          </a:prstGeom>
          <a:noFill/>
          <a:ln/>
        </p:spPr>
        <p:txBody>
          <a:bodyPr wrap="square" rtlCol="0" anchor="ctr"/>
          <a:lstStyle/>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Delegates intake tasks to Application Intake Agent</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Delegates interview prep to Interview Prep Agent</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Maintains conversation context across all specialist calls</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Uses generative AI orchestration for routing decisions</a:t>
            </a:r>
            <a:endParaRPr lang="en-US" sz="950" dirty="0"/>
          </a:p>
        </p:txBody>
      </p:sp>
      <p:sp>
        <p:nvSpPr>
          <p:cNvPr id="13" name="Shape 11"/>
          <p:cNvSpPr/>
          <p:nvPr/>
        </p:nvSpPr>
        <p:spPr>
          <a:xfrm>
            <a:off x="3163824" y="1783080"/>
            <a:ext cx="2788920" cy="23774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14" name="Shape 12"/>
          <p:cNvSpPr/>
          <p:nvPr/>
        </p:nvSpPr>
        <p:spPr>
          <a:xfrm>
            <a:off x="3163824" y="1783080"/>
            <a:ext cx="2788920" cy="384048"/>
          </a:xfrm>
          <a:prstGeom prst="rect">
            <a:avLst/>
          </a:prstGeom>
          <a:solidFill>
            <a:srgbClr val="00B294"/>
          </a:solidFill>
          <a:ln w="12700">
            <a:solidFill>
              <a:srgbClr val="00B294"/>
            </a:solidFill>
            <a:prstDash val="solid"/>
          </a:ln>
        </p:spPr>
      </p:sp>
      <p:sp>
        <p:nvSpPr>
          <p:cNvPr id="15" name="Shape 13"/>
          <p:cNvSpPr/>
          <p:nvPr/>
        </p:nvSpPr>
        <p:spPr>
          <a:xfrm>
            <a:off x="3255264" y="1874520"/>
            <a:ext cx="731520" cy="201168"/>
          </a:xfrm>
          <a:prstGeom prst="rect">
            <a:avLst/>
          </a:prstGeom>
          <a:solidFill>
            <a:srgbClr val="FFFFFF"/>
          </a:solidFill>
          <a:ln w="12700">
            <a:solidFill>
              <a:srgbClr val="FFFFFF"/>
            </a:solidFill>
            <a:prstDash val="solid"/>
          </a:ln>
        </p:spPr>
      </p:sp>
      <p:sp>
        <p:nvSpPr>
          <p:cNvPr id="16" name="Text 14"/>
          <p:cNvSpPr/>
          <p:nvPr/>
        </p:nvSpPr>
        <p:spPr>
          <a:xfrm>
            <a:off x="3255264" y="1874520"/>
            <a:ext cx="731520" cy="201168"/>
          </a:xfrm>
          <a:prstGeom prst="rect">
            <a:avLst/>
          </a:prstGeom>
          <a:noFill/>
          <a:ln/>
        </p:spPr>
        <p:txBody>
          <a:bodyPr wrap="square" lIns="0" tIns="0" rIns="0" bIns="0" rtlCol="0" anchor="ctr"/>
          <a:lstStyle/>
          <a:p>
            <a:pPr algn="ctr" indent="0" marL="0">
              <a:buNone/>
            </a:pPr>
            <a:r>
              <a:rPr lang="en-US" sz="800" b="1" dirty="0">
                <a:solidFill>
                  <a:srgbClr val="00B294"/>
                </a:solidFill>
                <a:latin typeface="Segoe UI" pitchFamily="34" charset="0"/>
                <a:ea typeface="Segoe UI" pitchFamily="34" charset="-122"/>
                <a:cs typeface="Segoe UI" pitchFamily="34" charset="-120"/>
              </a:rPr>
              <a:t>Child Agent</a:t>
            </a:r>
            <a:endParaRPr lang="en-US" sz="800" dirty="0"/>
          </a:p>
        </p:txBody>
      </p:sp>
      <p:sp>
        <p:nvSpPr>
          <p:cNvPr id="17" name="Text 15"/>
          <p:cNvSpPr/>
          <p:nvPr/>
        </p:nvSpPr>
        <p:spPr>
          <a:xfrm>
            <a:off x="4078224" y="1783080"/>
            <a:ext cx="1783080" cy="384048"/>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Application Intake Agent</a:t>
            </a:r>
            <a:endParaRPr lang="en-US" sz="1100" dirty="0"/>
          </a:p>
        </p:txBody>
      </p:sp>
      <p:sp>
        <p:nvSpPr>
          <p:cNvPr id="18" name="Text 16"/>
          <p:cNvSpPr/>
          <p:nvPr/>
        </p:nvSpPr>
        <p:spPr>
          <a:xfrm>
            <a:off x="3255264" y="2231136"/>
            <a:ext cx="2624328" cy="274320"/>
          </a:xfrm>
          <a:prstGeom prst="rect">
            <a:avLst/>
          </a:prstGeom>
          <a:noFill/>
          <a:ln/>
        </p:spPr>
        <p:txBody>
          <a:bodyPr wrap="square" rtlCol="0" anchor="ctr"/>
          <a:lstStyle/>
          <a:p>
            <a:pPr indent="0" marL="0">
              <a:buNone/>
            </a:pPr>
            <a:r>
              <a:rPr lang="en-US" sz="950" b="1" dirty="0">
                <a:solidFill>
                  <a:srgbClr val="00B294"/>
                </a:solidFill>
                <a:latin typeface="Segoe UI" pitchFamily="34" charset="0"/>
                <a:ea typeface="Segoe UI" pitchFamily="34" charset="-122"/>
                <a:cs typeface="Segoe UI" pitchFamily="34" charset="-120"/>
              </a:rPr>
              <a:t>Handles new resumes and candidate data collection</a:t>
            </a:r>
            <a:endParaRPr lang="en-US" sz="950" dirty="0"/>
          </a:p>
        </p:txBody>
      </p:sp>
      <p:sp>
        <p:nvSpPr>
          <p:cNvPr id="19" name="Text 17"/>
          <p:cNvSpPr/>
          <p:nvPr/>
        </p:nvSpPr>
        <p:spPr>
          <a:xfrm>
            <a:off x="3255264" y="2542032"/>
            <a:ext cx="2624328" cy="1536192"/>
          </a:xfrm>
          <a:prstGeom prst="rect">
            <a:avLst/>
          </a:prstGeom>
          <a:noFill/>
          <a:ln/>
        </p:spPr>
        <p:txBody>
          <a:bodyPr wrap="square" rtlCol="0" anchor="ctr"/>
          <a:lstStyle/>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Receives delegated intake tasks from the orchestrator</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Collects missing candidate details and prepares summaries</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Stores candidate and application records to Dataverse</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Stays focused on intake — routes interview requests back</a:t>
            </a:r>
            <a:endParaRPr lang="en-US" sz="950" dirty="0"/>
          </a:p>
        </p:txBody>
      </p:sp>
      <p:sp>
        <p:nvSpPr>
          <p:cNvPr id="20" name="Shape 18"/>
          <p:cNvSpPr/>
          <p:nvPr/>
        </p:nvSpPr>
        <p:spPr>
          <a:xfrm>
            <a:off x="6071616" y="1783080"/>
            <a:ext cx="2788920" cy="23774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21" name="Shape 19"/>
          <p:cNvSpPr/>
          <p:nvPr/>
        </p:nvSpPr>
        <p:spPr>
          <a:xfrm>
            <a:off x="6071616" y="1783080"/>
            <a:ext cx="2788920" cy="384048"/>
          </a:xfrm>
          <a:prstGeom prst="rect">
            <a:avLst/>
          </a:prstGeom>
          <a:solidFill>
            <a:srgbClr val="5C2D91"/>
          </a:solidFill>
          <a:ln w="12700">
            <a:solidFill>
              <a:srgbClr val="5C2D91"/>
            </a:solidFill>
            <a:prstDash val="solid"/>
          </a:ln>
        </p:spPr>
      </p:sp>
      <p:sp>
        <p:nvSpPr>
          <p:cNvPr id="22" name="Shape 20"/>
          <p:cNvSpPr/>
          <p:nvPr/>
        </p:nvSpPr>
        <p:spPr>
          <a:xfrm>
            <a:off x="6163056" y="1874520"/>
            <a:ext cx="731520" cy="201168"/>
          </a:xfrm>
          <a:prstGeom prst="rect">
            <a:avLst/>
          </a:prstGeom>
          <a:solidFill>
            <a:srgbClr val="FFFFFF"/>
          </a:solidFill>
          <a:ln w="12700">
            <a:solidFill>
              <a:srgbClr val="FFFFFF"/>
            </a:solidFill>
            <a:prstDash val="solid"/>
          </a:ln>
        </p:spPr>
      </p:sp>
      <p:sp>
        <p:nvSpPr>
          <p:cNvPr id="23" name="Text 21"/>
          <p:cNvSpPr/>
          <p:nvPr/>
        </p:nvSpPr>
        <p:spPr>
          <a:xfrm>
            <a:off x="6163056" y="1874520"/>
            <a:ext cx="731520" cy="201168"/>
          </a:xfrm>
          <a:prstGeom prst="rect">
            <a:avLst/>
          </a:prstGeom>
          <a:noFill/>
          <a:ln/>
        </p:spPr>
        <p:txBody>
          <a:bodyPr wrap="square" lIns="0" tIns="0" rIns="0" bIns="0" rtlCol="0" anchor="ctr"/>
          <a:lstStyle/>
          <a:p>
            <a:pPr algn="ctr" indent="0" marL="0">
              <a:buNone/>
            </a:pPr>
            <a:r>
              <a:rPr lang="en-US" sz="800" b="1" dirty="0">
                <a:solidFill>
                  <a:srgbClr val="5C2D91"/>
                </a:solidFill>
                <a:latin typeface="Segoe UI" pitchFamily="34" charset="0"/>
                <a:ea typeface="Segoe UI" pitchFamily="34" charset="-122"/>
                <a:cs typeface="Segoe UI" pitchFamily="34" charset="-120"/>
              </a:rPr>
              <a:t>Connected Agent</a:t>
            </a:r>
            <a:endParaRPr lang="en-US" sz="800" dirty="0"/>
          </a:p>
        </p:txBody>
      </p:sp>
      <p:sp>
        <p:nvSpPr>
          <p:cNvPr id="24" name="Text 22"/>
          <p:cNvSpPr/>
          <p:nvPr/>
        </p:nvSpPr>
        <p:spPr>
          <a:xfrm>
            <a:off x="6986016" y="1783080"/>
            <a:ext cx="1783080" cy="384048"/>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Interview Prep Agent</a:t>
            </a:r>
            <a:endParaRPr lang="en-US" sz="1100" dirty="0"/>
          </a:p>
        </p:txBody>
      </p:sp>
      <p:sp>
        <p:nvSpPr>
          <p:cNvPr id="25" name="Text 23"/>
          <p:cNvSpPr/>
          <p:nvPr/>
        </p:nvSpPr>
        <p:spPr>
          <a:xfrm>
            <a:off x="6163056" y="2231136"/>
            <a:ext cx="2624328" cy="274320"/>
          </a:xfrm>
          <a:prstGeom prst="rect">
            <a:avLst/>
          </a:prstGeom>
          <a:noFill/>
          <a:ln/>
        </p:spPr>
        <p:txBody>
          <a:bodyPr wrap="square" rtlCol="0" anchor="ctr"/>
          <a:lstStyle/>
          <a:p>
            <a:pPr indent="0" marL="0">
              <a:buNone/>
            </a:pPr>
            <a:r>
              <a:rPr lang="en-US" sz="950" b="1" dirty="0">
                <a:solidFill>
                  <a:srgbClr val="5C2D91"/>
                </a:solidFill>
                <a:latin typeface="Segoe UI" pitchFamily="34" charset="0"/>
                <a:ea typeface="Segoe UI" pitchFamily="34" charset="-122"/>
                <a:cs typeface="Segoe UI" pitchFamily="34" charset="-120"/>
              </a:rPr>
              <a:t>Creates interview guides, questions, and evaluation support</a:t>
            </a:r>
            <a:endParaRPr lang="en-US" sz="950" dirty="0"/>
          </a:p>
        </p:txBody>
      </p:sp>
      <p:sp>
        <p:nvSpPr>
          <p:cNvPr id="26" name="Text 24"/>
          <p:cNvSpPr/>
          <p:nvPr/>
        </p:nvSpPr>
        <p:spPr>
          <a:xfrm>
            <a:off x="6163056" y="2542032"/>
            <a:ext cx="2624328" cy="1536192"/>
          </a:xfrm>
          <a:prstGeom prst="rect">
            <a:avLst/>
          </a:prstGeom>
          <a:noFill/>
          <a:ln/>
        </p:spPr>
        <p:txBody>
          <a:bodyPr wrap="square" rtlCol="0" anchor="ctr"/>
          <a:lstStyle/>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Discoverable by other agents in the same environment</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Grounded in Dataverse Job Role and Evaluation Criteria tables</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Produces structured interview rubrics and question sets</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Configured with 'Allow connections' on for orchestrator discovery</a:t>
            </a:r>
            <a:endParaRPr lang="en-US" sz="950" dirty="0"/>
          </a:p>
        </p:txBody>
      </p:sp>
      <p:sp>
        <p:nvSpPr>
          <p:cNvPr id="27" name="Shape 25"/>
          <p:cNvSpPr/>
          <p:nvPr/>
        </p:nvSpPr>
        <p:spPr>
          <a:xfrm>
            <a:off x="256032" y="4251960"/>
            <a:ext cx="8631936" cy="347472"/>
          </a:xfrm>
          <a:prstGeom prst="rect">
            <a:avLst/>
          </a:prstGeom>
          <a:solidFill>
            <a:srgbClr val="D47900"/>
          </a:solidFill>
          <a:ln w="12700">
            <a:solidFill>
              <a:srgbClr val="D47900"/>
            </a:solidFill>
            <a:prstDash val="solid"/>
          </a:ln>
        </p:spPr>
      </p:sp>
      <p:sp>
        <p:nvSpPr>
          <p:cNvPr id="28" name="Text 26"/>
          <p:cNvSpPr/>
          <p:nvPr/>
        </p:nvSpPr>
        <p:spPr>
          <a:xfrm>
            <a:off x="320040" y="4251960"/>
            <a:ext cx="8503920" cy="347472"/>
          </a:xfrm>
          <a:prstGeom prst="rect">
            <a:avLst/>
          </a:prstGeom>
          <a:noFill/>
          <a:ln/>
        </p:spPr>
        <p:txBody>
          <a:bodyPr wrap="square"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Shared Data  ·  Dataverse: Candidate, Resume, Job Application, Job Role, Evaluation Criteria</a:t>
            </a:r>
            <a:endParaRPr lang="en-US" sz="1050" dirty="0"/>
          </a:p>
        </p:txBody>
      </p:sp>
      <p:sp>
        <p:nvSpPr>
          <p:cNvPr id="29" name="Shape 27"/>
          <p:cNvSpPr/>
          <p:nvPr/>
        </p:nvSpPr>
        <p:spPr>
          <a:xfrm>
            <a:off x="256032" y="4663440"/>
            <a:ext cx="8631936" cy="320040"/>
          </a:xfrm>
          <a:prstGeom prst="rect">
            <a:avLst/>
          </a:prstGeom>
          <a:solidFill>
            <a:srgbClr val="EFF6FC"/>
          </a:solidFill>
          <a:ln w="12700">
            <a:solidFill>
              <a:srgbClr val="C7E0F4"/>
            </a:solidFill>
            <a:prstDash val="solid"/>
          </a:ln>
        </p:spPr>
      </p:sp>
      <p:sp>
        <p:nvSpPr>
          <p:cNvPr id="30" name="Text 28"/>
          <p:cNvSpPr/>
          <p:nvPr/>
        </p:nvSpPr>
        <p:spPr>
          <a:xfrm>
            <a:off x="402336" y="4663440"/>
            <a:ext cx="8485632" cy="320040"/>
          </a:xfrm>
          <a:prstGeom prst="rect">
            <a:avLst/>
          </a:prstGeom>
          <a:noFill/>
          <a:ln/>
        </p:spPr>
        <p:txBody>
          <a:bodyPr wrap="square" rtlCol="0" anchor="ctr"/>
          <a:lstStyle/>
          <a:p>
            <a:pPr indent="0" marL="0">
              <a:buNone/>
            </a:pPr>
            <a:r>
              <a:rPr lang="en-US" sz="1050" dirty="0">
                <a:solidFill>
                  <a:srgbClr val="0078D4"/>
                </a:solidFill>
                <a:latin typeface="Segoe UI" pitchFamily="34" charset="0"/>
                <a:ea typeface="Segoe UI" pitchFamily="34" charset="-122"/>
                <a:cs typeface="Segoe UI" pitchFamily="34" charset="-120"/>
              </a:rPr>
              <a:t>The Self-check is the operating view for debugging handoffs — confirm each agent call is visible before moving on.</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Studio Workshop — Module 07: Hiring Architecture</dc:title>
  <dc:subject>PptxGenJS Presentation</dc:subject>
  <dc:creator>Microsoft</dc:creator>
  <cp:lastModifiedBy>Microsoft</cp:lastModifiedBy>
  <cp:revision>1</cp:revision>
  <dcterms:created xsi:type="dcterms:W3CDTF">2026-03-23T21:39:23Z</dcterms:created>
  <dcterms:modified xsi:type="dcterms:W3CDTF">2026-03-23T21:39:23Z</dcterms:modified>
</cp:coreProperties>
</file>