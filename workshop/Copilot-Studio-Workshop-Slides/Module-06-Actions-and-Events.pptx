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where the agent starts to become part of a business system. Move from structured conversation into explicit actions, event-driven workflows, publish readiness, and the commercial model that makes production deployments credible. Bring the room into orchestration thinking — not freeform prompting, but systematic, auditable business process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generative-mode guidance to show that better instructions reduce ambiguity everywhere. Ask participants: which instruction from Lab 06 would now need updating to work reliably with a connected flow? Good orchestration rules separate labs that guess from labs that test. The win here is repeatability, not cleverness.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action wiring is a common confidence dip. Coach learners to get one clean end-to-end path working before adding optional branches or error handling. Map card outputs to flow inputs explicitly and confirm the Activity trace shows all tool calls before declaring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10 depends on the agent having working tools so the event trigger can call one. Remind participants that the Acknowledge SharePoint ticket tool used in Lab 10 follows the same add-a-tool Connector pattern used here. If the flow does not return a confirmation message, check that the Respond to Copilot Studio step is the last step and the response variable is mapped.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lab to explain the difference between user-initiated topics and system-initiated triggers. Call out the credential model clearly — event triggers use maker credentials, which affects what data access the flow has and what governance review is required. If testing is slow, demonstrate one run and let participants focus on the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trigger path back to observable operations. Participants understand the concept once they see the agent fire without anyone opening the chat. Emphasize the governance implication: maker credentials mean the agent acts on behalf of the maker, not the ticket submitter — this affects what data access the flow has and needs a security review before production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transition to refocus the room on operational credibility. Summarize what the room has already proven: grounded answers, structured inputs, flow handoff, and event behavior. Then pivot the language from 'can it work?' to 'can we own, publish, and support it?' If time slips, shorten channel comparison first and protect the Day 1 licensing and ROI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often think publishing and channel configuration are the same task. Demonstrate the difference: Publish makes the version live; channel configuration controls where users find it. Keep validation focused on Teams. If the environment cannot publish, use screenshots or a demo so participants still see the end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publishing is a coordination task across makers, admins, and business owners. Mention WhatsApp briefly as a GA channel so participants see that channel strategy is broader than Teams alone. Day 2 will extend this — enterprise data and MCP connectors open additional channel and integration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lab anchored to the workshop scenario, not abstract licensing theory. Use the FAQ answers as discussion prompts and let IT Pro participants add tenant governance considerations. Spend five focused minutes on Savings analytics — this is often the bridge from technical success to leadership buy-in. End by reminding participants that technical success and commercial readiness are both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Day 1 by linking technical progress to commercial credibility and Day 2 readiness. Tie each example back to a capacity story: simple grounded answers, advanced actions, triggers, external channels, and evaluation all affect the commercial conversation differently. Tell the room that Day 2 quality evidence and evaluation results are what make this licensing discussion credible to sponsors and delivery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06</a:t>
            </a:r>
            <a:endParaRPr lang="en-US" sz="1100" dirty="0"/>
          </a:p>
        </p:txBody>
      </p:sp>
      <p:sp>
        <p:nvSpPr>
          <p:cNvPr id="5" name="Text 3"/>
          <p:cNvSpPr/>
          <p:nvPr/>
        </p:nvSpPr>
        <p:spPr>
          <a:xfrm>
            <a:off x="594360" y="1078992"/>
            <a:ext cx="8229600" cy="1005840"/>
          </a:xfrm>
          <a:prstGeom prst="rect">
            <a:avLst/>
          </a:prstGeom>
          <a:noFill/>
          <a:ln/>
        </p:spPr>
        <p:txBody>
          <a:bodyPr wrap="square" rtlCol="0" anchor="ctr"/>
          <a:lstStyle/>
          <a:p>
            <a:pPr indent="0" marL="0">
              <a:buNone/>
            </a:pPr>
            <a:r>
              <a:rPr lang="en-US" sz="5200" b="1" dirty="0">
                <a:solidFill>
                  <a:srgbClr val="FFFFFF"/>
                </a:solidFill>
                <a:latin typeface="Segoe UI" pitchFamily="34" charset="0"/>
                <a:ea typeface="Segoe UI" pitchFamily="34" charset="-122"/>
                <a:cs typeface="Segoe UI" pitchFamily="34" charset="-120"/>
              </a:rPr>
              <a:t>Actions and Events</a:t>
            </a:r>
            <a:endParaRPr lang="en-US" sz="5200" dirty="0"/>
          </a:p>
        </p:txBody>
      </p:sp>
      <p:sp>
        <p:nvSpPr>
          <p:cNvPr id="6" name="Text 4"/>
          <p:cNvSpPr/>
          <p:nvPr/>
        </p:nvSpPr>
        <p:spPr>
          <a:xfrm>
            <a:off x="594360" y="2194560"/>
            <a:ext cx="7955280" cy="530352"/>
          </a:xfrm>
          <a:prstGeom prst="rect">
            <a:avLst/>
          </a:prstGeom>
          <a:noFill/>
          <a:ln/>
        </p:spPr>
        <p:txBody>
          <a:bodyPr wrap="square" rtlCol="0" anchor="ctr"/>
          <a:lstStyle/>
          <a:p>
            <a:pPr indent="0" marL="0">
              <a:buNone/>
            </a:pPr>
            <a:r>
              <a:rPr lang="en-US" sz="1300" dirty="0">
                <a:solidFill>
                  <a:srgbClr val="C5D8F0"/>
                </a:solidFill>
                <a:latin typeface="Segoe UI" pitchFamily="34" charset="0"/>
                <a:ea typeface="Segoe UI" pitchFamily="34" charset="-122"/>
                <a:cs typeface="Segoe UI" pitchFamily="34" charset="-120"/>
              </a:rPr>
              <a:t>Connect conversation to business process — explicit actions, event-driven automation, publish readiness, and commercial foundations</a:t>
            </a:r>
            <a:endParaRPr lang="en-US" sz="1300" dirty="0"/>
          </a:p>
        </p:txBody>
      </p:sp>
      <p:sp>
        <p:nvSpPr>
          <p:cNvPr id="7" name="Shape 5"/>
          <p:cNvSpPr/>
          <p:nvPr/>
        </p:nvSpPr>
        <p:spPr>
          <a:xfrm>
            <a:off x="594360" y="2971800"/>
            <a:ext cx="2633472" cy="438912"/>
          </a:xfrm>
          <a:prstGeom prst="rect">
            <a:avLst/>
          </a:prstGeom>
          <a:solidFill>
            <a:srgbClr val="0078D4"/>
          </a:solidFill>
          <a:ln w="12700">
            <a:solidFill>
              <a:srgbClr val="0078D4"/>
            </a:solidFill>
            <a:prstDash val="solid"/>
          </a:ln>
        </p:spPr>
      </p:sp>
      <p:sp>
        <p:nvSpPr>
          <p:cNvPr id="8" name="Text 6"/>
          <p:cNvSpPr/>
          <p:nvPr/>
        </p:nvSpPr>
        <p:spPr>
          <a:xfrm>
            <a:off x="594360"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Agent Flows</a:t>
            </a:r>
            <a:endParaRPr lang="en-US" sz="1150" dirty="0"/>
          </a:p>
        </p:txBody>
      </p:sp>
      <p:sp>
        <p:nvSpPr>
          <p:cNvPr id="9" name="Shape 7"/>
          <p:cNvSpPr/>
          <p:nvPr/>
        </p:nvSpPr>
        <p:spPr>
          <a:xfrm>
            <a:off x="3410712" y="2971800"/>
            <a:ext cx="2633472" cy="438912"/>
          </a:xfrm>
          <a:prstGeom prst="rect">
            <a:avLst/>
          </a:prstGeom>
          <a:solidFill>
            <a:srgbClr val="00B294"/>
          </a:solidFill>
          <a:ln w="12700">
            <a:solidFill>
              <a:srgbClr val="00B294"/>
            </a:solidFill>
            <a:prstDash val="solid"/>
          </a:ln>
        </p:spPr>
      </p:sp>
      <p:sp>
        <p:nvSpPr>
          <p:cNvPr id="10" name="Text 8"/>
          <p:cNvSpPr/>
          <p:nvPr/>
        </p:nvSpPr>
        <p:spPr>
          <a:xfrm>
            <a:off x="3410712"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Event Triggers</a:t>
            </a:r>
            <a:endParaRPr lang="en-US" sz="1150" dirty="0"/>
          </a:p>
        </p:txBody>
      </p:sp>
      <p:sp>
        <p:nvSpPr>
          <p:cNvPr id="11" name="Shape 9"/>
          <p:cNvSpPr/>
          <p:nvPr/>
        </p:nvSpPr>
        <p:spPr>
          <a:xfrm>
            <a:off x="6227064" y="2971800"/>
            <a:ext cx="2633472" cy="438912"/>
          </a:xfrm>
          <a:prstGeom prst="rect">
            <a:avLst/>
          </a:prstGeom>
          <a:solidFill>
            <a:srgbClr val="5C2D91"/>
          </a:solidFill>
          <a:ln w="12700">
            <a:solidFill>
              <a:srgbClr val="5C2D91"/>
            </a:solidFill>
            <a:prstDash val="solid"/>
          </a:ln>
        </p:spPr>
      </p:sp>
      <p:sp>
        <p:nvSpPr>
          <p:cNvPr id="12" name="Text 10"/>
          <p:cNvSpPr/>
          <p:nvPr/>
        </p:nvSpPr>
        <p:spPr>
          <a:xfrm>
            <a:off x="6227064"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Publish &amp; License</a:t>
            </a:r>
            <a:endParaRPr lang="en-US" sz="115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Labs 09–12  ·  Day 1 Recruit Track  ·  Closes Day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06  ·  ACTIONS AND EVENTS</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Three Orchestration Rules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Better instructions reduce ambiguity everywhere — constrain outputs, stay grounded, and make actions visible.</a:t>
            </a:r>
            <a:endParaRPr lang="en-US" sz="1200" dirty="0"/>
          </a:p>
        </p:txBody>
      </p:sp>
      <p:sp>
        <p:nvSpPr>
          <p:cNvPr id="6" name="Shape 4"/>
          <p:cNvSpPr/>
          <p:nvPr/>
        </p:nvSpPr>
        <p:spPr>
          <a:xfrm>
            <a:off x="2560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783080"/>
            <a:ext cx="2834640" cy="457200"/>
          </a:xfrm>
          <a:prstGeom prst="rect">
            <a:avLst/>
          </a:prstGeom>
          <a:solidFill>
            <a:srgbClr val="0078D4"/>
          </a:solidFill>
          <a:ln w="12700">
            <a:solidFill>
              <a:srgbClr val="0078D4"/>
            </a:solidFill>
            <a:prstDash val="solid"/>
          </a:ln>
        </p:spPr>
      </p:sp>
      <p:sp>
        <p:nvSpPr>
          <p:cNvPr id="8" name="Shape 6"/>
          <p:cNvSpPr/>
          <p:nvPr/>
        </p:nvSpPr>
        <p:spPr>
          <a:xfrm>
            <a:off x="347472" y="1892808"/>
            <a:ext cx="274320" cy="274320"/>
          </a:xfrm>
          <a:prstGeom prst="ellipse">
            <a:avLst/>
          </a:prstGeom>
          <a:solidFill>
            <a:srgbClr val="FFFFFF"/>
          </a:solidFill>
          <a:ln w="12700">
            <a:solidFill>
              <a:srgbClr val="FFFFFF"/>
            </a:solidFill>
            <a:prstDash val="solid"/>
          </a:ln>
        </p:spPr>
      </p:sp>
      <p:sp>
        <p:nvSpPr>
          <p:cNvPr id="9" name="Text 7"/>
          <p:cNvSpPr/>
          <p:nvPr/>
        </p:nvSpPr>
        <p:spPr>
          <a:xfrm>
            <a:off x="347472" y="1892808"/>
            <a:ext cx="274320" cy="274320"/>
          </a:xfrm>
          <a:prstGeom prst="rect">
            <a:avLst/>
          </a:prstGeom>
          <a:noFill/>
          <a:ln/>
        </p:spPr>
        <p:txBody>
          <a:bodyPr wrap="square" lIns="0" tIns="0" rIns="0" bIns="0" rtlCol="0" anchor="ctr"/>
          <a:lstStyle/>
          <a:p>
            <a:pPr algn="ctr" indent="0" marL="0">
              <a:buNone/>
            </a:pPr>
            <a:r>
              <a:rPr lang="en-US" sz="1000" b="1" dirty="0">
                <a:solidFill>
                  <a:srgbClr val="0078D4"/>
                </a:solidFill>
                <a:latin typeface="Segoe UI" pitchFamily="34" charset="0"/>
                <a:ea typeface="Segoe UI" pitchFamily="34" charset="-122"/>
                <a:cs typeface="Segoe UI" pitchFamily="34" charset="-120"/>
              </a:rPr>
              <a:t>1</a:t>
            </a:r>
            <a:endParaRPr lang="en-US" sz="1000" dirty="0"/>
          </a:p>
        </p:txBody>
      </p:sp>
      <p:sp>
        <p:nvSpPr>
          <p:cNvPr id="10" name="Text 8"/>
          <p:cNvSpPr/>
          <p:nvPr/>
        </p:nvSpPr>
        <p:spPr>
          <a:xfrm>
            <a:off x="713232" y="1783080"/>
            <a:ext cx="2286000" cy="4572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Constrain outputs, tools, and format</a:t>
            </a:r>
            <a:endParaRPr lang="en-US" sz="1100" dirty="0"/>
          </a:p>
        </p:txBody>
      </p:sp>
      <p:sp>
        <p:nvSpPr>
          <p:cNvPr id="11" name="Text 9"/>
          <p:cNvSpPr/>
          <p:nvPr/>
        </p:nvSpPr>
        <p:spPr>
          <a:xfrm>
            <a:off x="347472" y="2313432"/>
            <a:ext cx="2670048" cy="256032"/>
          </a:xfrm>
          <a:prstGeom prst="rect">
            <a:avLst/>
          </a:prstGeom>
          <a:noFill/>
          <a:ln/>
        </p:spPr>
        <p:txBody>
          <a:bodyPr wrap="square" rtlCol="0" anchor="ctr"/>
          <a:lstStyle/>
          <a:p>
            <a:pPr indent="0" marL="0">
              <a:buNone/>
            </a:pPr>
            <a:r>
              <a:rPr lang="en-US" sz="950" b="1" dirty="0">
                <a:solidFill>
                  <a:srgbClr val="0078D4"/>
                </a:solidFill>
                <a:latin typeface="Segoe UI" pitchFamily="34" charset="0"/>
                <a:ea typeface="Segoe UI" pitchFamily="34" charset="-122"/>
                <a:cs typeface="Segoe UI" pitchFamily="34" charset="-120"/>
              </a:rPr>
              <a:t>Target repeatable business outputs — not creative variance</a:t>
            </a:r>
            <a:endParaRPr lang="en-US" sz="950" dirty="0"/>
          </a:p>
        </p:txBody>
      </p:sp>
      <p:sp>
        <p:nvSpPr>
          <p:cNvPr id="12" name="Text 10"/>
          <p:cNvSpPr/>
          <p:nvPr/>
        </p:nvSpPr>
        <p:spPr>
          <a:xfrm>
            <a:off x="347472" y="2596896"/>
            <a:ext cx="2670048" cy="214884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Write instructions that specify format, tool selection criteria, and response length for production use</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Prefer consistent, predictable outputs over creative answers where the workflow needs reliability</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Test instructions with realistic inputs — not idealized ones — before wiring to a live action</a:t>
            </a:r>
            <a:endParaRPr lang="en-US" sz="1000" dirty="0"/>
          </a:p>
        </p:txBody>
      </p:sp>
      <p:sp>
        <p:nvSpPr>
          <p:cNvPr id="13" name="Shape 11"/>
          <p:cNvSpPr/>
          <p:nvPr/>
        </p:nvSpPr>
        <p:spPr>
          <a:xfrm>
            <a:off x="32278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3227832" y="1783080"/>
            <a:ext cx="2834640" cy="457200"/>
          </a:xfrm>
          <a:prstGeom prst="rect">
            <a:avLst/>
          </a:prstGeom>
          <a:solidFill>
            <a:srgbClr val="00B294"/>
          </a:solidFill>
          <a:ln w="12700">
            <a:solidFill>
              <a:srgbClr val="00B294"/>
            </a:solidFill>
            <a:prstDash val="solid"/>
          </a:ln>
        </p:spPr>
      </p:sp>
      <p:sp>
        <p:nvSpPr>
          <p:cNvPr id="15" name="Shape 13"/>
          <p:cNvSpPr/>
          <p:nvPr/>
        </p:nvSpPr>
        <p:spPr>
          <a:xfrm>
            <a:off x="3319272" y="1892808"/>
            <a:ext cx="274320" cy="274320"/>
          </a:xfrm>
          <a:prstGeom prst="ellipse">
            <a:avLst/>
          </a:prstGeom>
          <a:solidFill>
            <a:srgbClr val="FFFFFF"/>
          </a:solidFill>
          <a:ln w="12700">
            <a:solidFill>
              <a:srgbClr val="FFFFFF"/>
            </a:solidFill>
            <a:prstDash val="solid"/>
          </a:ln>
        </p:spPr>
      </p:sp>
      <p:sp>
        <p:nvSpPr>
          <p:cNvPr id="16" name="Text 14"/>
          <p:cNvSpPr/>
          <p:nvPr/>
        </p:nvSpPr>
        <p:spPr>
          <a:xfrm>
            <a:off x="3319272" y="1892808"/>
            <a:ext cx="274320" cy="274320"/>
          </a:xfrm>
          <a:prstGeom prst="rect">
            <a:avLst/>
          </a:prstGeom>
          <a:noFill/>
          <a:ln/>
        </p:spPr>
        <p:txBody>
          <a:bodyPr wrap="square" lIns="0" tIns="0" rIns="0" bIns="0" rtlCol="0" anchor="ctr"/>
          <a:lstStyle/>
          <a:p>
            <a:pPr algn="ctr" indent="0" marL="0">
              <a:buNone/>
            </a:pPr>
            <a:r>
              <a:rPr lang="en-US" sz="1000" b="1" dirty="0">
                <a:solidFill>
                  <a:srgbClr val="00B294"/>
                </a:solidFill>
                <a:latin typeface="Segoe UI" pitchFamily="34" charset="0"/>
                <a:ea typeface="Segoe UI" pitchFamily="34" charset="-122"/>
                <a:cs typeface="Segoe UI" pitchFamily="34" charset="-120"/>
              </a:rPr>
              <a:t>2</a:t>
            </a:r>
            <a:endParaRPr lang="en-US" sz="1000" dirty="0"/>
          </a:p>
        </p:txBody>
      </p:sp>
      <p:sp>
        <p:nvSpPr>
          <p:cNvPr id="17" name="Text 15"/>
          <p:cNvSpPr/>
          <p:nvPr/>
        </p:nvSpPr>
        <p:spPr>
          <a:xfrm>
            <a:off x="3685032" y="1783080"/>
            <a:ext cx="2286000" cy="4572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Stay grounded in configured tools</a:t>
            </a:r>
            <a:endParaRPr lang="en-US" sz="1100" dirty="0"/>
          </a:p>
        </p:txBody>
      </p:sp>
      <p:sp>
        <p:nvSpPr>
          <p:cNvPr id="18" name="Text 16"/>
          <p:cNvSpPr/>
          <p:nvPr/>
        </p:nvSpPr>
        <p:spPr>
          <a:xfrm>
            <a:off x="3319272" y="2313432"/>
            <a:ext cx="2670048" cy="256032"/>
          </a:xfrm>
          <a:prstGeom prst="rect">
            <a:avLst/>
          </a:prstGeom>
          <a:noFill/>
          <a:ln/>
        </p:spPr>
        <p:txBody>
          <a:bodyPr wrap="square" rtlCol="0" anchor="ctr"/>
          <a:lstStyle/>
          <a:p>
            <a:pPr indent="0" marL="0">
              <a:buNone/>
            </a:pPr>
            <a:r>
              <a:rPr lang="en-US" sz="950" b="1" dirty="0">
                <a:solidFill>
                  <a:srgbClr val="00B294"/>
                </a:solidFill>
                <a:latin typeface="Segoe UI" pitchFamily="34" charset="0"/>
                <a:ea typeface="Segoe UI" pitchFamily="34" charset="-122"/>
                <a:cs typeface="Segoe UI" pitchFamily="34" charset="-120"/>
              </a:rPr>
              <a:t>Wire first, then instruct — not the other way around</a:t>
            </a:r>
            <a:endParaRPr lang="en-US" sz="950" dirty="0"/>
          </a:p>
        </p:txBody>
      </p:sp>
      <p:sp>
        <p:nvSpPr>
          <p:cNvPr id="19" name="Text 17"/>
          <p:cNvSpPr/>
          <p:nvPr/>
        </p:nvSpPr>
        <p:spPr>
          <a:xfrm>
            <a:off x="3319272" y="2596896"/>
            <a:ext cx="2670048" cy="214884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Instructions that reference tools or knowledge you have not configured create confabulation risk</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Each action instruction should map to a saved connector, cloud flow, or topic — not a hoped-for behavior</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Grounding discipline reduces diagnosis time when an action misfires in production</a:t>
            </a:r>
            <a:endParaRPr lang="en-US" sz="1000" dirty="0"/>
          </a:p>
        </p:txBody>
      </p:sp>
      <p:sp>
        <p:nvSpPr>
          <p:cNvPr id="20" name="Shape 18"/>
          <p:cNvSpPr/>
          <p:nvPr/>
        </p:nvSpPr>
        <p:spPr>
          <a:xfrm>
            <a:off x="61996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199632" y="1783080"/>
            <a:ext cx="2834640" cy="457200"/>
          </a:xfrm>
          <a:prstGeom prst="rect">
            <a:avLst/>
          </a:prstGeom>
          <a:solidFill>
            <a:srgbClr val="5C2D91"/>
          </a:solidFill>
          <a:ln w="12700">
            <a:solidFill>
              <a:srgbClr val="5C2D91"/>
            </a:solidFill>
            <a:prstDash val="solid"/>
          </a:ln>
        </p:spPr>
      </p:sp>
      <p:sp>
        <p:nvSpPr>
          <p:cNvPr id="22" name="Shape 20"/>
          <p:cNvSpPr/>
          <p:nvPr/>
        </p:nvSpPr>
        <p:spPr>
          <a:xfrm>
            <a:off x="6291072" y="1892808"/>
            <a:ext cx="274320" cy="274320"/>
          </a:xfrm>
          <a:prstGeom prst="ellipse">
            <a:avLst/>
          </a:prstGeom>
          <a:solidFill>
            <a:srgbClr val="FFFFFF"/>
          </a:solidFill>
          <a:ln w="12700">
            <a:solidFill>
              <a:srgbClr val="FFFFFF"/>
            </a:solidFill>
            <a:prstDash val="solid"/>
          </a:ln>
        </p:spPr>
      </p:sp>
      <p:sp>
        <p:nvSpPr>
          <p:cNvPr id="23" name="Text 21"/>
          <p:cNvSpPr/>
          <p:nvPr/>
        </p:nvSpPr>
        <p:spPr>
          <a:xfrm>
            <a:off x="6291072" y="1892808"/>
            <a:ext cx="274320" cy="274320"/>
          </a:xfrm>
          <a:prstGeom prst="rect">
            <a:avLst/>
          </a:prstGeom>
          <a:noFill/>
          <a:ln/>
        </p:spPr>
        <p:txBody>
          <a:bodyPr wrap="square" lIns="0" tIns="0" rIns="0" bIns="0" rtlCol="0" anchor="ctr"/>
          <a:lstStyle/>
          <a:p>
            <a:pPr algn="ctr" indent="0" marL="0">
              <a:buNone/>
            </a:pPr>
            <a:r>
              <a:rPr lang="en-US" sz="1000" b="1" dirty="0">
                <a:solidFill>
                  <a:srgbClr val="5C2D91"/>
                </a:solidFill>
                <a:latin typeface="Segoe UI" pitchFamily="34" charset="0"/>
                <a:ea typeface="Segoe UI" pitchFamily="34" charset="-122"/>
                <a:cs typeface="Segoe UI" pitchFamily="34" charset="-120"/>
              </a:rPr>
              <a:t>3</a:t>
            </a:r>
            <a:endParaRPr lang="en-US" sz="1000" dirty="0"/>
          </a:p>
        </p:txBody>
      </p:sp>
      <p:sp>
        <p:nvSpPr>
          <p:cNvPr id="24" name="Text 22"/>
          <p:cNvSpPr/>
          <p:nvPr/>
        </p:nvSpPr>
        <p:spPr>
          <a:xfrm>
            <a:off x="6656832" y="1783080"/>
            <a:ext cx="2286000" cy="4572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Make every action explicit and auditable</a:t>
            </a:r>
            <a:endParaRPr lang="en-US" sz="1100" dirty="0"/>
          </a:p>
        </p:txBody>
      </p:sp>
      <p:sp>
        <p:nvSpPr>
          <p:cNvPr id="25" name="Text 23"/>
          <p:cNvSpPr/>
          <p:nvPr/>
        </p:nvSpPr>
        <p:spPr>
          <a:xfrm>
            <a:off x="6291072" y="2313432"/>
            <a:ext cx="2670048" cy="256032"/>
          </a:xfrm>
          <a:prstGeom prst="rect">
            <a:avLst/>
          </a:prstGeom>
          <a:noFill/>
          <a:ln/>
        </p:spPr>
        <p:txBody>
          <a:bodyPr wrap="square" rtlCol="0" anchor="ctr"/>
          <a:lstStyle/>
          <a:p>
            <a:pPr indent="0" marL="0">
              <a:buNone/>
            </a:pPr>
            <a:r>
              <a:rPr lang="en-US" sz="950" b="1" dirty="0">
                <a:solidFill>
                  <a:srgbClr val="5C2D91"/>
                </a:solidFill>
                <a:latin typeface="Segoe UI" pitchFamily="34" charset="0"/>
                <a:ea typeface="Segoe UI" pitchFamily="34" charset="-122"/>
                <a:cs typeface="Segoe UI" pitchFamily="34" charset="-120"/>
              </a:rPr>
              <a:t>Side effects must be visible in Activity traces</a:t>
            </a:r>
            <a:endParaRPr lang="en-US" sz="950" dirty="0"/>
          </a:p>
        </p:txBody>
      </p:sp>
      <p:sp>
        <p:nvSpPr>
          <p:cNvPr id="26" name="Text 24"/>
          <p:cNvSpPr/>
          <p:nvPr/>
        </p:nvSpPr>
        <p:spPr>
          <a:xfrm>
            <a:off x="6291072" y="2596896"/>
            <a:ext cx="2670048" cy="214884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Any action that writes to SharePoint, sends email, or triggers a flow is a side effect — name it clearly</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Diagnosable actions shorten support resolution from hours to minutes when something goes wrong</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Review the Activity trace for every action before publishing — confirm inputs, outputs, and tool name appear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09</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Agent Flows</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Confirm Device Requests SharePoint list exists with required columns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a Power Automate cloud flow triggered by the Copilot Studio agent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Map card outputs (deviceSelectionId, managerEmailId, commentsId) to flow inputs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steps: Get device, Create request item, Update device status, Send manager email</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Connect the published flow back as a Copilot Studio action in the topic</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end-to-end: submit card → request created → email sent → confirmation shown</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Wire smallest scope first,</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then add error branches</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06  ·  LAB 09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09: Agent Flows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One clean end-to-end path proves the integration works — error branches and edge cases can follow.</a:t>
            </a:r>
            <a:endParaRPr lang="en-US" sz="1200" dirty="0"/>
          </a:p>
        </p:txBody>
      </p:sp>
      <p:sp>
        <p:nvSpPr>
          <p:cNvPr id="6" name="Shape 4"/>
          <p:cNvSpPr/>
          <p:nvPr/>
        </p:nvSpPr>
        <p:spPr>
          <a:xfrm>
            <a:off x="320040" y="1801368"/>
            <a:ext cx="8503920" cy="448056"/>
          </a:xfrm>
          <a:prstGeom prst="rect">
            <a:avLst/>
          </a:prstGeom>
          <a:solidFill>
            <a:srgbClr val="F3F2F1"/>
          </a:solidFill>
          <a:ln w="12700">
            <a:solidFill>
              <a:srgbClr val="E1DFDD"/>
            </a:solidFill>
            <a:prstDash val="solid"/>
          </a:ln>
        </p:spPr>
      </p:sp>
      <p:sp>
        <p:nvSpPr>
          <p:cNvPr id="7" name="Shape 5"/>
          <p:cNvSpPr/>
          <p:nvPr/>
        </p:nvSpPr>
        <p:spPr>
          <a:xfrm>
            <a:off x="457200" y="1883664"/>
            <a:ext cx="960120" cy="274320"/>
          </a:xfrm>
          <a:prstGeom prst="rect">
            <a:avLst/>
          </a:prstGeom>
          <a:solidFill>
            <a:srgbClr val="5C2D91"/>
          </a:solidFill>
          <a:ln w="12700">
            <a:solidFill>
              <a:srgbClr val="5C2D91"/>
            </a:solidFill>
            <a:prstDash val="solid"/>
          </a:ln>
        </p:spPr>
      </p:sp>
      <p:sp>
        <p:nvSpPr>
          <p:cNvPr id="8" name="Text 6"/>
          <p:cNvSpPr/>
          <p:nvPr/>
        </p:nvSpPr>
        <p:spPr>
          <a:xfrm>
            <a:off x="457200" y="1883664"/>
            <a:ext cx="9601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Topic</a:t>
            </a:r>
            <a:endParaRPr lang="en-US" sz="800" dirty="0"/>
          </a:p>
        </p:txBody>
      </p:sp>
      <p:sp>
        <p:nvSpPr>
          <p:cNvPr id="9" name="Text 7"/>
          <p:cNvSpPr/>
          <p:nvPr/>
        </p:nvSpPr>
        <p:spPr>
          <a:xfrm>
            <a:off x="1527048" y="1883664"/>
            <a:ext cx="717804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Request device topic calls the agent flow action when the Adaptive Card is submitted</a:t>
            </a:r>
            <a:endParaRPr lang="en-US" sz="1100" dirty="0"/>
          </a:p>
        </p:txBody>
      </p:sp>
      <p:sp>
        <p:nvSpPr>
          <p:cNvPr id="10" name="Shape 8"/>
          <p:cNvSpPr/>
          <p:nvPr/>
        </p:nvSpPr>
        <p:spPr>
          <a:xfrm>
            <a:off x="320040" y="2286000"/>
            <a:ext cx="8503920" cy="448056"/>
          </a:xfrm>
          <a:prstGeom prst="rect">
            <a:avLst/>
          </a:prstGeom>
          <a:solidFill>
            <a:srgbClr val="FFFFFF"/>
          </a:solidFill>
          <a:ln w="12700">
            <a:solidFill>
              <a:srgbClr val="E1DFDD"/>
            </a:solidFill>
            <a:prstDash val="solid"/>
          </a:ln>
        </p:spPr>
      </p:sp>
      <p:sp>
        <p:nvSpPr>
          <p:cNvPr id="11" name="Shape 9"/>
          <p:cNvSpPr/>
          <p:nvPr/>
        </p:nvSpPr>
        <p:spPr>
          <a:xfrm>
            <a:off x="457200" y="2368296"/>
            <a:ext cx="960120" cy="274320"/>
          </a:xfrm>
          <a:prstGeom prst="rect">
            <a:avLst/>
          </a:prstGeom>
          <a:solidFill>
            <a:srgbClr val="0078D4"/>
          </a:solidFill>
          <a:ln w="12700">
            <a:solidFill>
              <a:srgbClr val="0078D4"/>
            </a:solidFill>
            <a:prstDash val="solid"/>
          </a:ln>
        </p:spPr>
      </p:sp>
      <p:sp>
        <p:nvSpPr>
          <p:cNvPr id="12" name="Text 10"/>
          <p:cNvSpPr/>
          <p:nvPr/>
        </p:nvSpPr>
        <p:spPr>
          <a:xfrm>
            <a:off x="457200" y="2368296"/>
            <a:ext cx="9601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Inputs</a:t>
            </a:r>
            <a:endParaRPr lang="en-US" sz="800" dirty="0"/>
          </a:p>
        </p:txBody>
      </p:sp>
      <p:sp>
        <p:nvSpPr>
          <p:cNvPr id="13" name="Text 11"/>
          <p:cNvSpPr/>
          <p:nvPr/>
        </p:nvSpPr>
        <p:spPr>
          <a:xfrm>
            <a:off x="1527048" y="2368296"/>
            <a:ext cx="717804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Card outputs deviceSelectionId, managerEmailId, and commentsId mapped to flow input parameters</a:t>
            </a:r>
            <a:endParaRPr lang="en-US" sz="1100" dirty="0"/>
          </a:p>
        </p:txBody>
      </p:sp>
      <p:sp>
        <p:nvSpPr>
          <p:cNvPr id="14" name="Shape 12"/>
          <p:cNvSpPr/>
          <p:nvPr/>
        </p:nvSpPr>
        <p:spPr>
          <a:xfrm>
            <a:off x="320040" y="2770632"/>
            <a:ext cx="8503920" cy="448056"/>
          </a:xfrm>
          <a:prstGeom prst="rect">
            <a:avLst/>
          </a:prstGeom>
          <a:solidFill>
            <a:srgbClr val="F3F2F1"/>
          </a:solidFill>
          <a:ln w="12700">
            <a:solidFill>
              <a:srgbClr val="E1DFDD"/>
            </a:solidFill>
            <a:prstDash val="solid"/>
          </a:ln>
        </p:spPr>
      </p:sp>
      <p:sp>
        <p:nvSpPr>
          <p:cNvPr id="15" name="Shape 13"/>
          <p:cNvSpPr/>
          <p:nvPr/>
        </p:nvSpPr>
        <p:spPr>
          <a:xfrm>
            <a:off x="457200" y="2852928"/>
            <a:ext cx="960120" cy="274320"/>
          </a:xfrm>
          <a:prstGeom prst="rect">
            <a:avLst/>
          </a:prstGeom>
          <a:solidFill>
            <a:srgbClr val="00B294"/>
          </a:solidFill>
          <a:ln w="12700">
            <a:solidFill>
              <a:srgbClr val="00B294"/>
            </a:solidFill>
            <a:prstDash val="solid"/>
          </a:ln>
        </p:spPr>
      </p:sp>
      <p:sp>
        <p:nvSpPr>
          <p:cNvPr id="16" name="Text 14"/>
          <p:cNvSpPr/>
          <p:nvPr/>
        </p:nvSpPr>
        <p:spPr>
          <a:xfrm>
            <a:off x="457200" y="2852928"/>
            <a:ext cx="9601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SharePoint</a:t>
            </a:r>
            <a:endParaRPr lang="en-US" sz="800" dirty="0"/>
          </a:p>
        </p:txBody>
      </p:sp>
      <p:sp>
        <p:nvSpPr>
          <p:cNvPr id="17" name="Text 15"/>
          <p:cNvSpPr/>
          <p:nvPr/>
        </p:nvSpPr>
        <p:spPr>
          <a:xfrm>
            <a:off x="1527048" y="2852928"/>
            <a:ext cx="717804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Device Request item created in SharePoint with correct device title and requester email</a:t>
            </a:r>
            <a:endParaRPr lang="en-US" sz="1100" dirty="0"/>
          </a:p>
        </p:txBody>
      </p:sp>
      <p:sp>
        <p:nvSpPr>
          <p:cNvPr id="18" name="Shape 16"/>
          <p:cNvSpPr/>
          <p:nvPr/>
        </p:nvSpPr>
        <p:spPr>
          <a:xfrm>
            <a:off x="320040" y="3255264"/>
            <a:ext cx="8503920" cy="448056"/>
          </a:xfrm>
          <a:prstGeom prst="rect">
            <a:avLst/>
          </a:prstGeom>
          <a:solidFill>
            <a:srgbClr val="FFFFFF"/>
          </a:solidFill>
          <a:ln w="12700">
            <a:solidFill>
              <a:srgbClr val="E1DFDD"/>
            </a:solidFill>
            <a:prstDash val="solid"/>
          </a:ln>
        </p:spPr>
      </p:sp>
      <p:sp>
        <p:nvSpPr>
          <p:cNvPr id="19" name="Shape 17"/>
          <p:cNvSpPr/>
          <p:nvPr/>
        </p:nvSpPr>
        <p:spPr>
          <a:xfrm>
            <a:off x="457200" y="3337560"/>
            <a:ext cx="960120" cy="274320"/>
          </a:xfrm>
          <a:prstGeom prst="rect">
            <a:avLst/>
          </a:prstGeom>
          <a:solidFill>
            <a:srgbClr val="D47900"/>
          </a:solidFill>
          <a:ln w="12700">
            <a:solidFill>
              <a:srgbClr val="D47900"/>
            </a:solidFill>
            <a:prstDash val="solid"/>
          </a:ln>
        </p:spPr>
      </p:sp>
      <p:sp>
        <p:nvSpPr>
          <p:cNvPr id="20" name="Text 18"/>
          <p:cNvSpPr/>
          <p:nvPr/>
        </p:nvSpPr>
        <p:spPr>
          <a:xfrm>
            <a:off x="457200" y="3337560"/>
            <a:ext cx="9601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Status</a:t>
            </a:r>
            <a:endParaRPr lang="en-US" sz="800" dirty="0"/>
          </a:p>
        </p:txBody>
      </p:sp>
      <p:sp>
        <p:nvSpPr>
          <p:cNvPr id="21" name="Text 19"/>
          <p:cNvSpPr/>
          <p:nvPr/>
        </p:nvSpPr>
        <p:spPr>
          <a:xfrm>
            <a:off x="1527048" y="3337560"/>
            <a:ext cx="717804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Device record status updated to Requested after the flow runs</a:t>
            </a:r>
            <a:endParaRPr lang="en-US" sz="1100" dirty="0"/>
          </a:p>
        </p:txBody>
      </p:sp>
      <p:sp>
        <p:nvSpPr>
          <p:cNvPr id="22" name="Shape 20"/>
          <p:cNvSpPr/>
          <p:nvPr/>
        </p:nvSpPr>
        <p:spPr>
          <a:xfrm>
            <a:off x="320040" y="3739896"/>
            <a:ext cx="8503920" cy="448056"/>
          </a:xfrm>
          <a:prstGeom prst="rect">
            <a:avLst/>
          </a:prstGeom>
          <a:solidFill>
            <a:srgbClr val="F3F2F1"/>
          </a:solidFill>
          <a:ln w="12700">
            <a:solidFill>
              <a:srgbClr val="E1DFDD"/>
            </a:solidFill>
            <a:prstDash val="solid"/>
          </a:ln>
        </p:spPr>
      </p:sp>
      <p:sp>
        <p:nvSpPr>
          <p:cNvPr id="23" name="Shape 21"/>
          <p:cNvSpPr/>
          <p:nvPr/>
        </p:nvSpPr>
        <p:spPr>
          <a:xfrm>
            <a:off x="457200" y="3822192"/>
            <a:ext cx="960120" cy="274320"/>
          </a:xfrm>
          <a:prstGeom prst="rect">
            <a:avLst/>
          </a:prstGeom>
          <a:solidFill>
            <a:srgbClr val="107C10"/>
          </a:solidFill>
          <a:ln w="12700">
            <a:solidFill>
              <a:srgbClr val="107C10"/>
            </a:solidFill>
            <a:prstDash val="solid"/>
          </a:ln>
        </p:spPr>
      </p:sp>
      <p:sp>
        <p:nvSpPr>
          <p:cNvPr id="24" name="Text 22"/>
          <p:cNvSpPr/>
          <p:nvPr/>
        </p:nvSpPr>
        <p:spPr>
          <a:xfrm>
            <a:off x="457200" y="3822192"/>
            <a:ext cx="9601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Email</a:t>
            </a:r>
            <a:endParaRPr lang="en-US" sz="800" dirty="0"/>
          </a:p>
        </p:txBody>
      </p:sp>
      <p:sp>
        <p:nvSpPr>
          <p:cNvPr id="25" name="Text 23"/>
          <p:cNvSpPr/>
          <p:nvPr/>
        </p:nvSpPr>
        <p:spPr>
          <a:xfrm>
            <a:off x="1527048" y="3822192"/>
            <a:ext cx="717804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Confirmation email sent to the manager email address captured by the card</a:t>
            </a:r>
            <a:endParaRPr lang="en-US" sz="1100" dirty="0"/>
          </a:p>
        </p:txBody>
      </p:sp>
      <p:sp>
        <p:nvSpPr>
          <p:cNvPr id="26" name="Shape 24"/>
          <p:cNvSpPr/>
          <p:nvPr/>
        </p:nvSpPr>
        <p:spPr>
          <a:xfrm>
            <a:off x="320040" y="4224528"/>
            <a:ext cx="8503920" cy="448056"/>
          </a:xfrm>
          <a:prstGeom prst="rect">
            <a:avLst/>
          </a:prstGeom>
          <a:solidFill>
            <a:srgbClr val="FFFFFF"/>
          </a:solidFill>
          <a:ln w="12700">
            <a:solidFill>
              <a:srgbClr val="E1DFDD"/>
            </a:solidFill>
            <a:prstDash val="solid"/>
          </a:ln>
        </p:spPr>
      </p:sp>
      <p:sp>
        <p:nvSpPr>
          <p:cNvPr id="27" name="Shape 25"/>
          <p:cNvSpPr/>
          <p:nvPr/>
        </p:nvSpPr>
        <p:spPr>
          <a:xfrm>
            <a:off x="457200" y="4306824"/>
            <a:ext cx="960120" cy="274320"/>
          </a:xfrm>
          <a:prstGeom prst="rect">
            <a:avLst/>
          </a:prstGeom>
          <a:solidFill>
            <a:srgbClr val="243A5E"/>
          </a:solidFill>
          <a:ln w="12700">
            <a:solidFill>
              <a:srgbClr val="243A5E"/>
            </a:solidFill>
            <a:prstDash val="solid"/>
          </a:ln>
        </p:spPr>
      </p:sp>
      <p:sp>
        <p:nvSpPr>
          <p:cNvPr id="28" name="Text 26"/>
          <p:cNvSpPr/>
          <p:nvPr/>
        </p:nvSpPr>
        <p:spPr>
          <a:xfrm>
            <a:off x="457200" y="4306824"/>
            <a:ext cx="9601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Response</a:t>
            </a:r>
            <a:endParaRPr lang="en-US" sz="800" dirty="0"/>
          </a:p>
        </p:txBody>
      </p:sp>
      <p:sp>
        <p:nvSpPr>
          <p:cNvPr id="29" name="Text 27"/>
          <p:cNvSpPr/>
          <p:nvPr/>
        </p:nvSpPr>
        <p:spPr>
          <a:xfrm>
            <a:off x="1527048" y="4306824"/>
            <a:ext cx="717804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Agent returns a success confirmation message in the conversation after flow completes</a:t>
            </a:r>
            <a:endParaRPr lang="en-US" sz="1100" dirty="0"/>
          </a:p>
        </p:txBody>
      </p:sp>
      <p:sp>
        <p:nvSpPr>
          <p:cNvPr id="30" name="Shape 28"/>
          <p:cNvSpPr/>
          <p:nvPr/>
        </p:nvSpPr>
        <p:spPr>
          <a:xfrm>
            <a:off x="320040" y="4681728"/>
            <a:ext cx="8503920" cy="320040"/>
          </a:xfrm>
          <a:prstGeom prst="rect">
            <a:avLst/>
          </a:prstGeom>
          <a:solidFill>
            <a:srgbClr val="EFF6FC"/>
          </a:solidFill>
          <a:ln w="12700">
            <a:solidFill>
              <a:srgbClr val="C7E0F4"/>
            </a:solidFill>
            <a:prstDash val="solid"/>
          </a:ln>
        </p:spPr>
      </p:sp>
      <p:sp>
        <p:nvSpPr>
          <p:cNvPr id="31" name="Text 29"/>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If the flow does not run, confirm the action name in the topic matches the saved flow name exactly.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10</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Event Triggers</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Confirm generative AI orchestration is enabled in agent Settings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a 'When an item is created' SharePoint trigger for the Tickets list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Edit trigger payload in Power Automate to include submitter name, email, title, and priority</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the 'Acknowledge SharePoint ticket' Outlook email tool to the agent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create a new Tickets item and confirm acknowledgment email arrives</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25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User-initiated vs. system-initiated —</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show the difference clearly</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06  ·  LAB 10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10: Event Triggers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Tie the trigger path to observable outcomes — not invisible automation magic.</a:t>
            </a:r>
            <a:endParaRPr lang="en-US" sz="1200" dirty="0"/>
          </a:p>
        </p:txBody>
      </p:sp>
      <p:sp>
        <p:nvSpPr>
          <p:cNvPr id="6" name="Shape 4"/>
          <p:cNvSpPr/>
          <p:nvPr/>
        </p:nvSpPr>
        <p:spPr>
          <a:xfrm>
            <a:off x="320040" y="1920240"/>
            <a:ext cx="8503920" cy="475488"/>
          </a:xfrm>
          <a:prstGeom prst="rect">
            <a:avLst/>
          </a:prstGeom>
          <a:solidFill>
            <a:srgbClr val="F3F2F1"/>
          </a:solidFill>
          <a:ln w="12700">
            <a:solidFill>
              <a:srgbClr val="E1DFDD"/>
            </a:solidFill>
            <a:prstDash val="solid"/>
          </a:ln>
        </p:spPr>
      </p:sp>
      <p:sp>
        <p:nvSpPr>
          <p:cNvPr id="7" name="Shape 5"/>
          <p:cNvSpPr/>
          <p:nvPr/>
        </p:nvSpPr>
        <p:spPr>
          <a:xfrm>
            <a:off x="457200" y="2011680"/>
            <a:ext cx="1005840" cy="292608"/>
          </a:xfrm>
          <a:prstGeom prst="rect">
            <a:avLst/>
          </a:prstGeom>
          <a:solidFill>
            <a:srgbClr val="0078D4"/>
          </a:solidFill>
          <a:ln w="12700">
            <a:solidFill>
              <a:srgbClr val="0078D4"/>
            </a:solidFill>
            <a:prstDash val="solid"/>
          </a:ln>
        </p:spPr>
      </p:sp>
      <p:sp>
        <p:nvSpPr>
          <p:cNvPr id="8" name="Text 6"/>
          <p:cNvSpPr/>
          <p:nvPr/>
        </p:nvSpPr>
        <p:spPr>
          <a:xfrm>
            <a:off x="457200" y="2011680"/>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Trigger</a:t>
            </a:r>
            <a:endParaRPr lang="en-US" sz="800" dirty="0"/>
          </a:p>
        </p:txBody>
      </p:sp>
      <p:sp>
        <p:nvSpPr>
          <p:cNvPr id="9" name="Text 7"/>
          <p:cNvSpPr/>
          <p:nvPr/>
        </p:nvSpPr>
        <p:spPr>
          <a:xfrm>
            <a:off x="1581912" y="2011680"/>
            <a:ext cx="7123176" cy="292608"/>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Triggers section lists 'New Support Ticket Created in SharePoint'</a:t>
            </a:r>
            <a:endParaRPr lang="en-US" sz="1100" dirty="0"/>
          </a:p>
        </p:txBody>
      </p:sp>
      <p:sp>
        <p:nvSpPr>
          <p:cNvPr id="10" name="Shape 8"/>
          <p:cNvSpPr/>
          <p:nvPr/>
        </p:nvSpPr>
        <p:spPr>
          <a:xfrm>
            <a:off x="320040" y="2432304"/>
            <a:ext cx="8503920" cy="475488"/>
          </a:xfrm>
          <a:prstGeom prst="rect">
            <a:avLst/>
          </a:prstGeom>
          <a:solidFill>
            <a:srgbClr val="FFFFFF"/>
          </a:solidFill>
          <a:ln w="12700">
            <a:solidFill>
              <a:srgbClr val="E1DFDD"/>
            </a:solidFill>
            <a:prstDash val="solid"/>
          </a:ln>
        </p:spPr>
      </p:sp>
      <p:sp>
        <p:nvSpPr>
          <p:cNvPr id="11" name="Shape 9"/>
          <p:cNvSpPr/>
          <p:nvPr/>
        </p:nvSpPr>
        <p:spPr>
          <a:xfrm>
            <a:off x="457200" y="2523744"/>
            <a:ext cx="1005840" cy="292608"/>
          </a:xfrm>
          <a:prstGeom prst="rect">
            <a:avLst/>
          </a:prstGeom>
          <a:solidFill>
            <a:srgbClr val="00B294"/>
          </a:solidFill>
          <a:ln w="12700">
            <a:solidFill>
              <a:srgbClr val="00B294"/>
            </a:solidFill>
            <a:prstDash val="solid"/>
          </a:ln>
        </p:spPr>
      </p:sp>
      <p:sp>
        <p:nvSpPr>
          <p:cNvPr id="12" name="Text 10"/>
          <p:cNvSpPr/>
          <p:nvPr/>
        </p:nvSpPr>
        <p:spPr>
          <a:xfrm>
            <a:off x="457200" y="2523744"/>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Payload</a:t>
            </a:r>
            <a:endParaRPr lang="en-US" sz="800" dirty="0"/>
          </a:p>
        </p:txBody>
      </p:sp>
      <p:sp>
        <p:nvSpPr>
          <p:cNvPr id="13" name="Text 11"/>
          <p:cNvSpPr/>
          <p:nvPr/>
        </p:nvSpPr>
        <p:spPr>
          <a:xfrm>
            <a:off x="1581912" y="2523744"/>
            <a:ext cx="7123176" cy="292608"/>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Trigger payload includes submitter name, email, title, description, priority, and ID</a:t>
            </a:r>
            <a:endParaRPr lang="en-US" sz="1100" dirty="0"/>
          </a:p>
        </p:txBody>
      </p:sp>
      <p:sp>
        <p:nvSpPr>
          <p:cNvPr id="14" name="Shape 12"/>
          <p:cNvSpPr/>
          <p:nvPr/>
        </p:nvSpPr>
        <p:spPr>
          <a:xfrm>
            <a:off x="320040" y="2944368"/>
            <a:ext cx="8503920" cy="475488"/>
          </a:xfrm>
          <a:prstGeom prst="rect">
            <a:avLst/>
          </a:prstGeom>
          <a:solidFill>
            <a:srgbClr val="F3F2F1"/>
          </a:solidFill>
          <a:ln w="12700">
            <a:solidFill>
              <a:srgbClr val="E1DFDD"/>
            </a:solidFill>
            <a:prstDash val="solid"/>
          </a:ln>
        </p:spPr>
      </p:sp>
      <p:sp>
        <p:nvSpPr>
          <p:cNvPr id="15" name="Shape 13"/>
          <p:cNvSpPr/>
          <p:nvPr/>
        </p:nvSpPr>
        <p:spPr>
          <a:xfrm>
            <a:off x="457200" y="3035808"/>
            <a:ext cx="1005840" cy="292608"/>
          </a:xfrm>
          <a:prstGeom prst="rect">
            <a:avLst/>
          </a:prstGeom>
          <a:solidFill>
            <a:srgbClr val="5C2D91"/>
          </a:solidFill>
          <a:ln w="12700">
            <a:solidFill>
              <a:srgbClr val="5C2D91"/>
            </a:solidFill>
            <a:prstDash val="solid"/>
          </a:ln>
        </p:spPr>
      </p:sp>
      <p:sp>
        <p:nvSpPr>
          <p:cNvPr id="16" name="Text 14"/>
          <p:cNvSpPr/>
          <p:nvPr/>
        </p:nvSpPr>
        <p:spPr>
          <a:xfrm>
            <a:off x="457200" y="3035808"/>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Tool</a:t>
            </a:r>
            <a:endParaRPr lang="en-US" sz="800" dirty="0"/>
          </a:p>
        </p:txBody>
      </p:sp>
      <p:sp>
        <p:nvSpPr>
          <p:cNvPr id="17" name="Text 15"/>
          <p:cNvSpPr/>
          <p:nvPr/>
        </p:nvSpPr>
        <p:spPr>
          <a:xfrm>
            <a:off x="1581912" y="3035808"/>
            <a:ext cx="7123176" cy="292608"/>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'Acknowledge SharePoint ticket' email tool exists and is saved on the Tools tab</a:t>
            </a:r>
            <a:endParaRPr lang="en-US" sz="1100" dirty="0"/>
          </a:p>
        </p:txBody>
      </p:sp>
      <p:sp>
        <p:nvSpPr>
          <p:cNvPr id="18" name="Shape 16"/>
          <p:cNvSpPr/>
          <p:nvPr/>
        </p:nvSpPr>
        <p:spPr>
          <a:xfrm>
            <a:off x="320040" y="3456432"/>
            <a:ext cx="8503920" cy="475488"/>
          </a:xfrm>
          <a:prstGeom prst="rect">
            <a:avLst/>
          </a:prstGeom>
          <a:solidFill>
            <a:srgbClr val="FFFFFF"/>
          </a:solidFill>
          <a:ln w="12700">
            <a:solidFill>
              <a:srgbClr val="E1DFDD"/>
            </a:solidFill>
            <a:prstDash val="solid"/>
          </a:ln>
        </p:spPr>
      </p:sp>
      <p:sp>
        <p:nvSpPr>
          <p:cNvPr id="19" name="Shape 17"/>
          <p:cNvSpPr/>
          <p:nvPr/>
        </p:nvSpPr>
        <p:spPr>
          <a:xfrm>
            <a:off x="457200" y="3547872"/>
            <a:ext cx="1005840" cy="292608"/>
          </a:xfrm>
          <a:prstGeom prst="rect">
            <a:avLst/>
          </a:prstGeom>
          <a:solidFill>
            <a:srgbClr val="D83B01"/>
          </a:solidFill>
          <a:ln w="12700">
            <a:solidFill>
              <a:srgbClr val="D83B01"/>
            </a:solidFill>
            <a:prstDash val="solid"/>
          </a:ln>
        </p:spPr>
      </p:sp>
      <p:sp>
        <p:nvSpPr>
          <p:cNvPr id="20" name="Text 18"/>
          <p:cNvSpPr/>
          <p:nvPr/>
        </p:nvSpPr>
        <p:spPr>
          <a:xfrm>
            <a:off x="457200" y="3547872"/>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Autonomous</a:t>
            </a:r>
            <a:endParaRPr lang="en-US" sz="800" dirty="0"/>
          </a:p>
        </p:txBody>
      </p:sp>
      <p:sp>
        <p:nvSpPr>
          <p:cNvPr id="21" name="Text 19"/>
          <p:cNvSpPr/>
          <p:nvPr/>
        </p:nvSpPr>
        <p:spPr>
          <a:xfrm>
            <a:off x="1581912" y="3547872"/>
            <a:ext cx="7123176" cy="292608"/>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Creating a new Tickets item causes the agent to run autonomously without a user chat</a:t>
            </a:r>
            <a:endParaRPr lang="en-US" sz="1100" dirty="0"/>
          </a:p>
        </p:txBody>
      </p:sp>
      <p:sp>
        <p:nvSpPr>
          <p:cNvPr id="22" name="Shape 20"/>
          <p:cNvSpPr/>
          <p:nvPr/>
        </p:nvSpPr>
        <p:spPr>
          <a:xfrm>
            <a:off x="320040" y="3968496"/>
            <a:ext cx="8503920" cy="475488"/>
          </a:xfrm>
          <a:prstGeom prst="rect">
            <a:avLst/>
          </a:prstGeom>
          <a:solidFill>
            <a:srgbClr val="F3F2F1"/>
          </a:solidFill>
          <a:ln w="12700">
            <a:solidFill>
              <a:srgbClr val="E1DFDD"/>
            </a:solidFill>
            <a:prstDash val="solid"/>
          </a:ln>
        </p:spPr>
      </p:sp>
      <p:sp>
        <p:nvSpPr>
          <p:cNvPr id="23" name="Shape 21"/>
          <p:cNvSpPr/>
          <p:nvPr/>
        </p:nvSpPr>
        <p:spPr>
          <a:xfrm>
            <a:off x="457200" y="4059936"/>
            <a:ext cx="1005840" cy="292608"/>
          </a:xfrm>
          <a:prstGeom prst="rect">
            <a:avLst/>
          </a:prstGeom>
          <a:solidFill>
            <a:srgbClr val="107C10"/>
          </a:solidFill>
          <a:ln w="12700">
            <a:solidFill>
              <a:srgbClr val="107C10"/>
            </a:solidFill>
            <a:prstDash val="solid"/>
          </a:ln>
        </p:spPr>
      </p:sp>
      <p:sp>
        <p:nvSpPr>
          <p:cNvPr id="24" name="Text 22"/>
          <p:cNvSpPr/>
          <p:nvPr/>
        </p:nvSpPr>
        <p:spPr>
          <a:xfrm>
            <a:off x="457200" y="4059936"/>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Email</a:t>
            </a:r>
            <a:endParaRPr lang="en-US" sz="800" dirty="0"/>
          </a:p>
        </p:txBody>
      </p:sp>
      <p:sp>
        <p:nvSpPr>
          <p:cNvPr id="25" name="Text 23"/>
          <p:cNvSpPr/>
          <p:nvPr/>
        </p:nvSpPr>
        <p:spPr>
          <a:xfrm>
            <a:off x="1581912" y="4059936"/>
            <a:ext cx="7123176" cy="292608"/>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Acknowledgment email arrives in the submitter's mailbox after the trigger fires</a:t>
            </a:r>
            <a:endParaRPr lang="en-US" sz="1100" dirty="0"/>
          </a:p>
        </p:txBody>
      </p:sp>
      <p:sp>
        <p:nvSpPr>
          <p:cNvPr id="26" name="Shape 24"/>
          <p:cNvSpPr/>
          <p:nvPr/>
        </p:nvSpPr>
        <p:spPr>
          <a:xfrm>
            <a:off x="320040" y="4681728"/>
            <a:ext cx="8503920" cy="320040"/>
          </a:xfrm>
          <a:prstGeom prst="rect">
            <a:avLst/>
          </a:prstGeom>
          <a:solidFill>
            <a:srgbClr val="EFF6FC"/>
          </a:solidFill>
          <a:ln w="12700">
            <a:solidFill>
              <a:srgbClr val="C7E0F4"/>
            </a:solidFill>
            <a:prstDash val="solid"/>
          </a:ln>
        </p:spPr>
      </p:sp>
      <p:sp>
        <p:nvSpPr>
          <p:cNvPr id="27" name="Text 25"/>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Warning: Event triggers run under maker credentials — review data access and governance before broader rollout.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DAY 1  ·  TRANSITION</a:t>
            </a:r>
            <a:endParaRPr lang="en-US" sz="1100" dirty="0"/>
          </a:p>
        </p:txBody>
      </p:sp>
      <p:sp>
        <p:nvSpPr>
          <p:cNvPr id="5" name="Text 3"/>
          <p:cNvSpPr/>
          <p:nvPr/>
        </p:nvSpPr>
        <p:spPr>
          <a:xfrm>
            <a:off x="594360" y="1051560"/>
            <a:ext cx="8229600" cy="100584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From 'Can it work?'</a:t>
            </a:r>
            <a:endParaRPr lang="en-US" sz="3200" dirty="0"/>
          </a:p>
          <a:p>
            <a:pPr indent="0" marL="0">
              <a:buNone/>
            </a:pPr>
            <a:r>
              <a:rPr lang="en-US" sz="3200" b="1" dirty="0">
                <a:solidFill>
                  <a:srgbClr val="FFFFFF"/>
                </a:solidFill>
                <a:latin typeface="Segoe UI" pitchFamily="34" charset="0"/>
                <a:ea typeface="Segoe UI" pitchFamily="34" charset="-122"/>
                <a:cs typeface="Segoe UI" pitchFamily="34" charset="-120"/>
              </a:rPr>
              <a:t>to 'Can we own, publish, and support it?'</a:t>
            </a:r>
            <a:endParaRPr lang="en-US" sz="3200" dirty="0"/>
          </a:p>
        </p:txBody>
      </p:sp>
      <p:sp>
        <p:nvSpPr>
          <p:cNvPr id="6" name="Text 4"/>
          <p:cNvSpPr/>
          <p:nvPr/>
        </p:nvSpPr>
        <p:spPr>
          <a:xfrm>
            <a:off x="594360" y="2176272"/>
            <a:ext cx="7772400" cy="347472"/>
          </a:xfrm>
          <a:prstGeom prst="rect">
            <a:avLst/>
          </a:prstGeom>
          <a:noFill/>
          <a:ln/>
        </p:spPr>
        <p:txBody>
          <a:bodyPr wrap="square" rtlCol="0" anchor="ctr"/>
          <a:lstStyle/>
          <a:p>
            <a:pPr indent="0" marL="0">
              <a:buNone/>
            </a:pPr>
            <a:r>
              <a:rPr lang="en-US" sz="1300" dirty="0">
                <a:solidFill>
                  <a:srgbClr val="C5D8F0"/>
                </a:solidFill>
                <a:latin typeface="Segoe UI" pitchFamily="34" charset="0"/>
                <a:ea typeface="Segoe UI" pitchFamily="34" charset="-122"/>
                <a:cs typeface="Segoe UI" pitchFamily="34" charset="-120"/>
              </a:rPr>
              <a:t>The room has already proven the technical case. Now shift to operational credibility.</a:t>
            </a:r>
            <a:endParaRPr lang="en-US" sz="1300" dirty="0"/>
          </a:p>
        </p:txBody>
      </p:sp>
      <p:sp>
        <p:nvSpPr>
          <p:cNvPr id="7" name="Shape 5"/>
          <p:cNvSpPr/>
          <p:nvPr/>
        </p:nvSpPr>
        <p:spPr>
          <a:xfrm>
            <a:off x="594360" y="2651760"/>
            <a:ext cx="2560320" cy="402336"/>
          </a:xfrm>
          <a:prstGeom prst="rect">
            <a:avLst/>
          </a:prstGeom>
          <a:solidFill>
            <a:srgbClr val="243A5E"/>
          </a:solidFill>
          <a:ln w="12700">
            <a:solidFill>
              <a:srgbClr val="0078D4"/>
            </a:solidFill>
            <a:prstDash val="solid"/>
          </a:ln>
        </p:spPr>
      </p:sp>
      <p:sp>
        <p:nvSpPr>
          <p:cNvPr id="8" name="Shape 6"/>
          <p:cNvSpPr/>
          <p:nvPr/>
        </p:nvSpPr>
        <p:spPr>
          <a:xfrm>
            <a:off x="594360" y="2651760"/>
            <a:ext cx="54864" cy="402336"/>
          </a:xfrm>
          <a:prstGeom prst="rect">
            <a:avLst/>
          </a:prstGeom>
          <a:solidFill>
            <a:srgbClr val="0078D4"/>
          </a:solidFill>
          <a:ln w="12700">
            <a:solidFill>
              <a:srgbClr val="0078D4"/>
            </a:solidFill>
            <a:prstDash val="solid"/>
          </a:ln>
        </p:spPr>
      </p:sp>
      <p:sp>
        <p:nvSpPr>
          <p:cNvPr id="9" name="Text 7"/>
          <p:cNvSpPr/>
          <p:nvPr/>
        </p:nvSpPr>
        <p:spPr>
          <a:xfrm>
            <a:off x="722376" y="2651760"/>
            <a:ext cx="2414016" cy="402336"/>
          </a:xfrm>
          <a:prstGeom prst="rect">
            <a:avLst/>
          </a:prstGeom>
          <a:noFill/>
          <a:ln/>
        </p:spPr>
        <p:txBody>
          <a:bodyPr wrap="square" rtlCol="0" anchor="ctr"/>
          <a:lstStyle/>
          <a:p>
            <a:pPr indent="0" marL="0">
              <a:buNone/>
            </a:pPr>
            <a:r>
              <a:rPr lang="en-US" sz="1100" dirty="0">
                <a:solidFill>
                  <a:srgbClr val="FFFFFF"/>
                </a:solidFill>
                <a:latin typeface="Segoe UI" pitchFamily="34" charset="0"/>
                <a:ea typeface="Segoe UI" pitchFamily="34" charset="-122"/>
                <a:cs typeface="Segoe UI" pitchFamily="34" charset="-120"/>
              </a:rPr>
              <a:t>Grounded answers</a:t>
            </a:r>
            <a:endParaRPr lang="en-US" sz="1100" dirty="0"/>
          </a:p>
        </p:txBody>
      </p:sp>
      <p:sp>
        <p:nvSpPr>
          <p:cNvPr id="10" name="Shape 8"/>
          <p:cNvSpPr/>
          <p:nvPr/>
        </p:nvSpPr>
        <p:spPr>
          <a:xfrm>
            <a:off x="3310128" y="2651760"/>
            <a:ext cx="2560320" cy="402336"/>
          </a:xfrm>
          <a:prstGeom prst="rect">
            <a:avLst/>
          </a:prstGeom>
          <a:solidFill>
            <a:srgbClr val="243A5E"/>
          </a:solidFill>
          <a:ln w="12700">
            <a:solidFill>
              <a:srgbClr val="00B294"/>
            </a:solidFill>
            <a:prstDash val="solid"/>
          </a:ln>
        </p:spPr>
      </p:sp>
      <p:sp>
        <p:nvSpPr>
          <p:cNvPr id="11" name="Shape 9"/>
          <p:cNvSpPr/>
          <p:nvPr/>
        </p:nvSpPr>
        <p:spPr>
          <a:xfrm>
            <a:off x="3310128" y="2651760"/>
            <a:ext cx="54864" cy="402336"/>
          </a:xfrm>
          <a:prstGeom prst="rect">
            <a:avLst/>
          </a:prstGeom>
          <a:solidFill>
            <a:srgbClr val="00B294"/>
          </a:solidFill>
          <a:ln w="12700">
            <a:solidFill>
              <a:srgbClr val="00B294"/>
            </a:solidFill>
            <a:prstDash val="solid"/>
          </a:ln>
        </p:spPr>
      </p:sp>
      <p:sp>
        <p:nvSpPr>
          <p:cNvPr id="12" name="Text 10"/>
          <p:cNvSpPr/>
          <p:nvPr/>
        </p:nvSpPr>
        <p:spPr>
          <a:xfrm>
            <a:off x="3438144" y="2651760"/>
            <a:ext cx="2414016" cy="402336"/>
          </a:xfrm>
          <a:prstGeom prst="rect">
            <a:avLst/>
          </a:prstGeom>
          <a:noFill/>
          <a:ln/>
        </p:spPr>
        <p:txBody>
          <a:bodyPr wrap="square" rtlCol="0" anchor="ctr"/>
          <a:lstStyle/>
          <a:p>
            <a:pPr indent="0" marL="0">
              <a:buNone/>
            </a:pPr>
            <a:r>
              <a:rPr lang="en-US" sz="1100" dirty="0">
                <a:solidFill>
                  <a:srgbClr val="FFFFFF"/>
                </a:solidFill>
                <a:latin typeface="Segoe UI" pitchFamily="34" charset="0"/>
                <a:ea typeface="Segoe UI" pitchFamily="34" charset="-122"/>
                <a:cs typeface="Segoe UI" pitchFamily="34" charset="-120"/>
              </a:rPr>
              <a:t>Structured inputs</a:t>
            </a:r>
            <a:endParaRPr lang="en-US" sz="1100" dirty="0"/>
          </a:p>
        </p:txBody>
      </p:sp>
      <p:sp>
        <p:nvSpPr>
          <p:cNvPr id="13" name="Shape 11"/>
          <p:cNvSpPr/>
          <p:nvPr/>
        </p:nvSpPr>
        <p:spPr>
          <a:xfrm>
            <a:off x="6025896" y="2651760"/>
            <a:ext cx="2560320" cy="402336"/>
          </a:xfrm>
          <a:prstGeom prst="rect">
            <a:avLst/>
          </a:prstGeom>
          <a:solidFill>
            <a:srgbClr val="243A5E"/>
          </a:solidFill>
          <a:ln w="12700">
            <a:solidFill>
              <a:srgbClr val="5C2D91"/>
            </a:solidFill>
            <a:prstDash val="solid"/>
          </a:ln>
        </p:spPr>
      </p:sp>
      <p:sp>
        <p:nvSpPr>
          <p:cNvPr id="14" name="Shape 12"/>
          <p:cNvSpPr/>
          <p:nvPr/>
        </p:nvSpPr>
        <p:spPr>
          <a:xfrm>
            <a:off x="6025896" y="2651760"/>
            <a:ext cx="54864" cy="402336"/>
          </a:xfrm>
          <a:prstGeom prst="rect">
            <a:avLst/>
          </a:prstGeom>
          <a:solidFill>
            <a:srgbClr val="5C2D91"/>
          </a:solidFill>
          <a:ln w="12700">
            <a:solidFill>
              <a:srgbClr val="5C2D91"/>
            </a:solidFill>
            <a:prstDash val="solid"/>
          </a:ln>
        </p:spPr>
      </p:sp>
      <p:sp>
        <p:nvSpPr>
          <p:cNvPr id="15" name="Text 13"/>
          <p:cNvSpPr/>
          <p:nvPr/>
        </p:nvSpPr>
        <p:spPr>
          <a:xfrm>
            <a:off x="6153912" y="2651760"/>
            <a:ext cx="2414016" cy="402336"/>
          </a:xfrm>
          <a:prstGeom prst="rect">
            <a:avLst/>
          </a:prstGeom>
          <a:noFill/>
          <a:ln/>
        </p:spPr>
        <p:txBody>
          <a:bodyPr wrap="square" rtlCol="0" anchor="ctr"/>
          <a:lstStyle/>
          <a:p>
            <a:pPr indent="0" marL="0">
              <a:buNone/>
            </a:pPr>
            <a:r>
              <a:rPr lang="en-US" sz="1100" dirty="0">
                <a:solidFill>
                  <a:srgbClr val="FFFFFF"/>
                </a:solidFill>
                <a:latin typeface="Segoe UI" pitchFamily="34" charset="0"/>
                <a:ea typeface="Segoe UI" pitchFamily="34" charset="-122"/>
                <a:cs typeface="Segoe UI" pitchFamily="34" charset="-120"/>
              </a:rPr>
              <a:t>Flow automation</a:t>
            </a:r>
            <a:endParaRPr lang="en-US" sz="1100" dirty="0"/>
          </a:p>
        </p:txBody>
      </p:sp>
      <p:sp>
        <p:nvSpPr>
          <p:cNvPr id="16" name="Shape 14"/>
          <p:cNvSpPr/>
          <p:nvPr/>
        </p:nvSpPr>
        <p:spPr>
          <a:xfrm>
            <a:off x="594360" y="3145536"/>
            <a:ext cx="2560320" cy="402336"/>
          </a:xfrm>
          <a:prstGeom prst="rect">
            <a:avLst/>
          </a:prstGeom>
          <a:solidFill>
            <a:srgbClr val="243A5E"/>
          </a:solidFill>
          <a:ln w="12700">
            <a:solidFill>
              <a:srgbClr val="D47900"/>
            </a:solidFill>
            <a:prstDash val="solid"/>
          </a:ln>
        </p:spPr>
      </p:sp>
      <p:sp>
        <p:nvSpPr>
          <p:cNvPr id="17" name="Shape 15"/>
          <p:cNvSpPr/>
          <p:nvPr/>
        </p:nvSpPr>
        <p:spPr>
          <a:xfrm>
            <a:off x="594360" y="3145536"/>
            <a:ext cx="54864" cy="402336"/>
          </a:xfrm>
          <a:prstGeom prst="rect">
            <a:avLst/>
          </a:prstGeom>
          <a:solidFill>
            <a:srgbClr val="D47900"/>
          </a:solidFill>
          <a:ln w="12700">
            <a:solidFill>
              <a:srgbClr val="D47900"/>
            </a:solidFill>
            <a:prstDash val="solid"/>
          </a:ln>
        </p:spPr>
      </p:sp>
      <p:sp>
        <p:nvSpPr>
          <p:cNvPr id="18" name="Text 16"/>
          <p:cNvSpPr/>
          <p:nvPr/>
        </p:nvSpPr>
        <p:spPr>
          <a:xfrm>
            <a:off x="722376" y="3145536"/>
            <a:ext cx="2414016" cy="402336"/>
          </a:xfrm>
          <a:prstGeom prst="rect">
            <a:avLst/>
          </a:prstGeom>
          <a:noFill/>
          <a:ln/>
        </p:spPr>
        <p:txBody>
          <a:bodyPr wrap="square" rtlCol="0" anchor="ctr"/>
          <a:lstStyle/>
          <a:p>
            <a:pPr indent="0" marL="0">
              <a:buNone/>
            </a:pPr>
            <a:r>
              <a:rPr lang="en-US" sz="1100" dirty="0">
                <a:solidFill>
                  <a:srgbClr val="FFFFFF"/>
                </a:solidFill>
                <a:latin typeface="Segoe UI" pitchFamily="34" charset="0"/>
                <a:ea typeface="Segoe UI" pitchFamily="34" charset="-122"/>
                <a:cs typeface="Segoe UI" pitchFamily="34" charset="-120"/>
              </a:rPr>
              <a:t>Event triggers</a:t>
            </a:r>
            <a:endParaRPr lang="en-US" sz="1100" dirty="0"/>
          </a:p>
        </p:txBody>
      </p:sp>
      <p:sp>
        <p:nvSpPr>
          <p:cNvPr id="19" name="Shape 17"/>
          <p:cNvSpPr/>
          <p:nvPr/>
        </p:nvSpPr>
        <p:spPr>
          <a:xfrm>
            <a:off x="3310128" y="3145536"/>
            <a:ext cx="2560320" cy="402336"/>
          </a:xfrm>
          <a:prstGeom prst="rect">
            <a:avLst/>
          </a:prstGeom>
          <a:solidFill>
            <a:srgbClr val="243A5E"/>
          </a:solidFill>
          <a:ln w="12700">
            <a:solidFill>
              <a:srgbClr val="107C10"/>
            </a:solidFill>
            <a:prstDash val="solid"/>
          </a:ln>
        </p:spPr>
      </p:sp>
      <p:sp>
        <p:nvSpPr>
          <p:cNvPr id="20" name="Shape 18"/>
          <p:cNvSpPr/>
          <p:nvPr/>
        </p:nvSpPr>
        <p:spPr>
          <a:xfrm>
            <a:off x="3310128" y="3145536"/>
            <a:ext cx="54864" cy="402336"/>
          </a:xfrm>
          <a:prstGeom prst="rect">
            <a:avLst/>
          </a:prstGeom>
          <a:solidFill>
            <a:srgbClr val="107C10"/>
          </a:solidFill>
          <a:ln w="12700">
            <a:solidFill>
              <a:srgbClr val="107C10"/>
            </a:solidFill>
            <a:prstDash val="solid"/>
          </a:ln>
        </p:spPr>
      </p:sp>
      <p:sp>
        <p:nvSpPr>
          <p:cNvPr id="21" name="Text 19"/>
          <p:cNvSpPr/>
          <p:nvPr/>
        </p:nvSpPr>
        <p:spPr>
          <a:xfrm>
            <a:off x="3438144" y="3145536"/>
            <a:ext cx="2414016" cy="402336"/>
          </a:xfrm>
          <a:prstGeom prst="rect">
            <a:avLst/>
          </a:prstGeom>
          <a:noFill/>
          <a:ln/>
        </p:spPr>
        <p:txBody>
          <a:bodyPr wrap="square" rtlCol="0" anchor="ctr"/>
          <a:lstStyle/>
          <a:p>
            <a:pPr indent="0" marL="0">
              <a:buNone/>
            </a:pPr>
            <a:r>
              <a:rPr lang="en-US" sz="1100" dirty="0">
                <a:solidFill>
                  <a:srgbClr val="FFFFFF"/>
                </a:solidFill>
                <a:latin typeface="Segoe UI" pitchFamily="34" charset="0"/>
                <a:ea typeface="Segoe UI" pitchFamily="34" charset="-122"/>
                <a:cs typeface="Segoe UI" pitchFamily="34" charset="-120"/>
              </a:rPr>
              <a:t>Activity traces</a:t>
            </a:r>
            <a:endParaRPr lang="en-US" sz="1100" dirty="0"/>
          </a:p>
        </p:txBody>
      </p:sp>
      <p:sp>
        <p:nvSpPr>
          <p:cNvPr id="22" name="Shape 20"/>
          <p:cNvSpPr/>
          <p:nvPr/>
        </p:nvSpPr>
        <p:spPr>
          <a:xfrm>
            <a:off x="6025896" y="3145536"/>
            <a:ext cx="2560320" cy="402336"/>
          </a:xfrm>
          <a:prstGeom prst="rect">
            <a:avLst/>
          </a:prstGeom>
          <a:solidFill>
            <a:srgbClr val="243A5E"/>
          </a:solidFill>
          <a:ln w="12700">
            <a:solidFill>
              <a:srgbClr val="D83B01"/>
            </a:solidFill>
            <a:prstDash val="solid"/>
          </a:ln>
        </p:spPr>
      </p:sp>
      <p:sp>
        <p:nvSpPr>
          <p:cNvPr id="23" name="Shape 21"/>
          <p:cNvSpPr/>
          <p:nvPr/>
        </p:nvSpPr>
        <p:spPr>
          <a:xfrm>
            <a:off x="6025896" y="3145536"/>
            <a:ext cx="54864" cy="402336"/>
          </a:xfrm>
          <a:prstGeom prst="rect">
            <a:avLst/>
          </a:prstGeom>
          <a:solidFill>
            <a:srgbClr val="D83B01"/>
          </a:solidFill>
          <a:ln w="12700">
            <a:solidFill>
              <a:srgbClr val="D83B01"/>
            </a:solidFill>
            <a:prstDash val="solid"/>
          </a:ln>
        </p:spPr>
      </p:sp>
      <p:sp>
        <p:nvSpPr>
          <p:cNvPr id="24" name="Text 22"/>
          <p:cNvSpPr/>
          <p:nvPr/>
        </p:nvSpPr>
        <p:spPr>
          <a:xfrm>
            <a:off x="6153912" y="3145536"/>
            <a:ext cx="2414016" cy="402336"/>
          </a:xfrm>
          <a:prstGeom prst="rect">
            <a:avLst/>
          </a:prstGeom>
          <a:noFill/>
          <a:ln/>
        </p:spPr>
        <p:txBody>
          <a:bodyPr wrap="square" rtlCol="0" anchor="ctr"/>
          <a:lstStyle/>
          <a:p>
            <a:pPr indent="0" marL="0">
              <a:buNone/>
            </a:pPr>
            <a:r>
              <a:rPr lang="en-US" sz="1100" dirty="0">
                <a:solidFill>
                  <a:srgbClr val="FFFFFF"/>
                </a:solidFill>
                <a:latin typeface="Segoe UI" pitchFamily="34" charset="0"/>
                <a:ea typeface="Segoe UI" pitchFamily="34" charset="-122"/>
                <a:cs typeface="Segoe UI" pitchFamily="34" charset="-120"/>
              </a:rPr>
              <a:t>Reliable routing</a:t>
            </a:r>
            <a:endParaRPr lang="en-US" sz="1100" dirty="0"/>
          </a:p>
        </p:txBody>
      </p:sp>
      <p:sp>
        <p:nvSpPr>
          <p:cNvPr id="25" name="Text 23"/>
          <p:cNvSpPr/>
          <p:nvPr/>
        </p:nvSpPr>
        <p:spPr>
          <a:xfrm>
            <a:off x="594360" y="4315968"/>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Next: Channel strategy  ·  Licensing  ·  ROI analytics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11</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Publish Agent</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Select Publish and wait for the version-live completion notification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Teams and Microsoft 365 Copilot channel from the Channels tab</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Install the agent in Microsoft Teams and test with a VPN query</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Review availability options: copy link, share with teammates, submit for org approval</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Identify WhatsApp as a GA channel available for future rollout planning</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30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Publishing ≠ channel config —</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show the difference explicitly</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06  ·  LAB 11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11: Publish Agent</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Publishing is a coordination task across makers, admins, and business owners — not just a button.</a:t>
            </a:r>
            <a:endParaRPr lang="en-US" sz="1200" dirty="0"/>
          </a:p>
        </p:txBody>
      </p:sp>
      <p:sp>
        <p:nvSpPr>
          <p:cNvPr id="6" name="Shape 4"/>
          <p:cNvSpPr/>
          <p:nvPr/>
        </p:nvSpPr>
        <p:spPr>
          <a:xfrm>
            <a:off x="320040" y="1801368"/>
            <a:ext cx="8503920" cy="448056"/>
          </a:xfrm>
          <a:prstGeom prst="rect">
            <a:avLst/>
          </a:prstGeom>
          <a:solidFill>
            <a:srgbClr val="F3F2F1"/>
          </a:solidFill>
          <a:ln w="12700">
            <a:solidFill>
              <a:srgbClr val="E1DFDD"/>
            </a:solidFill>
            <a:prstDash val="solid"/>
          </a:ln>
        </p:spPr>
      </p:sp>
      <p:sp>
        <p:nvSpPr>
          <p:cNvPr id="7" name="Shape 5"/>
          <p:cNvSpPr/>
          <p:nvPr/>
        </p:nvSpPr>
        <p:spPr>
          <a:xfrm>
            <a:off x="457200" y="1883664"/>
            <a:ext cx="1005840" cy="274320"/>
          </a:xfrm>
          <a:prstGeom prst="rect">
            <a:avLst/>
          </a:prstGeom>
          <a:solidFill>
            <a:srgbClr val="0078D4"/>
          </a:solidFill>
          <a:ln w="12700">
            <a:solidFill>
              <a:srgbClr val="0078D4"/>
            </a:solidFill>
            <a:prstDash val="solid"/>
          </a:ln>
        </p:spPr>
      </p:sp>
      <p:sp>
        <p:nvSpPr>
          <p:cNvPr id="8" name="Text 6"/>
          <p:cNvSpPr/>
          <p:nvPr/>
        </p:nvSpPr>
        <p:spPr>
          <a:xfrm>
            <a:off x="457200" y="1883664"/>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Publish</a:t>
            </a:r>
            <a:endParaRPr lang="en-US" sz="800" dirty="0"/>
          </a:p>
        </p:txBody>
      </p:sp>
      <p:sp>
        <p:nvSpPr>
          <p:cNvPr id="9" name="Text 7"/>
          <p:cNvSpPr/>
          <p:nvPr/>
        </p:nvSpPr>
        <p:spPr>
          <a:xfrm>
            <a:off x="1581912" y="1883664"/>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Publish notification confirms the latest agent version is live</a:t>
            </a:r>
            <a:endParaRPr lang="en-US" sz="1050" dirty="0"/>
          </a:p>
        </p:txBody>
      </p:sp>
      <p:sp>
        <p:nvSpPr>
          <p:cNvPr id="10" name="Shape 8"/>
          <p:cNvSpPr/>
          <p:nvPr/>
        </p:nvSpPr>
        <p:spPr>
          <a:xfrm>
            <a:off x="320040" y="2286000"/>
            <a:ext cx="8503920" cy="448056"/>
          </a:xfrm>
          <a:prstGeom prst="rect">
            <a:avLst/>
          </a:prstGeom>
          <a:solidFill>
            <a:srgbClr val="FFFFFF"/>
          </a:solidFill>
          <a:ln w="12700">
            <a:solidFill>
              <a:srgbClr val="E1DFDD"/>
            </a:solidFill>
            <a:prstDash val="solid"/>
          </a:ln>
        </p:spPr>
      </p:sp>
      <p:sp>
        <p:nvSpPr>
          <p:cNvPr id="11" name="Shape 9"/>
          <p:cNvSpPr/>
          <p:nvPr/>
        </p:nvSpPr>
        <p:spPr>
          <a:xfrm>
            <a:off x="457200" y="2368296"/>
            <a:ext cx="1005840" cy="274320"/>
          </a:xfrm>
          <a:prstGeom prst="rect">
            <a:avLst/>
          </a:prstGeom>
          <a:solidFill>
            <a:srgbClr val="00B294"/>
          </a:solidFill>
          <a:ln w="12700">
            <a:solidFill>
              <a:srgbClr val="00B294"/>
            </a:solidFill>
            <a:prstDash val="solid"/>
          </a:ln>
        </p:spPr>
      </p:sp>
      <p:sp>
        <p:nvSpPr>
          <p:cNvPr id="12" name="Text 10"/>
          <p:cNvSpPr/>
          <p:nvPr/>
        </p:nvSpPr>
        <p:spPr>
          <a:xfrm>
            <a:off x="457200" y="2368296"/>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Channel</a:t>
            </a:r>
            <a:endParaRPr lang="en-US" sz="800" dirty="0"/>
          </a:p>
        </p:txBody>
      </p:sp>
      <p:sp>
        <p:nvSpPr>
          <p:cNvPr id="13" name="Text 11"/>
          <p:cNvSpPr/>
          <p:nvPr/>
        </p:nvSpPr>
        <p:spPr>
          <a:xfrm>
            <a:off x="1581912" y="2368296"/>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Channels tab shows Teams and Microsoft 365 Copilot under Microsoft channels</a:t>
            </a:r>
            <a:endParaRPr lang="en-US" sz="1050" dirty="0"/>
          </a:p>
        </p:txBody>
      </p:sp>
      <p:sp>
        <p:nvSpPr>
          <p:cNvPr id="14" name="Shape 12"/>
          <p:cNvSpPr/>
          <p:nvPr/>
        </p:nvSpPr>
        <p:spPr>
          <a:xfrm>
            <a:off x="320040" y="2770632"/>
            <a:ext cx="8503920" cy="448056"/>
          </a:xfrm>
          <a:prstGeom prst="rect">
            <a:avLst/>
          </a:prstGeom>
          <a:solidFill>
            <a:srgbClr val="F3F2F1"/>
          </a:solidFill>
          <a:ln w="12700">
            <a:solidFill>
              <a:srgbClr val="E1DFDD"/>
            </a:solidFill>
            <a:prstDash val="solid"/>
          </a:ln>
        </p:spPr>
      </p:sp>
      <p:sp>
        <p:nvSpPr>
          <p:cNvPr id="15" name="Shape 13"/>
          <p:cNvSpPr/>
          <p:nvPr/>
        </p:nvSpPr>
        <p:spPr>
          <a:xfrm>
            <a:off x="457200" y="2852928"/>
            <a:ext cx="1005840" cy="274320"/>
          </a:xfrm>
          <a:prstGeom prst="rect">
            <a:avLst/>
          </a:prstGeom>
          <a:solidFill>
            <a:srgbClr val="5C2D91"/>
          </a:solidFill>
          <a:ln w="12700">
            <a:solidFill>
              <a:srgbClr val="5C2D91"/>
            </a:solidFill>
            <a:prstDash val="solid"/>
          </a:ln>
        </p:spPr>
      </p:sp>
      <p:sp>
        <p:nvSpPr>
          <p:cNvPr id="16" name="Text 14"/>
          <p:cNvSpPr/>
          <p:nvPr/>
        </p:nvSpPr>
        <p:spPr>
          <a:xfrm>
            <a:off x="457200" y="2852928"/>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Teams</a:t>
            </a:r>
            <a:endParaRPr lang="en-US" sz="800" dirty="0"/>
          </a:p>
        </p:txBody>
      </p:sp>
      <p:sp>
        <p:nvSpPr>
          <p:cNvPr id="17" name="Text 15"/>
          <p:cNvSpPr/>
          <p:nvPr/>
        </p:nvSpPr>
        <p:spPr>
          <a:xfrm>
            <a:off x="1581912" y="2852928"/>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Agent opens in Microsoft Teams and responds to a validation prompt</a:t>
            </a:r>
            <a:endParaRPr lang="en-US" sz="1050" dirty="0"/>
          </a:p>
        </p:txBody>
      </p:sp>
      <p:sp>
        <p:nvSpPr>
          <p:cNvPr id="18" name="Shape 16"/>
          <p:cNvSpPr/>
          <p:nvPr/>
        </p:nvSpPr>
        <p:spPr>
          <a:xfrm>
            <a:off x="320040" y="3255264"/>
            <a:ext cx="8503920" cy="448056"/>
          </a:xfrm>
          <a:prstGeom prst="rect">
            <a:avLst/>
          </a:prstGeom>
          <a:solidFill>
            <a:srgbClr val="FFFFFF"/>
          </a:solidFill>
          <a:ln w="12700">
            <a:solidFill>
              <a:srgbClr val="E1DFDD"/>
            </a:solidFill>
            <a:prstDash val="solid"/>
          </a:ln>
        </p:spPr>
      </p:sp>
      <p:sp>
        <p:nvSpPr>
          <p:cNvPr id="19" name="Shape 17"/>
          <p:cNvSpPr/>
          <p:nvPr/>
        </p:nvSpPr>
        <p:spPr>
          <a:xfrm>
            <a:off x="457200" y="3337560"/>
            <a:ext cx="1005840" cy="274320"/>
          </a:xfrm>
          <a:prstGeom prst="rect">
            <a:avLst/>
          </a:prstGeom>
          <a:solidFill>
            <a:srgbClr val="D47900"/>
          </a:solidFill>
          <a:ln w="12700">
            <a:solidFill>
              <a:srgbClr val="D47900"/>
            </a:solidFill>
            <a:prstDash val="solid"/>
          </a:ln>
        </p:spPr>
      </p:sp>
      <p:sp>
        <p:nvSpPr>
          <p:cNvPr id="20" name="Text 18"/>
          <p:cNvSpPr/>
          <p:nvPr/>
        </p:nvSpPr>
        <p:spPr>
          <a:xfrm>
            <a:off x="457200" y="3337560"/>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Rollout</a:t>
            </a:r>
            <a:endParaRPr lang="en-US" sz="800" dirty="0"/>
          </a:p>
        </p:txBody>
      </p:sp>
      <p:sp>
        <p:nvSpPr>
          <p:cNvPr id="21" name="Text 19"/>
          <p:cNvSpPr/>
          <p:nvPr/>
        </p:nvSpPr>
        <p:spPr>
          <a:xfrm>
            <a:off x="1581912" y="3337560"/>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Availability path confirmed: self-install, shared with teammates, or submitted for admin approval</a:t>
            </a:r>
            <a:endParaRPr lang="en-US" sz="1050" dirty="0"/>
          </a:p>
        </p:txBody>
      </p:sp>
      <p:sp>
        <p:nvSpPr>
          <p:cNvPr id="22" name="Shape 20"/>
          <p:cNvSpPr/>
          <p:nvPr/>
        </p:nvSpPr>
        <p:spPr>
          <a:xfrm>
            <a:off x="320040" y="3739896"/>
            <a:ext cx="8503920" cy="448056"/>
          </a:xfrm>
          <a:prstGeom prst="rect">
            <a:avLst/>
          </a:prstGeom>
          <a:solidFill>
            <a:srgbClr val="F3F2F1"/>
          </a:solidFill>
          <a:ln w="12700">
            <a:solidFill>
              <a:srgbClr val="E1DFDD"/>
            </a:solidFill>
            <a:prstDash val="solid"/>
          </a:ln>
        </p:spPr>
      </p:sp>
      <p:sp>
        <p:nvSpPr>
          <p:cNvPr id="23" name="Shape 21"/>
          <p:cNvSpPr/>
          <p:nvPr/>
        </p:nvSpPr>
        <p:spPr>
          <a:xfrm>
            <a:off x="457200" y="3822192"/>
            <a:ext cx="1005840" cy="274320"/>
          </a:xfrm>
          <a:prstGeom prst="rect">
            <a:avLst/>
          </a:prstGeom>
          <a:solidFill>
            <a:srgbClr val="D83B01"/>
          </a:solidFill>
          <a:ln w="12700">
            <a:solidFill>
              <a:srgbClr val="D83B01"/>
            </a:solidFill>
            <a:prstDash val="solid"/>
          </a:ln>
        </p:spPr>
      </p:sp>
      <p:sp>
        <p:nvSpPr>
          <p:cNvPr id="24" name="Text 22"/>
          <p:cNvSpPr/>
          <p:nvPr/>
        </p:nvSpPr>
        <p:spPr>
          <a:xfrm>
            <a:off x="457200" y="3822192"/>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Auth</a:t>
            </a:r>
            <a:endParaRPr lang="en-US" sz="800" dirty="0"/>
          </a:p>
        </p:txBody>
      </p:sp>
      <p:sp>
        <p:nvSpPr>
          <p:cNvPr id="25" name="Text 23"/>
          <p:cNvSpPr/>
          <p:nvPr/>
        </p:nvSpPr>
        <p:spPr>
          <a:xfrm>
            <a:off x="1581912" y="3822192"/>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Microsoft Auth note: non-Teams channels require changing authentication settings in the Channels tab</a:t>
            </a:r>
            <a:endParaRPr lang="en-US" sz="1050" dirty="0"/>
          </a:p>
        </p:txBody>
      </p:sp>
      <p:sp>
        <p:nvSpPr>
          <p:cNvPr id="26" name="Shape 24"/>
          <p:cNvSpPr/>
          <p:nvPr/>
        </p:nvSpPr>
        <p:spPr>
          <a:xfrm>
            <a:off x="320040" y="4224528"/>
            <a:ext cx="8503920" cy="448056"/>
          </a:xfrm>
          <a:prstGeom prst="rect">
            <a:avLst/>
          </a:prstGeom>
          <a:solidFill>
            <a:srgbClr val="FFFFFF"/>
          </a:solidFill>
          <a:ln w="12700">
            <a:solidFill>
              <a:srgbClr val="E1DFDD"/>
            </a:solidFill>
            <a:prstDash val="solid"/>
          </a:ln>
        </p:spPr>
      </p:sp>
      <p:sp>
        <p:nvSpPr>
          <p:cNvPr id="27" name="Shape 25"/>
          <p:cNvSpPr/>
          <p:nvPr/>
        </p:nvSpPr>
        <p:spPr>
          <a:xfrm>
            <a:off x="457200" y="4306824"/>
            <a:ext cx="1005840" cy="274320"/>
          </a:xfrm>
          <a:prstGeom prst="rect">
            <a:avLst/>
          </a:prstGeom>
          <a:solidFill>
            <a:srgbClr val="107C10"/>
          </a:solidFill>
          <a:ln w="12700">
            <a:solidFill>
              <a:srgbClr val="107C10"/>
            </a:solidFill>
            <a:prstDash val="solid"/>
          </a:ln>
        </p:spPr>
      </p:sp>
      <p:sp>
        <p:nvSpPr>
          <p:cNvPr id="28" name="Text 26"/>
          <p:cNvSpPr/>
          <p:nvPr/>
        </p:nvSpPr>
        <p:spPr>
          <a:xfrm>
            <a:off x="457200" y="4306824"/>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WhatsApp</a:t>
            </a:r>
            <a:endParaRPr lang="en-US" sz="800" dirty="0"/>
          </a:p>
        </p:txBody>
      </p:sp>
      <p:sp>
        <p:nvSpPr>
          <p:cNvPr id="29" name="Text 27"/>
          <p:cNvSpPr/>
          <p:nvPr/>
        </p:nvSpPr>
        <p:spPr>
          <a:xfrm>
            <a:off x="1581912" y="4306824"/>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WhatsApp identified as a GA channel available for future rollout beyond Teams</a:t>
            </a:r>
            <a:endParaRPr lang="en-US" sz="1050" dirty="0"/>
          </a:p>
        </p:txBody>
      </p:sp>
      <p:sp>
        <p:nvSpPr>
          <p:cNvPr id="30" name="Shape 28"/>
          <p:cNvSpPr/>
          <p:nvPr/>
        </p:nvSpPr>
        <p:spPr>
          <a:xfrm>
            <a:off x="320040" y="4681728"/>
            <a:ext cx="8503920" cy="320040"/>
          </a:xfrm>
          <a:prstGeom prst="rect">
            <a:avLst/>
          </a:prstGeom>
          <a:solidFill>
            <a:srgbClr val="EFF6FC"/>
          </a:solidFill>
          <a:ln w="12700">
            <a:solidFill>
              <a:srgbClr val="C7E0F4"/>
            </a:solidFill>
            <a:prstDash val="solid"/>
          </a:ln>
        </p:spPr>
      </p:sp>
      <p:sp>
        <p:nvSpPr>
          <p:cNvPr id="31" name="Text 29"/>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Teams Admin Center app approval is an expected governance checkpoint — not a blocker to work around.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12</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Licensing and ROI</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Record four key terms: Copilot Credits, Capacity packs, Pay-as-you-go, User licenses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Map Day 1 scenarios to licensing behavior (Q&amp;A vs. flows, triggers, and external channels)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Visit aka.ms/copilotstudioestimator and note the three core planning actions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Review Savings analytics section: time saved, cost avoided, adoption by business process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Answer the three FAQ prompts: M365 Copilot licenses vs credits, trial expiry, production habit</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20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Anchor every point</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to a Day 1 workshop example</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06  ·  LAB 12 RECAP  ·  DAY 1 COMPLETE</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12: Licensing and ROI</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Technical success and commercial readiness are both required for a credible customer deployment.</a:t>
            </a:r>
            <a:endParaRPr lang="en-US" sz="1200" dirty="0"/>
          </a:p>
        </p:txBody>
      </p:sp>
      <p:sp>
        <p:nvSpPr>
          <p:cNvPr id="6" name="Shape 4"/>
          <p:cNvSpPr/>
          <p:nvPr/>
        </p:nvSpPr>
        <p:spPr>
          <a:xfrm>
            <a:off x="274320" y="1755648"/>
            <a:ext cx="4069080" cy="26060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55648"/>
            <a:ext cx="4069080" cy="365760"/>
          </a:xfrm>
          <a:prstGeom prst="rect">
            <a:avLst/>
          </a:prstGeom>
          <a:solidFill>
            <a:srgbClr val="0078D4"/>
          </a:solidFill>
          <a:ln w="12700">
            <a:solidFill>
              <a:srgbClr val="0078D4"/>
            </a:solidFill>
            <a:prstDash val="solid"/>
          </a:ln>
        </p:spPr>
      </p:sp>
      <p:sp>
        <p:nvSpPr>
          <p:cNvPr id="8" name="Text 6"/>
          <p:cNvSpPr/>
          <p:nvPr/>
        </p:nvSpPr>
        <p:spPr>
          <a:xfrm>
            <a:off x="384048" y="1755648"/>
            <a:ext cx="384048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The Licensing Model</a:t>
            </a:r>
            <a:endParaRPr lang="en-US" sz="1100" dirty="0"/>
          </a:p>
        </p:txBody>
      </p:sp>
      <p:sp>
        <p:nvSpPr>
          <p:cNvPr id="9" name="Shape 7"/>
          <p:cNvSpPr/>
          <p:nvPr/>
        </p:nvSpPr>
        <p:spPr>
          <a:xfrm>
            <a:off x="384048" y="2267712"/>
            <a:ext cx="1143000" cy="237744"/>
          </a:xfrm>
          <a:prstGeom prst="rect">
            <a:avLst/>
          </a:prstGeom>
          <a:solidFill>
            <a:srgbClr val="0078D4"/>
          </a:solidFill>
          <a:ln w="12700">
            <a:solidFill>
              <a:srgbClr val="0078D4"/>
            </a:solidFill>
            <a:prstDash val="solid"/>
          </a:ln>
        </p:spPr>
      </p:sp>
      <p:sp>
        <p:nvSpPr>
          <p:cNvPr id="10" name="Text 8"/>
          <p:cNvSpPr/>
          <p:nvPr/>
        </p:nvSpPr>
        <p:spPr>
          <a:xfrm>
            <a:off x="384048" y="2267712"/>
            <a:ext cx="1143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Copilot Credits</a:t>
            </a:r>
            <a:endParaRPr lang="en-US" sz="800" dirty="0"/>
          </a:p>
        </p:txBody>
      </p:sp>
      <p:sp>
        <p:nvSpPr>
          <p:cNvPr id="11" name="Text 9"/>
          <p:cNvSpPr/>
          <p:nvPr/>
        </p:nvSpPr>
        <p:spPr>
          <a:xfrm>
            <a:off x="1627632" y="2231136"/>
            <a:ext cx="2606040" cy="32004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Usage currency for work performed by Copilot Studio agents</a:t>
            </a:r>
            <a:endParaRPr lang="en-US" sz="950" dirty="0"/>
          </a:p>
        </p:txBody>
      </p:sp>
      <p:sp>
        <p:nvSpPr>
          <p:cNvPr id="12" name="Shape 10"/>
          <p:cNvSpPr/>
          <p:nvPr/>
        </p:nvSpPr>
        <p:spPr>
          <a:xfrm>
            <a:off x="384048" y="2798064"/>
            <a:ext cx="1143000" cy="237744"/>
          </a:xfrm>
          <a:prstGeom prst="rect">
            <a:avLst/>
          </a:prstGeom>
          <a:solidFill>
            <a:srgbClr val="0078D4"/>
          </a:solidFill>
          <a:ln w="12700">
            <a:solidFill>
              <a:srgbClr val="0078D4"/>
            </a:solidFill>
            <a:prstDash val="solid"/>
          </a:ln>
        </p:spPr>
      </p:sp>
      <p:sp>
        <p:nvSpPr>
          <p:cNvPr id="13" name="Text 11"/>
          <p:cNvSpPr/>
          <p:nvPr/>
        </p:nvSpPr>
        <p:spPr>
          <a:xfrm>
            <a:off x="384048" y="2798064"/>
            <a:ext cx="1143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Capacity packs</a:t>
            </a:r>
            <a:endParaRPr lang="en-US" sz="800" dirty="0"/>
          </a:p>
        </p:txBody>
      </p:sp>
      <p:sp>
        <p:nvSpPr>
          <p:cNvPr id="14" name="Text 12"/>
          <p:cNvSpPr/>
          <p:nvPr/>
        </p:nvSpPr>
        <p:spPr>
          <a:xfrm>
            <a:off x="1627632" y="2761488"/>
            <a:ext cx="2606040" cy="32004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Prepaid monthly credits pooled at the tenant level</a:t>
            </a:r>
            <a:endParaRPr lang="en-US" sz="950" dirty="0"/>
          </a:p>
        </p:txBody>
      </p:sp>
      <p:sp>
        <p:nvSpPr>
          <p:cNvPr id="15" name="Shape 13"/>
          <p:cNvSpPr/>
          <p:nvPr/>
        </p:nvSpPr>
        <p:spPr>
          <a:xfrm>
            <a:off x="384048" y="3328416"/>
            <a:ext cx="1143000" cy="237744"/>
          </a:xfrm>
          <a:prstGeom prst="rect">
            <a:avLst/>
          </a:prstGeom>
          <a:solidFill>
            <a:srgbClr val="0078D4"/>
          </a:solidFill>
          <a:ln w="12700">
            <a:solidFill>
              <a:srgbClr val="0078D4"/>
            </a:solidFill>
            <a:prstDash val="solid"/>
          </a:ln>
        </p:spPr>
      </p:sp>
      <p:sp>
        <p:nvSpPr>
          <p:cNvPr id="16" name="Text 14"/>
          <p:cNvSpPr/>
          <p:nvPr/>
        </p:nvSpPr>
        <p:spPr>
          <a:xfrm>
            <a:off x="384048" y="3328416"/>
            <a:ext cx="1143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Pay-as-you-go</a:t>
            </a:r>
            <a:endParaRPr lang="en-US" sz="800" dirty="0"/>
          </a:p>
        </p:txBody>
      </p:sp>
      <p:sp>
        <p:nvSpPr>
          <p:cNvPr id="17" name="Text 15"/>
          <p:cNvSpPr/>
          <p:nvPr/>
        </p:nvSpPr>
        <p:spPr>
          <a:xfrm>
            <a:off x="1627632" y="3291840"/>
            <a:ext cx="2606040" cy="32004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Azure-billed usage for actual credits consumed</a:t>
            </a:r>
            <a:endParaRPr lang="en-US" sz="950" dirty="0"/>
          </a:p>
        </p:txBody>
      </p:sp>
      <p:sp>
        <p:nvSpPr>
          <p:cNvPr id="18" name="Shape 16"/>
          <p:cNvSpPr/>
          <p:nvPr/>
        </p:nvSpPr>
        <p:spPr>
          <a:xfrm>
            <a:off x="384048" y="3858768"/>
            <a:ext cx="1143000" cy="237744"/>
          </a:xfrm>
          <a:prstGeom prst="rect">
            <a:avLst/>
          </a:prstGeom>
          <a:solidFill>
            <a:srgbClr val="0078D4"/>
          </a:solidFill>
          <a:ln w="12700">
            <a:solidFill>
              <a:srgbClr val="0078D4"/>
            </a:solidFill>
            <a:prstDash val="solid"/>
          </a:ln>
        </p:spPr>
      </p:sp>
      <p:sp>
        <p:nvSpPr>
          <p:cNvPr id="19" name="Text 17"/>
          <p:cNvSpPr/>
          <p:nvPr/>
        </p:nvSpPr>
        <p:spPr>
          <a:xfrm>
            <a:off x="384048" y="3858768"/>
            <a:ext cx="1143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User licenses</a:t>
            </a:r>
            <a:endParaRPr lang="en-US" sz="800" dirty="0"/>
          </a:p>
        </p:txBody>
      </p:sp>
      <p:sp>
        <p:nvSpPr>
          <p:cNvPr id="20" name="Text 18"/>
          <p:cNvSpPr/>
          <p:nvPr/>
        </p:nvSpPr>
        <p:spPr>
          <a:xfrm>
            <a:off x="1627632" y="3822192"/>
            <a:ext cx="2606040" cy="32004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Makers need Copilot Studio access; advanced end-user actions may still consume credits</a:t>
            </a:r>
            <a:endParaRPr lang="en-US" sz="950" dirty="0"/>
          </a:p>
        </p:txBody>
      </p:sp>
      <p:sp>
        <p:nvSpPr>
          <p:cNvPr id="21" name="Shape 19"/>
          <p:cNvSpPr/>
          <p:nvPr/>
        </p:nvSpPr>
        <p:spPr>
          <a:xfrm>
            <a:off x="4617720" y="1755648"/>
            <a:ext cx="4251960" cy="26060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2" name="Shape 20"/>
          <p:cNvSpPr/>
          <p:nvPr/>
        </p:nvSpPr>
        <p:spPr>
          <a:xfrm>
            <a:off x="4617720" y="1755648"/>
            <a:ext cx="4251960" cy="365760"/>
          </a:xfrm>
          <a:prstGeom prst="rect">
            <a:avLst/>
          </a:prstGeom>
          <a:solidFill>
            <a:srgbClr val="243A5E"/>
          </a:solidFill>
          <a:ln w="12700">
            <a:solidFill>
              <a:srgbClr val="243A5E"/>
            </a:solidFill>
            <a:prstDash val="solid"/>
          </a:ln>
        </p:spPr>
      </p:sp>
      <p:sp>
        <p:nvSpPr>
          <p:cNvPr id="23" name="Text 21"/>
          <p:cNvSpPr/>
          <p:nvPr/>
        </p:nvSpPr>
        <p:spPr>
          <a:xfrm>
            <a:off x="4727448" y="1755648"/>
            <a:ext cx="402336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Scenario → Licensing</a:t>
            </a:r>
            <a:endParaRPr lang="en-US" sz="1100" dirty="0"/>
          </a:p>
        </p:txBody>
      </p:sp>
      <p:sp>
        <p:nvSpPr>
          <p:cNvPr id="24" name="Shape 22"/>
          <p:cNvSpPr/>
          <p:nvPr/>
        </p:nvSpPr>
        <p:spPr>
          <a:xfrm>
            <a:off x="4727448" y="2267712"/>
            <a:ext cx="164592" cy="237744"/>
          </a:xfrm>
          <a:prstGeom prst="rect">
            <a:avLst/>
          </a:prstGeom>
          <a:solidFill>
            <a:srgbClr val="107C10"/>
          </a:solidFill>
          <a:ln w="12700">
            <a:solidFill>
              <a:srgbClr val="107C10"/>
            </a:solidFill>
            <a:prstDash val="solid"/>
          </a:ln>
        </p:spPr>
      </p:sp>
      <p:sp>
        <p:nvSpPr>
          <p:cNvPr id="25" name="Text 23"/>
          <p:cNvSpPr/>
          <p:nvPr/>
        </p:nvSpPr>
        <p:spPr>
          <a:xfrm>
            <a:off x="4956048" y="2231136"/>
            <a:ext cx="2286000" cy="32004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Basic Q&amp;A in M365 Copilot</a:t>
            </a:r>
            <a:endParaRPr lang="en-US" sz="950" dirty="0"/>
          </a:p>
        </p:txBody>
      </p:sp>
      <p:sp>
        <p:nvSpPr>
          <p:cNvPr id="26" name="Text 24"/>
          <p:cNvSpPr/>
          <p:nvPr/>
        </p:nvSpPr>
        <p:spPr>
          <a:xfrm>
            <a:off x="7296912" y="2231136"/>
            <a:ext cx="1463040" cy="320040"/>
          </a:xfrm>
          <a:prstGeom prst="rect">
            <a:avLst/>
          </a:prstGeom>
          <a:noFill/>
          <a:ln/>
        </p:spPr>
        <p:txBody>
          <a:bodyPr wrap="square" lIns="0" tIns="0" rIns="0" bIns="0" rtlCol="0" anchor="ctr"/>
          <a:lstStyle/>
          <a:p>
            <a:pPr indent="0" marL="0">
              <a:buNone/>
            </a:pPr>
            <a:r>
              <a:rPr lang="en-US" sz="850" b="1" dirty="0">
                <a:solidFill>
                  <a:srgbClr val="107C10"/>
                </a:solidFill>
                <a:latin typeface="Segoe UI" pitchFamily="34" charset="0"/>
                <a:ea typeface="Segoe UI" pitchFamily="34" charset="-122"/>
                <a:cs typeface="Segoe UI" pitchFamily="34" charset="-120"/>
              </a:rPr>
              <a:t>Often covered by user license</a:t>
            </a:r>
            <a:endParaRPr lang="en-US" sz="850" dirty="0"/>
          </a:p>
        </p:txBody>
      </p:sp>
      <p:sp>
        <p:nvSpPr>
          <p:cNvPr id="27" name="Shape 25"/>
          <p:cNvSpPr/>
          <p:nvPr/>
        </p:nvSpPr>
        <p:spPr>
          <a:xfrm>
            <a:off x="4727448" y="2798064"/>
            <a:ext cx="164592" cy="237744"/>
          </a:xfrm>
          <a:prstGeom prst="rect">
            <a:avLst/>
          </a:prstGeom>
          <a:solidFill>
            <a:srgbClr val="D83B01"/>
          </a:solidFill>
          <a:ln w="12700">
            <a:solidFill>
              <a:srgbClr val="D83B01"/>
            </a:solidFill>
            <a:prstDash val="solid"/>
          </a:ln>
        </p:spPr>
      </p:sp>
      <p:sp>
        <p:nvSpPr>
          <p:cNvPr id="28" name="Text 26"/>
          <p:cNvSpPr/>
          <p:nvPr/>
        </p:nvSpPr>
        <p:spPr>
          <a:xfrm>
            <a:off x="4956048" y="2761488"/>
            <a:ext cx="2286000" cy="32004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Device request flow + manager email</a:t>
            </a:r>
            <a:endParaRPr lang="en-US" sz="950" dirty="0"/>
          </a:p>
        </p:txBody>
      </p:sp>
      <p:sp>
        <p:nvSpPr>
          <p:cNvPr id="29" name="Text 27"/>
          <p:cNvSpPr/>
          <p:nvPr/>
        </p:nvSpPr>
        <p:spPr>
          <a:xfrm>
            <a:off x="7296912" y="2761488"/>
            <a:ext cx="1463040" cy="320040"/>
          </a:xfrm>
          <a:prstGeom prst="rect">
            <a:avLst/>
          </a:prstGeom>
          <a:noFill/>
          <a:ln/>
        </p:spPr>
        <p:txBody>
          <a:bodyPr wrap="square" lIns="0" tIns="0" rIns="0" bIns="0" rtlCol="0" anchor="ctr"/>
          <a:lstStyle/>
          <a:p>
            <a:pPr indent="0" marL="0">
              <a:buNone/>
            </a:pPr>
            <a:r>
              <a:rPr lang="en-US" sz="850" b="1" dirty="0">
                <a:solidFill>
                  <a:srgbClr val="D83B01"/>
                </a:solidFill>
                <a:latin typeface="Segoe UI" pitchFamily="34" charset="0"/>
                <a:ea typeface="Segoe UI" pitchFamily="34" charset="-122"/>
                <a:cs typeface="Segoe UI" pitchFamily="34" charset="-120"/>
              </a:rPr>
              <a:t>Consumes Copilot Studio credits</a:t>
            </a:r>
            <a:endParaRPr lang="en-US" sz="850" dirty="0"/>
          </a:p>
        </p:txBody>
      </p:sp>
      <p:sp>
        <p:nvSpPr>
          <p:cNvPr id="30" name="Shape 28"/>
          <p:cNvSpPr/>
          <p:nvPr/>
        </p:nvSpPr>
        <p:spPr>
          <a:xfrm>
            <a:off x="4727448" y="3328416"/>
            <a:ext cx="164592" cy="237744"/>
          </a:xfrm>
          <a:prstGeom prst="rect">
            <a:avLst/>
          </a:prstGeom>
          <a:solidFill>
            <a:srgbClr val="D83B01"/>
          </a:solidFill>
          <a:ln w="12700">
            <a:solidFill>
              <a:srgbClr val="D83B01"/>
            </a:solidFill>
            <a:prstDash val="solid"/>
          </a:ln>
        </p:spPr>
      </p:sp>
      <p:sp>
        <p:nvSpPr>
          <p:cNvPr id="31" name="Text 29"/>
          <p:cNvSpPr/>
          <p:nvPr/>
        </p:nvSpPr>
        <p:spPr>
          <a:xfrm>
            <a:off x="4956048" y="3291840"/>
            <a:ext cx="2286000" cy="32004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Autonomous ticket acknowledgment trigger</a:t>
            </a:r>
            <a:endParaRPr lang="en-US" sz="950" dirty="0"/>
          </a:p>
        </p:txBody>
      </p:sp>
      <p:sp>
        <p:nvSpPr>
          <p:cNvPr id="32" name="Text 30"/>
          <p:cNvSpPr/>
          <p:nvPr/>
        </p:nvSpPr>
        <p:spPr>
          <a:xfrm>
            <a:off x="7296912" y="3291840"/>
            <a:ext cx="1463040" cy="320040"/>
          </a:xfrm>
          <a:prstGeom prst="rect">
            <a:avLst/>
          </a:prstGeom>
          <a:noFill/>
          <a:ln/>
        </p:spPr>
        <p:txBody>
          <a:bodyPr wrap="square" lIns="0" tIns="0" rIns="0" bIns="0" rtlCol="0" anchor="ctr"/>
          <a:lstStyle/>
          <a:p>
            <a:pPr indent="0" marL="0">
              <a:buNone/>
            </a:pPr>
            <a:r>
              <a:rPr lang="en-US" sz="850" b="1" dirty="0">
                <a:solidFill>
                  <a:srgbClr val="D83B01"/>
                </a:solidFill>
                <a:latin typeface="Segoe UI" pitchFamily="34" charset="0"/>
                <a:ea typeface="Segoe UI" pitchFamily="34" charset="-122"/>
                <a:cs typeface="Segoe UI" pitchFamily="34" charset="-120"/>
              </a:rPr>
              <a:t>Consumes Copilot Studio credits</a:t>
            </a:r>
            <a:endParaRPr lang="en-US" sz="850" dirty="0"/>
          </a:p>
        </p:txBody>
      </p:sp>
      <p:sp>
        <p:nvSpPr>
          <p:cNvPr id="33" name="Shape 31"/>
          <p:cNvSpPr/>
          <p:nvPr/>
        </p:nvSpPr>
        <p:spPr>
          <a:xfrm>
            <a:off x="4727448" y="3858768"/>
            <a:ext cx="164592" cy="237744"/>
          </a:xfrm>
          <a:prstGeom prst="rect">
            <a:avLst/>
          </a:prstGeom>
          <a:solidFill>
            <a:srgbClr val="0078D4"/>
          </a:solidFill>
          <a:ln w="12700">
            <a:solidFill>
              <a:srgbClr val="0078D4"/>
            </a:solidFill>
            <a:prstDash val="solid"/>
          </a:ln>
        </p:spPr>
      </p:sp>
      <p:sp>
        <p:nvSpPr>
          <p:cNvPr id="34" name="Text 32"/>
          <p:cNvSpPr/>
          <p:nvPr/>
        </p:nvSpPr>
        <p:spPr>
          <a:xfrm>
            <a:off x="4956048" y="3822192"/>
            <a:ext cx="2286000" cy="320040"/>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Maker building or editing agents</a:t>
            </a:r>
            <a:endParaRPr lang="en-US" sz="950" dirty="0"/>
          </a:p>
        </p:txBody>
      </p:sp>
      <p:sp>
        <p:nvSpPr>
          <p:cNvPr id="35" name="Text 33"/>
          <p:cNvSpPr/>
          <p:nvPr/>
        </p:nvSpPr>
        <p:spPr>
          <a:xfrm>
            <a:off x="7296912" y="3822192"/>
            <a:ext cx="1463040" cy="320040"/>
          </a:xfrm>
          <a:prstGeom prst="rect">
            <a:avLst/>
          </a:prstGeom>
          <a:noFill/>
          <a:ln/>
        </p:spPr>
        <p:txBody>
          <a:bodyPr wrap="square" lIns="0" tIns="0" rIns="0" bIns="0" rtlCol="0" anchor="ctr"/>
          <a:lstStyle/>
          <a:p>
            <a:pPr indent="0" marL="0">
              <a:buNone/>
            </a:pPr>
            <a:r>
              <a:rPr lang="en-US" sz="850" b="1" dirty="0">
                <a:solidFill>
                  <a:srgbClr val="0078D4"/>
                </a:solidFill>
                <a:latin typeface="Segoe UI" pitchFamily="34" charset="0"/>
                <a:ea typeface="Segoe UI" pitchFamily="34" charset="-122"/>
                <a:cs typeface="Segoe UI" pitchFamily="34" charset="-120"/>
              </a:rPr>
              <a:t>Requires Copilot Studio maker access</a:t>
            </a:r>
            <a:endParaRPr lang="en-US" sz="850" dirty="0"/>
          </a:p>
        </p:txBody>
      </p:sp>
      <p:sp>
        <p:nvSpPr>
          <p:cNvPr id="36" name="Shape 34"/>
          <p:cNvSpPr/>
          <p:nvPr/>
        </p:nvSpPr>
        <p:spPr>
          <a:xfrm>
            <a:off x="274320" y="4553712"/>
            <a:ext cx="8595360" cy="475488"/>
          </a:xfrm>
          <a:prstGeom prst="rect">
            <a:avLst/>
          </a:prstGeom>
          <a:solidFill>
            <a:srgbClr val="243A5E"/>
          </a:solidFill>
          <a:ln w="12700">
            <a:solidFill>
              <a:srgbClr val="243A5E"/>
            </a:solidFill>
            <a:prstDash val="solid"/>
          </a:ln>
        </p:spPr>
      </p:sp>
      <p:sp>
        <p:nvSpPr>
          <p:cNvPr id="37" name="Shape 35"/>
          <p:cNvSpPr/>
          <p:nvPr/>
        </p:nvSpPr>
        <p:spPr>
          <a:xfrm>
            <a:off x="274320" y="4553712"/>
            <a:ext cx="64008" cy="475488"/>
          </a:xfrm>
          <a:prstGeom prst="rect">
            <a:avLst/>
          </a:prstGeom>
          <a:solidFill>
            <a:srgbClr val="0078D4"/>
          </a:solidFill>
          <a:ln w="12700">
            <a:solidFill>
              <a:srgbClr val="0078D4"/>
            </a:solidFill>
            <a:prstDash val="solid"/>
          </a:ln>
        </p:spPr>
      </p:sp>
      <p:sp>
        <p:nvSpPr>
          <p:cNvPr id="38" name="Text 36"/>
          <p:cNvSpPr/>
          <p:nvPr/>
        </p:nvSpPr>
        <p:spPr>
          <a:xfrm>
            <a:off x="457200" y="4553712"/>
            <a:ext cx="2286000" cy="475488"/>
          </a:xfrm>
          <a:prstGeom prst="rect">
            <a:avLst/>
          </a:prstGeom>
          <a:noFill/>
          <a:ln/>
        </p:spPr>
        <p:txBody>
          <a:bodyPr wrap="square" rtlCol="0" anchor="ctr"/>
          <a:lstStyle/>
          <a:p>
            <a:pPr indent="0" marL="0">
              <a:buNone/>
            </a:pPr>
            <a:r>
              <a:rPr lang="en-US" sz="1200" b="1" dirty="0">
                <a:solidFill>
                  <a:srgbClr val="50E6FF"/>
                </a:solidFill>
                <a:latin typeface="Segoe UI" pitchFamily="34" charset="0"/>
                <a:ea typeface="Segoe UI" pitchFamily="34" charset="-122"/>
                <a:cs typeface="Segoe UI" pitchFamily="34" charset="-120"/>
              </a:rPr>
              <a:t>Day 1 Complete</a:t>
            </a:r>
            <a:endParaRPr lang="en-US" sz="1200" dirty="0"/>
          </a:p>
        </p:txBody>
      </p:sp>
      <p:sp>
        <p:nvSpPr>
          <p:cNvPr id="39" name="Text 37"/>
          <p:cNvSpPr/>
          <p:nvPr/>
        </p:nvSpPr>
        <p:spPr>
          <a:xfrm>
            <a:off x="2834640" y="4553712"/>
            <a:ext cx="5943600" cy="47548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Up next: Day 2 — Module 07: Hiring Architecture  (Labs 13–15)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06: Actions and Events</dc:title>
  <dc:subject>PptxGenJS Presentation</dc:subject>
  <dc:creator>Microsoft</dc:creator>
  <cp:lastModifiedBy>Microsoft</cp:lastModifiedBy>
  <cp:revision>1</cp:revision>
  <dcterms:created xsi:type="dcterms:W3CDTF">2026-03-23T21:18:36Z</dcterms:created>
  <dcterms:modified xsi:type="dcterms:W3CDTF">2026-03-23T21:18:36Z</dcterms:modified>
</cp:coreProperties>
</file>