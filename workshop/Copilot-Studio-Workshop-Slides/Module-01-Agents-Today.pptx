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explanation practical and tied to business outcomes rather than product marketing language. Introduce the three patterns — grounded Q&amp;A, task completion, and autonomous triggers — as the lens participants will use for every lab choice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after presenting the three patterns and ask one Maker, one IT Pro, and one Developer to classify one Contoso IT scenario. Keep the pace brisk — this creates shared language, not a deep AI theory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each pillar to the mixed audience in the room: adoption and conversation quality matter to Makers, governance and capacity matter to IT Pros, and orchestration boundaries and extensibility matter to Developers. Every lab today touches at least one of these pillars.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Contoso IT story consistently so participants hear the same examples before they build them. Pause and ask one Maker, one IT Pro, and one Developer to classify a scenario they recognize from their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lab is discussion-first but still has concrete participant tasks. The goal is shared language — not deep theory. Keep the pace brisk. Ask one participant per role to classify a scenario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lab lightweight so confidence rises before deeper authoring work begins. If participants can answer the three validation prompts without notes, they are ready for Lab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A5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78D4"/>
          </a:solidFill>
          <a:ln w="12700">
            <a:solidFill>
              <a:srgbClr val="0078D4"/>
            </a:solidFill>
            <a:prstDash val="solid"/>
          </a:ln>
        </p:spPr>
      </p:sp>
      <p:sp>
        <p:nvSpPr>
          <p:cNvPr id="3" name="Shape 1"/>
          <p:cNvSpPr/>
          <p:nvPr/>
        </p:nvSpPr>
        <p:spPr>
          <a:xfrm>
            <a:off x="0" y="64008"/>
            <a:ext cx="411480" cy="5079492"/>
          </a:xfrm>
          <a:prstGeom prst="rect">
            <a:avLst/>
          </a:prstGeom>
          <a:solidFill>
            <a:srgbClr val="0078D4"/>
          </a:solidFill>
          <a:ln w="12700">
            <a:solidFill>
              <a:srgbClr val="0078D4"/>
            </a:solidFill>
            <a:prstDash val="solid"/>
          </a:ln>
        </p:spPr>
      </p:sp>
      <p:sp>
        <p:nvSpPr>
          <p:cNvPr id="4" name="Text 2"/>
          <p:cNvSpPr/>
          <p:nvPr/>
        </p:nvSpPr>
        <p:spPr>
          <a:xfrm>
            <a:off x="594360" y="594360"/>
            <a:ext cx="8229600" cy="384048"/>
          </a:xfrm>
          <a:prstGeom prst="rect">
            <a:avLst/>
          </a:prstGeom>
          <a:noFill/>
          <a:ln/>
        </p:spPr>
        <p:txBody>
          <a:bodyPr wrap="square" rtlCol="0" anchor="ctr"/>
          <a:lstStyle/>
          <a:p>
            <a:pPr indent="0" marL="0">
              <a:buNone/>
            </a:pPr>
            <a:r>
              <a:rPr lang="en-US" sz="1100" spc="500" kern="0" dirty="0">
                <a:solidFill>
                  <a:srgbClr val="50E6FF"/>
                </a:solidFill>
                <a:latin typeface="Segoe UI" pitchFamily="34" charset="0"/>
                <a:ea typeface="Segoe UI" pitchFamily="34" charset="-122"/>
                <a:cs typeface="Segoe UI" pitchFamily="34" charset="-120"/>
              </a:rPr>
              <a:t>MODULE 01</a:t>
            </a:r>
            <a:endParaRPr lang="en-US" sz="1100" dirty="0"/>
          </a:p>
        </p:txBody>
      </p:sp>
      <p:sp>
        <p:nvSpPr>
          <p:cNvPr id="5" name="Text 3"/>
          <p:cNvSpPr/>
          <p:nvPr/>
        </p:nvSpPr>
        <p:spPr>
          <a:xfrm>
            <a:off x="594360" y="1078992"/>
            <a:ext cx="8229600" cy="105156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Agents Today</a:t>
            </a:r>
            <a:endParaRPr lang="en-US" sz="5800" dirty="0"/>
          </a:p>
        </p:txBody>
      </p:sp>
      <p:sp>
        <p:nvSpPr>
          <p:cNvPr id="6" name="Text 4"/>
          <p:cNvSpPr/>
          <p:nvPr/>
        </p:nvSpPr>
        <p:spPr>
          <a:xfrm>
            <a:off x="594360" y="2194560"/>
            <a:ext cx="7772400" cy="502920"/>
          </a:xfrm>
          <a:prstGeom prst="rect">
            <a:avLst/>
          </a:prstGeom>
          <a:noFill/>
          <a:ln/>
        </p:spPr>
        <p:txBody>
          <a:bodyPr wrap="square" rtlCol="0" anchor="ctr"/>
          <a:lstStyle/>
          <a:p>
            <a:pPr indent="0" marL="0">
              <a:buNone/>
            </a:pPr>
            <a:r>
              <a:rPr lang="en-US" sz="1500" dirty="0">
                <a:solidFill>
                  <a:srgbClr val="C5D8F0"/>
                </a:solidFill>
                <a:latin typeface="Segoe UI" pitchFamily="34" charset="0"/>
                <a:ea typeface="Segoe UI" pitchFamily="34" charset="-122"/>
                <a:cs typeface="Segoe UI" pitchFamily="34" charset="-120"/>
              </a:rPr>
              <a:t>What Microsoft Copilot Studio agents can understand, do, and own</a:t>
            </a:r>
            <a:endParaRPr lang="en-US" sz="1500" dirty="0"/>
          </a:p>
        </p:txBody>
      </p:sp>
      <p:sp>
        <p:nvSpPr>
          <p:cNvPr id="7" name="Shape 5"/>
          <p:cNvSpPr/>
          <p:nvPr/>
        </p:nvSpPr>
        <p:spPr>
          <a:xfrm>
            <a:off x="594360" y="2971800"/>
            <a:ext cx="2606040" cy="457200"/>
          </a:xfrm>
          <a:prstGeom prst="rect">
            <a:avLst/>
          </a:prstGeom>
          <a:solidFill>
            <a:srgbClr val="0078D4"/>
          </a:solidFill>
          <a:ln w="12700">
            <a:solidFill>
              <a:srgbClr val="0078D4"/>
            </a:solidFill>
            <a:prstDash val="solid"/>
          </a:ln>
        </p:spPr>
      </p:sp>
      <p:sp>
        <p:nvSpPr>
          <p:cNvPr id="8" name="Text 6"/>
          <p:cNvSpPr/>
          <p:nvPr/>
        </p:nvSpPr>
        <p:spPr>
          <a:xfrm>
            <a:off x="594360" y="2971800"/>
            <a:ext cx="2606040" cy="45720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Grounded Answers</a:t>
            </a:r>
            <a:endParaRPr lang="en-US" sz="1200" dirty="0"/>
          </a:p>
        </p:txBody>
      </p:sp>
      <p:sp>
        <p:nvSpPr>
          <p:cNvPr id="9" name="Shape 7"/>
          <p:cNvSpPr/>
          <p:nvPr/>
        </p:nvSpPr>
        <p:spPr>
          <a:xfrm>
            <a:off x="3429000" y="2971800"/>
            <a:ext cx="2606040" cy="457200"/>
          </a:xfrm>
          <a:prstGeom prst="rect">
            <a:avLst/>
          </a:prstGeom>
          <a:solidFill>
            <a:srgbClr val="5C2D91"/>
          </a:solidFill>
          <a:ln w="12700">
            <a:solidFill>
              <a:srgbClr val="5C2D91"/>
            </a:solidFill>
            <a:prstDash val="solid"/>
          </a:ln>
        </p:spPr>
      </p:sp>
      <p:sp>
        <p:nvSpPr>
          <p:cNvPr id="10" name="Text 8"/>
          <p:cNvSpPr/>
          <p:nvPr/>
        </p:nvSpPr>
        <p:spPr>
          <a:xfrm>
            <a:off x="3429000" y="2971800"/>
            <a:ext cx="2606040" cy="45720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Actions &amp; Automation</a:t>
            </a:r>
            <a:endParaRPr lang="en-US" sz="1200" dirty="0"/>
          </a:p>
        </p:txBody>
      </p:sp>
      <p:sp>
        <p:nvSpPr>
          <p:cNvPr id="11" name="Shape 9"/>
          <p:cNvSpPr/>
          <p:nvPr/>
        </p:nvSpPr>
        <p:spPr>
          <a:xfrm>
            <a:off x="6263640" y="2971800"/>
            <a:ext cx="2606040" cy="457200"/>
          </a:xfrm>
          <a:prstGeom prst="rect">
            <a:avLst/>
          </a:prstGeom>
          <a:solidFill>
            <a:srgbClr val="107C10"/>
          </a:solidFill>
          <a:ln w="12700">
            <a:solidFill>
              <a:srgbClr val="107C10"/>
            </a:solidFill>
            <a:prstDash val="solid"/>
          </a:ln>
        </p:spPr>
      </p:sp>
      <p:sp>
        <p:nvSpPr>
          <p:cNvPr id="12" name="Text 10"/>
          <p:cNvSpPr/>
          <p:nvPr/>
        </p:nvSpPr>
        <p:spPr>
          <a:xfrm>
            <a:off x="6263640" y="2971800"/>
            <a:ext cx="2606040" cy="45720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Channels &amp; Governance</a:t>
            </a:r>
            <a:endParaRPr lang="en-US" sz="1200" dirty="0"/>
          </a:p>
        </p:txBody>
      </p:sp>
      <p:sp>
        <p:nvSpPr>
          <p:cNvPr id="13" name="Text 11"/>
          <p:cNvSpPr/>
          <p:nvPr/>
        </p:nvSpPr>
        <p:spPr>
          <a:xfrm>
            <a:off x="594360" y="4343400"/>
            <a:ext cx="8229600" cy="320040"/>
          </a:xfrm>
          <a:prstGeom prst="rect">
            <a:avLst/>
          </a:prstGeom>
          <a:noFill/>
          <a:ln/>
        </p:spPr>
        <p:txBody>
          <a:bodyPr wrap="square" rtlCol="0" anchor="ctr"/>
          <a:lstStyle/>
          <a:p>
            <a:pPr indent="0" marL="0">
              <a:buNone/>
            </a:pPr>
            <a:r>
              <a:rPr lang="en-US" sz="1000" dirty="0">
                <a:solidFill>
                  <a:srgbClr val="7BA7CC"/>
                </a:solidFill>
                <a:latin typeface="Segoe UI" pitchFamily="34" charset="0"/>
                <a:ea typeface="Segoe UI" pitchFamily="34" charset="-122"/>
                <a:cs typeface="Segoe UI" pitchFamily="34" charset="-120"/>
              </a:rPr>
              <a:t>Day 1 · Labs 00–12  ·  Contoso IT Helpdesk Scenario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01  ·  AGENTS TODAY</a:t>
            </a:r>
            <a:endParaRPr lang="en-US" sz="900" dirty="0"/>
          </a:p>
        </p:txBody>
      </p:sp>
      <p:sp>
        <p:nvSpPr>
          <p:cNvPr id="4" name="Text 2"/>
          <p:cNvSpPr/>
          <p:nvPr/>
        </p:nvSpPr>
        <p:spPr>
          <a:xfrm>
            <a:off x="365760" y="749808"/>
            <a:ext cx="8412480" cy="548640"/>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Three Agent Patterns</a:t>
            </a:r>
            <a:endParaRPr lang="en-US" sz="2800" dirty="0"/>
          </a:p>
        </p:txBody>
      </p:sp>
      <p:sp>
        <p:nvSpPr>
          <p:cNvPr id="5" name="Text 3"/>
          <p:cNvSpPr/>
          <p:nvPr/>
        </p:nvSpPr>
        <p:spPr>
          <a:xfrm>
            <a:off x="365760" y="1344168"/>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Every agent experience in this workshop fits one of these three patterns.</a:t>
            </a:r>
            <a:endParaRPr lang="en-US" sz="1200" dirty="0"/>
          </a:p>
        </p:txBody>
      </p:sp>
      <p:sp>
        <p:nvSpPr>
          <p:cNvPr id="6" name="Shape 4"/>
          <p:cNvSpPr/>
          <p:nvPr/>
        </p:nvSpPr>
        <p:spPr>
          <a:xfrm>
            <a:off x="256032" y="1801368"/>
            <a:ext cx="2834640" cy="310896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56032" y="1801368"/>
            <a:ext cx="2834640" cy="457200"/>
          </a:xfrm>
          <a:prstGeom prst="rect">
            <a:avLst/>
          </a:prstGeom>
          <a:solidFill>
            <a:srgbClr val="0078D4"/>
          </a:solidFill>
          <a:ln w="12700">
            <a:solidFill>
              <a:srgbClr val="0078D4"/>
            </a:solidFill>
            <a:prstDash val="solid"/>
          </a:ln>
        </p:spPr>
      </p:sp>
      <p:sp>
        <p:nvSpPr>
          <p:cNvPr id="8" name="Shape 6"/>
          <p:cNvSpPr/>
          <p:nvPr/>
        </p:nvSpPr>
        <p:spPr>
          <a:xfrm>
            <a:off x="365760" y="1901952"/>
            <a:ext cx="274320" cy="274320"/>
          </a:xfrm>
          <a:prstGeom prst="ellipse">
            <a:avLst/>
          </a:prstGeom>
          <a:solidFill>
            <a:srgbClr val="FFFFFF"/>
          </a:solidFill>
          <a:ln w="12700">
            <a:solidFill>
              <a:srgbClr val="FFFFFF"/>
            </a:solidFill>
            <a:prstDash val="solid"/>
          </a:ln>
        </p:spPr>
      </p:sp>
      <p:sp>
        <p:nvSpPr>
          <p:cNvPr id="9" name="Text 7"/>
          <p:cNvSpPr/>
          <p:nvPr/>
        </p:nvSpPr>
        <p:spPr>
          <a:xfrm>
            <a:off x="365760" y="1901952"/>
            <a:ext cx="274320" cy="274320"/>
          </a:xfrm>
          <a:prstGeom prst="rect">
            <a:avLst/>
          </a:prstGeom>
          <a:noFill/>
          <a:ln/>
        </p:spPr>
        <p:txBody>
          <a:bodyPr wrap="square" lIns="0" tIns="0" rIns="0" bIns="0" rtlCol="0" anchor="ctr"/>
          <a:lstStyle/>
          <a:p>
            <a:pPr algn="ctr" indent="0" marL="0">
              <a:buNone/>
            </a:pPr>
            <a:r>
              <a:rPr lang="en-US" sz="1000" b="1" dirty="0">
                <a:solidFill>
                  <a:srgbClr val="0078D4"/>
                </a:solidFill>
                <a:latin typeface="Segoe UI" pitchFamily="34" charset="0"/>
                <a:ea typeface="Segoe UI" pitchFamily="34" charset="-122"/>
                <a:cs typeface="Segoe UI" pitchFamily="34" charset="-120"/>
              </a:rPr>
              <a:t>Q</a:t>
            </a:r>
            <a:endParaRPr lang="en-US" sz="1000" dirty="0"/>
          </a:p>
        </p:txBody>
      </p:sp>
      <p:sp>
        <p:nvSpPr>
          <p:cNvPr id="10" name="Text 8"/>
          <p:cNvSpPr/>
          <p:nvPr/>
        </p:nvSpPr>
        <p:spPr>
          <a:xfrm>
            <a:off x="731520" y="1801368"/>
            <a:ext cx="2267712" cy="45720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Conversational</a:t>
            </a:r>
            <a:endParaRPr lang="en-US" sz="1300" dirty="0"/>
          </a:p>
        </p:txBody>
      </p:sp>
      <p:sp>
        <p:nvSpPr>
          <p:cNvPr id="11" name="Text 9"/>
          <p:cNvSpPr/>
          <p:nvPr/>
        </p:nvSpPr>
        <p:spPr>
          <a:xfrm>
            <a:off x="347472" y="2331720"/>
            <a:ext cx="2670048" cy="256032"/>
          </a:xfrm>
          <a:prstGeom prst="rect">
            <a:avLst/>
          </a:prstGeom>
          <a:noFill/>
          <a:ln/>
        </p:spPr>
        <p:txBody>
          <a:bodyPr wrap="square" rtlCol="0" anchor="ctr"/>
          <a:lstStyle/>
          <a:p>
            <a:pPr indent="0" marL="0">
              <a:buNone/>
            </a:pPr>
            <a:r>
              <a:rPr lang="en-US" sz="1000" b="1" dirty="0">
                <a:solidFill>
                  <a:srgbClr val="0078D4"/>
                </a:solidFill>
                <a:latin typeface="Segoe UI" pitchFamily="34" charset="0"/>
                <a:ea typeface="Segoe UI" pitchFamily="34" charset="-122"/>
                <a:cs typeface="Segoe UI" pitchFamily="34" charset="-120"/>
              </a:rPr>
              <a:t>Questions &amp; Answers</a:t>
            </a:r>
            <a:endParaRPr lang="en-US" sz="1000" dirty="0"/>
          </a:p>
        </p:txBody>
      </p:sp>
      <p:sp>
        <p:nvSpPr>
          <p:cNvPr id="12" name="Text 10"/>
          <p:cNvSpPr/>
          <p:nvPr/>
        </p:nvSpPr>
        <p:spPr>
          <a:xfrm>
            <a:off x="347472" y="2615184"/>
            <a:ext cx="2670048" cy="777240"/>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The agent interprets a user's question, retrieves trusted grounded content, and returns a clear answer. No side effects.</a:t>
            </a:r>
            <a:endParaRPr lang="en-US" sz="1050" dirty="0"/>
          </a:p>
        </p:txBody>
      </p:sp>
      <p:sp>
        <p:nvSpPr>
          <p:cNvPr id="13" name="Shape 11"/>
          <p:cNvSpPr/>
          <p:nvPr/>
        </p:nvSpPr>
        <p:spPr>
          <a:xfrm>
            <a:off x="329184" y="3438144"/>
            <a:ext cx="2697480" cy="804672"/>
          </a:xfrm>
          <a:prstGeom prst="rect">
            <a:avLst/>
          </a:prstGeom>
          <a:solidFill>
            <a:srgbClr val="FFFFFF"/>
          </a:solidFill>
          <a:ln w="12700">
            <a:solidFill>
              <a:srgbClr val="C7E0F4"/>
            </a:solidFill>
            <a:prstDash val="solid"/>
          </a:ln>
        </p:spPr>
      </p:sp>
      <p:sp>
        <p:nvSpPr>
          <p:cNvPr id="14" name="Text 12"/>
          <p:cNvSpPr/>
          <p:nvPr/>
        </p:nvSpPr>
        <p:spPr>
          <a:xfrm>
            <a:off x="393192" y="3456432"/>
            <a:ext cx="2578608" cy="201168"/>
          </a:xfrm>
          <a:prstGeom prst="rect">
            <a:avLst/>
          </a:prstGeom>
          <a:noFill/>
          <a:ln/>
        </p:spPr>
        <p:txBody>
          <a:bodyPr wrap="square" rtlCol="0" anchor="ctr"/>
          <a:lstStyle/>
          <a:p>
            <a:pPr indent="0" marL="0">
              <a:buNone/>
            </a:pPr>
            <a:r>
              <a:rPr lang="en-US" sz="800" b="1" dirty="0">
                <a:solidFill>
                  <a:srgbClr val="605E5C"/>
                </a:solidFill>
                <a:latin typeface="Segoe UI" pitchFamily="34" charset="0"/>
                <a:ea typeface="Segoe UI" pitchFamily="34" charset="-122"/>
                <a:cs typeface="Segoe UI" pitchFamily="34" charset="-120"/>
              </a:rPr>
              <a:t>Contoso IT example</a:t>
            </a:r>
            <a:endParaRPr lang="en-US" sz="800" dirty="0"/>
          </a:p>
        </p:txBody>
      </p:sp>
      <p:sp>
        <p:nvSpPr>
          <p:cNvPr id="15" name="Text 13"/>
          <p:cNvSpPr/>
          <p:nvPr/>
        </p:nvSpPr>
        <p:spPr>
          <a:xfrm>
            <a:off x="393192" y="3639312"/>
            <a:ext cx="2578608" cy="530352"/>
          </a:xfrm>
          <a:prstGeom prst="rect">
            <a:avLst/>
          </a:prstGeom>
          <a:noFill/>
          <a:ln/>
        </p:spPr>
        <p:txBody>
          <a:bodyPr wrap="square" rtlCol="0" anchor="ctr"/>
          <a:lstStyle/>
          <a:p>
            <a:pPr indent="0" marL="0">
              <a:buNone/>
            </a:pPr>
            <a:r>
              <a:rPr lang="en-US" sz="950" i="1" dirty="0">
                <a:solidFill>
                  <a:srgbClr val="201F1E"/>
                </a:solidFill>
                <a:latin typeface="Segoe UI" pitchFamily="34" charset="0"/>
                <a:ea typeface="Segoe UI" pitchFamily="34" charset="-122"/>
                <a:cs typeface="Segoe UI" pitchFamily="34" charset="-120"/>
              </a:rPr>
              <a:t>"What devices are available for new employees?"</a:t>
            </a:r>
            <a:endParaRPr lang="en-US" sz="950" dirty="0"/>
          </a:p>
        </p:txBody>
      </p:sp>
      <p:sp>
        <p:nvSpPr>
          <p:cNvPr id="16" name="Shape 14"/>
          <p:cNvSpPr/>
          <p:nvPr/>
        </p:nvSpPr>
        <p:spPr>
          <a:xfrm>
            <a:off x="3227832" y="1801368"/>
            <a:ext cx="2834640" cy="310896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3227832" y="1801368"/>
            <a:ext cx="2834640" cy="457200"/>
          </a:xfrm>
          <a:prstGeom prst="rect">
            <a:avLst/>
          </a:prstGeom>
          <a:solidFill>
            <a:srgbClr val="5C2D91"/>
          </a:solidFill>
          <a:ln w="12700">
            <a:solidFill>
              <a:srgbClr val="5C2D91"/>
            </a:solidFill>
            <a:prstDash val="solid"/>
          </a:ln>
        </p:spPr>
      </p:sp>
      <p:sp>
        <p:nvSpPr>
          <p:cNvPr id="18" name="Shape 16"/>
          <p:cNvSpPr/>
          <p:nvPr/>
        </p:nvSpPr>
        <p:spPr>
          <a:xfrm>
            <a:off x="3337560" y="1901952"/>
            <a:ext cx="274320" cy="274320"/>
          </a:xfrm>
          <a:prstGeom prst="ellipse">
            <a:avLst/>
          </a:prstGeom>
          <a:solidFill>
            <a:srgbClr val="FFFFFF"/>
          </a:solidFill>
          <a:ln w="12700">
            <a:solidFill>
              <a:srgbClr val="FFFFFF"/>
            </a:solidFill>
            <a:prstDash val="solid"/>
          </a:ln>
        </p:spPr>
      </p:sp>
      <p:sp>
        <p:nvSpPr>
          <p:cNvPr id="19" name="Text 17"/>
          <p:cNvSpPr/>
          <p:nvPr/>
        </p:nvSpPr>
        <p:spPr>
          <a:xfrm>
            <a:off x="3337560" y="1901952"/>
            <a:ext cx="274320" cy="274320"/>
          </a:xfrm>
          <a:prstGeom prst="rect">
            <a:avLst/>
          </a:prstGeom>
          <a:noFill/>
          <a:ln/>
        </p:spPr>
        <p:txBody>
          <a:bodyPr wrap="square" lIns="0" tIns="0" rIns="0" bIns="0" rtlCol="0" anchor="ctr"/>
          <a:lstStyle/>
          <a:p>
            <a:pPr algn="ctr" indent="0" marL="0">
              <a:buNone/>
            </a:pPr>
            <a:r>
              <a:rPr lang="en-US" sz="1000" b="1" dirty="0">
                <a:solidFill>
                  <a:srgbClr val="5C2D91"/>
                </a:solidFill>
                <a:latin typeface="Segoe UI" pitchFamily="34" charset="0"/>
                <a:ea typeface="Segoe UI" pitchFamily="34" charset="-122"/>
                <a:cs typeface="Segoe UI" pitchFamily="34" charset="-120"/>
              </a:rPr>
              <a:t>A</a:t>
            </a:r>
            <a:endParaRPr lang="en-US" sz="1000" dirty="0"/>
          </a:p>
        </p:txBody>
      </p:sp>
      <p:sp>
        <p:nvSpPr>
          <p:cNvPr id="20" name="Text 18"/>
          <p:cNvSpPr/>
          <p:nvPr/>
        </p:nvSpPr>
        <p:spPr>
          <a:xfrm>
            <a:off x="3703320" y="1801368"/>
            <a:ext cx="2267712" cy="45720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With Actions</a:t>
            </a:r>
            <a:endParaRPr lang="en-US" sz="1300" dirty="0"/>
          </a:p>
        </p:txBody>
      </p:sp>
      <p:sp>
        <p:nvSpPr>
          <p:cNvPr id="21" name="Text 19"/>
          <p:cNvSpPr/>
          <p:nvPr/>
        </p:nvSpPr>
        <p:spPr>
          <a:xfrm>
            <a:off x="3319272" y="2331720"/>
            <a:ext cx="2670048" cy="256032"/>
          </a:xfrm>
          <a:prstGeom prst="rect">
            <a:avLst/>
          </a:prstGeom>
          <a:noFill/>
          <a:ln/>
        </p:spPr>
        <p:txBody>
          <a:bodyPr wrap="square" rtlCol="0" anchor="ctr"/>
          <a:lstStyle/>
          <a:p>
            <a:pPr indent="0" marL="0">
              <a:buNone/>
            </a:pPr>
            <a:r>
              <a:rPr lang="en-US" sz="1000" b="1" dirty="0">
                <a:solidFill>
                  <a:srgbClr val="5C2D91"/>
                </a:solidFill>
                <a:latin typeface="Segoe UI" pitchFamily="34" charset="0"/>
                <a:ea typeface="Segoe UI" pitchFamily="34" charset="-122"/>
                <a:cs typeface="Segoe UI" pitchFamily="34" charset="-120"/>
              </a:rPr>
              <a:t>Tasks &amp; Side Effects</a:t>
            </a:r>
            <a:endParaRPr lang="en-US" sz="1000" dirty="0"/>
          </a:p>
        </p:txBody>
      </p:sp>
      <p:sp>
        <p:nvSpPr>
          <p:cNvPr id="22" name="Text 20"/>
          <p:cNvSpPr/>
          <p:nvPr/>
        </p:nvSpPr>
        <p:spPr>
          <a:xfrm>
            <a:off x="3319272" y="2615184"/>
            <a:ext cx="2670048" cy="777240"/>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The agent collects context, validates inputs, and calls a connector, flow, or API to complete a business task on behalf of the user.</a:t>
            </a:r>
            <a:endParaRPr lang="en-US" sz="1050" dirty="0"/>
          </a:p>
        </p:txBody>
      </p:sp>
      <p:sp>
        <p:nvSpPr>
          <p:cNvPr id="23" name="Shape 21"/>
          <p:cNvSpPr/>
          <p:nvPr/>
        </p:nvSpPr>
        <p:spPr>
          <a:xfrm>
            <a:off x="3300984" y="3438144"/>
            <a:ext cx="2697480" cy="804672"/>
          </a:xfrm>
          <a:prstGeom prst="rect">
            <a:avLst/>
          </a:prstGeom>
          <a:solidFill>
            <a:srgbClr val="FFFFFF"/>
          </a:solidFill>
          <a:ln w="12700">
            <a:solidFill>
              <a:srgbClr val="C7E0F4"/>
            </a:solidFill>
            <a:prstDash val="solid"/>
          </a:ln>
        </p:spPr>
      </p:sp>
      <p:sp>
        <p:nvSpPr>
          <p:cNvPr id="24" name="Text 22"/>
          <p:cNvSpPr/>
          <p:nvPr/>
        </p:nvSpPr>
        <p:spPr>
          <a:xfrm>
            <a:off x="3364992" y="3456432"/>
            <a:ext cx="2578608" cy="201168"/>
          </a:xfrm>
          <a:prstGeom prst="rect">
            <a:avLst/>
          </a:prstGeom>
          <a:noFill/>
          <a:ln/>
        </p:spPr>
        <p:txBody>
          <a:bodyPr wrap="square" rtlCol="0" anchor="ctr"/>
          <a:lstStyle/>
          <a:p>
            <a:pPr indent="0" marL="0">
              <a:buNone/>
            </a:pPr>
            <a:r>
              <a:rPr lang="en-US" sz="800" b="1" dirty="0">
                <a:solidFill>
                  <a:srgbClr val="605E5C"/>
                </a:solidFill>
                <a:latin typeface="Segoe UI" pitchFamily="34" charset="0"/>
                <a:ea typeface="Segoe UI" pitchFamily="34" charset="-122"/>
                <a:cs typeface="Segoe UI" pitchFamily="34" charset="-120"/>
              </a:rPr>
              <a:t>Contoso IT example</a:t>
            </a:r>
            <a:endParaRPr lang="en-US" sz="800" dirty="0"/>
          </a:p>
        </p:txBody>
      </p:sp>
      <p:sp>
        <p:nvSpPr>
          <p:cNvPr id="25" name="Text 23"/>
          <p:cNvSpPr/>
          <p:nvPr/>
        </p:nvSpPr>
        <p:spPr>
          <a:xfrm>
            <a:off x="3364992" y="3639312"/>
            <a:ext cx="2578608" cy="530352"/>
          </a:xfrm>
          <a:prstGeom prst="rect">
            <a:avLst/>
          </a:prstGeom>
          <a:noFill/>
          <a:ln/>
        </p:spPr>
        <p:txBody>
          <a:bodyPr wrap="square" rtlCol="0" anchor="ctr"/>
          <a:lstStyle/>
          <a:p>
            <a:pPr indent="0" marL="0">
              <a:buNone/>
            </a:pPr>
            <a:r>
              <a:rPr lang="en-US" sz="950" i="1" dirty="0">
                <a:solidFill>
                  <a:srgbClr val="201F1E"/>
                </a:solidFill>
                <a:latin typeface="Segoe UI" pitchFamily="34" charset="0"/>
                <a:ea typeface="Segoe UI" pitchFamily="34" charset="-122"/>
                <a:cs typeface="Segoe UI" pitchFamily="34" charset="-120"/>
              </a:rPr>
              <a:t>"Create a device request and notify my manager."</a:t>
            </a:r>
            <a:endParaRPr lang="en-US" sz="950" dirty="0"/>
          </a:p>
        </p:txBody>
      </p:sp>
      <p:sp>
        <p:nvSpPr>
          <p:cNvPr id="26" name="Shape 24"/>
          <p:cNvSpPr/>
          <p:nvPr/>
        </p:nvSpPr>
        <p:spPr>
          <a:xfrm>
            <a:off x="6199632" y="1801368"/>
            <a:ext cx="2834640" cy="310896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27" name="Shape 25"/>
          <p:cNvSpPr/>
          <p:nvPr/>
        </p:nvSpPr>
        <p:spPr>
          <a:xfrm>
            <a:off x="6199632" y="1801368"/>
            <a:ext cx="2834640" cy="457200"/>
          </a:xfrm>
          <a:prstGeom prst="rect">
            <a:avLst/>
          </a:prstGeom>
          <a:solidFill>
            <a:srgbClr val="107C10"/>
          </a:solidFill>
          <a:ln w="12700">
            <a:solidFill>
              <a:srgbClr val="107C10"/>
            </a:solidFill>
            <a:prstDash val="solid"/>
          </a:ln>
        </p:spPr>
      </p:sp>
      <p:sp>
        <p:nvSpPr>
          <p:cNvPr id="28" name="Shape 26"/>
          <p:cNvSpPr/>
          <p:nvPr/>
        </p:nvSpPr>
        <p:spPr>
          <a:xfrm>
            <a:off x="6309360" y="1901952"/>
            <a:ext cx="274320" cy="274320"/>
          </a:xfrm>
          <a:prstGeom prst="ellipse">
            <a:avLst/>
          </a:prstGeom>
          <a:solidFill>
            <a:srgbClr val="FFFFFF"/>
          </a:solidFill>
          <a:ln w="12700">
            <a:solidFill>
              <a:srgbClr val="FFFFFF"/>
            </a:solidFill>
            <a:prstDash val="solid"/>
          </a:ln>
        </p:spPr>
      </p:sp>
      <p:sp>
        <p:nvSpPr>
          <p:cNvPr id="29" name="Text 27"/>
          <p:cNvSpPr/>
          <p:nvPr/>
        </p:nvSpPr>
        <p:spPr>
          <a:xfrm>
            <a:off x="6309360" y="1901952"/>
            <a:ext cx="274320" cy="274320"/>
          </a:xfrm>
          <a:prstGeom prst="rect">
            <a:avLst/>
          </a:prstGeom>
          <a:noFill/>
          <a:ln/>
        </p:spPr>
        <p:txBody>
          <a:bodyPr wrap="square" lIns="0" tIns="0" rIns="0" bIns="0" rtlCol="0" anchor="ctr"/>
          <a:lstStyle/>
          <a:p>
            <a:pPr algn="ctr" indent="0" marL="0">
              <a:buNone/>
            </a:pPr>
            <a:r>
              <a:rPr lang="en-US" sz="1000" b="1" dirty="0">
                <a:solidFill>
                  <a:srgbClr val="107C10"/>
                </a:solidFill>
                <a:latin typeface="Segoe UI" pitchFamily="34" charset="0"/>
                <a:ea typeface="Segoe UI" pitchFamily="34" charset="-122"/>
                <a:cs typeface="Segoe UI" pitchFamily="34" charset="-120"/>
              </a:rPr>
              <a:t>T</a:t>
            </a:r>
            <a:endParaRPr lang="en-US" sz="1000" dirty="0"/>
          </a:p>
        </p:txBody>
      </p:sp>
      <p:sp>
        <p:nvSpPr>
          <p:cNvPr id="30" name="Text 28"/>
          <p:cNvSpPr/>
          <p:nvPr/>
        </p:nvSpPr>
        <p:spPr>
          <a:xfrm>
            <a:off x="6675120" y="1801368"/>
            <a:ext cx="2267712" cy="45720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Autonomous</a:t>
            </a:r>
            <a:endParaRPr lang="en-US" sz="1300" dirty="0"/>
          </a:p>
        </p:txBody>
      </p:sp>
      <p:sp>
        <p:nvSpPr>
          <p:cNvPr id="31" name="Text 29"/>
          <p:cNvSpPr/>
          <p:nvPr/>
        </p:nvSpPr>
        <p:spPr>
          <a:xfrm>
            <a:off x="6291072" y="2331720"/>
            <a:ext cx="2670048" cy="256032"/>
          </a:xfrm>
          <a:prstGeom prst="rect">
            <a:avLst/>
          </a:prstGeom>
          <a:noFill/>
          <a:ln/>
        </p:spPr>
        <p:txBody>
          <a:bodyPr wrap="square" rtlCol="0" anchor="ctr"/>
          <a:lstStyle/>
          <a:p>
            <a:pPr indent="0" marL="0">
              <a:buNone/>
            </a:pPr>
            <a:r>
              <a:rPr lang="en-US" sz="1000" b="1" dirty="0">
                <a:solidFill>
                  <a:srgbClr val="107C10"/>
                </a:solidFill>
                <a:latin typeface="Segoe UI" pitchFamily="34" charset="0"/>
                <a:ea typeface="Segoe UI" pitchFamily="34" charset="-122"/>
                <a:cs typeface="Segoe UI" pitchFamily="34" charset="-120"/>
              </a:rPr>
              <a:t>Event-Driven Triggers</a:t>
            </a:r>
            <a:endParaRPr lang="en-US" sz="1000" dirty="0"/>
          </a:p>
        </p:txBody>
      </p:sp>
      <p:sp>
        <p:nvSpPr>
          <p:cNvPr id="32" name="Text 30"/>
          <p:cNvSpPr/>
          <p:nvPr/>
        </p:nvSpPr>
        <p:spPr>
          <a:xfrm>
            <a:off x="6291072" y="2615184"/>
            <a:ext cx="2670048" cy="777240"/>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The agent responds to a business event — no user message needed. It monitors, decides, and acts within defined boundaries.</a:t>
            </a:r>
            <a:endParaRPr lang="en-US" sz="1050" dirty="0"/>
          </a:p>
        </p:txBody>
      </p:sp>
      <p:sp>
        <p:nvSpPr>
          <p:cNvPr id="33" name="Shape 31"/>
          <p:cNvSpPr/>
          <p:nvPr/>
        </p:nvSpPr>
        <p:spPr>
          <a:xfrm>
            <a:off x="6272784" y="3438144"/>
            <a:ext cx="2697480" cy="804672"/>
          </a:xfrm>
          <a:prstGeom prst="rect">
            <a:avLst/>
          </a:prstGeom>
          <a:solidFill>
            <a:srgbClr val="FFFFFF"/>
          </a:solidFill>
          <a:ln w="12700">
            <a:solidFill>
              <a:srgbClr val="C7E0F4"/>
            </a:solidFill>
            <a:prstDash val="solid"/>
          </a:ln>
        </p:spPr>
      </p:sp>
      <p:sp>
        <p:nvSpPr>
          <p:cNvPr id="34" name="Text 32"/>
          <p:cNvSpPr/>
          <p:nvPr/>
        </p:nvSpPr>
        <p:spPr>
          <a:xfrm>
            <a:off x="6336792" y="3456432"/>
            <a:ext cx="2578608" cy="201168"/>
          </a:xfrm>
          <a:prstGeom prst="rect">
            <a:avLst/>
          </a:prstGeom>
          <a:noFill/>
          <a:ln/>
        </p:spPr>
        <p:txBody>
          <a:bodyPr wrap="square" rtlCol="0" anchor="ctr"/>
          <a:lstStyle/>
          <a:p>
            <a:pPr indent="0" marL="0">
              <a:buNone/>
            </a:pPr>
            <a:r>
              <a:rPr lang="en-US" sz="800" b="1" dirty="0">
                <a:solidFill>
                  <a:srgbClr val="605E5C"/>
                </a:solidFill>
                <a:latin typeface="Segoe UI" pitchFamily="34" charset="0"/>
                <a:ea typeface="Segoe UI" pitchFamily="34" charset="-122"/>
                <a:cs typeface="Segoe UI" pitchFamily="34" charset="-120"/>
              </a:rPr>
              <a:t>Contoso IT example</a:t>
            </a:r>
            <a:endParaRPr lang="en-US" sz="800" dirty="0"/>
          </a:p>
        </p:txBody>
      </p:sp>
      <p:sp>
        <p:nvSpPr>
          <p:cNvPr id="35" name="Text 33"/>
          <p:cNvSpPr/>
          <p:nvPr/>
        </p:nvSpPr>
        <p:spPr>
          <a:xfrm>
            <a:off x="6336792" y="3639312"/>
            <a:ext cx="2578608" cy="530352"/>
          </a:xfrm>
          <a:prstGeom prst="rect">
            <a:avLst/>
          </a:prstGeom>
          <a:noFill/>
          <a:ln/>
        </p:spPr>
        <p:txBody>
          <a:bodyPr wrap="square" rtlCol="0" anchor="ctr"/>
          <a:lstStyle/>
          <a:p>
            <a:pPr indent="0" marL="0">
              <a:buNone/>
            </a:pPr>
            <a:r>
              <a:rPr lang="en-US" sz="950" i="1" dirty="0">
                <a:solidFill>
                  <a:srgbClr val="201F1E"/>
                </a:solidFill>
                <a:latin typeface="Segoe UI" pitchFamily="34" charset="0"/>
                <a:ea typeface="Segoe UI" pitchFamily="34" charset="-122"/>
                <a:cs typeface="Segoe UI" pitchFamily="34" charset="-120"/>
              </a:rPr>
              <a:t>"When a new ticket is created, send an acknowledgment."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1"/>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01  ·  AGENTS TODAY</a:t>
            </a:r>
            <a:endParaRPr lang="en-US" sz="900" dirty="0"/>
          </a:p>
        </p:txBody>
      </p:sp>
      <p:sp>
        <p:nvSpPr>
          <p:cNvPr id="4" name="Text 2"/>
          <p:cNvSpPr/>
          <p:nvPr/>
        </p:nvSpPr>
        <p:spPr>
          <a:xfrm>
            <a:off x="365760" y="749808"/>
            <a:ext cx="8412480" cy="548640"/>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What Copilot Studio Brings Together</a:t>
            </a:r>
            <a:endParaRPr lang="en-US" sz="2800" dirty="0"/>
          </a:p>
        </p:txBody>
      </p:sp>
      <p:sp>
        <p:nvSpPr>
          <p:cNvPr id="5" name="Text 3"/>
          <p:cNvSpPr/>
          <p:nvPr/>
        </p:nvSpPr>
        <p:spPr>
          <a:xfrm>
            <a:off x="365760" y="1344168"/>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Each pillar addresses a different audience concern — adoption, governance, and extensibility.</a:t>
            </a:r>
            <a:endParaRPr lang="en-US" sz="1200" dirty="0"/>
          </a:p>
        </p:txBody>
      </p:sp>
      <p:sp>
        <p:nvSpPr>
          <p:cNvPr id="6" name="Shape 4"/>
          <p:cNvSpPr/>
          <p:nvPr/>
        </p:nvSpPr>
        <p:spPr>
          <a:xfrm>
            <a:off x="256032" y="1801368"/>
            <a:ext cx="2029968" cy="3017520"/>
          </a:xfrm>
          <a:prstGeom prst="rect">
            <a:avLst/>
          </a:prstGeom>
          <a:solidFill>
            <a:srgbClr val="FFFFFF"/>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56032" y="1801368"/>
            <a:ext cx="2029968" cy="438912"/>
          </a:xfrm>
          <a:prstGeom prst="rect">
            <a:avLst/>
          </a:prstGeom>
          <a:solidFill>
            <a:srgbClr val="0078D4"/>
          </a:solidFill>
          <a:ln w="12700">
            <a:solidFill>
              <a:srgbClr val="0078D4"/>
            </a:solidFill>
            <a:prstDash val="solid"/>
          </a:ln>
        </p:spPr>
      </p:sp>
      <p:sp>
        <p:nvSpPr>
          <p:cNvPr id="8" name="Text 6"/>
          <p:cNvSpPr/>
          <p:nvPr/>
        </p:nvSpPr>
        <p:spPr>
          <a:xfrm>
            <a:off x="256032" y="1801368"/>
            <a:ext cx="438912" cy="438912"/>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K</a:t>
            </a:r>
            <a:endParaRPr lang="en-US" sz="1600" dirty="0"/>
          </a:p>
        </p:txBody>
      </p:sp>
      <p:sp>
        <p:nvSpPr>
          <p:cNvPr id="9" name="Text 7"/>
          <p:cNvSpPr/>
          <p:nvPr/>
        </p:nvSpPr>
        <p:spPr>
          <a:xfrm>
            <a:off x="731520" y="1801368"/>
            <a:ext cx="1481328" cy="43891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Grounded Knowledge</a:t>
            </a:r>
            <a:endParaRPr lang="en-US" sz="1100" dirty="0"/>
          </a:p>
        </p:txBody>
      </p:sp>
      <p:sp>
        <p:nvSpPr>
          <p:cNvPr id="10" name="Text 8"/>
          <p:cNvSpPr/>
          <p:nvPr/>
        </p:nvSpPr>
        <p:spPr>
          <a:xfrm>
            <a:off x="347472" y="2313432"/>
            <a:ext cx="1865376" cy="228600"/>
          </a:xfrm>
          <a:prstGeom prst="rect">
            <a:avLst/>
          </a:prstGeom>
          <a:noFill/>
          <a:ln/>
        </p:spPr>
        <p:txBody>
          <a:bodyPr wrap="square" rtlCol="0" anchor="ctr"/>
          <a:lstStyle/>
          <a:p>
            <a:pPr indent="0" marL="0">
              <a:buNone/>
            </a:pPr>
            <a:r>
              <a:rPr lang="en-US" sz="900" b="1" dirty="0">
                <a:solidFill>
                  <a:srgbClr val="0078D4"/>
                </a:solidFill>
                <a:latin typeface="Segoe UI" pitchFamily="34" charset="0"/>
                <a:ea typeface="Segoe UI" pitchFamily="34" charset="-122"/>
                <a:cs typeface="Segoe UI" pitchFamily="34" charset="-120"/>
              </a:rPr>
              <a:t>Maker · IT Pro</a:t>
            </a:r>
            <a:endParaRPr lang="en-US" sz="900" dirty="0"/>
          </a:p>
        </p:txBody>
      </p:sp>
      <p:sp>
        <p:nvSpPr>
          <p:cNvPr id="11" name="Text 9"/>
          <p:cNvSpPr/>
          <p:nvPr/>
        </p:nvSpPr>
        <p:spPr>
          <a:xfrm>
            <a:off x="347472" y="2578608"/>
            <a:ext cx="1865376" cy="2057400"/>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Connect public websites, SharePoint sites, files, and structured data to keep answers accurate and enterprise-trusted.</a:t>
            </a:r>
            <a:endParaRPr lang="en-US" sz="1050" dirty="0"/>
          </a:p>
        </p:txBody>
      </p:sp>
      <p:sp>
        <p:nvSpPr>
          <p:cNvPr id="12" name="Shape 10"/>
          <p:cNvSpPr/>
          <p:nvPr/>
        </p:nvSpPr>
        <p:spPr>
          <a:xfrm>
            <a:off x="2432304" y="1801368"/>
            <a:ext cx="2029968" cy="3017520"/>
          </a:xfrm>
          <a:prstGeom prst="rect">
            <a:avLst/>
          </a:prstGeom>
          <a:solidFill>
            <a:srgbClr val="FFFFFF"/>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2432304" y="1801368"/>
            <a:ext cx="2029968" cy="438912"/>
          </a:xfrm>
          <a:prstGeom prst="rect">
            <a:avLst/>
          </a:prstGeom>
          <a:solidFill>
            <a:srgbClr val="5C2D91"/>
          </a:solidFill>
          <a:ln w="12700">
            <a:solidFill>
              <a:srgbClr val="5C2D91"/>
            </a:solidFill>
            <a:prstDash val="solid"/>
          </a:ln>
        </p:spPr>
      </p:sp>
      <p:sp>
        <p:nvSpPr>
          <p:cNvPr id="14" name="Text 12"/>
          <p:cNvSpPr/>
          <p:nvPr/>
        </p:nvSpPr>
        <p:spPr>
          <a:xfrm>
            <a:off x="2432304" y="1801368"/>
            <a:ext cx="438912" cy="438912"/>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A</a:t>
            </a:r>
            <a:endParaRPr lang="en-US" sz="1600" dirty="0"/>
          </a:p>
        </p:txBody>
      </p:sp>
      <p:sp>
        <p:nvSpPr>
          <p:cNvPr id="15" name="Text 13"/>
          <p:cNvSpPr/>
          <p:nvPr/>
        </p:nvSpPr>
        <p:spPr>
          <a:xfrm>
            <a:off x="2907792" y="1801368"/>
            <a:ext cx="1481328" cy="43891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Actions &amp; Automation</a:t>
            </a:r>
            <a:endParaRPr lang="en-US" sz="1100" dirty="0"/>
          </a:p>
        </p:txBody>
      </p:sp>
      <p:sp>
        <p:nvSpPr>
          <p:cNvPr id="16" name="Text 14"/>
          <p:cNvSpPr/>
          <p:nvPr/>
        </p:nvSpPr>
        <p:spPr>
          <a:xfrm>
            <a:off x="2523744" y="2313432"/>
            <a:ext cx="1865376" cy="228600"/>
          </a:xfrm>
          <a:prstGeom prst="rect">
            <a:avLst/>
          </a:prstGeom>
          <a:noFill/>
          <a:ln/>
        </p:spPr>
        <p:txBody>
          <a:bodyPr wrap="square" rtlCol="0" anchor="ctr"/>
          <a:lstStyle/>
          <a:p>
            <a:pPr indent="0" marL="0">
              <a:buNone/>
            </a:pPr>
            <a:r>
              <a:rPr lang="en-US" sz="900" b="1" dirty="0">
                <a:solidFill>
                  <a:srgbClr val="5C2D91"/>
                </a:solidFill>
                <a:latin typeface="Segoe UI" pitchFamily="34" charset="0"/>
                <a:ea typeface="Segoe UI" pitchFamily="34" charset="-122"/>
                <a:cs typeface="Segoe UI" pitchFamily="34" charset="-120"/>
              </a:rPr>
              <a:t>Maker · Developer</a:t>
            </a:r>
            <a:endParaRPr lang="en-US" sz="900" dirty="0"/>
          </a:p>
        </p:txBody>
      </p:sp>
      <p:sp>
        <p:nvSpPr>
          <p:cNvPr id="17" name="Text 15"/>
          <p:cNvSpPr/>
          <p:nvPr/>
        </p:nvSpPr>
        <p:spPr>
          <a:xfrm>
            <a:off x="2523744" y="2578608"/>
            <a:ext cx="1865376" cy="2057400"/>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Call connectors, Power Automate flows, and APIs so the agent completes tasks — not just describes them.</a:t>
            </a:r>
            <a:endParaRPr lang="en-US" sz="1050" dirty="0"/>
          </a:p>
        </p:txBody>
      </p:sp>
      <p:sp>
        <p:nvSpPr>
          <p:cNvPr id="18" name="Shape 16"/>
          <p:cNvSpPr/>
          <p:nvPr/>
        </p:nvSpPr>
        <p:spPr>
          <a:xfrm>
            <a:off x="4608576" y="1801368"/>
            <a:ext cx="2029968" cy="3017520"/>
          </a:xfrm>
          <a:prstGeom prst="rect">
            <a:avLst/>
          </a:prstGeom>
          <a:solidFill>
            <a:srgbClr val="FFFFFF"/>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4608576" y="1801368"/>
            <a:ext cx="2029968" cy="438912"/>
          </a:xfrm>
          <a:prstGeom prst="rect">
            <a:avLst/>
          </a:prstGeom>
          <a:solidFill>
            <a:srgbClr val="107C10"/>
          </a:solidFill>
          <a:ln w="12700">
            <a:solidFill>
              <a:srgbClr val="107C10"/>
            </a:solidFill>
            <a:prstDash val="solid"/>
          </a:ln>
        </p:spPr>
      </p:sp>
      <p:sp>
        <p:nvSpPr>
          <p:cNvPr id="20" name="Text 18"/>
          <p:cNvSpPr/>
          <p:nvPr/>
        </p:nvSpPr>
        <p:spPr>
          <a:xfrm>
            <a:off x="4608576" y="1801368"/>
            <a:ext cx="438912" cy="438912"/>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C</a:t>
            </a:r>
            <a:endParaRPr lang="en-US" sz="1600" dirty="0"/>
          </a:p>
        </p:txBody>
      </p:sp>
      <p:sp>
        <p:nvSpPr>
          <p:cNvPr id="21" name="Text 19"/>
          <p:cNvSpPr/>
          <p:nvPr/>
        </p:nvSpPr>
        <p:spPr>
          <a:xfrm>
            <a:off x="5084064" y="1801368"/>
            <a:ext cx="1481328" cy="43891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Channels &amp; Reach</a:t>
            </a:r>
            <a:endParaRPr lang="en-US" sz="1100" dirty="0"/>
          </a:p>
        </p:txBody>
      </p:sp>
      <p:sp>
        <p:nvSpPr>
          <p:cNvPr id="22" name="Text 20"/>
          <p:cNvSpPr/>
          <p:nvPr/>
        </p:nvSpPr>
        <p:spPr>
          <a:xfrm>
            <a:off x="4700016" y="2313432"/>
            <a:ext cx="1865376" cy="228600"/>
          </a:xfrm>
          <a:prstGeom prst="rect">
            <a:avLst/>
          </a:prstGeom>
          <a:noFill/>
          <a:ln/>
        </p:spPr>
        <p:txBody>
          <a:bodyPr wrap="square" rtlCol="0" anchor="ctr"/>
          <a:lstStyle/>
          <a:p>
            <a:pPr indent="0" marL="0">
              <a:buNone/>
            </a:pPr>
            <a:r>
              <a:rPr lang="en-US" sz="900" b="1" dirty="0">
                <a:solidFill>
                  <a:srgbClr val="107C10"/>
                </a:solidFill>
                <a:latin typeface="Segoe UI" pitchFamily="34" charset="0"/>
                <a:ea typeface="Segoe UI" pitchFamily="34" charset="-122"/>
                <a:cs typeface="Segoe UI" pitchFamily="34" charset="-120"/>
              </a:rPr>
              <a:t>IT Pro · Maker</a:t>
            </a:r>
            <a:endParaRPr lang="en-US" sz="900" dirty="0"/>
          </a:p>
        </p:txBody>
      </p:sp>
      <p:sp>
        <p:nvSpPr>
          <p:cNvPr id="23" name="Text 21"/>
          <p:cNvSpPr/>
          <p:nvPr/>
        </p:nvSpPr>
        <p:spPr>
          <a:xfrm>
            <a:off x="4700016" y="2578608"/>
            <a:ext cx="1865376" cy="2057400"/>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Publish to Teams, Microsoft 365 Copilot, WhatsApp, and web — each channel has its own governance and branding expectations.</a:t>
            </a:r>
            <a:endParaRPr lang="en-US" sz="1050" dirty="0"/>
          </a:p>
        </p:txBody>
      </p:sp>
      <p:sp>
        <p:nvSpPr>
          <p:cNvPr id="24" name="Shape 22"/>
          <p:cNvSpPr/>
          <p:nvPr/>
        </p:nvSpPr>
        <p:spPr>
          <a:xfrm>
            <a:off x="6784848" y="1801368"/>
            <a:ext cx="2029968" cy="3017520"/>
          </a:xfrm>
          <a:prstGeom prst="rect">
            <a:avLst/>
          </a:prstGeom>
          <a:solidFill>
            <a:srgbClr val="FFFFFF"/>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25" name="Shape 23"/>
          <p:cNvSpPr/>
          <p:nvPr/>
        </p:nvSpPr>
        <p:spPr>
          <a:xfrm>
            <a:off x="6784848" y="1801368"/>
            <a:ext cx="2029968" cy="438912"/>
          </a:xfrm>
          <a:prstGeom prst="rect">
            <a:avLst/>
          </a:prstGeom>
          <a:solidFill>
            <a:srgbClr val="D83B01"/>
          </a:solidFill>
          <a:ln w="12700">
            <a:solidFill>
              <a:srgbClr val="D83B01"/>
            </a:solidFill>
            <a:prstDash val="solid"/>
          </a:ln>
        </p:spPr>
      </p:sp>
      <p:sp>
        <p:nvSpPr>
          <p:cNvPr id="26" name="Text 24"/>
          <p:cNvSpPr/>
          <p:nvPr/>
        </p:nvSpPr>
        <p:spPr>
          <a:xfrm>
            <a:off x="6784848" y="1801368"/>
            <a:ext cx="438912" cy="438912"/>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G</a:t>
            </a:r>
            <a:endParaRPr lang="en-US" sz="1600" dirty="0"/>
          </a:p>
        </p:txBody>
      </p:sp>
      <p:sp>
        <p:nvSpPr>
          <p:cNvPr id="27" name="Text 25"/>
          <p:cNvSpPr/>
          <p:nvPr/>
        </p:nvSpPr>
        <p:spPr>
          <a:xfrm>
            <a:off x="7260336" y="1801368"/>
            <a:ext cx="1481328" cy="43891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Operational Controls</a:t>
            </a:r>
            <a:endParaRPr lang="en-US" sz="1100" dirty="0"/>
          </a:p>
        </p:txBody>
      </p:sp>
      <p:sp>
        <p:nvSpPr>
          <p:cNvPr id="28" name="Text 26"/>
          <p:cNvSpPr/>
          <p:nvPr/>
        </p:nvSpPr>
        <p:spPr>
          <a:xfrm>
            <a:off x="6876288" y="2313432"/>
            <a:ext cx="1865376" cy="228600"/>
          </a:xfrm>
          <a:prstGeom prst="rect">
            <a:avLst/>
          </a:prstGeom>
          <a:noFill/>
          <a:ln/>
        </p:spPr>
        <p:txBody>
          <a:bodyPr wrap="square" rtlCol="0" anchor="ctr"/>
          <a:lstStyle/>
          <a:p>
            <a:pPr indent="0" marL="0">
              <a:buNone/>
            </a:pPr>
            <a:r>
              <a:rPr lang="en-US" sz="900" b="1" dirty="0">
                <a:solidFill>
                  <a:srgbClr val="D83B01"/>
                </a:solidFill>
                <a:latin typeface="Segoe UI" pitchFamily="34" charset="0"/>
                <a:ea typeface="Segoe UI" pitchFamily="34" charset="-122"/>
                <a:cs typeface="Segoe UI" pitchFamily="34" charset="-120"/>
              </a:rPr>
              <a:t>IT Pro · Developer</a:t>
            </a:r>
            <a:endParaRPr lang="en-US" sz="900" dirty="0"/>
          </a:p>
        </p:txBody>
      </p:sp>
      <p:sp>
        <p:nvSpPr>
          <p:cNvPr id="29" name="Text 27"/>
          <p:cNvSpPr/>
          <p:nvPr/>
        </p:nvSpPr>
        <p:spPr>
          <a:xfrm>
            <a:off x="6876288" y="2578608"/>
            <a:ext cx="1865376" cy="2057400"/>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DLP policies, content moderation, capacity metering, diagnostics, and evaluation keep the agent safe at enterprise scale.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01  ·  AGENTS TODAY</a:t>
            </a:r>
            <a:endParaRPr lang="en-US" sz="900" dirty="0"/>
          </a:p>
        </p:txBody>
      </p:sp>
      <p:sp>
        <p:nvSpPr>
          <p:cNvPr id="4" name="Text 2"/>
          <p:cNvSpPr/>
          <p:nvPr/>
        </p:nvSpPr>
        <p:spPr>
          <a:xfrm>
            <a:off x="365760" y="749808"/>
            <a:ext cx="8412480" cy="548640"/>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The Contoso IT Scenario</a:t>
            </a:r>
            <a:endParaRPr lang="en-US" sz="2800" dirty="0"/>
          </a:p>
        </p:txBody>
      </p:sp>
      <p:sp>
        <p:nvSpPr>
          <p:cNvPr id="5" name="Text 3"/>
          <p:cNvSpPr/>
          <p:nvPr/>
        </p:nvSpPr>
        <p:spPr>
          <a:xfrm>
            <a:off x="365760" y="1344168"/>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Day 1 uses Contoso IT as a consistent reference so every pattern has a concrete anchor.</a:t>
            </a:r>
            <a:endParaRPr lang="en-US" sz="1200" dirty="0"/>
          </a:p>
        </p:txBody>
      </p:sp>
      <p:sp>
        <p:nvSpPr>
          <p:cNvPr id="6" name="Shape 4"/>
          <p:cNvSpPr/>
          <p:nvPr/>
        </p:nvSpPr>
        <p:spPr>
          <a:xfrm>
            <a:off x="320040" y="1828800"/>
            <a:ext cx="2880360" cy="365760"/>
          </a:xfrm>
          <a:prstGeom prst="rect">
            <a:avLst/>
          </a:prstGeom>
          <a:solidFill>
            <a:srgbClr val="0078D4"/>
          </a:solidFill>
          <a:ln w="12700">
            <a:solidFill>
              <a:srgbClr val="0078D4"/>
            </a:solidFill>
            <a:prstDash val="solid"/>
          </a:ln>
        </p:spPr>
      </p:sp>
      <p:sp>
        <p:nvSpPr>
          <p:cNvPr id="7" name="Text 5"/>
          <p:cNvSpPr/>
          <p:nvPr/>
        </p:nvSpPr>
        <p:spPr>
          <a:xfrm>
            <a:off x="411480" y="1828800"/>
            <a:ext cx="2743200" cy="36576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User need</a:t>
            </a:r>
            <a:endParaRPr lang="en-US" sz="1100" dirty="0"/>
          </a:p>
        </p:txBody>
      </p:sp>
      <p:sp>
        <p:nvSpPr>
          <p:cNvPr id="8" name="Shape 6"/>
          <p:cNvSpPr/>
          <p:nvPr/>
        </p:nvSpPr>
        <p:spPr>
          <a:xfrm>
            <a:off x="3291840" y="1828800"/>
            <a:ext cx="2103120" cy="365760"/>
          </a:xfrm>
          <a:prstGeom prst="rect">
            <a:avLst/>
          </a:prstGeom>
          <a:solidFill>
            <a:srgbClr val="0078D4"/>
          </a:solidFill>
          <a:ln w="12700">
            <a:solidFill>
              <a:srgbClr val="0078D4"/>
            </a:solidFill>
            <a:prstDash val="solid"/>
          </a:ln>
        </p:spPr>
      </p:sp>
      <p:sp>
        <p:nvSpPr>
          <p:cNvPr id="9" name="Text 7"/>
          <p:cNvSpPr/>
          <p:nvPr/>
        </p:nvSpPr>
        <p:spPr>
          <a:xfrm>
            <a:off x="3383280" y="1828800"/>
            <a:ext cx="1965960" cy="36576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Agent pattern</a:t>
            </a:r>
            <a:endParaRPr lang="en-US" sz="1100" dirty="0"/>
          </a:p>
        </p:txBody>
      </p:sp>
      <p:sp>
        <p:nvSpPr>
          <p:cNvPr id="10" name="Shape 8"/>
          <p:cNvSpPr/>
          <p:nvPr/>
        </p:nvSpPr>
        <p:spPr>
          <a:xfrm>
            <a:off x="5486400" y="1828800"/>
            <a:ext cx="3337560" cy="365760"/>
          </a:xfrm>
          <a:prstGeom prst="rect">
            <a:avLst/>
          </a:prstGeom>
          <a:solidFill>
            <a:srgbClr val="0078D4"/>
          </a:solidFill>
          <a:ln w="12700">
            <a:solidFill>
              <a:srgbClr val="0078D4"/>
            </a:solidFill>
            <a:prstDash val="solid"/>
          </a:ln>
        </p:spPr>
      </p:sp>
      <p:sp>
        <p:nvSpPr>
          <p:cNvPr id="11" name="Text 9"/>
          <p:cNvSpPr/>
          <p:nvPr/>
        </p:nvSpPr>
        <p:spPr>
          <a:xfrm>
            <a:off x="5577840" y="1828800"/>
            <a:ext cx="3200400" cy="36576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What the agent does</a:t>
            </a:r>
            <a:endParaRPr lang="en-US" sz="1100" dirty="0"/>
          </a:p>
        </p:txBody>
      </p:sp>
      <p:sp>
        <p:nvSpPr>
          <p:cNvPr id="12" name="Shape 10"/>
          <p:cNvSpPr/>
          <p:nvPr/>
        </p:nvSpPr>
        <p:spPr>
          <a:xfrm>
            <a:off x="320040" y="2194560"/>
            <a:ext cx="8503920" cy="768096"/>
          </a:xfrm>
          <a:prstGeom prst="rect">
            <a:avLst/>
          </a:prstGeom>
          <a:solidFill>
            <a:srgbClr val="F3F2F1"/>
          </a:solidFill>
          <a:ln w="12700">
            <a:solidFill>
              <a:srgbClr val="E1DFDD"/>
            </a:solidFill>
            <a:prstDash val="solid"/>
          </a:ln>
        </p:spPr>
      </p:sp>
      <p:sp>
        <p:nvSpPr>
          <p:cNvPr id="13" name="Text 11"/>
          <p:cNvSpPr/>
          <p:nvPr/>
        </p:nvSpPr>
        <p:spPr>
          <a:xfrm>
            <a:off x="411480" y="2267712"/>
            <a:ext cx="2788920" cy="640080"/>
          </a:xfrm>
          <a:prstGeom prst="rect">
            <a:avLst/>
          </a:prstGeom>
          <a:noFill/>
          <a:ln/>
        </p:spPr>
        <p:txBody>
          <a:bodyPr wrap="square" rtlCol="0" anchor="ctr"/>
          <a:lstStyle/>
          <a:p>
            <a:pPr indent="0" marL="0">
              <a:buNone/>
            </a:pPr>
            <a:r>
              <a:rPr lang="en-US" sz="1050" i="1" dirty="0">
                <a:solidFill>
                  <a:srgbClr val="201F1E"/>
                </a:solidFill>
                <a:latin typeface="Segoe UI" pitchFamily="34" charset="0"/>
                <a:ea typeface="Segoe UI" pitchFamily="34" charset="-122"/>
                <a:cs typeface="Segoe UI" pitchFamily="34" charset="-120"/>
              </a:rPr>
              <a:t>"What devices are available for new employees?"</a:t>
            </a:r>
            <a:endParaRPr lang="en-US" sz="1050" dirty="0"/>
          </a:p>
        </p:txBody>
      </p:sp>
      <p:sp>
        <p:nvSpPr>
          <p:cNvPr id="14" name="Shape 12"/>
          <p:cNvSpPr/>
          <p:nvPr/>
        </p:nvSpPr>
        <p:spPr>
          <a:xfrm>
            <a:off x="3364992" y="2395728"/>
            <a:ext cx="1920240" cy="329184"/>
          </a:xfrm>
          <a:prstGeom prst="rect">
            <a:avLst/>
          </a:prstGeom>
          <a:solidFill>
            <a:srgbClr val="0078D4"/>
          </a:solidFill>
          <a:ln w="12700">
            <a:solidFill>
              <a:srgbClr val="0078D4"/>
            </a:solidFill>
            <a:prstDash val="solid"/>
          </a:ln>
        </p:spPr>
      </p:sp>
      <p:sp>
        <p:nvSpPr>
          <p:cNvPr id="15" name="Text 13"/>
          <p:cNvSpPr/>
          <p:nvPr/>
        </p:nvSpPr>
        <p:spPr>
          <a:xfrm>
            <a:off x="3364992" y="2395728"/>
            <a:ext cx="1920240" cy="329184"/>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Conversational</a:t>
            </a:r>
            <a:endParaRPr lang="en-US" sz="1000" dirty="0"/>
          </a:p>
        </p:txBody>
      </p:sp>
      <p:sp>
        <p:nvSpPr>
          <p:cNvPr id="16" name="Text 14"/>
          <p:cNvSpPr/>
          <p:nvPr/>
        </p:nvSpPr>
        <p:spPr>
          <a:xfrm>
            <a:off x="5559552" y="2249424"/>
            <a:ext cx="3154680" cy="694944"/>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Retrieves from the Contoso IT SharePoint knowledge source and answers with a grounded, cited response.</a:t>
            </a:r>
            <a:endParaRPr lang="en-US" sz="1000" dirty="0"/>
          </a:p>
        </p:txBody>
      </p:sp>
      <p:sp>
        <p:nvSpPr>
          <p:cNvPr id="17" name="Shape 15"/>
          <p:cNvSpPr/>
          <p:nvPr/>
        </p:nvSpPr>
        <p:spPr>
          <a:xfrm>
            <a:off x="320040" y="2999232"/>
            <a:ext cx="8503920" cy="768096"/>
          </a:xfrm>
          <a:prstGeom prst="rect">
            <a:avLst/>
          </a:prstGeom>
          <a:solidFill>
            <a:srgbClr val="FFFFFF"/>
          </a:solidFill>
          <a:ln w="12700">
            <a:solidFill>
              <a:srgbClr val="E1DFDD"/>
            </a:solidFill>
            <a:prstDash val="solid"/>
          </a:ln>
        </p:spPr>
      </p:sp>
      <p:sp>
        <p:nvSpPr>
          <p:cNvPr id="18" name="Text 16"/>
          <p:cNvSpPr/>
          <p:nvPr/>
        </p:nvSpPr>
        <p:spPr>
          <a:xfrm>
            <a:off x="411480" y="3072384"/>
            <a:ext cx="2788920" cy="640080"/>
          </a:xfrm>
          <a:prstGeom prst="rect">
            <a:avLst/>
          </a:prstGeom>
          <a:noFill/>
          <a:ln/>
        </p:spPr>
        <p:txBody>
          <a:bodyPr wrap="square" rtlCol="0" anchor="ctr"/>
          <a:lstStyle/>
          <a:p>
            <a:pPr indent="0" marL="0">
              <a:buNone/>
            </a:pPr>
            <a:r>
              <a:rPr lang="en-US" sz="1050" i="1" dirty="0">
                <a:solidFill>
                  <a:srgbClr val="201F1E"/>
                </a:solidFill>
                <a:latin typeface="Segoe UI" pitchFamily="34" charset="0"/>
                <a:ea typeface="Segoe UI" pitchFamily="34" charset="-122"/>
                <a:cs typeface="Segoe UI" pitchFamily="34" charset="-120"/>
              </a:rPr>
              <a:t>"Create a device request and notify my manager."</a:t>
            </a:r>
            <a:endParaRPr lang="en-US" sz="1050" dirty="0"/>
          </a:p>
        </p:txBody>
      </p:sp>
      <p:sp>
        <p:nvSpPr>
          <p:cNvPr id="19" name="Shape 17"/>
          <p:cNvSpPr/>
          <p:nvPr/>
        </p:nvSpPr>
        <p:spPr>
          <a:xfrm>
            <a:off x="3364992" y="3200400"/>
            <a:ext cx="1920240" cy="329184"/>
          </a:xfrm>
          <a:prstGeom prst="rect">
            <a:avLst/>
          </a:prstGeom>
          <a:solidFill>
            <a:srgbClr val="5C2D91"/>
          </a:solidFill>
          <a:ln w="12700">
            <a:solidFill>
              <a:srgbClr val="5C2D91"/>
            </a:solidFill>
            <a:prstDash val="solid"/>
          </a:ln>
        </p:spPr>
      </p:sp>
      <p:sp>
        <p:nvSpPr>
          <p:cNvPr id="20" name="Text 18"/>
          <p:cNvSpPr/>
          <p:nvPr/>
        </p:nvSpPr>
        <p:spPr>
          <a:xfrm>
            <a:off x="3364992" y="3200400"/>
            <a:ext cx="1920240" cy="329184"/>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With Actions</a:t>
            </a:r>
            <a:endParaRPr lang="en-US" sz="1000" dirty="0"/>
          </a:p>
        </p:txBody>
      </p:sp>
      <p:sp>
        <p:nvSpPr>
          <p:cNvPr id="21" name="Text 19"/>
          <p:cNvSpPr/>
          <p:nvPr/>
        </p:nvSpPr>
        <p:spPr>
          <a:xfrm>
            <a:off x="5559552" y="3054096"/>
            <a:ext cx="3154680" cy="694944"/>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Collects device type and justification via an Adaptive Card, creates a SharePoint list item, and sends a Teams notification.</a:t>
            </a:r>
            <a:endParaRPr lang="en-US" sz="1000" dirty="0"/>
          </a:p>
        </p:txBody>
      </p:sp>
      <p:sp>
        <p:nvSpPr>
          <p:cNvPr id="22" name="Shape 20"/>
          <p:cNvSpPr/>
          <p:nvPr/>
        </p:nvSpPr>
        <p:spPr>
          <a:xfrm>
            <a:off x="320040" y="3803904"/>
            <a:ext cx="8503920" cy="768096"/>
          </a:xfrm>
          <a:prstGeom prst="rect">
            <a:avLst/>
          </a:prstGeom>
          <a:solidFill>
            <a:srgbClr val="F3F2F1"/>
          </a:solidFill>
          <a:ln w="12700">
            <a:solidFill>
              <a:srgbClr val="E1DFDD"/>
            </a:solidFill>
            <a:prstDash val="solid"/>
          </a:ln>
        </p:spPr>
      </p:sp>
      <p:sp>
        <p:nvSpPr>
          <p:cNvPr id="23" name="Text 21"/>
          <p:cNvSpPr/>
          <p:nvPr/>
        </p:nvSpPr>
        <p:spPr>
          <a:xfrm>
            <a:off x="411480" y="3877056"/>
            <a:ext cx="2788920" cy="640080"/>
          </a:xfrm>
          <a:prstGeom prst="rect">
            <a:avLst/>
          </a:prstGeom>
          <a:noFill/>
          <a:ln/>
        </p:spPr>
        <p:txBody>
          <a:bodyPr wrap="square" rtlCol="0" anchor="ctr"/>
          <a:lstStyle/>
          <a:p>
            <a:pPr indent="0" marL="0">
              <a:buNone/>
            </a:pPr>
            <a:r>
              <a:rPr lang="en-US" sz="1050" i="1" dirty="0">
                <a:solidFill>
                  <a:srgbClr val="201F1E"/>
                </a:solidFill>
                <a:latin typeface="Segoe UI" pitchFamily="34" charset="0"/>
                <a:ea typeface="Segoe UI" pitchFamily="34" charset="-122"/>
                <a:cs typeface="Segoe UI" pitchFamily="34" charset="-120"/>
              </a:rPr>
              <a:t>New support ticket created in SharePoint.</a:t>
            </a:r>
            <a:endParaRPr lang="en-US" sz="1050" dirty="0"/>
          </a:p>
        </p:txBody>
      </p:sp>
      <p:sp>
        <p:nvSpPr>
          <p:cNvPr id="24" name="Shape 22"/>
          <p:cNvSpPr/>
          <p:nvPr/>
        </p:nvSpPr>
        <p:spPr>
          <a:xfrm>
            <a:off x="3364992" y="4005072"/>
            <a:ext cx="1920240" cy="329184"/>
          </a:xfrm>
          <a:prstGeom prst="rect">
            <a:avLst/>
          </a:prstGeom>
          <a:solidFill>
            <a:srgbClr val="107C10"/>
          </a:solidFill>
          <a:ln w="12700">
            <a:solidFill>
              <a:srgbClr val="107C10"/>
            </a:solidFill>
            <a:prstDash val="solid"/>
          </a:ln>
        </p:spPr>
      </p:sp>
      <p:sp>
        <p:nvSpPr>
          <p:cNvPr id="25" name="Text 23"/>
          <p:cNvSpPr/>
          <p:nvPr/>
        </p:nvSpPr>
        <p:spPr>
          <a:xfrm>
            <a:off x="3364992" y="4005072"/>
            <a:ext cx="1920240" cy="329184"/>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Autonomous</a:t>
            </a:r>
            <a:endParaRPr lang="en-US" sz="1000" dirty="0"/>
          </a:p>
        </p:txBody>
      </p:sp>
      <p:sp>
        <p:nvSpPr>
          <p:cNvPr id="26" name="Text 24"/>
          <p:cNvSpPr/>
          <p:nvPr/>
        </p:nvSpPr>
        <p:spPr>
          <a:xfrm>
            <a:off x="5559552" y="3858768"/>
            <a:ext cx="3154680" cy="694944"/>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Triggered by a SharePoint event — sends an acknowledgment email without waiting for a user message.</a:t>
            </a:r>
            <a:endParaRPr lang="en-US" sz="1000" dirty="0"/>
          </a:p>
        </p:txBody>
      </p:sp>
      <p:sp>
        <p:nvSpPr>
          <p:cNvPr id="27" name="Shape 25"/>
          <p:cNvSpPr/>
          <p:nvPr/>
        </p:nvSpPr>
        <p:spPr>
          <a:xfrm>
            <a:off x="320040" y="4681728"/>
            <a:ext cx="8503920" cy="320040"/>
          </a:xfrm>
          <a:prstGeom prst="rect">
            <a:avLst/>
          </a:prstGeom>
          <a:solidFill>
            <a:srgbClr val="EFF6FC"/>
          </a:solidFill>
          <a:ln w="12700">
            <a:solidFill>
              <a:srgbClr val="C7E0F4"/>
            </a:solidFill>
            <a:prstDash val="solid"/>
          </a:ln>
        </p:spPr>
      </p:sp>
      <p:sp>
        <p:nvSpPr>
          <p:cNvPr id="28" name="Text 26"/>
          <p:cNvSpPr/>
          <p:nvPr/>
        </p:nvSpPr>
        <p:spPr>
          <a:xfrm>
            <a:off x="475488" y="4681728"/>
            <a:ext cx="8321040"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Tip: RAG helps the agent answer — actions help the agent do. Both can appear in a single conversation turn.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01</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200" dirty="0">
                <a:solidFill>
                  <a:srgbClr val="50E6FF"/>
                </a:solidFill>
                <a:latin typeface="Segoe UI" pitchFamily="34" charset="0"/>
                <a:ea typeface="Segoe UI" pitchFamily="34" charset="-122"/>
                <a:cs typeface="Segoe UI" pitchFamily="34" charset="-120"/>
              </a:rPr>
              <a:t>Introduction to Agents</a:t>
            </a:r>
            <a:endParaRPr lang="en-US" sz="22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50" dirty="0">
                <a:solidFill>
                  <a:srgbClr val="FFFFFF"/>
                </a:solidFill>
                <a:latin typeface="Segoe UI" pitchFamily="34" charset="0"/>
                <a:ea typeface="Segoe UI" pitchFamily="34" charset="-122"/>
                <a:cs typeface="Segoe UI" pitchFamily="34" charset="-120"/>
              </a:rPr>
              <a:t>Classify the three Contoso IT scenarios by agent pattern</a:t>
            </a:r>
            <a:endParaRPr lang="en-US" sz="1150" dirty="0"/>
          </a:p>
          <a:p>
            <a:pPr marL="342900" indent="-342900">
              <a:buSzPct val="100000"/>
              <a:buChar char="•"/>
            </a:pPr>
            <a:r>
              <a:rPr lang="en-US" sz="1150" dirty="0">
                <a:solidFill>
                  <a:srgbClr val="FFFFFF"/>
                </a:solidFill>
                <a:latin typeface="Segoe UI" pitchFamily="34" charset="0"/>
                <a:ea typeface="Segoe UI" pitchFamily="34" charset="-122"/>
                <a:cs typeface="Segoe UI" pitchFamily="34" charset="-120"/>
              </a:rPr>
              <a:t>Map the role of the LLM, RAG, and actions in each example</a:t>
            </a:r>
            <a:endParaRPr lang="en-US" sz="1150" dirty="0"/>
          </a:p>
          <a:p>
            <a:pPr marL="342900" indent="-342900">
              <a:buSzPct val="100000"/>
              <a:buChar char="•"/>
            </a:pPr>
            <a:r>
              <a:rPr lang="en-US" sz="1150" dirty="0">
                <a:solidFill>
                  <a:srgbClr val="FFFFFF"/>
                </a:solidFill>
                <a:latin typeface="Segoe UI" pitchFamily="34" charset="0"/>
                <a:ea typeface="Segoe UI" pitchFamily="34" charset="-122"/>
                <a:cs typeface="Segoe UI" pitchFamily="34" charset="-120"/>
              </a:rPr>
              <a:t>Locate the Create entry point and Agents area in Copilot Studio</a:t>
            </a:r>
            <a:endParaRPr lang="en-US" sz="1150" dirty="0"/>
          </a:p>
          <a:p>
            <a:pPr marL="342900" indent="-342900">
              <a:buSzPct val="100000"/>
              <a:buChar char="•"/>
            </a:pPr>
            <a:r>
              <a:rPr lang="en-US" sz="1150" dirty="0">
                <a:solidFill>
                  <a:srgbClr val="FFFFFF"/>
                </a:solidFill>
                <a:latin typeface="Segoe UI" pitchFamily="34" charset="0"/>
                <a:ea typeface="Segoe UI" pitchFamily="34" charset="-122"/>
                <a:cs typeface="Segoe UI" pitchFamily="34" charset="-120"/>
              </a:rPr>
              <a:t>Name one knowledge source and one action you will use later today</a:t>
            </a:r>
            <a:endParaRPr lang="en-US" sz="115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20</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Discussion-first  ·  All roles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01  ·  LAB 01 RECAP</a:t>
            </a:r>
            <a:endParaRPr lang="en-US" sz="900" dirty="0"/>
          </a:p>
        </p:txBody>
      </p:sp>
      <p:sp>
        <p:nvSpPr>
          <p:cNvPr id="4" name="Text 2"/>
          <p:cNvSpPr/>
          <p:nvPr/>
        </p:nvSpPr>
        <p:spPr>
          <a:xfrm>
            <a:off x="365760" y="749808"/>
            <a:ext cx="8412480" cy="548640"/>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01: Introduction to Agents</a:t>
            </a:r>
            <a:endParaRPr lang="en-US" sz="2800" dirty="0"/>
          </a:p>
        </p:txBody>
      </p:sp>
      <p:sp>
        <p:nvSpPr>
          <p:cNvPr id="5" name="Text 3"/>
          <p:cNvSpPr/>
          <p:nvPr/>
        </p:nvSpPr>
        <p:spPr>
          <a:xfrm>
            <a:off x="365760" y="1344168"/>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You're ready for Lab 02 when you can answer all three validation prompts without notes.</a:t>
            </a:r>
            <a:endParaRPr lang="en-US" sz="1200" dirty="0"/>
          </a:p>
        </p:txBody>
      </p:sp>
      <p:sp>
        <p:nvSpPr>
          <p:cNvPr id="6" name="Shape 4"/>
          <p:cNvSpPr/>
          <p:nvPr/>
        </p:nvSpPr>
        <p:spPr>
          <a:xfrm>
            <a:off x="320040" y="1801368"/>
            <a:ext cx="4114800" cy="3063240"/>
          </a:xfrm>
          <a:prstGeom prst="rect">
            <a:avLst/>
          </a:prstGeom>
          <a:solidFill>
            <a:srgbClr val="F3F2F1"/>
          </a:solidFill>
          <a:ln w="12700">
            <a:solidFill>
              <a:srgbClr val="E1DFDD"/>
            </a:solidFill>
            <a:prstDash val="solid"/>
          </a:ln>
        </p:spPr>
      </p:sp>
      <p:sp>
        <p:nvSpPr>
          <p:cNvPr id="7" name="Text 5"/>
          <p:cNvSpPr/>
          <p:nvPr/>
        </p:nvSpPr>
        <p:spPr>
          <a:xfrm>
            <a:off x="457200" y="1874520"/>
            <a:ext cx="379476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What you covered</a:t>
            </a:r>
            <a:endParaRPr lang="en-US" sz="1200" dirty="0"/>
          </a:p>
        </p:txBody>
      </p:sp>
      <p:sp>
        <p:nvSpPr>
          <p:cNvPr id="8" name="Text 6"/>
          <p:cNvSpPr/>
          <p:nvPr/>
        </p:nvSpPr>
        <p:spPr>
          <a:xfrm>
            <a:off x="457200" y="2240280"/>
            <a:ext cx="3749040" cy="2468880"/>
          </a:xfrm>
          <a:prstGeom prst="rect">
            <a:avLst/>
          </a:prstGeom>
          <a:noFill/>
          <a:ln/>
        </p:spPr>
        <p:txBody>
          <a:bodyPr wrap="square" rtlCol="0" anchor="ctr"/>
          <a:lstStyle/>
          <a:p>
            <a:pPr marL="342900" indent="-342900">
              <a:buSzPct val="100000"/>
              <a:buChar char="•"/>
            </a:pPr>
            <a:r>
              <a:rPr lang="en-US" sz="1100" dirty="0">
                <a:solidFill>
                  <a:srgbClr val="201F1E"/>
                </a:solidFill>
                <a:latin typeface="Segoe UI" pitchFamily="34" charset="0"/>
                <a:ea typeface="Segoe UI" pitchFamily="34" charset="-122"/>
                <a:cs typeface="Segoe UI" pitchFamily="34" charset="-120"/>
              </a:rPr>
              <a:t>Classified three Contoso IT scenarios by agent pattern</a:t>
            </a:r>
            <a:endParaRPr lang="en-US" sz="1100" dirty="0"/>
          </a:p>
          <a:p>
            <a:pPr marL="342900" indent="-342900">
              <a:buSzPct val="100000"/>
              <a:buChar char="•"/>
            </a:pPr>
            <a:r>
              <a:rPr lang="en-US" sz="1100" dirty="0">
                <a:solidFill>
                  <a:srgbClr val="201F1E"/>
                </a:solidFill>
                <a:latin typeface="Segoe UI" pitchFamily="34" charset="0"/>
                <a:ea typeface="Segoe UI" pitchFamily="34" charset="-122"/>
                <a:cs typeface="Segoe UI" pitchFamily="34" charset="-120"/>
              </a:rPr>
              <a:t>Described the role of the LLM, RAG, and actions</a:t>
            </a:r>
            <a:endParaRPr lang="en-US" sz="1100" dirty="0"/>
          </a:p>
          <a:p>
            <a:pPr marL="342900" indent="-342900">
              <a:buSzPct val="100000"/>
              <a:buChar char="•"/>
            </a:pPr>
            <a:r>
              <a:rPr lang="en-US" sz="1100" dirty="0">
                <a:solidFill>
                  <a:srgbClr val="201F1E"/>
                </a:solidFill>
                <a:latin typeface="Segoe UI" pitchFamily="34" charset="0"/>
                <a:ea typeface="Segoe UI" pitchFamily="34" charset="-122"/>
                <a:cs typeface="Segoe UI" pitchFamily="34" charset="-120"/>
              </a:rPr>
              <a:t>Located the Create and Agents areas in Copilot Studio</a:t>
            </a:r>
            <a:endParaRPr lang="en-US" sz="1100" dirty="0"/>
          </a:p>
          <a:p>
            <a:pPr marL="342900" indent="-342900">
              <a:buSzPct val="100000"/>
              <a:buChar char="•"/>
            </a:pPr>
            <a:r>
              <a:rPr lang="en-US" sz="1100" dirty="0">
                <a:solidFill>
                  <a:srgbClr val="201F1E"/>
                </a:solidFill>
                <a:latin typeface="Segoe UI" pitchFamily="34" charset="0"/>
                <a:ea typeface="Segoe UI" pitchFamily="34" charset="-122"/>
                <a:cs typeface="Segoe UI" pitchFamily="34" charset="-120"/>
              </a:rPr>
              <a:t>Named one knowledge source and one action for later labs</a:t>
            </a:r>
            <a:endParaRPr lang="en-US" sz="1100" dirty="0"/>
          </a:p>
        </p:txBody>
      </p:sp>
      <p:sp>
        <p:nvSpPr>
          <p:cNvPr id="9" name="Shape 7"/>
          <p:cNvSpPr/>
          <p:nvPr/>
        </p:nvSpPr>
        <p:spPr>
          <a:xfrm>
            <a:off x="4572000" y="1801368"/>
            <a:ext cx="4251960" cy="3063240"/>
          </a:xfrm>
          <a:prstGeom prst="rect">
            <a:avLst/>
          </a:prstGeom>
          <a:solidFill>
            <a:srgbClr val="EFF6FC"/>
          </a:solidFill>
          <a:ln w="12700">
            <a:solidFill>
              <a:srgbClr val="C7E0F4"/>
            </a:solidFill>
            <a:prstDash val="solid"/>
          </a:ln>
        </p:spPr>
      </p:sp>
      <p:sp>
        <p:nvSpPr>
          <p:cNvPr id="10" name="Text 8"/>
          <p:cNvSpPr/>
          <p:nvPr/>
        </p:nvSpPr>
        <p:spPr>
          <a:xfrm>
            <a:off x="4709160" y="1874520"/>
            <a:ext cx="397764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Validation — answer without notes</a:t>
            </a:r>
            <a:endParaRPr lang="en-US" sz="1200" dirty="0"/>
          </a:p>
        </p:txBody>
      </p:sp>
      <p:sp>
        <p:nvSpPr>
          <p:cNvPr id="11" name="Shape 9"/>
          <p:cNvSpPr/>
          <p:nvPr/>
        </p:nvSpPr>
        <p:spPr>
          <a:xfrm>
            <a:off x="4709160" y="2322576"/>
            <a:ext cx="292608" cy="292608"/>
          </a:xfrm>
          <a:prstGeom prst="ellipse">
            <a:avLst/>
          </a:prstGeom>
          <a:solidFill>
            <a:srgbClr val="0078D4"/>
          </a:solidFill>
          <a:ln w="12700">
            <a:solidFill>
              <a:srgbClr val="0078D4"/>
            </a:solidFill>
            <a:prstDash val="solid"/>
          </a:ln>
        </p:spPr>
      </p:sp>
      <p:sp>
        <p:nvSpPr>
          <p:cNvPr id="12" name="Text 10"/>
          <p:cNvSpPr/>
          <p:nvPr/>
        </p:nvSpPr>
        <p:spPr>
          <a:xfrm>
            <a:off x="4709160" y="232257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1</a:t>
            </a:r>
            <a:endParaRPr lang="en-US" sz="1000" dirty="0"/>
          </a:p>
        </p:txBody>
      </p:sp>
      <p:sp>
        <p:nvSpPr>
          <p:cNvPr id="13" name="Text 11"/>
          <p:cNvSpPr/>
          <p:nvPr/>
        </p:nvSpPr>
        <p:spPr>
          <a:xfrm>
            <a:off x="5093208" y="2286000"/>
            <a:ext cx="3611880" cy="685800"/>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What is the difference between a conversational agent and an autonomous agent?</a:t>
            </a:r>
            <a:endParaRPr lang="en-US" sz="1050" dirty="0"/>
          </a:p>
        </p:txBody>
      </p:sp>
      <p:sp>
        <p:nvSpPr>
          <p:cNvPr id="14" name="Shape 12"/>
          <p:cNvSpPr/>
          <p:nvPr/>
        </p:nvSpPr>
        <p:spPr>
          <a:xfrm>
            <a:off x="4709160" y="3127248"/>
            <a:ext cx="292608" cy="292608"/>
          </a:xfrm>
          <a:prstGeom prst="ellipse">
            <a:avLst/>
          </a:prstGeom>
          <a:solidFill>
            <a:srgbClr val="0078D4"/>
          </a:solidFill>
          <a:ln w="12700">
            <a:solidFill>
              <a:srgbClr val="0078D4"/>
            </a:solidFill>
            <a:prstDash val="solid"/>
          </a:ln>
        </p:spPr>
      </p:sp>
      <p:sp>
        <p:nvSpPr>
          <p:cNvPr id="15" name="Text 13"/>
          <p:cNvSpPr/>
          <p:nvPr/>
        </p:nvSpPr>
        <p:spPr>
          <a:xfrm>
            <a:off x="4709160" y="312724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2</a:t>
            </a:r>
            <a:endParaRPr lang="en-US" sz="1000" dirty="0"/>
          </a:p>
        </p:txBody>
      </p:sp>
      <p:sp>
        <p:nvSpPr>
          <p:cNvPr id="16" name="Text 14"/>
          <p:cNvSpPr/>
          <p:nvPr/>
        </p:nvSpPr>
        <p:spPr>
          <a:xfrm>
            <a:off x="5093208" y="3090672"/>
            <a:ext cx="3611880" cy="685800"/>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Why is RAG safer than relying on model memory alone for internal policy answers?</a:t>
            </a:r>
            <a:endParaRPr lang="en-US" sz="1050" dirty="0"/>
          </a:p>
        </p:txBody>
      </p:sp>
      <p:sp>
        <p:nvSpPr>
          <p:cNvPr id="17" name="Shape 15"/>
          <p:cNvSpPr/>
          <p:nvPr/>
        </p:nvSpPr>
        <p:spPr>
          <a:xfrm>
            <a:off x="4709160" y="3931920"/>
            <a:ext cx="292608" cy="292608"/>
          </a:xfrm>
          <a:prstGeom prst="ellipse">
            <a:avLst/>
          </a:prstGeom>
          <a:solidFill>
            <a:srgbClr val="0078D4"/>
          </a:solidFill>
          <a:ln w="12700">
            <a:solidFill>
              <a:srgbClr val="0078D4"/>
            </a:solidFill>
            <a:prstDash val="solid"/>
          </a:ln>
        </p:spPr>
      </p:sp>
      <p:sp>
        <p:nvSpPr>
          <p:cNvPr id="18" name="Text 16"/>
          <p:cNvSpPr/>
          <p:nvPr/>
        </p:nvSpPr>
        <p:spPr>
          <a:xfrm>
            <a:off x="4709160" y="393192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3</a:t>
            </a:r>
            <a:endParaRPr lang="en-US" sz="1000" dirty="0"/>
          </a:p>
        </p:txBody>
      </p:sp>
      <p:sp>
        <p:nvSpPr>
          <p:cNvPr id="19" name="Text 17"/>
          <p:cNvSpPr/>
          <p:nvPr/>
        </p:nvSpPr>
        <p:spPr>
          <a:xfrm>
            <a:off x="5093208" y="3895344"/>
            <a:ext cx="3611880" cy="685800"/>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In the Contoso IT scenario, where is an action required and where is knowledge grounding required?</a:t>
            </a:r>
            <a:endParaRPr lang="en-US" sz="1050" dirty="0"/>
          </a:p>
        </p:txBody>
      </p:sp>
      <p:sp>
        <p:nvSpPr>
          <p:cNvPr id="20" name="Shape 18"/>
          <p:cNvSpPr/>
          <p:nvPr/>
        </p:nvSpPr>
        <p:spPr>
          <a:xfrm>
            <a:off x="320040" y="4681728"/>
            <a:ext cx="8503920" cy="320040"/>
          </a:xfrm>
          <a:prstGeom prst="rect">
            <a:avLst/>
          </a:prstGeom>
          <a:solidFill>
            <a:srgbClr val="EFF6FC"/>
          </a:solidFill>
          <a:ln w="12700">
            <a:solidFill>
              <a:srgbClr val="C7E0F4"/>
            </a:solidFill>
            <a:prstDash val="solid"/>
          </a:ln>
        </p:spPr>
      </p:sp>
      <p:sp>
        <p:nvSpPr>
          <p:cNvPr id="21" name="Text 19"/>
          <p:cNvSpPr/>
          <p:nvPr/>
        </p:nvSpPr>
        <p:spPr>
          <a:xfrm>
            <a:off x="475488" y="4681728"/>
            <a:ext cx="832104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Up next: Module 02 — Copilot Studio Foundations  (Labs 02–04)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Workshop — Module 01: Agents Today</dc:title>
  <dc:subject>PptxGenJS Presentation</dc:subject>
  <dc:creator>Microsoft</dc:creator>
  <cp:lastModifiedBy>Microsoft</cp:lastModifiedBy>
  <cp:revision>1</cp:revision>
  <dcterms:created xsi:type="dcterms:W3CDTF">2026-03-23T18:25:48Z</dcterms:created>
  <dcterms:modified xsi:type="dcterms:W3CDTF">2026-03-23T18:25:48Z</dcterms:modified>
</cp:coreProperties>
</file>