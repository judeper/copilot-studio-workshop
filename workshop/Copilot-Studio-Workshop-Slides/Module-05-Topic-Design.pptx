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marks the point where the agent becomes structured rather than purely generative. Bring the topic authoring best practices into the room as a maintainability story, not just a design preference. Ambiguous triggers create support cost long before they create visible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topic authoring best practices into the room as a maintainability story, not just a design preference. Show that topic structure is one of the simplest ways to improve both quality and maintenance. A small reliable topic teaches more than a large unfinished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lab where the agent becomes structured rather than purely generative. Slow down enough for participants to understand why the topic exists. Call out Global.VarDevices because Lab 08 reuses it for the adaptive card choices. Keep the data retrieval simple — the goal is successful retrieval and routing, not perfect OData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Coach learners to build one focused topic path before adding optional branches. Test realistic trigger wording instead of idealized commands. Keep the SharePoint OData filter simple — the goal is successful retrieval, not perfect type filtering.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08 depends on Global.VarDevices being populated here. Remind participants that the card choices in Lab 08 come from this variable — if it's not populated, the card will render with no options. If formula mode is unavailable in a tenant, use static placeholder choices and explain the dynamic pattern conceptually.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card design to supported host behavior so the workshop stays realistic and reusable. Participants often understand cards faster when they see the external designer first and the in-product card editor second. Reinforce that the card outputs are the bridge to automation in Lab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card structure once in the external designer before participants build it in Copilot Studio. Reinforce that card outputs (deviceSelectionId, managerEmailId, commentsId) are the inputs to Lab 09. If formula mode is unavailable, use static choices and explain the dynamic pattern conceptually.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card outputs (deviceSelectionId, managerEmailId, commentsId) are the inputs to the Power Automate flow in Lab 09. If no devices appear in the card, the Global.VarDevices variable was not populated — rerun the Available devices topic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3A5E"/>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078D4"/>
          </a:solidFill>
          <a:ln w="12700">
            <a:solidFill>
              <a:srgbClr val="0078D4"/>
            </a:solidFill>
            <a:prstDash val="solid"/>
          </a:ln>
        </p:spPr>
      </p:sp>
      <p:sp>
        <p:nvSpPr>
          <p:cNvPr id="3" name="Shape 1"/>
          <p:cNvSpPr/>
          <p:nvPr/>
        </p:nvSpPr>
        <p:spPr>
          <a:xfrm>
            <a:off x="0" y="64008"/>
            <a:ext cx="411480" cy="5079492"/>
          </a:xfrm>
          <a:prstGeom prst="rect">
            <a:avLst/>
          </a:prstGeom>
          <a:solidFill>
            <a:srgbClr val="0078D4"/>
          </a:solidFill>
          <a:ln w="12700">
            <a:solidFill>
              <a:srgbClr val="0078D4"/>
            </a:solidFill>
            <a:prstDash val="solid"/>
          </a:ln>
        </p:spPr>
      </p:sp>
      <p:sp>
        <p:nvSpPr>
          <p:cNvPr id="4" name="Text 2"/>
          <p:cNvSpPr/>
          <p:nvPr/>
        </p:nvSpPr>
        <p:spPr>
          <a:xfrm>
            <a:off x="594360" y="594360"/>
            <a:ext cx="8229600" cy="384048"/>
          </a:xfrm>
          <a:prstGeom prst="rect">
            <a:avLst/>
          </a:prstGeom>
          <a:noFill/>
          <a:ln/>
        </p:spPr>
        <p:txBody>
          <a:bodyPr wrap="square" rtlCol="0" anchor="ctr"/>
          <a:lstStyle/>
          <a:p>
            <a:pPr indent="0" marL="0">
              <a:buNone/>
            </a:pPr>
            <a:r>
              <a:rPr lang="en-US" sz="1100" spc="500" kern="0" dirty="0">
                <a:solidFill>
                  <a:srgbClr val="50E6FF"/>
                </a:solidFill>
                <a:latin typeface="Segoe UI" pitchFamily="34" charset="0"/>
                <a:ea typeface="Segoe UI" pitchFamily="34" charset="-122"/>
                <a:cs typeface="Segoe UI" pitchFamily="34" charset="-120"/>
              </a:rPr>
              <a:t>MODULE 05</a:t>
            </a:r>
            <a:endParaRPr lang="en-US" sz="1100" dirty="0"/>
          </a:p>
        </p:txBody>
      </p:sp>
      <p:sp>
        <p:nvSpPr>
          <p:cNvPr id="5" name="Text 3"/>
          <p:cNvSpPr/>
          <p:nvPr/>
        </p:nvSpPr>
        <p:spPr>
          <a:xfrm>
            <a:off x="594360" y="1078992"/>
            <a:ext cx="8229600" cy="1005840"/>
          </a:xfrm>
          <a:prstGeom prst="rect">
            <a:avLst/>
          </a:prstGeom>
          <a:noFill/>
          <a:ln/>
        </p:spPr>
        <p:txBody>
          <a:bodyPr wrap="square" rtlCol="0" anchor="ctr"/>
          <a:lstStyle/>
          <a:p>
            <a:pPr indent="0" marL="0">
              <a:buNone/>
            </a:pPr>
            <a:r>
              <a:rPr lang="en-US" sz="5400" b="1" dirty="0">
                <a:solidFill>
                  <a:srgbClr val="FFFFFF"/>
                </a:solidFill>
                <a:latin typeface="Segoe UI" pitchFamily="34" charset="0"/>
                <a:ea typeface="Segoe UI" pitchFamily="34" charset="-122"/>
                <a:cs typeface="Segoe UI" pitchFamily="34" charset="-120"/>
              </a:rPr>
              <a:t>Topic Design</a:t>
            </a:r>
            <a:endParaRPr lang="en-US" sz="5400" dirty="0"/>
          </a:p>
        </p:txBody>
      </p:sp>
      <p:sp>
        <p:nvSpPr>
          <p:cNvPr id="6" name="Text 4"/>
          <p:cNvSpPr/>
          <p:nvPr/>
        </p:nvSpPr>
        <p:spPr>
          <a:xfrm>
            <a:off x="594360" y="2194560"/>
            <a:ext cx="7955280" cy="502920"/>
          </a:xfrm>
          <a:prstGeom prst="rect">
            <a:avLst/>
          </a:prstGeom>
          <a:noFill/>
          <a:ln/>
        </p:spPr>
        <p:txBody>
          <a:bodyPr wrap="square" rtlCol="0" anchor="ctr"/>
          <a:lstStyle/>
          <a:p>
            <a:pPr indent="0" marL="0">
              <a:buNone/>
            </a:pPr>
            <a:r>
              <a:rPr lang="en-US" sz="1400" dirty="0">
                <a:solidFill>
                  <a:srgbClr val="C5D8F0"/>
                </a:solidFill>
                <a:latin typeface="Segoe UI" pitchFamily="34" charset="0"/>
                <a:ea typeface="Segoe UI" pitchFamily="34" charset="-122"/>
                <a:cs typeface="Segoe UI" pitchFamily="34" charset="-120"/>
              </a:rPr>
              <a:t>Clear entry points, bite-size logic, and purposeful cards — the building blocks of maintainable conversations</a:t>
            </a:r>
            <a:endParaRPr lang="en-US" sz="1400" dirty="0"/>
          </a:p>
        </p:txBody>
      </p:sp>
      <p:sp>
        <p:nvSpPr>
          <p:cNvPr id="7" name="Shape 5"/>
          <p:cNvSpPr/>
          <p:nvPr/>
        </p:nvSpPr>
        <p:spPr>
          <a:xfrm>
            <a:off x="594360" y="2971800"/>
            <a:ext cx="2633472" cy="438912"/>
          </a:xfrm>
          <a:prstGeom prst="rect">
            <a:avLst/>
          </a:prstGeom>
          <a:solidFill>
            <a:srgbClr val="0078D4"/>
          </a:solidFill>
          <a:ln w="12700">
            <a:solidFill>
              <a:srgbClr val="0078D4"/>
            </a:solidFill>
            <a:prstDash val="solid"/>
          </a:ln>
        </p:spPr>
      </p:sp>
      <p:sp>
        <p:nvSpPr>
          <p:cNvPr id="8" name="Text 6"/>
          <p:cNvSpPr/>
          <p:nvPr/>
        </p:nvSpPr>
        <p:spPr>
          <a:xfrm>
            <a:off x="594360"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Triggers &amp; entry points</a:t>
            </a:r>
            <a:endParaRPr lang="en-US" sz="1150" dirty="0"/>
          </a:p>
        </p:txBody>
      </p:sp>
      <p:sp>
        <p:nvSpPr>
          <p:cNvPr id="9" name="Shape 7"/>
          <p:cNvSpPr/>
          <p:nvPr/>
        </p:nvSpPr>
        <p:spPr>
          <a:xfrm>
            <a:off x="3410712" y="2971800"/>
            <a:ext cx="2633472" cy="438912"/>
          </a:xfrm>
          <a:prstGeom prst="rect">
            <a:avLst/>
          </a:prstGeom>
          <a:solidFill>
            <a:srgbClr val="00B294"/>
          </a:solidFill>
          <a:ln w="12700">
            <a:solidFill>
              <a:srgbClr val="00B294"/>
            </a:solidFill>
            <a:prstDash val="solid"/>
          </a:ln>
        </p:spPr>
      </p:sp>
      <p:sp>
        <p:nvSpPr>
          <p:cNvPr id="10" name="Text 8"/>
          <p:cNvSpPr/>
          <p:nvPr/>
        </p:nvSpPr>
        <p:spPr>
          <a:xfrm>
            <a:off x="3410712"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Bite-size topic structure</a:t>
            </a:r>
            <a:endParaRPr lang="en-US" sz="1150" dirty="0"/>
          </a:p>
        </p:txBody>
      </p:sp>
      <p:sp>
        <p:nvSpPr>
          <p:cNvPr id="11" name="Shape 9"/>
          <p:cNvSpPr/>
          <p:nvPr/>
        </p:nvSpPr>
        <p:spPr>
          <a:xfrm>
            <a:off x="6227064" y="2971800"/>
            <a:ext cx="2633472" cy="438912"/>
          </a:xfrm>
          <a:prstGeom prst="rect">
            <a:avLst/>
          </a:prstGeom>
          <a:solidFill>
            <a:srgbClr val="5C2D91"/>
          </a:solidFill>
          <a:ln w="12700">
            <a:solidFill>
              <a:srgbClr val="5C2D91"/>
            </a:solidFill>
            <a:prstDash val="solid"/>
          </a:ln>
        </p:spPr>
      </p:sp>
      <p:sp>
        <p:nvSpPr>
          <p:cNvPr id="12" name="Text 10"/>
          <p:cNvSpPr/>
          <p:nvPr/>
        </p:nvSpPr>
        <p:spPr>
          <a:xfrm>
            <a:off x="6227064" y="2971800"/>
            <a:ext cx="2633472" cy="438912"/>
          </a:xfrm>
          <a:prstGeom prst="rect">
            <a:avLst/>
          </a:prstGeom>
          <a:noFill/>
          <a:ln/>
        </p:spPr>
        <p:txBody>
          <a:bodyPr wrap="square" rtlCol="0" anchor="ctr"/>
          <a:lstStyle/>
          <a:p>
            <a:pPr algn="ctr" indent="0" marL="0">
              <a:buNone/>
            </a:pPr>
            <a:r>
              <a:rPr lang="en-US" sz="1150" b="1" dirty="0">
                <a:solidFill>
                  <a:srgbClr val="FFFFFF"/>
                </a:solidFill>
                <a:latin typeface="Segoe UI" pitchFamily="34" charset="0"/>
                <a:ea typeface="Segoe UI" pitchFamily="34" charset="-122"/>
                <a:cs typeface="Segoe UI" pitchFamily="34" charset="-120"/>
              </a:rPr>
              <a:t>Adaptive Cards</a:t>
            </a:r>
            <a:endParaRPr lang="en-US" sz="1150" dirty="0"/>
          </a:p>
        </p:txBody>
      </p:sp>
      <p:sp>
        <p:nvSpPr>
          <p:cNvPr id="13" name="Text 11"/>
          <p:cNvSpPr/>
          <p:nvPr/>
        </p:nvSpPr>
        <p:spPr>
          <a:xfrm>
            <a:off x="594360" y="4343400"/>
            <a:ext cx="8229600" cy="320040"/>
          </a:xfrm>
          <a:prstGeom prst="rect">
            <a:avLst/>
          </a:prstGeom>
          <a:noFill/>
          <a:ln/>
        </p:spPr>
        <p:txBody>
          <a:bodyPr wrap="square" rtlCol="0" anchor="ctr"/>
          <a:lstStyle/>
          <a:p>
            <a:pPr indent="0" marL="0">
              <a:buNone/>
            </a:pPr>
            <a:r>
              <a:rPr lang="en-US" sz="1000" dirty="0">
                <a:solidFill>
                  <a:srgbClr val="7BA7CC"/>
                </a:solidFill>
                <a:latin typeface="Segoe UI" pitchFamily="34" charset="0"/>
                <a:ea typeface="Segoe UI" pitchFamily="34" charset="-122"/>
                <a:cs typeface="Segoe UI" pitchFamily="34" charset="-120"/>
              </a:rPr>
              <a:t>Labs 07–08  ·  Day 1 Recruit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05  ·  TOPIC DESIGN</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Three Topic Design Principles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Topic structure is one of the simplest ways to improve both conversation quality and long-term maintenance.</a:t>
            </a:r>
            <a:endParaRPr lang="en-US" sz="1200" dirty="0"/>
          </a:p>
        </p:txBody>
      </p:sp>
      <p:sp>
        <p:nvSpPr>
          <p:cNvPr id="6" name="Shape 4"/>
          <p:cNvSpPr/>
          <p:nvPr/>
        </p:nvSpPr>
        <p:spPr>
          <a:xfrm>
            <a:off x="2560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56032" y="1783080"/>
            <a:ext cx="2834640" cy="457200"/>
          </a:xfrm>
          <a:prstGeom prst="rect">
            <a:avLst/>
          </a:prstGeom>
          <a:solidFill>
            <a:srgbClr val="0078D4"/>
          </a:solidFill>
          <a:ln w="12700">
            <a:solidFill>
              <a:srgbClr val="0078D4"/>
            </a:solidFill>
            <a:prstDash val="solid"/>
          </a:ln>
        </p:spPr>
      </p:sp>
      <p:sp>
        <p:nvSpPr>
          <p:cNvPr id="8" name="Shape 6"/>
          <p:cNvSpPr/>
          <p:nvPr/>
        </p:nvSpPr>
        <p:spPr>
          <a:xfrm>
            <a:off x="347472" y="1892808"/>
            <a:ext cx="274320" cy="274320"/>
          </a:xfrm>
          <a:prstGeom prst="ellipse">
            <a:avLst/>
          </a:prstGeom>
          <a:solidFill>
            <a:srgbClr val="FFFFFF"/>
          </a:solidFill>
          <a:ln w="12700">
            <a:solidFill>
              <a:srgbClr val="FFFFFF"/>
            </a:solidFill>
            <a:prstDash val="solid"/>
          </a:ln>
        </p:spPr>
      </p:sp>
      <p:sp>
        <p:nvSpPr>
          <p:cNvPr id="9" name="Text 7"/>
          <p:cNvSpPr/>
          <p:nvPr/>
        </p:nvSpPr>
        <p:spPr>
          <a:xfrm>
            <a:off x="347472" y="1892808"/>
            <a:ext cx="274320" cy="274320"/>
          </a:xfrm>
          <a:prstGeom prst="rect">
            <a:avLst/>
          </a:prstGeom>
          <a:noFill/>
          <a:ln/>
        </p:spPr>
        <p:txBody>
          <a:bodyPr wrap="square" lIns="0" tIns="0" rIns="0" bIns="0" rtlCol="0" anchor="ctr"/>
          <a:lstStyle/>
          <a:p>
            <a:pPr algn="ctr" indent="0" marL="0">
              <a:buNone/>
            </a:pPr>
            <a:r>
              <a:rPr lang="en-US" sz="1000" b="1" dirty="0">
                <a:solidFill>
                  <a:srgbClr val="0078D4"/>
                </a:solidFill>
                <a:latin typeface="Segoe UI" pitchFamily="34" charset="0"/>
                <a:ea typeface="Segoe UI" pitchFamily="34" charset="-122"/>
                <a:cs typeface="Segoe UI" pitchFamily="34" charset="-120"/>
              </a:rPr>
              <a:t>1</a:t>
            </a:r>
            <a:endParaRPr lang="en-US" sz="1000" dirty="0"/>
          </a:p>
        </p:txBody>
      </p:sp>
      <p:sp>
        <p:nvSpPr>
          <p:cNvPr id="10" name="Text 8"/>
          <p:cNvSpPr/>
          <p:nvPr/>
        </p:nvSpPr>
        <p:spPr>
          <a:xfrm>
            <a:off x="713232" y="1783080"/>
            <a:ext cx="2286000" cy="4572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Keep entry points clear and non-overlapping</a:t>
            </a:r>
            <a:endParaRPr lang="en-US" sz="1100" dirty="0"/>
          </a:p>
        </p:txBody>
      </p:sp>
      <p:sp>
        <p:nvSpPr>
          <p:cNvPr id="11" name="Text 9"/>
          <p:cNvSpPr/>
          <p:nvPr/>
        </p:nvSpPr>
        <p:spPr>
          <a:xfrm>
            <a:off x="347472" y="2313432"/>
            <a:ext cx="2670048" cy="256032"/>
          </a:xfrm>
          <a:prstGeom prst="rect">
            <a:avLst/>
          </a:prstGeom>
          <a:noFill/>
          <a:ln/>
        </p:spPr>
        <p:txBody>
          <a:bodyPr wrap="square" rtlCol="0" anchor="ctr"/>
          <a:lstStyle/>
          <a:p>
            <a:pPr indent="0" marL="0">
              <a:buNone/>
            </a:pPr>
            <a:r>
              <a:rPr lang="en-US" sz="950" b="1" dirty="0">
                <a:solidFill>
                  <a:srgbClr val="0078D4"/>
                </a:solidFill>
                <a:latin typeface="Segoe UI" pitchFamily="34" charset="0"/>
                <a:ea typeface="Segoe UI" pitchFamily="34" charset="-122"/>
                <a:cs typeface="Segoe UI" pitchFamily="34" charset="-120"/>
              </a:rPr>
              <a:t>Triggers · Descriptions · Example phrases</a:t>
            </a:r>
            <a:endParaRPr lang="en-US" sz="950" dirty="0"/>
          </a:p>
        </p:txBody>
      </p:sp>
      <p:sp>
        <p:nvSpPr>
          <p:cNvPr id="12" name="Text 10"/>
          <p:cNvSpPr/>
          <p:nvPr/>
        </p:nvSpPr>
        <p:spPr>
          <a:xfrm>
            <a:off x="3474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Write a topic description that tells the orchestrator exactly when to use this topic — not just what it does</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Multiple-topic matches are a signal that trigger phrases overlap too much; fix the descriptions, not the phrases</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Ambiguous triggers create invisible support cost before the first production incident</a:t>
            </a:r>
            <a:endParaRPr lang="en-US" sz="1000" dirty="0"/>
          </a:p>
        </p:txBody>
      </p:sp>
      <p:sp>
        <p:nvSpPr>
          <p:cNvPr id="13" name="Shape 11"/>
          <p:cNvSpPr/>
          <p:nvPr/>
        </p:nvSpPr>
        <p:spPr>
          <a:xfrm>
            <a:off x="32278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14" name="Shape 12"/>
          <p:cNvSpPr/>
          <p:nvPr/>
        </p:nvSpPr>
        <p:spPr>
          <a:xfrm>
            <a:off x="3227832" y="1783080"/>
            <a:ext cx="2834640" cy="457200"/>
          </a:xfrm>
          <a:prstGeom prst="rect">
            <a:avLst/>
          </a:prstGeom>
          <a:solidFill>
            <a:srgbClr val="00B294"/>
          </a:solidFill>
          <a:ln w="12700">
            <a:solidFill>
              <a:srgbClr val="00B294"/>
            </a:solidFill>
            <a:prstDash val="solid"/>
          </a:ln>
        </p:spPr>
      </p:sp>
      <p:sp>
        <p:nvSpPr>
          <p:cNvPr id="15" name="Shape 13"/>
          <p:cNvSpPr/>
          <p:nvPr/>
        </p:nvSpPr>
        <p:spPr>
          <a:xfrm>
            <a:off x="3319272" y="1892808"/>
            <a:ext cx="274320" cy="274320"/>
          </a:xfrm>
          <a:prstGeom prst="ellipse">
            <a:avLst/>
          </a:prstGeom>
          <a:solidFill>
            <a:srgbClr val="FFFFFF"/>
          </a:solidFill>
          <a:ln w="12700">
            <a:solidFill>
              <a:srgbClr val="FFFFFF"/>
            </a:solidFill>
            <a:prstDash val="solid"/>
          </a:ln>
        </p:spPr>
      </p:sp>
      <p:sp>
        <p:nvSpPr>
          <p:cNvPr id="16" name="Text 14"/>
          <p:cNvSpPr/>
          <p:nvPr/>
        </p:nvSpPr>
        <p:spPr>
          <a:xfrm>
            <a:off x="3319272" y="1892808"/>
            <a:ext cx="274320" cy="274320"/>
          </a:xfrm>
          <a:prstGeom prst="rect">
            <a:avLst/>
          </a:prstGeom>
          <a:noFill/>
          <a:ln/>
        </p:spPr>
        <p:txBody>
          <a:bodyPr wrap="square" lIns="0" tIns="0" rIns="0" bIns="0" rtlCol="0" anchor="ctr"/>
          <a:lstStyle/>
          <a:p>
            <a:pPr algn="ctr" indent="0" marL="0">
              <a:buNone/>
            </a:pPr>
            <a:r>
              <a:rPr lang="en-US" sz="1000" b="1" dirty="0">
                <a:solidFill>
                  <a:srgbClr val="00B294"/>
                </a:solidFill>
                <a:latin typeface="Segoe UI" pitchFamily="34" charset="0"/>
                <a:ea typeface="Segoe UI" pitchFamily="34" charset="-122"/>
                <a:cs typeface="Segoe UI" pitchFamily="34" charset="-120"/>
              </a:rPr>
              <a:t>2</a:t>
            </a:r>
            <a:endParaRPr lang="en-US" sz="1000" dirty="0"/>
          </a:p>
        </p:txBody>
      </p:sp>
      <p:sp>
        <p:nvSpPr>
          <p:cNvPr id="17" name="Text 15"/>
          <p:cNvSpPr/>
          <p:nvPr/>
        </p:nvSpPr>
        <p:spPr>
          <a:xfrm>
            <a:off x="3685032" y="1783080"/>
            <a:ext cx="2286000" cy="4572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Split logic into bite-size topics</a:t>
            </a:r>
            <a:endParaRPr lang="en-US" sz="1100" dirty="0"/>
          </a:p>
        </p:txBody>
      </p:sp>
      <p:sp>
        <p:nvSpPr>
          <p:cNvPr id="18" name="Text 16"/>
          <p:cNvSpPr/>
          <p:nvPr/>
        </p:nvSpPr>
        <p:spPr>
          <a:xfrm>
            <a:off x="3319272" y="2313432"/>
            <a:ext cx="2670048" cy="256032"/>
          </a:xfrm>
          <a:prstGeom prst="rect">
            <a:avLst/>
          </a:prstGeom>
          <a:noFill/>
          <a:ln/>
        </p:spPr>
        <p:txBody>
          <a:bodyPr wrap="square" rtlCol="0" anchor="ctr"/>
          <a:lstStyle/>
          <a:p>
            <a:pPr indent="0" marL="0">
              <a:buNone/>
            </a:pPr>
            <a:r>
              <a:rPr lang="en-US" sz="950" b="1" dirty="0">
                <a:solidFill>
                  <a:srgbClr val="00B294"/>
                </a:solidFill>
                <a:latin typeface="Segoe UI" pitchFamily="34" charset="0"/>
                <a:ea typeface="Segoe UI" pitchFamily="34" charset="-122"/>
                <a:cs typeface="Segoe UI" pitchFamily="34" charset="-120"/>
              </a:rPr>
              <a:t>One intent · One clean exit · Reusable endings</a:t>
            </a:r>
            <a:endParaRPr lang="en-US" sz="950" dirty="0"/>
          </a:p>
        </p:txBody>
      </p:sp>
      <p:sp>
        <p:nvSpPr>
          <p:cNvPr id="19" name="Text 17"/>
          <p:cNvSpPr/>
          <p:nvPr/>
        </p:nvSpPr>
        <p:spPr>
          <a:xfrm>
            <a:off x="33192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A topic that does one thing is easier to test, tune, debug, and hand off to a new team member</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Use redirects and shared endings instead of copying the same closing logic across multiple topics</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Large monolithic topics hide routing issues and make Activity traces harder to read</a:t>
            </a:r>
            <a:endParaRPr lang="en-US" sz="1000" dirty="0"/>
          </a:p>
        </p:txBody>
      </p:sp>
      <p:sp>
        <p:nvSpPr>
          <p:cNvPr id="20" name="Shape 18"/>
          <p:cNvSpPr/>
          <p:nvPr/>
        </p:nvSpPr>
        <p:spPr>
          <a:xfrm>
            <a:off x="6199632" y="1783080"/>
            <a:ext cx="2834640" cy="30632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1" name="Shape 19"/>
          <p:cNvSpPr/>
          <p:nvPr/>
        </p:nvSpPr>
        <p:spPr>
          <a:xfrm>
            <a:off x="6199632" y="1783080"/>
            <a:ext cx="2834640" cy="457200"/>
          </a:xfrm>
          <a:prstGeom prst="rect">
            <a:avLst/>
          </a:prstGeom>
          <a:solidFill>
            <a:srgbClr val="5C2D91"/>
          </a:solidFill>
          <a:ln w="12700">
            <a:solidFill>
              <a:srgbClr val="5C2D91"/>
            </a:solidFill>
            <a:prstDash val="solid"/>
          </a:ln>
        </p:spPr>
      </p:sp>
      <p:sp>
        <p:nvSpPr>
          <p:cNvPr id="22" name="Shape 20"/>
          <p:cNvSpPr/>
          <p:nvPr/>
        </p:nvSpPr>
        <p:spPr>
          <a:xfrm>
            <a:off x="6291072" y="1892808"/>
            <a:ext cx="274320" cy="274320"/>
          </a:xfrm>
          <a:prstGeom prst="ellipse">
            <a:avLst/>
          </a:prstGeom>
          <a:solidFill>
            <a:srgbClr val="FFFFFF"/>
          </a:solidFill>
          <a:ln w="12700">
            <a:solidFill>
              <a:srgbClr val="FFFFFF"/>
            </a:solidFill>
            <a:prstDash val="solid"/>
          </a:ln>
        </p:spPr>
      </p:sp>
      <p:sp>
        <p:nvSpPr>
          <p:cNvPr id="23" name="Text 21"/>
          <p:cNvSpPr/>
          <p:nvPr/>
        </p:nvSpPr>
        <p:spPr>
          <a:xfrm>
            <a:off x="6291072" y="1892808"/>
            <a:ext cx="274320" cy="274320"/>
          </a:xfrm>
          <a:prstGeom prst="rect">
            <a:avLst/>
          </a:prstGeom>
          <a:noFill/>
          <a:ln/>
        </p:spPr>
        <p:txBody>
          <a:bodyPr wrap="square" lIns="0" tIns="0" rIns="0" bIns="0" rtlCol="0" anchor="ctr"/>
          <a:lstStyle/>
          <a:p>
            <a:pPr algn="ctr" indent="0" marL="0">
              <a:buNone/>
            </a:pPr>
            <a:r>
              <a:rPr lang="en-US" sz="1000" b="1" dirty="0">
                <a:solidFill>
                  <a:srgbClr val="5C2D91"/>
                </a:solidFill>
                <a:latin typeface="Segoe UI" pitchFamily="34" charset="0"/>
                <a:ea typeface="Segoe UI" pitchFamily="34" charset="-122"/>
                <a:cs typeface="Segoe UI" pitchFamily="34" charset="-120"/>
              </a:rPr>
              <a:t>3</a:t>
            </a:r>
            <a:endParaRPr lang="en-US" sz="1000" dirty="0"/>
          </a:p>
        </p:txBody>
      </p:sp>
      <p:sp>
        <p:nvSpPr>
          <p:cNvPr id="24" name="Text 22"/>
          <p:cNvSpPr/>
          <p:nvPr/>
        </p:nvSpPr>
        <p:spPr>
          <a:xfrm>
            <a:off x="6656832" y="1783080"/>
            <a:ext cx="2286000" cy="457200"/>
          </a:xfrm>
          <a:prstGeom prst="rect">
            <a:avLst/>
          </a:prstGeom>
          <a:noFill/>
          <a:ln/>
        </p:spPr>
        <p:txBody>
          <a:bodyPr wrap="square" rtlCol="0" anchor="ctr"/>
          <a:lstStyle/>
          <a:p>
            <a:pPr indent="0" marL="0">
              <a:buNone/>
            </a:pPr>
            <a:r>
              <a:rPr lang="en-US" sz="1100" b="1" dirty="0">
                <a:solidFill>
                  <a:srgbClr val="FFFFFF"/>
                </a:solidFill>
                <a:latin typeface="Segoe UI" pitchFamily="34" charset="0"/>
                <a:ea typeface="Segoe UI" pitchFamily="34" charset="-122"/>
                <a:cs typeface="Segoe UI" pitchFamily="34" charset="-120"/>
              </a:rPr>
              <a:t>Test with realistic wording</a:t>
            </a:r>
            <a:endParaRPr lang="en-US" sz="1100" dirty="0"/>
          </a:p>
        </p:txBody>
      </p:sp>
      <p:sp>
        <p:nvSpPr>
          <p:cNvPr id="25" name="Text 23"/>
          <p:cNvSpPr/>
          <p:nvPr/>
        </p:nvSpPr>
        <p:spPr>
          <a:xfrm>
            <a:off x="6291072" y="2313432"/>
            <a:ext cx="2670048" cy="256032"/>
          </a:xfrm>
          <a:prstGeom prst="rect">
            <a:avLst/>
          </a:prstGeom>
          <a:noFill/>
          <a:ln/>
        </p:spPr>
        <p:txBody>
          <a:bodyPr wrap="square" rtlCol="0" anchor="ctr"/>
          <a:lstStyle/>
          <a:p>
            <a:pPr indent="0" marL="0">
              <a:buNone/>
            </a:pPr>
            <a:r>
              <a:rPr lang="en-US" sz="950" b="1" dirty="0">
                <a:solidFill>
                  <a:srgbClr val="5C2D91"/>
                </a:solidFill>
                <a:latin typeface="Segoe UI" pitchFamily="34" charset="0"/>
                <a:ea typeface="Segoe UI" pitchFamily="34" charset="-122"/>
                <a:cs typeface="Segoe UI" pitchFamily="34" charset="-120"/>
              </a:rPr>
              <a:t>Not idealized commands — real user language</a:t>
            </a:r>
            <a:endParaRPr lang="en-US" sz="950" dirty="0"/>
          </a:p>
        </p:txBody>
      </p:sp>
      <p:sp>
        <p:nvSpPr>
          <p:cNvPr id="26" name="Text 24"/>
          <p:cNvSpPr/>
          <p:nvPr/>
        </p:nvSpPr>
        <p:spPr>
          <a:xfrm>
            <a:off x="6291072" y="2596896"/>
            <a:ext cx="2670048" cy="2148840"/>
          </a:xfrm>
          <a:prstGeom prst="rect">
            <a:avLst/>
          </a:prstGeom>
          <a:noFill/>
          <a:ln/>
        </p:spPr>
        <p:txBody>
          <a:bodyPr wrap="square" rtlCol="0" anchor="ctr"/>
          <a:lstStyle/>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Test the trigger against realistic, natural phrasing — not the exact phrase you used to write the topic</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A small reliable topic teaches more than a large unfinished one — reach a clean done state first</a:t>
            </a:r>
            <a:endParaRPr lang="en-US" sz="1000" dirty="0"/>
          </a:p>
          <a:p>
            <a:pPr marL="342900" indent="-342900">
              <a:buSzPct val="100000"/>
              <a:buChar char="•"/>
            </a:pPr>
            <a:r>
              <a:rPr lang="en-US" sz="1000" dirty="0">
                <a:solidFill>
                  <a:srgbClr val="201F1E"/>
                </a:solidFill>
                <a:latin typeface="Segoe UI" pitchFamily="34" charset="0"/>
                <a:ea typeface="Segoe UI" pitchFamily="34" charset="-122"/>
                <a:cs typeface="Segoe UI" pitchFamily="34" charset="-120"/>
              </a:rPr>
              <a:t>Record one improvement that would make the topic easier to maintain before moving 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2F1"/>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05  ·  TOPIC DESIGN</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Bite-Size Topics in Practice</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The Available Devices flow: two focused topics connected by a routing instruction, not a monolithic topic.</a:t>
            </a:r>
            <a:endParaRPr lang="en-US" sz="1200" dirty="0"/>
          </a:p>
        </p:txBody>
      </p:sp>
      <p:sp>
        <p:nvSpPr>
          <p:cNvPr id="6" name="Shape 4"/>
          <p:cNvSpPr/>
          <p:nvPr/>
        </p:nvSpPr>
        <p:spPr>
          <a:xfrm>
            <a:off x="274320" y="1783080"/>
            <a:ext cx="2651760" cy="2651760"/>
          </a:xfrm>
          <a:prstGeom prst="rect">
            <a:avLst/>
          </a:prstGeom>
          <a:solidFill>
            <a:srgbClr val="FFFFFF"/>
          </a:solidFill>
          <a:ln w="12700">
            <a:solidFill>
              <a:srgbClr val="0078D4"/>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83080"/>
            <a:ext cx="2651760" cy="384048"/>
          </a:xfrm>
          <a:prstGeom prst="rect">
            <a:avLst/>
          </a:prstGeom>
          <a:solidFill>
            <a:srgbClr val="0078D4"/>
          </a:solidFill>
          <a:ln w="12700">
            <a:solidFill>
              <a:srgbClr val="0078D4"/>
            </a:solidFill>
            <a:prstDash val="solid"/>
          </a:ln>
        </p:spPr>
      </p:sp>
      <p:sp>
        <p:nvSpPr>
          <p:cNvPr id="8" name="Text 6"/>
          <p:cNvSpPr/>
          <p:nvPr/>
        </p:nvSpPr>
        <p:spPr>
          <a:xfrm>
            <a:off x="365760" y="1783080"/>
            <a:ext cx="2514600" cy="384048"/>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Topic: Available devices</a:t>
            </a:r>
            <a:endParaRPr lang="en-US" sz="1050" dirty="0"/>
          </a:p>
        </p:txBody>
      </p:sp>
      <p:sp>
        <p:nvSpPr>
          <p:cNvPr id="9" name="Shape 7"/>
          <p:cNvSpPr/>
          <p:nvPr/>
        </p:nvSpPr>
        <p:spPr>
          <a:xfrm>
            <a:off x="365760" y="2359152"/>
            <a:ext cx="237744" cy="237744"/>
          </a:xfrm>
          <a:prstGeom prst="ellipse">
            <a:avLst/>
          </a:prstGeom>
          <a:solidFill>
            <a:srgbClr val="0078D4"/>
          </a:solidFill>
          <a:ln w="12700">
            <a:solidFill>
              <a:srgbClr val="0078D4"/>
            </a:solidFill>
            <a:prstDash val="solid"/>
          </a:ln>
        </p:spPr>
      </p:sp>
      <p:sp>
        <p:nvSpPr>
          <p:cNvPr id="10" name="Text 8"/>
          <p:cNvSpPr/>
          <p:nvPr/>
        </p:nvSpPr>
        <p:spPr>
          <a:xfrm>
            <a:off x="365760" y="2359152"/>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a:t>
            </a:r>
            <a:endParaRPr lang="en-US" sz="800" dirty="0"/>
          </a:p>
        </p:txBody>
      </p:sp>
      <p:sp>
        <p:nvSpPr>
          <p:cNvPr id="11" name="Text 9"/>
          <p:cNvSpPr/>
          <p:nvPr/>
        </p:nvSpPr>
        <p:spPr>
          <a:xfrm>
            <a:off x="676656" y="2286000"/>
            <a:ext cx="2157984" cy="201168"/>
          </a:xfrm>
          <a:prstGeom prst="rect">
            <a:avLst/>
          </a:prstGeom>
          <a:noFill/>
          <a:ln/>
        </p:spPr>
        <p:txBody>
          <a:bodyPr wrap="square" lIns="0" tIns="0" rIns="0" bIns="0" rtlCol="0" anchor="ctr"/>
          <a:lstStyle/>
          <a:p>
            <a:pPr indent="0" marL="0">
              <a:buNone/>
            </a:pPr>
            <a:r>
              <a:rPr lang="en-US" sz="900" b="1" dirty="0">
                <a:solidFill>
                  <a:srgbClr val="0078D4"/>
                </a:solidFill>
                <a:latin typeface="Segoe UI" pitchFamily="34" charset="0"/>
                <a:ea typeface="Segoe UI" pitchFamily="34" charset="-122"/>
                <a:cs typeface="Segoe UI" pitchFamily="34" charset="-120"/>
              </a:rPr>
              <a:t>Trigger</a:t>
            </a:r>
            <a:endParaRPr lang="en-US" sz="900" dirty="0"/>
          </a:p>
        </p:txBody>
      </p:sp>
      <p:sp>
        <p:nvSpPr>
          <p:cNvPr id="12" name="Text 10"/>
          <p:cNvSpPr/>
          <p:nvPr/>
        </p:nvSpPr>
        <p:spPr>
          <a:xfrm>
            <a:off x="676656" y="2487168"/>
            <a:ext cx="2157984" cy="256032"/>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User asks about devices, laptops, or tablets</a:t>
            </a:r>
            <a:endParaRPr lang="en-US" sz="900" dirty="0"/>
          </a:p>
        </p:txBody>
      </p:sp>
      <p:sp>
        <p:nvSpPr>
          <p:cNvPr id="13" name="Shape 11"/>
          <p:cNvSpPr/>
          <p:nvPr/>
        </p:nvSpPr>
        <p:spPr>
          <a:xfrm>
            <a:off x="365760" y="2880360"/>
            <a:ext cx="237744" cy="237744"/>
          </a:xfrm>
          <a:prstGeom prst="ellipse">
            <a:avLst/>
          </a:prstGeom>
          <a:solidFill>
            <a:srgbClr val="00B294"/>
          </a:solidFill>
          <a:ln w="12700">
            <a:solidFill>
              <a:srgbClr val="00B294"/>
            </a:solidFill>
            <a:prstDash val="solid"/>
          </a:ln>
        </p:spPr>
      </p:sp>
      <p:sp>
        <p:nvSpPr>
          <p:cNvPr id="14" name="Text 12"/>
          <p:cNvSpPr/>
          <p:nvPr/>
        </p:nvSpPr>
        <p:spPr>
          <a:xfrm>
            <a:off x="365760" y="2880360"/>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M</a:t>
            </a:r>
            <a:endParaRPr lang="en-US" sz="800" dirty="0"/>
          </a:p>
        </p:txBody>
      </p:sp>
      <p:sp>
        <p:nvSpPr>
          <p:cNvPr id="15" name="Text 13"/>
          <p:cNvSpPr/>
          <p:nvPr/>
        </p:nvSpPr>
        <p:spPr>
          <a:xfrm>
            <a:off x="676656" y="2807208"/>
            <a:ext cx="2157984" cy="201168"/>
          </a:xfrm>
          <a:prstGeom prst="rect">
            <a:avLst/>
          </a:prstGeom>
          <a:noFill/>
          <a:ln/>
        </p:spPr>
        <p:txBody>
          <a:bodyPr wrap="square" lIns="0" tIns="0" rIns="0" bIns="0" rtlCol="0" anchor="ctr"/>
          <a:lstStyle/>
          <a:p>
            <a:pPr indent="0" marL="0">
              <a:buNone/>
            </a:pPr>
            <a:r>
              <a:rPr lang="en-US" sz="900" b="1" dirty="0">
                <a:solidFill>
                  <a:srgbClr val="00B294"/>
                </a:solidFill>
                <a:latin typeface="Segoe UI" pitchFamily="34" charset="0"/>
                <a:ea typeface="Segoe UI" pitchFamily="34" charset="-122"/>
                <a:cs typeface="Segoe UI" pitchFamily="34" charset="-120"/>
              </a:rPr>
              <a:t>Message</a:t>
            </a:r>
            <a:endParaRPr lang="en-US" sz="900" dirty="0"/>
          </a:p>
        </p:txBody>
      </p:sp>
      <p:sp>
        <p:nvSpPr>
          <p:cNvPr id="16" name="Text 14"/>
          <p:cNvSpPr/>
          <p:nvPr/>
        </p:nvSpPr>
        <p:spPr>
          <a:xfrm>
            <a:off x="676656" y="3008376"/>
            <a:ext cx="2157984" cy="256032"/>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I'll check available devices for you</a:t>
            </a:r>
            <a:endParaRPr lang="en-US" sz="900" dirty="0"/>
          </a:p>
        </p:txBody>
      </p:sp>
      <p:sp>
        <p:nvSpPr>
          <p:cNvPr id="17" name="Shape 15"/>
          <p:cNvSpPr/>
          <p:nvPr/>
        </p:nvSpPr>
        <p:spPr>
          <a:xfrm>
            <a:off x="365760" y="3401568"/>
            <a:ext cx="237744" cy="237744"/>
          </a:xfrm>
          <a:prstGeom prst="ellipse">
            <a:avLst/>
          </a:prstGeom>
          <a:solidFill>
            <a:srgbClr val="5C2D91"/>
          </a:solidFill>
          <a:ln w="12700">
            <a:solidFill>
              <a:srgbClr val="5C2D91"/>
            </a:solidFill>
            <a:prstDash val="solid"/>
          </a:ln>
        </p:spPr>
      </p:sp>
      <p:sp>
        <p:nvSpPr>
          <p:cNvPr id="18" name="Text 16"/>
          <p:cNvSpPr/>
          <p:nvPr/>
        </p:nvSpPr>
        <p:spPr>
          <a:xfrm>
            <a:off x="365760" y="3401568"/>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a:t>
            </a:r>
            <a:endParaRPr lang="en-US" sz="800" dirty="0"/>
          </a:p>
        </p:txBody>
      </p:sp>
      <p:sp>
        <p:nvSpPr>
          <p:cNvPr id="19" name="Text 17"/>
          <p:cNvSpPr/>
          <p:nvPr/>
        </p:nvSpPr>
        <p:spPr>
          <a:xfrm>
            <a:off x="676656" y="3328416"/>
            <a:ext cx="2157984" cy="201168"/>
          </a:xfrm>
          <a:prstGeom prst="rect">
            <a:avLst/>
          </a:prstGeom>
          <a:noFill/>
          <a:ln/>
        </p:spPr>
        <p:txBody>
          <a:bodyPr wrap="square" lIns="0" tIns="0" rIns="0" bIns="0" rtlCol="0" anchor="ctr"/>
          <a:lstStyle/>
          <a:p>
            <a:pPr indent="0" marL="0">
              <a:buNone/>
            </a:pPr>
            <a:r>
              <a:rPr lang="en-US" sz="900" b="1" dirty="0">
                <a:solidFill>
                  <a:srgbClr val="5C2D91"/>
                </a:solidFill>
                <a:latin typeface="Segoe UI" pitchFamily="34" charset="0"/>
                <a:ea typeface="Segoe UI" pitchFamily="34" charset="-122"/>
                <a:cs typeface="Segoe UI" pitchFamily="34" charset="-120"/>
              </a:rPr>
              <a:t>Action</a:t>
            </a:r>
            <a:endParaRPr lang="en-US" sz="900" dirty="0"/>
          </a:p>
        </p:txBody>
      </p:sp>
      <p:sp>
        <p:nvSpPr>
          <p:cNvPr id="20" name="Text 18"/>
          <p:cNvSpPr/>
          <p:nvPr/>
        </p:nvSpPr>
        <p:spPr>
          <a:xfrm>
            <a:off x="676656" y="3529584"/>
            <a:ext cx="2157984" cy="256032"/>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Get items — SharePoint Devices list filtered Status = "Available"</a:t>
            </a:r>
            <a:endParaRPr lang="en-US" sz="900" dirty="0"/>
          </a:p>
        </p:txBody>
      </p:sp>
      <p:sp>
        <p:nvSpPr>
          <p:cNvPr id="21" name="Shape 19"/>
          <p:cNvSpPr/>
          <p:nvPr/>
        </p:nvSpPr>
        <p:spPr>
          <a:xfrm>
            <a:off x="365760" y="3922776"/>
            <a:ext cx="237744" cy="237744"/>
          </a:xfrm>
          <a:prstGeom prst="ellipse">
            <a:avLst/>
          </a:prstGeom>
          <a:solidFill>
            <a:srgbClr val="D47900"/>
          </a:solidFill>
          <a:ln w="12700">
            <a:solidFill>
              <a:srgbClr val="D47900"/>
            </a:solidFill>
            <a:prstDash val="solid"/>
          </a:ln>
        </p:spPr>
      </p:sp>
      <p:sp>
        <p:nvSpPr>
          <p:cNvPr id="22" name="Text 20"/>
          <p:cNvSpPr/>
          <p:nvPr/>
        </p:nvSpPr>
        <p:spPr>
          <a:xfrm>
            <a:off x="365760" y="3922776"/>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Q</a:t>
            </a:r>
            <a:endParaRPr lang="en-US" sz="800" dirty="0"/>
          </a:p>
        </p:txBody>
      </p:sp>
      <p:sp>
        <p:nvSpPr>
          <p:cNvPr id="23" name="Text 21"/>
          <p:cNvSpPr/>
          <p:nvPr/>
        </p:nvSpPr>
        <p:spPr>
          <a:xfrm>
            <a:off x="676656" y="3849624"/>
            <a:ext cx="2157984" cy="201168"/>
          </a:xfrm>
          <a:prstGeom prst="rect">
            <a:avLst/>
          </a:prstGeom>
          <a:noFill/>
          <a:ln/>
        </p:spPr>
        <p:txBody>
          <a:bodyPr wrap="square" lIns="0" tIns="0" rIns="0" bIns="0" rtlCol="0" anchor="ctr"/>
          <a:lstStyle/>
          <a:p>
            <a:pPr indent="0" marL="0">
              <a:buNone/>
            </a:pPr>
            <a:r>
              <a:rPr lang="en-US" sz="900" b="1" dirty="0">
                <a:solidFill>
                  <a:srgbClr val="D47900"/>
                </a:solidFill>
                <a:latin typeface="Segoe UI" pitchFamily="34" charset="0"/>
                <a:ea typeface="Segoe UI" pitchFamily="34" charset="-122"/>
                <a:cs typeface="Segoe UI" pitchFamily="34" charset="-120"/>
              </a:rPr>
              <a:t>Question</a:t>
            </a:r>
            <a:endParaRPr lang="en-US" sz="900" dirty="0"/>
          </a:p>
        </p:txBody>
      </p:sp>
      <p:sp>
        <p:nvSpPr>
          <p:cNvPr id="24" name="Text 22"/>
          <p:cNvSpPr/>
          <p:nvPr/>
        </p:nvSpPr>
        <p:spPr>
          <a:xfrm>
            <a:off x="676656" y="4050792"/>
            <a:ext cx="2157984" cy="256032"/>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Would you like to request one of these devices?</a:t>
            </a:r>
            <a:endParaRPr lang="en-US" sz="900" dirty="0"/>
          </a:p>
        </p:txBody>
      </p:sp>
      <p:sp>
        <p:nvSpPr>
          <p:cNvPr id="25" name="Shape 23"/>
          <p:cNvSpPr/>
          <p:nvPr/>
        </p:nvSpPr>
        <p:spPr>
          <a:xfrm>
            <a:off x="3035808" y="2926080"/>
            <a:ext cx="384048" cy="0"/>
          </a:xfrm>
          <a:prstGeom prst="line">
            <a:avLst/>
          </a:prstGeom>
          <a:noFill/>
          <a:ln w="25400">
            <a:solidFill>
              <a:srgbClr val="0078D4"/>
            </a:solidFill>
            <a:prstDash val="solid"/>
          </a:ln>
        </p:spPr>
      </p:sp>
      <p:sp>
        <p:nvSpPr>
          <p:cNvPr id="26" name="Text 24"/>
          <p:cNvSpPr/>
          <p:nvPr/>
        </p:nvSpPr>
        <p:spPr>
          <a:xfrm>
            <a:off x="2999232" y="2670048"/>
            <a:ext cx="530352" cy="475488"/>
          </a:xfrm>
          <a:prstGeom prst="rect">
            <a:avLst/>
          </a:prstGeom>
          <a:noFill/>
          <a:ln/>
        </p:spPr>
        <p:txBody>
          <a:bodyPr wrap="square" rtlCol="0" anchor="ctr"/>
          <a:lstStyle/>
          <a:p>
            <a:pPr algn="ctr" indent="0" marL="0">
              <a:buNone/>
            </a:pPr>
            <a:r>
              <a:rPr lang="en-US" sz="800" dirty="0">
                <a:solidFill>
                  <a:srgbClr val="0078D4"/>
                </a:solidFill>
                <a:latin typeface="Segoe UI" pitchFamily="34" charset="0"/>
                <a:ea typeface="Segoe UI" pitchFamily="34" charset="-122"/>
                <a:cs typeface="Segoe UI" pitchFamily="34" charset="-120"/>
              </a:rPr>
              <a:t>Yes →</a:t>
            </a:r>
            <a:endParaRPr lang="en-US" sz="800" dirty="0"/>
          </a:p>
          <a:p>
            <a:pPr algn="ctr" indent="0" marL="0">
              <a:buNone/>
            </a:pPr>
            <a:r>
              <a:rPr lang="en-US" sz="800" dirty="0">
                <a:solidFill>
                  <a:srgbClr val="0078D4"/>
                </a:solidFill>
                <a:latin typeface="Segoe UI" pitchFamily="34" charset="0"/>
                <a:ea typeface="Segoe UI" pitchFamily="34" charset="-122"/>
                <a:cs typeface="Segoe UI" pitchFamily="34" charset="-120"/>
              </a:rPr>
              <a:t>routes to</a:t>
            </a:r>
            <a:endParaRPr lang="en-US" sz="800" dirty="0"/>
          </a:p>
        </p:txBody>
      </p:sp>
      <p:sp>
        <p:nvSpPr>
          <p:cNvPr id="27" name="Shape 25"/>
          <p:cNvSpPr/>
          <p:nvPr/>
        </p:nvSpPr>
        <p:spPr>
          <a:xfrm>
            <a:off x="3438144" y="1783080"/>
            <a:ext cx="2651760" cy="2651760"/>
          </a:xfrm>
          <a:prstGeom prst="rect">
            <a:avLst/>
          </a:prstGeom>
          <a:solidFill>
            <a:srgbClr val="FFFFFF"/>
          </a:solidFill>
          <a:ln w="12700">
            <a:solidFill>
              <a:srgbClr val="5C2D91"/>
            </a:solidFill>
            <a:prstDash val="solid"/>
          </a:ln>
          <a:effectLst>
            <a:outerShdw sx="100000" sy="100000" kx="0" ky="0" algn="bl" rotWithShape="0" blurRad="101600" dist="25400" dir="8100000">
              <a:srgbClr val="000000">
                <a:alpha val="10000"/>
              </a:srgbClr>
            </a:outerShdw>
          </a:effectLst>
        </p:spPr>
      </p:sp>
      <p:sp>
        <p:nvSpPr>
          <p:cNvPr id="28" name="Shape 26"/>
          <p:cNvSpPr/>
          <p:nvPr/>
        </p:nvSpPr>
        <p:spPr>
          <a:xfrm>
            <a:off x="3438144" y="1783080"/>
            <a:ext cx="2651760" cy="384048"/>
          </a:xfrm>
          <a:prstGeom prst="rect">
            <a:avLst/>
          </a:prstGeom>
          <a:solidFill>
            <a:srgbClr val="5C2D91"/>
          </a:solidFill>
          <a:ln w="12700">
            <a:solidFill>
              <a:srgbClr val="5C2D91"/>
            </a:solidFill>
            <a:prstDash val="solid"/>
          </a:ln>
        </p:spPr>
      </p:sp>
      <p:sp>
        <p:nvSpPr>
          <p:cNvPr id="29" name="Text 27"/>
          <p:cNvSpPr/>
          <p:nvPr/>
        </p:nvSpPr>
        <p:spPr>
          <a:xfrm>
            <a:off x="3529584" y="1783080"/>
            <a:ext cx="2514600" cy="384048"/>
          </a:xfrm>
          <a:prstGeom prst="rect">
            <a:avLst/>
          </a:prstGeom>
          <a:noFill/>
          <a:ln/>
        </p:spPr>
        <p:txBody>
          <a:bodyPr wrap="square" rtlCol="0" anchor="ctr"/>
          <a:lstStyle/>
          <a:p>
            <a:pPr indent="0" marL="0">
              <a:buNone/>
            </a:pPr>
            <a:r>
              <a:rPr lang="en-US" sz="1050" b="1" dirty="0">
                <a:solidFill>
                  <a:srgbClr val="FFFFFF"/>
                </a:solidFill>
                <a:latin typeface="Segoe UI" pitchFamily="34" charset="0"/>
                <a:ea typeface="Segoe UI" pitchFamily="34" charset="-122"/>
                <a:cs typeface="Segoe UI" pitchFamily="34" charset="-120"/>
              </a:rPr>
              <a:t>Topic: Request device</a:t>
            </a:r>
            <a:endParaRPr lang="en-US" sz="1050" dirty="0"/>
          </a:p>
        </p:txBody>
      </p:sp>
      <p:sp>
        <p:nvSpPr>
          <p:cNvPr id="30" name="Shape 28"/>
          <p:cNvSpPr/>
          <p:nvPr/>
        </p:nvSpPr>
        <p:spPr>
          <a:xfrm>
            <a:off x="3529584" y="2359152"/>
            <a:ext cx="237744" cy="237744"/>
          </a:xfrm>
          <a:prstGeom prst="ellipse">
            <a:avLst/>
          </a:prstGeom>
          <a:solidFill>
            <a:srgbClr val="5C2D91"/>
          </a:solidFill>
          <a:ln w="12700">
            <a:solidFill>
              <a:srgbClr val="5C2D91"/>
            </a:solidFill>
            <a:prstDash val="solid"/>
          </a:ln>
        </p:spPr>
      </p:sp>
      <p:sp>
        <p:nvSpPr>
          <p:cNvPr id="31" name="Text 29"/>
          <p:cNvSpPr/>
          <p:nvPr/>
        </p:nvSpPr>
        <p:spPr>
          <a:xfrm>
            <a:off x="3529584" y="2359152"/>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C</a:t>
            </a:r>
            <a:endParaRPr lang="en-US" sz="800" dirty="0"/>
          </a:p>
        </p:txBody>
      </p:sp>
      <p:sp>
        <p:nvSpPr>
          <p:cNvPr id="32" name="Text 30"/>
          <p:cNvSpPr/>
          <p:nvPr/>
        </p:nvSpPr>
        <p:spPr>
          <a:xfrm>
            <a:off x="3840480" y="2286000"/>
            <a:ext cx="2157984" cy="201168"/>
          </a:xfrm>
          <a:prstGeom prst="rect">
            <a:avLst/>
          </a:prstGeom>
          <a:noFill/>
          <a:ln/>
        </p:spPr>
        <p:txBody>
          <a:bodyPr wrap="square" lIns="0" tIns="0" rIns="0" bIns="0" rtlCol="0" anchor="ctr"/>
          <a:lstStyle/>
          <a:p>
            <a:pPr indent="0" marL="0">
              <a:buNone/>
            </a:pPr>
            <a:r>
              <a:rPr lang="en-US" sz="900" b="1" dirty="0">
                <a:solidFill>
                  <a:srgbClr val="5C2D91"/>
                </a:solidFill>
                <a:latin typeface="Segoe UI" pitchFamily="34" charset="0"/>
                <a:ea typeface="Segoe UI" pitchFamily="34" charset="-122"/>
                <a:cs typeface="Segoe UI" pitchFamily="34" charset="-120"/>
              </a:rPr>
              <a:t>Card</a:t>
            </a:r>
            <a:endParaRPr lang="en-US" sz="900" dirty="0"/>
          </a:p>
        </p:txBody>
      </p:sp>
      <p:sp>
        <p:nvSpPr>
          <p:cNvPr id="33" name="Text 31"/>
          <p:cNvSpPr/>
          <p:nvPr/>
        </p:nvSpPr>
        <p:spPr>
          <a:xfrm>
            <a:off x="3840480" y="2487168"/>
            <a:ext cx="2157984" cy="347472"/>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Adaptive Card — Choose device, manager email, comments</a:t>
            </a:r>
            <a:endParaRPr lang="en-US" sz="900" dirty="0"/>
          </a:p>
        </p:txBody>
      </p:sp>
      <p:sp>
        <p:nvSpPr>
          <p:cNvPr id="34" name="Shape 32"/>
          <p:cNvSpPr/>
          <p:nvPr/>
        </p:nvSpPr>
        <p:spPr>
          <a:xfrm>
            <a:off x="3529584" y="2999232"/>
            <a:ext cx="237744" cy="237744"/>
          </a:xfrm>
          <a:prstGeom prst="ellipse">
            <a:avLst/>
          </a:prstGeom>
          <a:solidFill>
            <a:srgbClr val="00B294"/>
          </a:solidFill>
          <a:ln w="12700">
            <a:solidFill>
              <a:srgbClr val="00B294"/>
            </a:solidFill>
            <a:prstDash val="solid"/>
          </a:ln>
        </p:spPr>
      </p:sp>
      <p:sp>
        <p:nvSpPr>
          <p:cNvPr id="35" name="Text 33"/>
          <p:cNvSpPr/>
          <p:nvPr/>
        </p:nvSpPr>
        <p:spPr>
          <a:xfrm>
            <a:off x="3529584" y="2999232"/>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V</a:t>
            </a:r>
            <a:endParaRPr lang="en-US" sz="800" dirty="0"/>
          </a:p>
        </p:txBody>
      </p:sp>
      <p:sp>
        <p:nvSpPr>
          <p:cNvPr id="36" name="Text 34"/>
          <p:cNvSpPr/>
          <p:nvPr/>
        </p:nvSpPr>
        <p:spPr>
          <a:xfrm>
            <a:off x="3840480" y="2926080"/>
            <a:ext cx="2157984" cy="201168"/>
          </a:xfrm>
          <a:prstGeom prst="rect">
            <a:avLst/>
          </a:prstGeom>
          <a:noFill/>
          <a:ln/>
        </p:spPr>
        <p:txBody>
          <a:bodyPr wrap="square" lIns="0" tIns="0" rIns="0" bIns="0" rtlCol="0" anchor="ctr"/>
          <a:lstStyle/>
          <a:p>
            <a:pPr indent="0" marL="0">
              <a:buNone/>
            </a:pPr>
            <a:r>
              <a:rPr lang="en-US" sz="900" b="1" dirty="0">
                <a:solidFill>
                  <a:srgbClr val="00B294"/>
                </a:solidFill>
                <a:latin typeface="Segoe UI" pitchFamily="34" charset="0"/>
                <a:ea typeface="Segoe UI" pitchFamily="34" charset="-122"/>
                <a:cs typeface="Segoe UI" pitchFamily="34" charset="-120"/>
              </a:rPr>
              <a:t>Capture</a:t>
            </a:r>
            <a:endParaRPr lang="en-US" sz="900" dirty="0"/>
          </a:p>
        </p:txBody>
      </p:sp>
      <p:sp>
        <p:nvSpPr>
          <p:cNvPr id="37" name="Text 35"/>
          <p:cNvSpPr/>
          <p:nvPr/>
        </p:nvSpPr>
        <p:spPr>
          <a:xfrm>
            <a:off x="3840480" y="3127248"/>
            <a:ext cx="2157984" cy="347472"/>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Output vars: deviceSelectionId, managerEmailId, commentsId</a:t>
            </a:r>
            <a:endParaRPr lang="en-US" sz="900" dirty="0"/>
          </a:p>
        </p:txBody>
      </p:sp>
      <p:sp>
        <p:nvSpPr>
          <p:cNvPr id="38" name="Shape 36"/>
          <p:cNvSpPr/>
          <p:nvPr/>
        </p:nvSpPr>
        <p:spPr>
          <a:xfrm>
            <a:off x="3529584" y="3639312"/>
            <a:ext cx="237744" cy="237744"/>
          </a:xfrm>
          <a:prstGeom prst="ellipse">
            <a:avLst/>
          </a:prstGeom>
          <a:solidFill>
            <a:srgbClr val="D47900"/>
          </a:solidFill>
          <a:ln w="12700">
            <a:solidFill>
              <a:srgbClr val="D47900"/>
            </a:solidFill>
            <a:prstDash val="solid"/>
          </a:ln>
        </p:spPr>
      </p:sp>
      <p:sp>
        <p:nvSpPr>
          <p:cNvPr id="39" name="Text 37"/>
          <p:cNvSpPr/>
          <p:nvPr/>
        </p:nvSpPr>
        <p:spPr>
          <a:xfrm>
            <a:off x="3529584" y="3639312"/>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F</a:t>
            </a:r>
            <a:endParaRPr lang="en-US" sz="800" dirty="0"/>
          </a:p>
        </p:txBody>
      </p:sp>
      <p:sp>
        <p:nvSpPr>
          <p:cNvPr id="40" name="Text 38"/>
          <p:cNvSpPr/>
          <p:nvPr/>
        </p:nvSpPr>
        <p:spPr>
          <a:xfrm>
            <a:off x="3840480" y="3566160"/>
            <a:ext cx="2157984" cy="201168"/>
          </a:xfrm>
          <a:prstGeom prst="rect">
            <a:avLst/>
          </a:prstGeom>
          <a:noFill/>
          <a:ln/>
        </p:spPr>
        <p:txBody>
          <a:bodyPr wrap="square" lIns="0" tIns="0" rIns="0" bIns="0" rtlCol="0" anchor="ctr"/>
          <a:lstStyle/>
          <a:p>
            <a:pPr indent="0" marL="0">
              <a:buNone/>
            </a:pPr>
            <a:r>
              <a:rPr lang="en-US" sz="900" b="1" dirty="0">
                <a:solidFill>
                  <a:srgbClr val="D47900"/>
                </a:solidFill>
                <a:latin typeface="Segoe UI" pitchFamily="34" charset="0"/>
                <a:ea typeface="Segoe UI" pitchFamily="34" charset="-122"/>
                <a:cs typeface="Segoe UI" pitchFamily="34" charset="-120"/>
              </a:rPr>
              <a:t>Forward</a:t>
            </a:r>
            <a:endParaRPr lang="en-US" sz="900" dirty="0"/>
          </a:p>
        </p:txBody>
      </p:sp>
      <p:sp>
        <p:nvSpPr>
          <p:cNvPr id="41" name="Text 39"/>
          <p:cNvSpPr/>
          <p:nvPr/>
        </p:nvSpPr>
        <p:spPr>
          <a:xfrm>
            <a:off x="3840480" y="3767328"/>
            <a:ext cx="2157984" cy="347472"/>
          </a:xfrm>
          <a:prstGeom prst="rect">
            <a:avLst/>
          </a:prstGeom>
          <a:noFill/>
          <a:ln/>
        </p:spPr>
        <p:txBody>
          <a:bodyPr wrap="square" lIns="0" tIns="0" rIns="0" bIns="0" rtlCol="0" anchor="ctr"/>
          <a:lstStyle/>
          <a:p>
            <a:pPr indent="0" marL="0">
              <a:buNone/>
            </a:pPr>
            <a:r>
              <a:rPr lang="en-US" sz="900" dirty="0">
                <a:solidFill>
                  <a:srgbClr val="201F1E"/>
                </a:solidFill>
                <a:latin typeface="Segoe UI" pitchFamily="34" charset="0"/>
                <a:ea typeface="Segoe UI" pitchFamily="34" charset="-122"/>
                <a:cs typeface="Segoe UI" pitchFamily="34" charset="-120"/>
              </a:rPr>
              <a:t>Outputs ready for Lab 09 flow automation</a:t>
            </a:r>
            <a:endParaRPr lang="en-US" sz="900" dirty="0"/>
          </a:p>
        </p:txBody>
      </p:sp>
      <p:sp>
        <p:nvSpPr>
          <p:cNvPr id="42" name="Shape 40"/>
          <p:cNvSpPr/>
          <p:nvPr/>
        </p:nvSpPr>
        <p:spPr>
          <a:xfrm>
            <a:off x="6199632" y="1783080"/>
            <a:ext cx="2670048" cy="2651760"/>
          </a:xfrm>
          <a:prstGeom prst="rect">
            <a:avLst/>
          </a:prstGeom>
          <a:solidFill>
            <a:srgbClr val="EFF6FC"/>
          </a:solidFill>
          <a:ln w="12700">
            <a:solidFill>
              <a:srgbClr val="C7E0F4"/>
            </a:solidFill>
            <a:prstDash val="solid"/>
          </a:ln>
        </p:spPr>
      </p:sp>
      <p:sp>
        <p:nvSpPr>
          <p:cNvPr id="43" name="Text 41"/>
          <p:cNvSpPr/>
          <p:nvPr/>
        </p:nvSpPr>
        <p:spPr>
          <a:xfrm>
            <a:off x="6291072" y="1874520"/>
            <a:ext cx="2532888" cy="274320"/>
          </a:xfrm>
          <a:prstGeom prst="rect">
            <a:avLst/>
          </a:prstGeom>
          <a:noFill/>
          <a:ln/>
        </p:spPr>
        <p:txBody>
          <a:bodyPr wrap="square" rtlCol="0" anchor="ctr"/>
          <a:lstStyle/>
          <a:p>
            <a:pPr indent="0" marL="0">
              <a:buNone/>
            </a:pPr>
            <a:r>
              <a:rPr lang="en-US" sz="1050" b="1" dirty="0">
                <a:solidFill>
                  <a:srgbClr val="0078D4"/>
                </a:solidFill>
                <a:latin typeface="Segoe UI" pitchFamily="34" charset="0"/>
                <a:ea typeface="Segoe UI" pitchFamily="34" charset="-122"/>
                <a:cs typeface="Segoe UI" pitchFamily="34" charset="-120"/>
              </a:rPr>
              <a:t>Why two topics?</a:t>
            </a:r>
            <a:endParaRPr lang="en-US" sz="1050" dirty="0"/>
          </a:p>
        </p:txBody>
      </p:sp>
      <p:sp>
        <p:nvSpPr>
          <p:cNvPr id="44" name="Text 42"/>
          <p:cNvSpPr/>
          <p:nvPr/>
        </p:nvSpPr>
        <p:spPr>
          <a:xfrm>
            <a:off x="6291072" y="2194560"/>
            <a:ext cx="2532888" cy="2148840"/>
          </a:xfrm>
          <a:prstGeom prst="rect">
            <a:avLst/>
          </a:prstGeom>
          <a:noFill/>
          <a:ln/>
        </p:spPr>
        <p:txBody>
          <a:bodyPr wrap="square" rtlCol="0" anchor="ctr"/>
          <a:lstStyle/>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Each topic does one thing — easier to test and tune independently</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Global.VarDevices flows from Topic 1 into Topic 2 without coupling the logic</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Either topic can be updated without touching the other</a:t>
            </a:r>
            <a:endParaRPr lang="en-US" sz="950" dirty="0"/>
          </a:p>
          <a:p>
            <a:pPr marL="342900" indent="-342900">
              <a:buSzPct val="100000"/>
              <a:buChar char="•"/>
            </a:pPr>
            <a:r>
              <a:rPr lang="en-US" sz="950" dirty="0">
                <a:solidFill>
                  <a:srgbClr val="201F1E"/>
                </a:solidFill>
                <a:latin typeface="Segoe UI" pitchFamily="34" charset="0"/>
                <a:ea typeface="Segoe UI" pitchFamily="34" charset="-122"/>
                <a:cs typeface="Segoe UI" pitchFamily="34" charset="-120"/>
              </a:rPr>
              <a:t>Activity traces show exactly which topic handled which turn</a:t>
            </a:r>
            <a:endParaRPr lang="en-US" sz="950" dirty="0"/>
          </a:p>
        </p:txBody>
      </p:sp>
      <p:sp>
        <p:nvSpPr>
          <p:cNvPr id="45" name="Shape 43"/>
          <p:cNvSpPr/>
          <p:nvPr/>
        </p:nvSpPr>
        <p:spPr>
          <a:xfrm>
            <a:off x="274320" y="4681728"/>
            <a:ext cx="8595360" cy="320040"/>
          </a:xfrm>
          <a:prstGeom prst="rect">
            <a:avLst/>
          </a:prstGeom>
          <a:solidFill>
            <a:srgbClr val="EFF6FC"/>
          </a:solidFill>
          <a:ln w="12700">
            <a:solidFill>
              <a:srgbClr val="C7E0F4"/>
            </a:solidFill>
            <a:prstDash val="solid"/>
          </a:ln>
        </p:spPr>
      </p:sp>
      <p:sp>
        <p:nvSpPr>
          <p:cNvPr id="46" name="Text 44"/>
          <p:cNvSpPr/>
          <p:nvPr/>
        </p:nvSpPr>
        <p:spPr>
          <a:xfrm>
            <a:off x="438912" y="4681728"/>
            <a:ext cx="8449056"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Lab 08 adds the Adaptive Card to Topic 2 — replacing the placeholder outputs with a dynamic device-selection form.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07</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Topics and Triggers</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the Available devices topic with input variable VarDeviceType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a message node, then a Get available devices SharePoint action (Status = Available)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Store results in Global.VarDevices and add a yes/no follow-up question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a routing instruction to the agent overview</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with realistic phrasing — confirm device list returns and yes/no fires</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60</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Build one clean path</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before adding branches</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05  ·  LAB 07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07: Topics and Triggers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Clarity scales — a small reliable topic teaches more than a large unfinished one.</a:t>
            </a:r>
            <a:endParaRPr lang="en-US" sz="1200" dirty="0"/>
          </a:p>
        </p:txBody>
      </p:sp>
      <p:sp>
        <p:nvSpPr>
          <p:cNvPr id="6" name="Shape 4"/>
          <p:cNvSpPr/>
          <p:nvPr/>
        </p:nvSpPr>
        <p:spPr>
          <a:xfrm>
            <a:off x="320040" y="1801368"/>
            <a:ext cx="8503920" cy="448056"/>
          </a:xfrm>
          <a:prstGeom prst="rect">
            <a:avLst/>
          </a:prstGeom>
          <a:solidFill>
            <a:srgbClr val="F3F2F1"/>
          </a:solidFill>
          <a:ln w="12700">
            <a:solidFill>
              <a:srgbClr val="E1DFDD"/>
            </a:solidFill>
            <a:prstDash val="solid"/>
          </a:ln>
        </p:spPr>
      </p:sp>
      <p:sp>
        <p:nvSpPr>
          <p:cNvPr id="7" name="Shape 5"/>
          <p:cNvSpPr/>
          <p:nvPr/>
        </p:nvSpPr>
        <p:spPr>
          <a:xfrm>
            <a:off x="457200" y="1883664"/>
            <a:ext cx="914400" cy="274320"/>
          </a:xfrm>
          <a:prstGeom prst="rect">
            <a:avLst/>
          </a:prstGeom>
          <a:solidFill>
            <a:srgbClr val="0078D4"/>
          </a:solidFill>
          <a:ln w="12700">
            <a:solidFill>
              <a:srgbClr val="0078D4"/>
            </a:solidFill>
            <a:prstDash val="solid"/>
          </a:ln>
        </p:spPr>
      </p:sp>
      <p:sp>
        <p:nvSpPr>
          <p:cNvPr id="8" name="Text 6"/>
          <p:cNvSpPr/>
          <p:nvPr/>
        </p:nvSpPr>
        <p:spPr>
          <a:xfrm>
            <a:off x="457200" y="1883664"/>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Topic</a:t>
            </a:r>
            <a:endParaRPr lang="en-US" sz="800" dirty="0"/>
          </a:p>
        </p:txBody>
      </p:sp>
      <p:sp>
        <p:nvSpPr>
          <p:cNvPr id="9" name="Text 7"/>
          <p:cNvSpPr/>
          <p:nvPr/>
        </p:nvSpPr>
        <p:spPr>
          <a:xfrm>
            <a:off x="1481328" y="1883664"/>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Topics list includes Available devices with a clear description</a:t>
            </a:r>
            <a:endParaRPr lang="en-US" sz="1100" dirty="0"/>
          </a:p>
        </p:txBody>
      </p:sp>
      <p:sp>
        <p:nvSpPr>
          <p:cNvPr id="10" name="Shape 8"/>
          <p:cNvSpPr/>
          <p:nvPr/>
        </p:nvSpPr>
        <p:spPr>
          <a:xfrm>
            <a:off x="320040" y="2286000"/>
            <a:ext cx="8503920" cy="448056"/>
          </a:xfrm>
          <a:prstGeom prst="rect">
            <a:avLst/>
          </a:prstGeom>
          <a:solidFill>
            <a:srgbClr val="FFFFFF"/>
          </a:solidFill>
          <a:ln w="12700">
            <a:solidFill>
              <a:srgbClr val="E1DFDD"/>
            </a:solidFill>
            <a:prstDash val="solid"/>
          </a:ln>
        </p:spPr>
      </p:sp>
      <p:sp>
        <p:nvSpPr>
          <p:cNvPr id="11" name="Shape 9"/>
          <p:cNvSpPr/>
          <p:nvPr/>
        </p:nvSpPr>
        <p:spPr>
          <a:xfrm>
            <a:off x="457200" y="2368296"/>
            <a:ext cx="914400" cy="274320"/>
          </a:xfrm>
          <a:prstGeom prst="rect">
            <a:avLst/>
          </a:prstGeom>
          <a:solidFill>
            <a:srgbClr val="00B294"/>
          </a:solidFill>
          <a:ln w="12700">
            <a:solidFill>
              <a:srgbClr val="00B294"/>
            </a:solidFill>
            <a:prstDash val="solid"/>
          </a:ln>
        </p:spPr>
      </p:sp>
      <p:sp>
        <p:nvSpPr>
          <p:cNvPr id="12" name="Text 10"/>
          <p:cNvSpPr/>
          <p:nvPr/>
        </p:nvSpPr>
        <p:spPr>
          <a:xfrm>
            <a:off x="457200" y="2368296"/>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Variable</a:t>
            </a:r>
            <a:endParaRPr lang="en-US" sz="800" dirty="0"/>
          </a:p>
        </p:txBody>
      </p:sp>
      <p:sp>
        <p:nvSpPr>
          <p:cNvPr id="13" name="Text 11"/>
          <p:cNvSpPr/>
          <p:nvPr/>
        </p:nvSpPr>
        <p:spPr>
          <a:xfrm>
            <a:off x="1481328" y="2368296"/>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Topic input VarDeviceType exists in the topic details pane</a:t>
            </a:r>
            <a:endParaRPr lang="en-US" sz="1100" dirty="0"/>
          </a:p>
        </p:txBody>
      </p:sp>
      <p:sp>
        <p:nvSpPr>
          <p:cNvPr id="14" name="Shape 12"/>
          <p:cNvSpPr/>
          <p:nvPr/>
        </p:nvSpPr>
        <p:spPr>
          <a:xfrm>
            <a:off x="320040" y="2770632"/>
            <a:ext cx="8503920" cy="448056"/>
          </a:xfrm>
          <a:prstGeom prst="rect">
            <a:avLst/>
          </a:prstGeom>
          <a:solidFill>
            <a:srgbClr val="F3F2F1"/>
          </a:solidFill>
          <a:ln w="12700">
            <a:solidFill>
              <a:srgbClr val="E1DFDD"/>
            </a:solidFill>
            <a:prstDash val="solid"/>
          </a:ln>
        </p:spPr>
      </p:sp>
      <p:sp>
        <p:nvSpPr>
          <p:cNvPr id="15" name="Shape 13"/>
          <p:cNvSpPr/>
          <p:nvPr/>
        </p:nvSpPr>
        <p:spPr>
          <a:xfrm>
            <a:off x="457200" y="2852928"/>
            <a:ext cx="914400" cy="274320"/>
          </a:xfrm>
          <a:prstGeom prst="rect">
            <a:avLst/>
          </a:prstGeom>
          <a:solidFill>
            <a:srgbClr val="5C2D91"/>
          </a:solidFill>
          <a:ln w="12700">
            <a:solidFill>
              <a:srgbClr val="5C2D91"/>
            </a:solidFill>
            <a:prstDash val="solid"/>
          </a:ln>
        </p:spPr>
      </p:sp>
      <p:sp>
        <p:nvSpPr>
          <p:cNvPr id="16" name="Text 14"/>
          <p:cNvSpPr/>
          <p:nvPr/>
        </p:nvSpPr>
        <p:spPr>
          <a:xfrm>
            <a:off x="457200" y="2852928"/>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Action</a:t>
            </a:r>
            <a:endParaRPr lang="en-US" sz="800" dirty="0"/>
          </a:p>
        </p:txBody>
      </p:sp>
      <p:sp>
        <p:nvSpPr>
          <p:cNvPr id="17" name="Text 15"/>
          <p:cNvSpPr/>
          <p:nvPr/>
        </p:nvSpPr>
        <p:spPr>
          <a:xfrm>
            <a:off x="1481328" y="2852928"/>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Get available devices SharePoint action filters Status = Available</a:t>
            </a:r>
            <a:endParaRPr lang="en-US" sz="1100" dirty="0"/>
          </a:p>
        </p:txBody>
      </p:sp>
      <p:sp>
        <p:nvSpPr>
          <p:cNvPr id="18" name="Shape 16"/>
          <p:cNvSpPr/>
          <p:nvPr/>
        </p:nvSpPr>
        <p:spPr>
          <a:xfrm>
            <a:off x="320040" y="3255264"/>
            <a:ext cx="8503920" cy="448056"/>
          </a:xfrm>
          <a:prstGeom prst="rect">
            <a:avLst/>
          </a:prstGeom>
          <a:solidFill>
            <a:srgbClr val="FFFFFF"/>
          </a:solidFill>
          <a:ln w="12700">
            <a:solidFill>
              <a:srgbClr val="E1DFDD"/>
            </a:solidFill>
            <a:prstDash val="solid"/>
          </a:ln>
        </p:spPr>
      </p:sp>
      <p:sp>
        <p:nvSpPr>
          <p:cNvPr id="19" name="Shape 17"/>
          <p:cNvSpPr/>
          <p:nvPr/>
        </p:nvSpPr>
        <p:spPr>
          <a:xfrm>
            <a:off x="457200" y="3337560"/>
            <a:ext cx="914400" cy="274320"/>
          </a:xfrm>
          <a:prstGeom prst="rect">
            <a:avLst/>
          </a:prstGeom>
          <a:solidFill>
            <a:srgbClr val="D47900"/>
          </a:solidFill>
          <a:ln w="12700">
            <a:solidFill>
              <a:srgbClr val="D47900"/>
            </a:solidFill>
            <a:prstDash val="solid"/>
          </a:ln>
        </p:spPr>
      </p:sp>
      <p:sp>
        <p:nvSpPr>
          <p:cNvPr id="20" name="Text 18"/>
          <p:cNvSpPr/>
          <p:nvPr/>
        </p:nvSpPr>
        <p:spPr>
          <a:xfrm>
            <a:off x="457200" y="3337560"/>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Data</a:t>
            </a:r>
            <a:endParaRPr lang="en-US" sz="800" dirty="0"/>
          </a:p>
        </p:txBody>
      </p:sp>
      <p:sp>
        <p:nvSpPr>
          <p:cNvPr id="21" name="Text 19"/>
          <p:cNvSpPr/>
          <p:nvPr/>
        </p:nvSpPr>
        <p:spPr>
          <a:xfrm>
            <a:off x="1481328" y="3337560"/>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Global.VarDevices is populated and test returns at least 3 device records</a:t>
            </a:r>
            <a:endParaRPr lang="en-US" sz="1100" dirty="0"/>
          </a:p>
        </p:txBody>
      </p:sp>
      <p:sp>
        <p:nvSpPr>
          <p:cNvPr id="22" name="Shape 20"/>
          <p:cNvSpPr/>
          <p:nvPr/>
        </p:nvSpPr>
        <p:spPr>
          <a:xfrm>
            <a:off x="320040" y="3739896"/>
            <a:ext cx="8503920" cy="448056"/>
          </a:xfrm>
          <a:prstGeom prst="rect">
            <a:avLst/>
          </a:prstGeom>
          <a:solidFill>
            <a:srgbClr val="F3F2F1"/>
          </a:solidFill>
          <a:ln w="12700">
            <a:solidFill>
              <a:srgbClr val="E1DFDD"/>
            </a:solidFill>
            <a:prstDash val="solid"/>
          </a:ln>
        </p:spPr>
      </p:sp>
      <p:sp>
        <p:nvSpPr>
          <p:cNvPr id="23" name="Shape 21"/>
          <p:cNvSpPr/>
          <p:nvPr/>
        </p:nvSpPr>
        <p:spPr>
          <a:xfrm>
            <a:off x="457200" y="3822192"/>
            <a:ext cx="914400" cy="274320"/>
          </a:xfrm>
          <a:prstGeom prst="rect">
            <a:avLst/>
          </a:prstGeom>
          <a:solidFill>
            <a:srgbClr val="D83B01"/>
          </a:solidFill>
          <a:ln w="12700">
            <a:solidFill>
              <a:srgbClr val="D83B01"/>
            </a:solidFill>
            <a:prstDash val="solid"/>
          </a:ln>
        </p:spPr>
      </p:sp>
      <p:sp>
        <p:nvSpPr>
          <p:cNvPr id="24" name="Text 22"/>
          <p:cNvSpPr/>
          <p:nvPr/>
        </p:nvSpPr>
        <p:spPr>
          <a:xfrm>
            <a:off x="457200" y="3822192"/>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Flow</a:t>
            </a:r>
            <a:endParaRPr lang="en-US" sz="800" dirty="0"/>
          </a:p>
        </p:txBody>
      </p:sp>
      <p:sp>
        <p:nvSpPr>
          <p:cNvPr id="25" name="Text 23"/>
          <p:cNvSpPr/>
          <p:nvPr/>
        </p:nvSpPr>
        <p:spPr>
          <a:xfrm>
            <a:off x="1481328" y="3822192"/>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Yes/no follow-up question is present and topic ends cleanly on No</a:t>
            </a:r>
            <a:endParaRPr lang="en-US" sz="1100" dirty="0"/>
          </a:p>
        </p:txBody>
      </p:sp>
      <p:sp>
        <p:nvSpPr>
          <p:cNvPr id="26" name="Shape 24"/>
          <p:cNvSpPr/>
          <p:nvPr/>
        </p:nvSpPr>
        <p:spPr>
          <a:xfrm>
            <a:off x="320040" y="4224528"/>
            <a:ext cx="8503920" cy="448056"/>
          </a:xfrm>
          <a:prstGeom prst="rect">
            <a:avLst/>
          </a:prstGeom>
          <a:solidFill>
            <a:srgbClr val="FFFFFF"/>
          </a:solidFill>
          <a:ln w="12700">
            <a:solidFill>
              <a:srgbClr val="E1DFDD"/>
            </a:solidFill>
            <a:prstDash val="solid"/>
          </a:ln>
        </p:spPr>
      </p:sp>
      <p:sp>
        <p:nvSpPr>
          <p:cNvPr id="27" name="Shape 25"/>
          <p:cNvSpPr/>
          <p:nvPr/>
        </p:nvSpPr>
        <p:spPr>
          <a:xfrm>
            <a:off x="457200" y="4306824"/>
            <a:ext cx="914400" cy="274320"/>
          </a:xfrm>
          <a:prstGeom prst="rect">
            <a:avLst/>
          </a:prstGeom>
          <a:solidFill>
            <a:srgbClr val="107C10"/>
          </a:solidFill>
          <a:ln w="12700">
            <a:solidFill>
              <a:srgbClr val="107C10"/>
            </a:solidFill>
            <a:prstDash val="solid"/>
          </a:ln>
        </p:spPr>
      </p:sp>
      <p:sp>
        <p:nvSpPr>
          <p:cNvPr id="28" name="Text 26"/>
          <p:cNvSpPr/>
          <p:nvPr/>
        </p:nvSpPr>
        <p:spPr>
          <a:xfrm>
            <a:off x="457200" y="4306824"/>
            <a:ext cx="91440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Instructions</a:t>
            </a:r>
            <a:endParaRPr lang="en-US" sz="800" dirty="0"/>
          </a:p>
        </p:txBody>
      </p:sp>
      <p:sp>
        <p:nvSpPr>
          <p:cNvPr id="29" name="Text 27"/>
          <p:cNvSpPr/>
          <p:nvPr/>
        </p:nvSpPr>
        <p:spPr>
          <a:xfrm>
            <a:off x="1481328" y="4306824"/>
            <a:ext cx="7223760" cy="274320"/>
          </a:xfrm>
          <a:prstGeom prst="rect">
            <a:avLst/>
          </a:prstGeom>
          <a:noFill/>
          <a:ln/>
        </p:spPr>
        <p:txBody>
          <a:bodyPr wrap="square" lIns="0" tIns="0" rIns="0" bIns="0" rtlCol="0" anchor="ctr"/>
          <a:lstStyle/>
          <a:p>
            <a:pPr indent="0" marL="0">
              <a:buNone/>
            </a:pPr>
            <a:r>
              <a:rPr lang="en-US" sz="1100" dirty="0">
                <a:solidFill>
                  <a:srgbClr val="201F1E"/>
                </a:solidFill>
                <a:latin typeface="Segoe UI" pitchFamily="34" charset="0"/>
                <a:ea typeface="Segoe UI" pitchFamily="34" charset="-122"/>
                <a:cs typeface="Segoe UI" pitchFamily="34" charset="-120"/>
              </a:rPr>
              <a:t>Agent instructions include a routing line pointing to Available devices topic</a:t>
            </a:r>
            <a:endParaRPr lang="en-US" sz="1100" dirty="0"/>
          </a:p>
        </p:txBody>
      </p:sp>
      <p:sp>
        <p:nvSpPr>
          <p:cNvPr id="30" name="Shape 28"/>
          <p:cNvSpPr/>
          <p:nvPr/>
        </p:nvSpPr>
        <p:spPr>
          <a:xfrm>
            <a:off x="320040" y="4681728"/>
            <a:ext cx="8503920" cy="320040"/>
          </a:xfrm>
          <a:prstGeom prst="rect">
            <a:avLst/>
          </a:prstGeom>
          <a:solidFill>
            <a:srgbClr val="EFF6FC"/>
          </a:solidFill>
          <a:ln w="12700">
            <a:solidFill>
              <a:srgbClr val="C7E0F4"/>
            </a:solidFill>
            <a:prstDash val="solid"/>
          </a:ln>
        </p:spPr>
      </p:sp>
      <p:sp>
        <p:nvSpPr>
          <p:cNvPr id="31" name="Text 29"/>
          <p:cNvSpPr/>
          <p:nvPr/>
        </p:nvSpPr>
        <p:spPr>
          <a:xfrm>
            <a:off x="475488" y="4681728"/>
            <a:ext cx="8321040"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Tip: If the topic does not trigger, confirm the description clearly mentions devices and availability.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05  ·  TOPIC DESIGN</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Adaptive Cards That Travel</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Use cards to validate input, gather structured data, and enrich the workflow — not as decoration.</a:t>
            </a:r>
            <a:endParaRPr lang="en-US" sz="1200" dirty="0"/>
          </a:p>
        </p:txBody>
      </p:sp>
      <p:sp>
        <p:nvSpPr>
          <p:cNvPr id="6" name="Shape 4"/>
          <p:cNvSpPr/>
          <p:nvPr/>
        </p:nvSpPr>
        <p:spPr>
          <a:xfrm>
            <a:off x="274320" y="1783080"/>
            <a:ext cx="4114800" cy="28346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7" name="Shape 5"/>
          <p:cNvSpPr/>
          <p:nvPr/>
        </p:nvSpPr>
        <p:spPr>
          <a:xfrm>
            <a:off x="274320" y="1783080"/>
            <a:ext cx="4114800" cy="411480"/>
          </a:xfrm>
          <a:prstGeom prst="rect">
            <a:avLst/>
          </a:prstGeom>
          <a:solidFill>
            <a:srgbClr val="5C2D91"/>
          </a:solidFill>
          <a:ln w="12700">
            <a:solidFill>
              <a:srgbClr val="5C2D91"/>
            </a:solidFill>
            <a:prstDash val="solid"/>
          </a:ln>
        </p:spPr>
      </p:sp>
      <p:sp>
        <p:nvSpPr>
          <p:cNvPr id="8" name="Text 6"/>
          <p:cNvSpPr/>
          <p:nvPr/>
        </p:nvSpPr>
        <p:spPr>
          <a:xfrm>
            <a:off x="384048" y="1783080"/>
            <a:ext cx="3913632" cy="4114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What a card gives you</a:t>
            </a:r>
            <a:endParaRPr lang="en-US" sz="1200" dirty="0"/>
          </a:p>
        </p:txBody>
      </p:sp>
      <p:sp>
        <p:nvSpPr>
          <p:cNvPr id="9" name="Shape 7"/>
          <p:cNvSpPr/>
          <p:nvPr/>
        </p:nvSpPr>
        <p:spPr>
          <a:xfrm>
            <a:off x="384048" y="2359152"/>
            <a:ext cx="219456" cy="219456"/>
          </a:xfrm>
          <a:prstGeom prst="ellipse">
            <a:avLst/>
          </a:prstGeom>
          <a:solidFill>
            <a:srgbClr val="5C2D91"/>
          </a:solidFill>
          <a:ln w="12700">
            <a:solidFill>
              <a:srgbClr val="5C2D91"/>
            </a:solidFill>
            <a:prstDash val="solid"/>
          </a:ln>
        </p:spPr>
      </p:sp>
      <p:sp>
        <p:nvSpPr>
          <p:cNvPr id="10" name="Text 8"/>
          <p:cNvSpPr/>
          <p:nvPr/>
        </p:nvSpPr>
        <p:spPr>
          <a:xfrm>
            <a:off x="722376" y="2304288"/>
            <a:ext cx="3547872" cy="228600"/>
          </a:xfrm>
          <a:prstGeom prst="rect">
            <a:avLst/>
          </a:prstGeom>
          <a:noFill/>
          <a:ln/>
        </p:spPr>
        <p:txBody>
          <a:bodyPr wrap="square" lIns="0" tIns="0" rIns="0" bIns="0" rtlCol="0" anchor="ctr"/>
          <a:lstStyle/>
          <a:p>
            <a:pPr indent="0" marL="0">
              <a:buNone/>
            </a:pPr>
            <a:r>
              <a:rPr lang="en-US" sz="1000" b="1" dirty="0">
                <a:solidFill>
                  <a:srgbClr val="201F1E"/>
                </a:solidFill>
                <a:latin typeface="Segoe UI" pitchFamily="34" charset="0"/>
                <a:ea typeface="Segoe UI" pitchFamily="34" charset="-122"/>
                <a:cs typeface="Segoe UI" pitchFamily="34" charset="-120"/>
              </a:rPr>
              <a:t>Structured inputs</a:t>
            </a:r>
            <a:endParaRPr lang="en-US" sz="1000" dirty="0"/>
          </a:p>
        </p:txBody>
      </p:sp>
      <p:sp>
        <p:nvSpPr>
          <p:cNvPr id="11" name="Text 9"/>
          <p:cNvSpPr/>
          <p:nvPr/>
        </p:nvSpPr>
        <p:spPr>
          <a:xfrm>
            <a:off x="722376" y="2532888"/>
            <a:ext cx="3547872" cy="292608"/>
          </a:xfrm>
          <a:prstGeom prst="rect">
            <a:avLst/>
          </a:prstGeom>
          <a:noFill/>
          <a:ln/>
        </p:spPr>
        <p:txBody>
          <a:bodyPr wrap="square" lIns="0" tIns="0" rIns="0" bIns="0" rtlCol="0" anchor="ctr"/>
          <a:lstStyle/>
          <a:p>
            <a:pPr indent="0" marL="0">
              <a:buNone/>
            </a:pPr>
            <a:r>
              <a:rPr lang="en-US" sz="900" dirty="0">
                <a:solidFill>
                  <a:srgbClr val="605E5C"/>
                </a:solidFill>
                <a:latin typeface="Segoe UI" pitchFamily="34" charset="0"/>
                <a:ea typeface="Segoe UI" pitchFamily="34" charset="-122"/>
                <a:cs typeface="Segoe UI" pitchFamily="34" charset="-120"/>
              </a:rPr>
              <a:t>Named output variables — deviceSelectionId, managerEmailId, commentsId — ready for the next flow or topic</a:t>
            </a:r>
            <a:endParaRPr lang="en-US" sz="900" dirty="0"/>
          </a:p>
        </p:txBody>
      </p:sp>
      <p:sp>
        <p:nvSpPr>
          <p:cNvPr id="12" name="Shape 10"/>
          <p:cNvSpPr/>
          <p:nvPr/>
        </p:nvSpPr>
        <p:spPr>
          <a:xfrm>
            <a:off x="384048" y="2926080"/>
            <a:ext cx="219456" cy="219456"/>
          </a:xfrm>
          <a:prstGeom prst="ellipse">
            <a:avLst/>
          </a:prstGeom>
          <a:solidFill>
            <a:srgbClr val="5C2D91"/>
          </a:solidFill>
          <a:ln w="12700">
            <a:solidFill>
              <a:srgbClr val="5C2D91"/>
            </a:solidFill>
            <a:prstDash val="solid"/>
          </a:ln>
        </p:spPr>
      </p:sp>
      <p:sp>
        <p:nvSpPr>
          <p:cNvPr id="13" name="Text 11"/>
          <p:cNvSpPr/>
          <p:nvPr/>
        </p:nvSpPr>
        <p:spPr>
          <a:xfrm>
            <a:off x="722376" y="2871216"/>
            <a:ext cx="3547872" cy="228600"/>
          </a:xfrm>
          <a:prstGeom prst="rect">
            <a:avLst/>
          </a:prstGeom>
          <a:noFill/>
          <a:ln/>
        </p:spPr>
        <p:txBody>
          <a:bodyPr wrap="square" lIns="0" tIns="0" rIns="0" bIns="0" rtlCol="0" anchor="ctr"/>
          <a:lstStyle/>
          <a:p>
            <a:pPr indent="0" marL="0">
              <a:buNone/>
            </a:pPr>
            <a:r>
              <a:rPr lang="en-US" sz="1000" b="1" dirty="0">
                <a:solidFill>
                  <a:srgbClr val="201F1E"/>
                </a:solidFill>
                <a:latin typeface="Segoe UI" pitchFamily="34" charset="0"/>
                <a:ea typeface="Segoe UI" pitchFamily="34" charset="-122"/>
                <a:cs typeface="Segoe UI" pitchFamily="34" charset="-120"/>
              </a:rPr>
              <a:t>Input validation</a:t>
            </a:r>
            <a:endParaRPr lang="en-US" sz="1000" dirty="0"/>
          </a:p>
        </p:txBody>
      </p:sp>
      <p:sp>
        <p:nvSpPr>
          <p:cNvPr id="14" name="Text 12"/>
          <p:cNvSpPr/>
          <p:nvPr/>
        </p:nvSpPr>
        <p:spPr>
          <a:xfrm>
            <a:off x="722376" y="3099816"/>
            <a:ext cx="3547872" cy="292608"/>
          </a:xfrm>
          <a:prstGeom prst="rect">
            <a:avLst/>
          </a:prstGeom>
          <a:noFill/>
          <a:ln/>
        </p:spPr>
        <p:txBody>
          <a:bodyPr wrap="square" lIns="0" tIns="0" rIns="0" bIns="0" rtlCol="0" anchor="ctr"/>
          <a:lstStyle/>
          <a:p>
            <a:pPr indent="0" marL="0">
              <a:buNone/>
            </a:pPr>
            <a:r>
              <a:rPr lang="en-US" sz="900" dirty="0">
                <a:solidFill>
                  <a:srgbClr val="605E5C"/>
                </a:solidFill>
                <a:latin typeface="Segoe UI" pitchFamily="34" charset="0"/>
                <a:ea typeface="Segoe UI" pitchFamily="34" charset="-122"/>
                <a:cs typeface="Segoe UI" pitchFamily="34" charset="-120"/>
              </a:rPr>
              <a:t>Required fields, choice constraints, and format hints before any data hits a connector</a:t>
            </a:r>
            <a:endParaRPr lang="en-US" sz="900" dirty="0"/>
          </a:p>
        </p:txBody>
      </p:sp>
      <p:sp>
        <p:nvSpPr>
          <p:cNvPr id="15" name="Shape 13"/>
          <p:cNvSpPr/>
          <p:nvPr/>
        </p:nvSpPr>
        <p:spPr>
          <a:xfrm>
            <a:off x="384048" y="3493008"/>
            <a:ext cx="219456" cy="219456"/>
          </a:xfrm>
          <a:prstGeom prst="ellipse">
            <a:avLst/>
          </a:prstGeom>
          <a:solidFill>
            <a:srgbClr val="5C2D91"/>
          </a:solidFill>
          <a:ln w="12700">
            <a:solidFill>
              <a:srgbClr val="5C2D91"/>
            </a:solidFill>
            <a:prstDash val="solid"/>
          </a:ln>
        </p:spPr>
      </p:sp>
      <p:sp>
        <p:nvSpPr>
          <p:cNvPr id="16" name="Text 14"/>
          <p:cNvSpPr/>
          <p:nvPr/>
        </p:nvSpPr>
        <p:spPr>
          <a:xfrm>
            <a:off x="722376" y="3438144"/>
            <a:ext cx="3547872" cy="228600"/>
          </a:xfrm>
          <a:prstGeom prst="rect">
            <a:avLst/>
          </a:prstGeom>
          <a:noFill/>
          <a:ln/>
        </p:spPr>
        <p:txBody>
          <a:bodyPr wrap="square" lIns="0" tIns="0" rIns="0" bIns="0" rtlCol="0" anchor="ctr"/>
          <a:lstStyle/>
          <a:p>
            <a:pPr indent="0" marL="0">
              <a:buNone/>
            </a:pPr>
            <a:r>
              <a:rPr lang="en-US" sz="1000" b="1" dirty="0">
                <a:solidFill>
                  <a:srgbClr val="201F1E"/>
                </a:solidFill>
                <a:latin typeface="Segoe UI" pitchFamily="34" charset="0"/>
                <a:ea typeface="Segoe UI" pitchFamily="34" charset="-122"/>
                <a:cs typeface="Segoe UI" pitchFamily="34" charset="-120"/>
              </a:rPr>
              <a:t>Richer experience</a:t>
            </a:r>
            <a:endParaRPr lang="en-US" sz="1000" dirty="0"/>
          </a:p>
        </p:txBody>
      </p:sp>
      <p:sp>
        <p:nvSpPr>
          <p:cNvPr id="17" name="Text 15"/>
          <p:cNvSpPr/>
          <p:nvPr/>
        </p:nvSpPr>
        <p:spPr>
          <a:xfrm>
            <a:off x="722376" y="3666744"/>
            <a:ext cx="3547872" cy="292608"/>
          </a:xfrm>
          <a:prstGeom prst="rect">
            <a:avLst/>
          </a:prstGeom>
          <a:noFill/>
          <a:ln/>
        </p:spPr>
        <p:txBody>
          <a:bodyPr wrap="square" lIns="0" tIns="0" rIns="0" bIns="0" rtlCol="0" anchor="ctr"/>
          <a:lstStyle/>
          <a:p>
            <a:pPr indent="0" marL="0">
              <a:buNone/>
            </a:pPr>
            <a:r>
              <a:rPr lang="en-US" sz="900" dirty="0">
                <a:solidFill>
                  <a:srgbClr val="605E5C"/>
                </a:solidFill>
                <a:latin typeface="Segoe UI" pitchFamily="34" charset="0"/>
                <a:ea typeface="Segoe UI" pitchFamily="34" charset="-122"/>
                <a:cs typeface="Segoe UI" pitchFamily="34" charset="-120"/>
              </a:rPr>
              <a:t>Dropdown selectors, multi-line text, and submit buttons instead of raw text parsing</a:t>
            </a:r>
            <a:endParaRPr lang="en-US" sz="900" dirty="0"/>
          </a:p>
        </p:txBody>
      </p:sp>
      <p:sp>
        <p:nvSpPr>
          <p:cNvPr id="18" name="Shape 16"/>
          <p:cNvSpPr/>
          <p:nvPr/>
        </p:nvSpPr>
        <p:spPr>
          <a:xfrm>
            <a:off x="384048" y="4059936"/>
            <a:ext cx="219456" cy="219456"/>
          </a:xfrm>
          <a:prstGeom prst="ellipse">
            <a:avLst/>
          </a:prstGeom>
          <a:solidFill>
            <a:srgbClr val="5C2D91"/>
          </a:solidFill>
          <a:ln w="12700">
            <a:solidFill>
              <a:srgbClr val="5C2D91"/>
            </a:solidFill>
            <a:prstDash val="solid"/>
          </a:ln>
        </p:spPr>
      </p:sp>
      <p:sp>
        <p:nvSpPr>
          <p:cNvPr id="19" name="Text 17"/>
          <p:cNvSpPr/>
          <p:nvPr/>
        </p:nvSpPr>
        <p:spPr>
          <a:xfrm>
            <a:off x="722376" y="4005072"/>
            <a:ext cx="3547872" cy="228600"/>
          </a:xfrm>
          <a:prstGeom prst="rect">
            <a:avLst/>
          </a:prstGeom>
          <a:noFill/>
          <a:ln/>
        </p:spPr>
        <p:txBody>
          <a:bodyPr wrap="square" lIns="0" tIns="0" rIns="0" bIns="0" rtlCol="0" anchor="ctr"/>
          <a:lstStyle/>
          <a:p>
            <a:pPr indent="0" marL="0">
              <a:buNone/>
            </a:pPr>
            <a:r>
              <a:rPr lang="en-US" sz="1000" b="1" dirty="0">
                <a:solidFill>
                  <a:srgbClr val="201F1E"/>
                </a:solidFill>
                <a:latin typeface="Segoe UI" pitchFamily="34" charset="0"/>
                <a:ea typeface="Segoe UI" pitchFamily="34" charset="-122"/>
                <a:cs typeface="Segoe UI" pitchFamily="34" charset="-120"/>
              </a:rPr>
              <a:t>Lab 09 bridge</a:t>
            </a:r>
            <a:endParaRPr lang="en-US" sz="1000" dirty="0"/>
          </a:p>
        </p:txBody>
      </p:sp>
      <p:sp>
        <p:nvSpPr>
          <p:cNvPr id="20" name="Text 18"/>
          <p:cNvSpPr/>
          <p:nvPr/>
        </p:nvSpPr>
        <p:spPr>
          <a:xfrm>
            <a:off x="722376" y="4233672"/>
            <a:ext cx="3547872" cy="292608"/>
          </a:xfrm>
          <a:prstGeom prst="rect">
            <a:avLst/>
          </a:prstGeom>
          <a:noFill/>
          <a:ln/>
        </p:spPr>
        <p:txBody>
          <a:bodyPr wrap="square" lIns="0" tIns="0" rIns="0" bIns="0" rtlCol="0" anchor="ctr"/>
          <a:lstStyle/>
          <a:p>
            <a:pPr indent="0" marL="0">
              <a:buNone/>
            </a:pPr>
            <a:r>
              <a:rPr lang="en-US" sz="900" dirty="0">
                <a:solidFill>
                  <a:srgbClr val="605E5C"/>
                </a:solidFill>
                <a:latin typeface="Segoe UI" pitchFamily="34" charset="0"/>
                <a:ea typeface="Segoe UI" pitchFamily="34" charset="-122"/>
                <a:cs typeface="Segoe UI" pitchFamily="34" charset="-120"/>
              </a:rPr>
              <a:t>Card outputs become the inputs to the Power Automate flow in the next lab</a:t>
            </a:r>
            <a:endParaRPr lang="en-US" sz="900" dirty="0"/>
          </a:p>
        </p:txBody>
      </p:sp>
      <p:sp>
        <p:nvSpPr>
          <p:cNvPr id="21" name="Shape 19"/>
          <p:cNvSpPr/>
          <p:nvPr/>
        </p:nvSpPr>
        <p:spPr>
          <a:xfrm>
            <a:off x="4754880" y="1783080"/>
            <a:ext cx="4114800" cy="2834640"/>
          </a:xfrm>
          <a:prstGeom prst="rect">
            <a:avLst/>
          </a:prstGeom>
          <a:solidFill>
            <a:srgbClr val="F3F2F1"/>
          </a:solidFill>
          <a:ln w="12700">
            <a:solidFill>
              <a:srgbClr val="E1DFDD"/>
            </a:solidFill>
            <a:prstDash val="solid"/>
          </a:ln>
          <a:effectLst>
            <a:outerShdw sx="100000" sy="100000" kx="0" ky="0" algn="bl" rotWithShape="0" blurRad="101600" dist="25400" dir="8100000">
              <a:srgbClr val="000000">
                <a:alpha val="10000"/>
              </a:srgbClr>
            </a:outerShdw>
          </a:effectLst>
        </p:spPr>
      </p:sp>
      <p:sp>
        <p:nvSpPr>
          <p:cNvPr id="22" name="Shape 20"/>
          <p:cNvSpPr/>
          <p:nvPr/>
        </p:nvSpPr>
        <p:spPr>
          <a:xfrm>
            <a:off x="4754880" y="1783080"/>
            <a:ext cx="4114800" cy="411480"/>
          </a:xfrm>
          <a:prstGeom prst="rect">
            <a:avLst/>
          </a:prstGeom>
          <a:solidFill>
            <a:srgbClr val="243A5E"/>
          </a:solidFill>
          <a:ln w="12700">
            <a:solidFill>
              <a:srgbClr val="243A5E"/>
            </a:solidFill>
            <a:prstDash val="solid"/>
          </a:ln>
        </p:spPr>
      </p:sp>
      <p:sp>
        <p:nvSpPr>
          <p:cNvPr id="23" name="Text 21"/>
          <p:cNvSpPr/>
          <p:nvPr/>
        </p:nvSpPr>
        <p:spPr>
          <a:xfrm>
            <a:off x="4864608" y="1783080"/>
            <a:ext cx="3913632" cy="411480"/>
          </a:xfrm>
          <a:prstGeom prst="rect">
            <a:avLst/>
          </a:prstGeom>
          <a:noFill/>
          <a:ln/>
        </p:spPr>
        <p:txBody>
          <a:bodyPr wrap="square" rtlCol="0" anchor="ctr"/>
          <a:lstStyle/>
          <a:p>
            <a:pPr indent="0" marL="0">
              <a:buNone/>
            </a:pPr>
            <a:r>
              <a:rPr lang="en-US" sz="1200" b="1" dirty="0">
                <a:solidFill>
                  <a:srgbClr val="FFFFFF"/>
                </a:solidFill>
                <a:latin typeface="Segoe UI" pitchFamily="34" charset="0"/>
                <a:ea typeface="Segoe UI" pitchFamily="34" charset="-122"/>
                <a:cs typeface="Segoe UI" pitchFamily="34" charset="-120"/>
              </a:rPr>
              <a:t>Card design rules</a:t>
            </a:r>
            <a:endParaRPr lang="en-US" sz="1200" dirty="0"/>
          </a:p>
        </p:txBody>
      </p:sp>
      <p:sp>
        <p:nvSpPr>
          <p:cNvPr id="24" name="Text 22"/>
          <p:cNvSpPr/>
          <p:nvPr/>
        </p:nvSpPr>
        <p:spPr>
          <a:xfrm>
            <a:off x="4864608" y="2286000"/>
            <a:ext cx="3886200" cy="2240280"/>
          </a:xfrm>
          <a:prstGeom prst="rect">
            <a:avLst/>
          </a:prstGeom>
          <a:noFill/>
          <a:ln/>
        </p:spPr>
        <p:txBody>
          <a:bodyPr wrap="square" rtlCol="0" anchor="ctr"/>
          <a:lstStyle/>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Add a card only where it genuinely improves data quality or conversation clarity</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Collect only the inputs needed by the next business step — no speculative fields</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Prototype in the external designer at adaptivecards.io first, then paste into Copilot Studio</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Test in the supported host context — card layout varies between Teams, web, and M365 Copilot</a:t>
            </a:r>
            <a:endParaRPr lang="en-US" sz="1050" dirty="0"/>
          </a:p>
          <a:p>
            <a:pPr marL="342900" indent="-342900">
              <a:buSzPct val="100000"/>
              <a:buChar char="•"/>
            </a:pPr>
            <a:r>
              <a:rPr lang="en-US" sz="1050" dirty="0">
                <a:solidFill>
                  <a:srgbClr val="201F1E"/>
                </a:solidFill>
                <a:latin typeface="Segoe UI" pitchFamily="34" charset="0"/>
                <a:ea typeface="Segoe UI" pitchFamily="34" charset="-122"/>
                <a:cs typeface="Segoe UI" pitchFamily="34" charset="-120"/>
              </a:rPr>
              <a:t>Use dynamic choices (ForAll formula) when the options come from a live data source</a:t>
            </a:r>
            <a:endParaRPr lang="en-US" sz="1050" dirty="0"/>
          </a:p>
        </p:txBody>
      </p:sp>
      <p:sp>
        <p:nvSpPr>
          <p:cNvPr id="25" name="Shape 23"/>
          <p:cNvSpPr/>
          <p:nvPr/>
        </p:nvSpPr>
        <p:spPr>
          <a:xfrm>
            <a:off x="274320" y="4681728"/>
            <a:ext cx="8595360" cy="320040"/>
          </a:xfrm>
          <a:prstGeom prst="rect">
            <a:avLst/>
          </a:prstGeom>
          <a:solidFill>
            <a:srgbClr val="EFF6FC"/>
          </a:solidFill>
          <a:ln w="12700">
            <a:solidFill>
              <a:srgbClr val="C7E0F4"/>
            </a:solidFill>
            <a:prstDash val="solid"/>
          </a:ln>
        </p:spPr>
      </p:sp>
      <p:sp>
        <p:nvSpPr>
          <p:cNvPr id="26" name="Text 24"/>
          <p:cNvSpPr/>
          <p:nvPr/>
        </p:nvSpPr>
        <p:spPr>
          <a:xfrm>
            <a:off x="438912" y="4681728"/>
            <a:ext cx="8449056" cy="320040"/>
          </a:xfrm>
          <a:prstGeom prst="rect">
            <a:avLst/>
          </a:prstGeom>
          <a:noFill/>
          <a:ln/>
        </p:spPr>
        <p:txBody>
          <a:bodyPr wrap="square" rtlCol="0" anchor="ctr"/>
          <a:lstStyle/>
          <a:p>
            <a:pPr indent="0" marL="0">
              <a:buNone/>
            </a:pPr>
            <a:r>
              <a:rPr lang="en-US" sz="1050" dirty="0">
                <a:solidFill>
                  <a:srgbClr val="0078D4"/>
                </a:solidFill>
                <a:latin typeface="Segoe UI" pitchFamily="34" charset="0"/>
                <a:ea typeface="Segoe UI" pitchFamily="34" charset="-122"/>
                <a:cs typeface="Segoe UI" pitchFamily="34" charset="-120"/>
              </a:rPr>
              <a:t>Treat the card as a precision tool for the workflow — not a generic form that collects everything just in case.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78D4"/>
        </a:solidFill>
      </p:bgPr>
    </p:bg>
    <p:spTree>
      <p:nvGrpSpPr>
        <p:cNvPr id="1" name=""/>
        <p:cNvGrpSpPr/>
        <p:nvPr/>
      </p:nvGrpSpPr>
      <p:grpSpPr>
        <a:xfrm>
          <a:off x="0" y="0"/>
          <a:ext cx="0" cy="0"/>
          <a:chOff x="0" y="0"/>
          <a:chExt cx="0" cy="0"/>
        </a:xfrm>
      </p:grpSpPr>
      <p:sp>
        <p:nvSpPr>
          <p:cNvPr id="2" name="Shape 0"/>
          <p:cNvSpPr/>
          <p:nvPr/>
        </p:nvSpPr>
        <p:spPr>
          <a:xfrm>
            <a:off x="5852160" y="0"/>
            <a:ext cx="3291840" cy="5143500"/>
          </a:xfrm>
          <a:prstGeom prst="rect">
            <a:avLst/>
          </a:prstGeom>
          <a:solidFill>
            <a:srgbClr val="243A5E"/>
          </a:solidFill>
          <a:ln w="12700">
            <a:solidFill>
              <a:srgbClr val="243A5E"/>
            </a:solidFill>
            <a:prstDash val="solid"/>
          </a:ln>
        </p:spPr>
      </p:sp>
      <p:sp>
        <p:nvSpPr>
          <p:cNvPr id="3" name="Text 1"/>
          <p:cNvSpPr/>
          <p:nvPr/>
        </p:nvSpPr>
        <p:spPr>
          <a:xfrm>
            <a:off x="411480" y="365760"/>
            <a:ext cx="5212080" cy="384048"/>
          </a:xfrm>
          <a:prstGeom prst="rect">
            <a:avLst/>
          </a:prstGeom>
          <a:noFill/>
          <a:ln/>
        </p:spPr>
        <p:txBody>
          <a:bodyPr wrap="square" rtlCol="0" anchor="ctr"/>
          <a:lstStyle/>
          <a:p>
            <a:pPr indent="0" marL="0">
              <a:buNone/>
            </a:pPr>
            <a:r>
              <a:rPr lang="en-US" sz="1000" spc="500" kern="0" dirty="0">
                <a:solidFill>
                  <a:srgbClr val="50E6FF"/>
                </a:solidFill>
                <a:latin typeface="Segoe UI" pitchFamily="34" charset="0"/>
                <a:ea typeface="Segoe UI" pitchFamily="34" charset="-122"/>
                <a:cs typeface="Segoe UI" pitchFamily="34" charset="-120"/>
              </a:rPr>
              <a:t>LAB TIME</a:t>
            </a:r>
            <a:endParaRPr lang="en-US" sz="1000" dirty="0"/>
          </a:p>
        </p:txBody>
      </p:sp>
      <p:sp>
        <p:nvSpPr>
          <p:cNvPr id="4" name="Text 2"/>
          <p:cNvSpPr/>
          <p:nvPr/>
        </p:nvSpPr>
        <p:spPr>
          <a:xfrm>
            <a:off x="411480" y="841248"/>
            <a:ext cx="5212080" cy="1005840"/>
          </a:xfrm>
          <a:prstGeom prst="rect">
            <a:avLst/>
          </a:prstGeom>
          <a:noFill/>
          <a:ln/>
        </p:spPr>
        <p:txBody>
          <a:bodyPr wrap="square" rtlCol="0" anchor="ctr"/>
          <a:lstStyle/>
          <a:p>
            <a:pPr indent="0" marL="0">
              <a:buNone/>
            </a:pPr>
            <a:r>
              <a:rPr lang="en-US" sz="5800" b="1" dirty="0">
                <a:solidFill>
                  <a:srgbClr val="FFFFFF"/>
                </a:solidFill>
                <a:latin typeface="Segoe UI" pitchFamily="34" charset="0"/>
                <a:ea typeface="Segoe UI" pitchFamily="34" charset="-122"/>
                <a:cs typeface="Segoe UI" pitchFamily="34" charset="-120"/>
              </a:rPr>
              <a:t>Lab 08</a:t>
            </a:r>
            <a:endParaRPr lang="en-US" sz="5800" dirty="0"/>
          </a:p>
        </p:txBody>
      </p:sp>
      <p:sp>
        <p:nvSpPr>
          <p:cNvPr id="5" name="Text 3"/>
          <p:cNvSpPr/>
          <p:nvPr/>
        </p:nvSpPr>
        <p:spPr>
          <a:xfrm>
            <a:off x="411480" y="1828800"/>
            <a:ext cx="5212080" cy="502920"/>
          </a:xfrm>
          <a:prstGeom prst="rect">
            <a:avLst/>
          </a:prstGeom>
          <a:noFill/>
          <a:ln/>
        </p:spPr>
        <p:txBody>
          <a:bodyPr wrap="square" rtlCol="0" anchor="ctr"/>
          <a:lstStyle/>
          <a:p>
            <a:pPr indent="0" marL="0">
              <a:buNone/>
            </a:pPr>
            <a:r>
              <a:rPr lang="en-US" sz="2000" dirty="0">
                <a:solidFill>
                  <a:srgbClr val="50E6FF"/>
                </a:solidFill>
                <a:latin typeface="Segoe UI" pitchFamily="34" charset="0"/>
                <a:ea typeface="Segoe UI" pitchFamily="34" charset="-122"/>
                <a:cs typeface="Segoe UI" pitchFamily="34" charset="-120"/>
              </a:rPr>
              <a:t>Adaptive Cards</a:t>
            </a:r>
            <a:endParaRPr lang="en-US" sz="2000" dirty="0"/>
          </a:p>
        </p:txBody>
      </p:sp>
      <p:sp>
        <p:nvSpPr>
          <p:cNvPr id="6" name="Text 4"/>
          <p:cNvSpPr/>
          <p:nvPr/>
        </p:nvSpPr>
        <p:spPr>
          <a:xfrm>
            <a:off x="411480" y="2450592"/>
            <a:ext cx="5212080" cy="2377440"/>
          </a:xfrm>
          <a:prstGeom prst="rect">
            <a:avLst/>
          </a:prstGeom>
          <a:noFill/>
          <a:ln/>
        </p:spPr>
        <p:txBody>
          <a:bodyPr wrap="square" rtlCol="0" anchor="ctr"/>
          <a:lstStyle/>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Create the Request device topic shell with a clear description</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Prototype the card in adaptivecards.io — ChoiceSet, two text inputs, Submit</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Paste JSON into the Copilot Studio adaptive card editor</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Switch to Formula mode and replace static choices with ForAll(Global.VarDevices.value, ...)</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Add routing instruction to agent overview — Yes in Topic 1 routes to Request device</a:t>
            </a:r>
            <a:endParaRPr lang="en-US" sz="1100" dirty="0"/>
          </a:p>
          <a:p>
            <a:pPr marL="342900" indent="-342900">
              <a:buSzPct val="100000"/>
              <a:buChar char="•"/>
            </a:pPr>
            <a:r>
              <a:rPr lang="en-US" sz="1100" dirty="0">
                <a:solidFill>
                  <a:srgbClr val="FFFFFF"/>
                </a:solidFill>
                <a:latin typeface="Segoe UI" pitchFamily="34" charset="0"/>
                <a:ea typeface="Segoe UI" pitchFamily="34" charset="-122"/>
                <a:cs typeface="Segoe UI" pitchFamily="34" charset="-120"/>
              </a:rPr>
              <a:t>Test end-to-end: laptop query → device list → Yes → card appears → submit</a:t>
            </a:r>
            <a:endParaRPr lang="en-US" sz="1100" dirty="0"/>
          </a:p>
        </p:txBody>
      </p:sp>
      <p:sp>
        <p:nvSpPr>
          <p:cNvPr id="7" name="Text 5"/>
          <p:cNvSpPr/>
          <p:nvPr/>
        </p:nvSpPr>
        <p:spPr>
          <a:xfrm>
            <a:off x="5852160" y="1097280"/>
            <a:ext cx="3291840" cy="1463040"/>
          </a:xfrm>
          <a:prstGeom prst="rect">
            <a:avLst/>
          </a:prstGeom>
          <a:noFill/>
          <a:ln/>
        </p:spPr>
        <p:txBody>
          <a:bodyPr wrap="square" rtlCol="0" anchor="ctr"/>
          <a:lstStyle/>
          <a:p>
            <a:pPr algn="ctr" indent="0" marL="0">
              <a:buNone/>
            </a:pPr>
            <a:r>
              <a:rPr lang="en-US" sz="8000" b="1" dirty="0">
                <a:solidFill>
                  <a:srgbClr val="FFFFFF"/>
                </a:solidFill>
                <a:latin typeface="Segoe UI" pitchFamily="34" charset="0"/>
                <a:ea typeface="Segoe UI" pitchFamily="34" charset="-122"/>
                <a:cs typeface="Segoe UI" pitchFamily="34" charset="-120"/>
              </a:rPr>
              <a:t>45</a:t>
            </a:r>
            <a:endParaRPr lang="en-US" sz="8000" dirty="0"/>
          </a:p>
        </p:txBody>
      </p:sp>
      <p:sp>
        <p:nvSpPr>
          <p:cNvPr id="8" name="Text 6"/>
          <p:cNvSpPr/>
          <p:nvPr/>
        </p:nvSpPr>
        <p:spPr>
          <a:xfrm>
            <a:off x="5852160" y="2633472"/>
            <a:ext cx="3291840" cy="384048"/>
          </a:xfrm>
          <a:prstGeom prst="rect">
            <a:avLst/>
          </a:prstGeom>
          <a:noFill/>
          <a:ln/>
        </p:spPr>
        <p:txBody>
          <a:bodyPr wrap="square" rtlCol="0" anchor="ctr"/>
          <a:lstStyle/>
          <a:p>
            <a:pPr algn="ctr" indent="0" marL="0">
              <a:buNone/>
            </a:pPr>
            <a:r>
              <a:rPr lang="en-US" sz="1400" dirty="0">
                <a:solidFill>
                  <a:srgbClr val="50E6FF"/>
                </a:solidFill>
                <a:latin typeface="Segoe UI" pitchFamily="34" charset="0"/>
                <a:ea typeface="Segoe UI" pitchFamily="34" charset="-122"/>
                <a:cs typeface="Segoe UI" pitchFamily="34" charset="-120"/>
              </a:rPr>
              <a:t>minutes</a:t>
            </a:r>
            <a:endParaRPr lang="en-US" sz="1400" dirty="0"/>
          </a:p>
        </p:txBody>
      </p:sp>
      <p:sp>
        <p:nvSpPr>
          <p:cNvPr id="9" name="Text 7"/>
          <p:cNvSpPr/>
          <p:nvPr/>
        </p:nvSpPr>
        <p:spPr>
          <a:xfrm>
            <a:off x="5852160" y="3154680"/>
            <a:ext cx="3291840" cy="640080"/>
          </a:xfrm>
          <a:prstGeom prst="rect">
            <a:avLst/>
          </a:prstGeom>
          <a:noFill/>
          <a:ln/>
        </p:spPr>
        <p:txBody>
          <a:bodyPr wrap="square" rtlCol="0" anchor="ctr"/>
          <a:lstStyle/>
          <a:p>
            <a:pPr algn="ctr" indent="0" marL="0">
              <a:buNone/>
            </a:pPr>
            <a:r>
              <a:rPr lang="en-US" sz="900" dirty="0">
                <a:solidFill>
                  <a:srgbClr val="A0BEDD"/>
                </a:solidFill>
                <a:latin typeface="Segoe UI" pitchFamily="34" charset="0"/>
                <a:ea typeface="Segoe UI" pitchFamily="34" charset="-122"/>
                <a:cs typeface="Segoe UI" pitchFamily="34" charset="-120"/>
              </a:rPr>
              <a:t>Demo card first,</a:t>
            </a:r>
            <a:endParaRPr lang="en-US" sz="900" dirty="0"/>
          </a:p>
          <a:p>
            <a:pPr algn="ctr" indent="0" marL="0">
              <a:buNone/>
            </a:pPr>
            <a:r>
              <a:rPr lang="en-US" sz="900" dirty="0">
                <a:solidFill>
                  <a:srgbClr val="A0BEDD"/>
                </a:solidFill>
                <a:latin typeface="Segoe UI" pitchFamily="34" charset="0"/>
                <a:ea typeface="Segoe UI" pitchFamily="34" charset="-122"/>
                <a:cs typeface="Segoe UI" pitchFamily="34" charset="-120"/>
              </a:rPr>
              <a:t>then release to hands-on</a:t>
            </a:r>
            <a:endParaRPr lang="en-US" sz="900" dirty="0"/>
          </a:p>
        </p:txBody>
      </p:sp>
      <p:sp>
        <p:nvSpPr>
          <p:cNvPr id="10" name="Text 8"/>
          <p:cNvSpPr/>
          <p:nvPr/>
        </p:nvSpPr>
        <p:spPr>
          <a:xfrm>
            <a:off x="5852160" y="4160520"/>
            <a:ext cx="3291840" cy="347472"/>
          </a:xfrm>
          <a:prstGeom prst="rect">
            <a:avLst/>
          </a:prstGeom>
          <a:noFill/>
          <a:ln/>
        </p:spPr>
        <p:txBody>
          <a:bodyPr wrap="square" rtlCol="0" anchor="ctr"/>
          <a:lstStyle/>
          <a:p>
            <a:pPr algn="ctr" indent="0" marL="0">
              <a:buNone/>
            </a:pPr>
            <a:r>
              <a:rPr lang="en-US" sz="900" dirty="0">
                <a:solidFill>
                  <a:srgbClr val="7BA7CC"/>
                </a:solidFill>
                <a:latin typeface="Segoe UI" pitchFamily="34" charset="0"/>
                <a:ea typeface="Segoe UI" pitchFamily="34" charset="-122"/>
                <a:cs typeface="Segoe UI" pitchFamily="34" charset="-120"/>
              </a:rPr>
              <a:t>Makers  ·  IT Pros  ·  Developers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78D4"/>
          </a:solidFill>
          <a:ln w="12700">
            <a:solidFill>
              <a:srgbClr val="0078D4"/>
            </a:solidFill>
            <a:prstDash val="solid"/>
          </a:ln>
        </p:spPr>
      </p:sp>
      <p:sp>
        <p:nvSpPr>
          <p:cNvPr id="3" name="Text 1"/>
          <p:cNvSpPr/>
          <p:nvPr/>
        </p:nvSpPr>
        <p:spPr>
          <a:xfrm>
            <a:off x="365760" y="0"/>
            <a:ext cx="8412480" cy="640080"/>
          </a:xfrm>
          <a:prstGeom prst="rect">
            <a:avLst/>
          </a:prstGeom>
          <a:noFill/>
          <a:ln/>
        </p:spPr>
        <p:txBody>
          <a:bodyPr wrap="square" rtlCol="0" anchor="ctr"/>
          <a:lstStyle/>
          <a:p>
            <a:pPr indent="0" marL="0">
              <a:buNone/>
            </a:pPr>
            <a:r>
              <a:rPr lang="en-US" sz="900" spc="200" kern="0" dirty="0">
                <a:solidFill>
                  <a:srgbClr val="C5D8F0"/>
                </a:solidFill>
                <a:latin typeface="Segoe UI" pitchFamily="34" charset="0"/>
                <a:ea typeface="Segoe UI" pitchFamily="34" charset="-122"/>
                <a:cs typeface="Segoe UI" pitchFamily="34" charset="-120"/>
              </a:rPr>
              <a:t>MODULE 05  ·  LAB 08 RECAP</a:t>
            </a:r>
            <a:endParaRPr lang="en-US" sz="900" dirty="0"/>
          </a:p>
        </p:txBody>
      </p:sp>
      <p:sp>
        <p:nvSpPr>
          <p:cNvPr id="4" name="Text 2"/>
          <p:cNvSpPr/>
          <p:nvPr/>
        </p:nvSpPr>
        <p:spPr>
          <a:xfrm>
            <a:off x="365760" y="749808"/>
            <a:ext cx="8412480" cy="530352"/>
          </a:xfrm>
          <a:prstGeom prst="rect">
            <a:avLst/>
          </a:prstGeom>
          <a:noFill/>
          <a:ln/>
        </p:spPr>
        <p:txBody>
          <a:bodyPr wrap="square" rtlCol="0" anchor="ctr"/>
          <a:lstStyle/>
          <a:p>
            <a:pPr indent="0" marL="0">
              <a:buNone/>
            </a:pPr>
            <a:r>
              <a:rPr lang="en-US" sz="2800" b="1" dirty="0">
                <a:solidFill>
                  <a:srgbClr val="201F1E"/>
                </a:solidFill>
                <a:latin typeface="Segoe UI" pitchFamily="34" charset="0"/>
                <a:ea typeface="Segoe UI" pitchFamily="34" charset="-122"/>
                <a:cs typeface="Segoe UI" pitchFamily="34" charset="-120"/>
              </a:rPr>
              <a:t>Lab 08: Adaptive Cards</a:t>
            </a:r>
            <a:endParaRPr lang="en-US" sz="2800" dirty="0"/>
          </a:p>
        </p:txBody>
      </p:sp>
      <p:sp>
        <p:nvSpPr>
          <p:cNvPr id="5" name="Text 3"/>
          <p:cNvSpPr/>
          <p:nvPr/>
        </p:nvSpPr>
        <p:spPr>
          <a:xfrm>
            <a:off x="365760" y="1325880"/>
            <a:ext cx="8229600" cy="320040"/>
          </a:xfrm>
          <a:prstGeom prst="rect">
            <a:avLst/>
          </a:prstGeom>
          <a:noFill/>
          <a:ln/>
        </p:spPr>
        <p:txBody>
          <a:bodyPr wrap="square" rtlCol="0" anchor="ctr"/>
          <a:lstStyle/>
          <a:p>
            <a:pPr indent="0" marL="0">
              <a:buNone/>
            </a:pPr>
            <a:r>
              <a:rPr lang="en-US" sz="1200" dirty="0">
                <a:solidFill>
                  <a:srgbClr val="605E5C"/>
                </a:solidFill>
                <a:latin typeface="Segoe UI" pitchFamily="34" charset="0"/>
                <a:ea typeface="Segoe UI" pitchFamily="34" charset="-122"/>
                <a:cs typeface="Segoe UI" pitchFamily="34" charset="-120"/>
              </a:rPr>
              <a:t>The card is a precision tool for the workflow — its outputs are the inputs to Lab 09 automation.</a:t>
            </a:r>
            <a:endParaRPr lang="en-US" sz="1200" dirty="0"/>
          </a:p>
        </p:txBody>
      </p:sp>
      <p:sp>
        <p:nvSpPr>
          <p:cNvPr id="6" name="Shape 4"/>
          <p:cNvSpPr/>
          <p:nvPr/>
        </p:nvSpPr>
        <p:spPr>
          <a:xfrm>
            <a:off x="320040" y="1801368"/>
            <a:ext cx="8503920" cy="448056"/>
          </a:xfrm>
          <a:prstGeom prst="rect">
            <a:avLst/>
          </a:prstGeom>
          <a:solidFill>
            <a:srgbClr val="F3F2F1"/>
          </a:solidFill>
          <a:ln w="12700">
            <a:solidFill>
              <a:srgbClr val="E1DFDD"/>
            </a:solidFill>
            <a:prstDash val="solid"/>
          </a:ln>
        </p:spPr>
      </p:sp>
      <p:sp>
        <p:nvSpPr>
          <p:cNvPr id="7" name="Shape 5"/>
          <p:cNvSpPr/>
          <p:nvPr/>
        </p:nvSpPr>
        <p:spPr>
          <a:xfrm>
            <a:off x="457200" y="1883664"/>
            <a:ext cx="1005840" cy="274320"/>
          </a:xfrm>
          <a:prstGeom prst="rect">
            <a:avLst/>
          </a:prstGeom>
          <a:solidFill>
            <a:srgbClr val="5C2D91"/>
          </a:solidFill>
          <a:ln w="12700">
            <a:solidFill>
              <a:srgbClr val="5C2D91"/>
            </a:solidFill>
            <a:prstDash val="solid"/>
          </a:ln>
        </p:spPr>
      </p:sp>
      <p:sp>
        <p:nvSpPr>
          <p:cNvPr id="8" name="Text 6"/>
          <p:cNvSpPr/>
          <p:nvPr/>
        </p:nvSpPr>
        <p:spPr>
          <a:xfrm>
            <a:off x="457200" y="1883664"/>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Topic</a:t>
            </a:r>
            <a:endParaRPr lang="en-US" sz="800" dirty="0"/>
          </a:p>
        </p:txBody>
      </p:sp>
      <p:sp>
        <p:nvSpPr>
          <p:cNvPr id="9" name="Text 7"/>
          <p:cNvSpPr/>
          <p:nvPr/>
        </p:nvSpPr>
        <p:spPr>
          <a:xfrm>
            <a:off x="1581912" y="1883664"/>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Request device topic exists with a description that mentions device request after user confirms yes</a:t>
            </a:r>
            <a:endParaRPr lang="en-US" sz="1050" dirty="0"/>
          </a:p>
        </p:txBody>
      </p:sp>
      <p:sp>
        <p:nvSpPr>
          <p:cNvPr id="10" name="Shape 8"/>
          <p:cNvSpPr/>
          <p:nvPr/>
        </p:nvSpPr>
        <p:spPr>
          <a:xfrm>
            <a:off x="320040" y="2286000"/>
            <a:ext cx="8503920" cy="448056"/>
          </a:xfrm>
          <a:prstGeom prst="rect">
            <a:avLst/>
          </a:prstGeom>
          <a:solidFill>
            <a:srgbClr val="FFFFFF"/>
          </a:solidFill>
          <a:ln w="12700">
            <a:solidFill>
              <a:srgbClr val="E1DFDD"/>
            </a:solidFill>
            <a:prstDash val="solid"/>
          </a:ln>
        </p:spPr>
      </p:sp>
      <p:sp>
        <p:nvSpPr>
          <p:cNvPr id="11" name="Shape 9"/>
          <p:cNvSpPr/>
          <p:nvPr/>
        </p:nvSpPr>
        <p:spPr>
          <a:xfrm>
            <a:off x="457200" y="2368296"/>
            <a:ext cx="1005840" cy="274320"/>
          </a:xfrm>
          <a:prstGeom prst="rect">
            <a:avLst/>
          </a:prstGeom>
          <a:solidFill>
            <a:srgbClr val="0078D4"/>
          </a:solidFill>
          <a:ln w="12700">
            <a:solidFill>
              <a:srgbClr val="0078D4"/>
            </a:solidFill>
            <a:prstDash val="solid"/>
          </a:ln>
        </p:spPr>
      </p:sp>
      <p:sp>
        <p:nvSpPr>
          <p:cNvPr id="12" name="Text 10"/>
          <p:cNvSpPr/>
          <p:nvPr/>
        </p:nvSpPr>
        <p:spPr>
          <a:xfrm>
            <a:off x="457200" y="2368296"/>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Outputs</a:t>
            </a:r>
            <a:endParaRPr lang="en-US" sz="800" dirty="0"/>
          </a:p>
        </p:txBody>
      </p:sp>
      <p:sp>
        <p:nvSpPr>
          <p:cNvPr id="13" name="Text 11"/>
          <p:cNvSpPr/>
          <p:nvPr/>
        </p:nvSpPr>
        <p:spPr>
          <a:xfrm>
            <a:off x="1581912" y="2368296"/>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Adaptive Card node exposes deviceSelectionId, managerEmailId, and commentsId output variables</a:t>
            </a:r>
            <a:endParaRPr lang="en-US" sz="1050" dirty="0"/>
          </a:p>
        </p:txBody>
      </p:sp>
      <p:sp>
        <p:nvSpPr>
          <p:cNvPr id="14" name="Shape 12"/>
          <p:cNvSpPr/>
          <p:nvPr/>
        </p:nvSpPr>
        <p:spPr>
          <a:xfrm>
            <a:off x="320040" y="2770632"/>
            <a:ext cx="8503920" cy="448056"/>
          </a:xfrm>
          <a:prstGeom prst="rect">
            <a:avLst/>
          </a:prstGeom>
          <a:solidFill>
            <a:srgbClr val="F3F2F1"/>
          </a:solidFill>
          <a:ln w="12700">
            <a:solidFill>
              <a:srgbClr val="E1DFDD"/>
            </a:solidFill>
            <a:prstDash val="solid"/>
          </a:ln>
        </p:spPr>
      </p:sp>
      <p:sp>
        <p:nvSpPr>
          <p:cNvPr id="15" name="Shape 13"/>
          <p:cNvSpPr/>
          <p:nvPr/>
        </p:nvSpPr>
        <p:spPr>
          <a:xfrm>
            <a:off x="457200" y="2852928"/>
            <a:ext cx="1005840" cy="274320"/>
          </a:xfrm>
          <a:prstGeom prst="rect">
            <a:avLst/>
          </a:prstGeom>
          <a:solidFill>
            <a:srgbClr val="00B294"/>
          </a:solidFill>
          <a:ln w="12700">
            <a:solidFill>
              <a:srgbClr val="00B294"/>
            </a:solidFill>
            <a:prstDash val="solid"/>
          </a:ln>
        </p:spPr>
      </p:sp>
      <p:sp>
        <p:nvSpPr>
          <p:cNvPr id="16" name="Text 14"/>
          <p:cNvSpPr/>
          <p:nvPr/>
        </p:nvSpPr>
        <p:spPr>
          <a:xfrm>
            <a:off x="457200" y="2852928"/>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Dynamic</a:t>
            </a:r>
            <a:endParaRPr lang="en-US" sz="800" dirty="0"/>
          </a:p>
        </p:txBody>
      </p:sp>
      <p:sp>
        <p:nvSpPr>
          <p:cNvPr id="17" name="Text 15"/>
          <p:cNvSpPr/>
          <p:nvPr/>
        </p:nvSpPr>
        <p:spPr>
          <a:xfrm>
            <a:off x="1581912" y="2852928"/>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Dynamic choices use ForAll(Global.VarDevices.value, ...) — or static choices if formula unavailable</a:t>
            </a:r>
            <a:endParaRPr lang="en-US" sz="1050" dirty="0"/>
          </a:p>
        </p:txBody>
      </p:sp>
      <p:sp>
        <p:nvSpPr>
          <p:cNvPr id="18" name="Shape 16"/>
          <p:cNvSpPr/>
          <p:nvPr/>
        </p:nvSpPr>
        <p:spPr>
          <a:xfrm>
            <a:off x="320040" y="3255264"/>
            <a:ext cx="8503920" cy="448056"/>
          </a:xfrm>
          <a:prstGeom prst="rect">
            <a:avLst/>
          </a:prstGeom>
          <a:solidFill>
            <a:srgbClr val="FFFFFF"/>
          </a:solidFill>
          <a:ln w="12700">
            <a:solidFill>
              <a:srgbClr val="E1DFDD"/>
            </a:solidFill>
            <a:prstDash val="solid"/>
          </a:ln>
        </p:spPr>
      </p:sp>
      <p:sp>
        <p:nvSpPr>
          <p:cNvPr id="19" name="Shape 17"/>
          <p:cNvSpPr/>
          <p:nvPr/>
        </p:nvSpPr>
        <p:spPr>
          <a:xfrm>
            <a:off x="457200" y="3337560"/>
            <a:ext cx="1005840" cy="274320"/>
          </a:xfrm>
          <a:prstGeom prst="rect">
            <a:avLst/>
          </a:prstGeom>
          <a:solidFill>
            <a:srgbClr val="D47900"/>
          </a:solidFill>
          <a:ln w="12700">
            <a:solidFill>
              <a:srgbClr val="D47900"/>
            </a:solidFill>
            <a:prstDash val="solid"/>
          </a:ln>
        </p:spPr>
      </p:sp>
      <p:sp>
        <p:nvSpPr>
          <p:cNvPr id="20" name="Text 18"/>
          <p:cNvSpPr/>
          <p:nvPr/>
        </p:nvSpPr>
        <p:spPr>
          <a:xfrm>
            <a:off x="457200" y="3337560"/>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Routing</a:t>
            </a:r>
            <a:endParaRPr lang="en-US" sz="800" dirty="0"/>
          </a:p>
        </p:txBody>
      </p:sp>
      <p:sp>
        <p:nvSpPr>
          <p:cNvPr id="21" name="Text 19"/>
          <p:cNvSpPr/>
          <p:nvPr/>
        </p:nvSpPr>
        <p:spPr>
          <a:xfrm>
            <a:off x="1581912" y="3337560"/>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Test conversation moves from Available devices into Request device on Yes reply</a:t>
            </a:r>
            <a:endParaRPr lang="en-US" sz="1050" dirty="0"/>
          </a:p>
        </p:txBody>
      </p:sp>
      <p:sp>
        <p:nvSpPr>
          <p:cNvPr id="22" name="Shape 20"/>
          <p:cNvSpPr/>
          <p:nvPr/>
        </p:nvSpPr>
        <p:spPr>
          <a:xfrm>
            <a:off x="320040" y="3739896"/>
            <a:ext cx="8503920" cy="448056"/>
          </a:xfrm>
          <a:prstGeom prst="rect">
            <a:avLst/>
          </a:prstGeom>
          <a:solidFill>
            <a:srgbClr val="F3F2F1"/>
          </a:solidFill>
          <a:ln w="12700">
            <a:solidFill>
              <a:srgbClr val="E1DFDD"/>
            </a:solidFill>
            <a:prstDash val="solid"/>
          </a:ln>
        </p:spPr>
      </p:sp>
      <p:sp>
        <p:nvSpPr>
          <p:cNvPr id="23" name="Shape 21"/>
          <p:cNvSpPr/>
          <p:nvPr/>
        </p:nvSpPr>
        <p:spPr>
          <a:xfrm>
            <a:off x="457200" y="3822192"/>
            <a:ext cx="1005840" cy="274320"/>
          </a:xfrm>
          <a:prstGeom prst="rect">
            <a:avLst/>
          </a:prstGeom>
          <a:solidFill>
            <a:srgbClr val="107C10"/>
          </a:solidFill>
          <a:ln w="12700">
            <a:solidFill>
              <a:srgbClr val="107C10"/>
            </a:solidFill>
            <a:prstDash val="solid"/>
          </a:ln>
        </p:spPr>
      </p:sp>
      <p:sp>
        <p:nvSpPr>
          <p:cNvPr id="24" name="Text 22"/>
          <p:cNvSpPr/>
          <p:nvPr/>
        </p:nvSpPr>
        <p:spPr>
          <a:xfrm>
            <a:off x="457200" y="3822192"/>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Submit</a:t>
            </a:r>
            <a:endParaRPr lang="en-US" sz="800" dirty="0"/>
          </a:p>
        </p:txBody>
      </p:sp>
      <p:sp>
        <p:nvSpPr>
          <p:cNvPr id="25" name="Text 23"/>
          <p:cNvSpPr/>
          <p:nvPr/>
        </p:nvSpPr>
        <p:spPr>
          <a:xfrm>
            <a:off x="1581912" y="3822192"/>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Submitted card returns values instead of a blank or error response</a:t>
            </a:r>
            <a:endParaRPr lang="en-US" sz="1050" dirty="0"/>
          </a:p>
        </p:txBody>
      </p:sp>
      <p:sp>
        <p:nvSpPr>
          <p:cNvPr id="26" name="Shape 24"/>
          <p:cNvSpPr/>
          <p:nvPr/>
        </p:nvSpPr>
        <p:spPr>
          <a:xfrm>
            <a:off x="320040" y="4224528"/>
            <a:ext cx="8503920" cy="448056"/>
          </a:xfrm>
          <a:prstGeom prst="rect">
            <a:avLst/>
          </a:prstGeom>
          <a:solidFill>
            <a:srgbClr val="FFFFFF"/>
          </a:solidFill>
          <a:ln w="12700">
            <a:solidFill>
              <a:srgbClr val="E1DFDD"/>
            </a:solidFill>
            <a:prstDash val="solid"/>
          </a:ln>
        </p:spPr>
      </p:sp>
      <p:sp>
        <p:nvSpPr>
          <p:cNvPr id="27" name="Shape 25"/>
          <p:cNvSpPr/>
          <p:nvPr/>
        </p:nvSpPr>
        <p:spPr>
          <a:xfrm>
            <a:off x="457200" y="4306824"/>
            <a:ext cx="1005840" cy="274320"/>
          </a:xfrm>
          <a:prstGeom prst="rect">
            <a:avLst/>
          </a:prstGeom>
          <a:solidFill>
            <a:srgbClr val="243A5E"/>
          </a:solidFill>
          <a:ln w="12700">
            <a:solidFill>
              <a:srgbClr val="243A5E"/>
            </a:solidFill>
            <a:prstDash val="solid"/>
          </a:ln>
        </p:spPr>
      </p:sp>
      <p:sp>
        <p:nvSpPr>
          <p:cNvPr id="28" name="Text 26"/>
          <p:cNvSpPr/>
          <p:nvPr/>
        </p:nvSpPr>
        <p:spPr>
          <a:xfrm>
            <a:off x="457200" y="4306824"/>
            <a:ext cx="10058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Segoe UI" pitchFamily="34" charset="0"/>
                <a:ea typeface="Segoe UI" pitchFamily="34" charset="-122"/>
                <a:cs typeface="Segoe UI" pitchFamily="34" charset="-120"/>
              </a:rPr>
              <a:t>Instructions</a:t>
            </a:r>
            <a:endParaRPr lang="en-US" sz="800" dirty="0"/>
          </a:p>
        </p:txBody>
      </p:sp>
      <p:sp>
        <p:nvSpPr>
          <p:cNvPr id="29" name="Text 27"/>
          <p:cNvSpPr/>
          <p:nvPr/>
        </p:nvSpPr>
        <p:spPr>
          <a:xfrm>
            <a:off x="1581912" y="4306824"/>
            <a:ext cx="7123176" cy="274320"/>
          </a:xfrm>
          <a:prstGeom prst="rect">
            <a:avLst/>
          </a:prstGeom>
          <a:noFill/>
          <a:ln/>
        </p:spPr>
        <p:txBody>
          <a:bodyPr wrap="square" lIns="0" tIns="0" rIns="0" bIns="0" rtlCol="0" anchor="ctr"/>
          <a:lstStyle/>
          <a:p>
            <a:pPr indent="0" marL="0">
              <a:buNone/>
            </a:pPr>
            <a:r>
              <a:rPr lang="en-US" sz="1050" dirty="0">
                <a:solidFill>
                  <a:srgbClr val="201F1E"/>
                </a:solidFill>
                <a:latin typeface="Segoe UI" pitchFamily="34" charset="0"/>
                <a:ea typeface="Segoe UI" pitchFamily="34" charset="-122"/>
                <a:cs typeface="Segoe UI" pitchFamily="34" charset="-120"/>
              </a:rPr>
              <a:t>Routing instruction added to agent overview so orchestrator knows when to use Request device</a:t>
            </a:r>
            <a:endParaRPr lang="en-US" sz="1050" dirty="0"/>
          </a:p>
        </p:txBody>
      </p:sp>
      <p:sp>
        <p:nvSpPr>
          <p:cNvPr id="30" name="Shape 28"/>
          <p:cNvSpPr/>
          <p:nvPr/>
        </p:nvSpPr>
        <p:spPr>
          <a:xfrm>
            <a:off x="320040" y="4681728"/>
            <a:ext cx="8503920" cy="320040"/>
          </a:xfrm>
          <a:prstGeom prst="rect">
            <a:avLst/>
          </a:prstGeom>
          <a:solidFill>
            <a:srgbClr val="EFF6FC"/>
          </a:solidFill>
          <a:ln w="12700">
            <a:solidFill>
              <a:srgbClr val="C7E0F4"/>
            </a:solidFill>
            <a:prstDash val="solid"/>
          </a:ln>
        </p:spPr>
      </p:sp>
      <p:sp>
        <p:nvSpPr>
          <p:cNvPr id="31" name="Text 29"/>
          <p:cNvSpPr/>
          <p:nvPr/>
        </p:nvSpPr>
        <p:spPr>
          <a:xfrm>
            <a:off x="475488" y="4681728"/>
            <a:ext cx="8321040" cy="320040"/>
          </a:xfrm>
          <a:prstGeom prst="rect">
            <a:avLst/>
          </a:prstGeom>
          <a:noFill/>
          <a:ln/>
        </p:spPr>
        <p:txBody>
          <a:bodyPr wrap="square"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Up next: Module 06 — Actions and Events  (Labs 09–12: Flows, triggers, publish, licensing)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Workshop — Module 05: Topic Design</dc:title>
  <dc:subject>PptxGenJS Presentation</dc:subject>
  <dc:creator>Microsoft</dc:creator>
  <cp:lastModifiedBy>Microsoft</cp:lastModifiedBy>
  <cp:revision>1</cp:revision>
  <dcterms:created xsi:type="dcterms:W3CDTF">2026-03-23T21:07:37Z</dcterms:created>
  <dcterms:modified xsi:type="dcterms:W3CDTF">2026-03-23T21:07:37Z</dcterms:modified>
</cp:coreProperties>
</file>