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connects user reach with the quality loop that keeps the agent improving. Close the operational loop by pairing publishing readiness with user feedback and support expectations. Feedback is most useful when it has an owner and a follow-up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channel overview to broaden the conversation from publishing mechanics to operating reality. Call out how branding, support, compliance, and channel policy affect rollout decisions. The key governance point: each channel changes who can access the agent, who manages it, and how you audit its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one negative CSAT path live so participants can see the redirect happen. Explain clearly that built-in reactions and custom adaptive card feedback solve different reporting needs: reactions are for quick trend reporting, adaptive cards are for richer targeted feedback from users who had a poor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adaptive card responses are not automatically summarized in the built-in reactions chart — they appear in the Activity tab transcript. If participants need structured reporting after the workshop, plan a Dataverse table or Power Automate flow to persist the adaptive card outputs for trend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11</a:t>
            </a:r>
            <a:endParaRPr lang="en-US" sz="1100" dirty="0"/>
          </a:p>
        </p:txBody>
      </p:sp>
      <p:sp>
        <p:nvSpPr>
          <p:cNvPr id="5" name="Text 3"/>
          <p:cNvSpPr/>
          <p:nvPr/>
        </p:nvSpPr>
        <p:spPr>
          <a:xfrm>
            <a:off x="594360" y="1078992"/>
            <a:ext cx="8229600" cy="914400"/>
          </a:xfrm>
          <a:prstGeom prst="rect">
            <a:avLst/>
          </a:prstGeom>
          <a:noFill/>
          <a:ln/>
        </p:spPr>
        <p:txBody>
          <a:bodyPr wrap="square" rtlCol="0" anchor="ctr"/>
          <a:lstStyle/>
          <a:p>
            <a:pPr indent="0" marL="0">
              <a:buNone/>
            </a:pPr>
            <a:r>
              <a:rPr lang="en-US" sz="4600" b="1" dirty="0">
                <a:solidFill>
                  <a:srgbClr val="FFFFFF"/>
                </a:solidFill>
                <a:latin typeface="Segoe UI" pitchFamily="34" charset="0"/>
                <a:ea typeface="Segoe UI" pitchFamily="34" charset="-122"/>
                <a:cs typeface="Segoe UI" pitchFamily="34" charset="-120"/>
              </a:rPr>
              <a:t>Channels and Feedback</a:t>
            </a:r>
            <a:endParaRPr lang="en-US" sz="4600" dirty="0"/>
          </a:p>
        </p:txBody>
      </p:sp>
      <p:sp>
        <p:nvSpPr>
          <p:cNvPr id="6" name="Text 4"/>
          <p:cNvSpPr/>
          <p:nvPr/>
        </p:nvSpPr>
        <p:spPr>
          <a:xfrm>
            <a:off x="594360" y="2103120"/>
            <a:ext cx="7955280" cy="502920"/>
          </a:xfrm>
          <a:prstGeom prst="rect">
            <a:avLst/>
          </a:prstGeom>
          <a:noFill/>
          <a:ln/>
        </p:spPr>
        <p:txBody>
          <a:bodyPr wrap="square" rtlCol="0" anchor="ctr"/>
          <a:lstStyle/>
          <a:p>
            <a:pPr indent="0" marL="0">
              <a:buNone/>
            </a:pPr>
            <a:r>
              <a:rPr lang="en-US" sz="1300" dirty="0">
                <a:solidFill>
                  <a:srgbClr val="C5D8F0"/>
                </a:solidFill>
                <a:latin typeface="Segoe UI" pitchFamily="34" charset="0"/>
                <a:ea typeface="Segoe UI" pitchFamily="34" charset="-122"/>
                <a:cs typeface="Segoe UI" pitchFamily="34" charset="-120"/>
              </a:rPr>
              <a:t>Match channel choices to audience, policy, and ownership — then turn feedback into evidence that drives improvement</a:t>
            </a:r>
            <a:endParaRPr lang="en-US" sz="1300" dirty="0"/>
          </a:p>
        </p:txBody>
      </p:sp>
      <p:sp>
        <p:nvSpPr>
          <p:cNvPr id="7" name="Shape 5"/>
          <p:cNvSpPr/>
          <p:nvPr/>
        </p:nvSpPr>
        <p:spPr>
          <a:xfrm>
            <a:off x="594360" y="2834640"/>
            <a:ext cx="2633472" cy="438912"/>
          </a:xfrm>
          <a:prstGeom prst="rect">
            <a:avLst/>
          </a:prstGeom>
          <a:solidFill>
            <a:srgbClr val="0078D4"/>
          </a:solidFill>
          <a:ln w="12700">
            <a:solidFill>
              <a:srgbClr val="0078D4"/>
            </a:solidFill>
            <a:prstDash val="solid"/>
          </a:ln>
        </p:spPr>
      </p:sp>
      <p:sp>
        <p:nvSpPr>
          <p:cNvPr id="8" name="Text 6"/>
          <p:cNvSpPr/>
          <p:nvPr/>
        </p:nvSpPr>
        <p:spPr>
          <a:xfrm>
            <a:off x="594360"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Channel Strategy</a:t>
            </a:r>
            <a:endParaRPr lang="en-US" sz="1150" dirty="0"/>
          </a:p>
        </p:txBody>
      </p:sp>
      <p:sp>
        <p:nvSpPr>
          <p:cNvPr id="9" name="Shape 7"/>
          <p:cNvSpPr/>
          <p:nvPr/>
        </p:nvSpPr>
        <p:spPr>
          <a:xfrm>
            <a:off x="3410712" y="2834640"/>
            <a:ext cx="2633472" cy="438912"/>
          </a:xfrm>
          <a:prstGeom prst="rect">
            <a:avLst/>
          </a:prstGeom>
          <a:solidFill>
            <a:srgbClr val="00B294"/>
          </a:solidFill>
          <a:ln w="12700">
            <a:solidFill>
              <a:srgbClr val="00B294"/>
            </a:solidFill>
            <a:prstDash val="solid"/>
          </a:ln>
        </p:spPr>
      </p:sp>
      <p:sp>
        <p:nvSpPr>
          <p:cNvPr id="10" name="Text 8"/>
          <p:cNvSpPr/>
          <p:nvPr/>
        </p:nvSpPr>
        <p:spPr>
          <a:xfrm>
            <a:off x="3410712"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User Feedback</a:t>
            </a:r>
            <a:endParaRPr lang="en-US" sz="1150" dirty="0"/>
          </a:p>
        </p:txBody>
      </p:sp>
      <p:sp>
        <p:nvSpPr>
          <p:cNvPr id="11" name="Shape 9"/>
          <p:cNvSpPr/>
          <p:nvPr/>
        </p:nvSpPr>
        <p:spPr>
          <a:xfrm>
            <a:off x="6227064" y="2834640"/>
            <a:ext cx="2633472" cy="438912"/>
          </a:xfrm>
          <a:prstGeom prst="rect">
            <a:avLst/>
          </a:prstGeom>
          <a:solidFill>
            <a:srgbClr val="5C2D91"/>
          </a:solidFill>
          <a:ln w="12700">
            <a:solidFill>
              <a:srgbClr val="5C2D91"/>
            </a:solidFill>
            <a:prstDash val="solid"/>
          </a:ln>
        </p:spPr>
      </p:sp>
      <p:sp>
        <p:nvSpPr>
          <p:cNvPr id="12" name="Text 10"/>
          <p:cNvSpPr/>
          <p:nvPr/>
        </p:nvSpPr>
        <p:spPr>
          <a:xfrm>
            <a:off x="6227064" y="283464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Quality Loop</a:t>
            </a:r>
            <a:endParaRPr lang="en-US" sz="115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 23  ·  Day 2 Operative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11  ·  CHANNELS AND FEEDBACK</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Channel Overview: Teams and More</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Channel choice changes monitoring, adoption, and change-control expectations — not just where users find the agent.</a:t>
            </a:r>
            <a:endParaRPr lang="en-US" sz="1200" dirty="0"/>
          </a:p>
        </p:txBody>
      </p:sp>
      <p:sp>
        <p:nvSpPr>
          <p:cNvPr id="6" name="Shape 4"/>
          <p:cNvSpPr/>
          <p:nvPr/>
        </p:nvSpPr>
        <p:spPr>
          <a:xfrm>
            <a:off x="274320" y="1737360"/>
            <a:ext cx="2075688" cy="278892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37360"/>
            <a:ext cx="2075688" cy="347472"/>
          </a:xfrm>
          <a:prstGeom prst="rect">
            <a:avLst/>
          </a:prstGeom>
          <a:solidFill>
            <a:srgbClr val="0078D4"/>
          </a:solidFill>
          <a:ln w="12700">
            <a:solidFill>
              <a:srgbClr val="0078D4"/>
            </a:solidFill>
            <a:prstDash val="solid"/>
          </a:ln>
        </p:spPr>
      </p:sp>
      <p:sp>
        <p:nvSpPr>
          <p:cNvPr id="8" name="Text 6"/>
          <p:cNvSpPr/>
          <p:nvPr/>
        </p:nvSpPr>
        <p:spPr>
          <a:xfrm>
            <a:off x="347472" y="1737360"/>
            <a:ext cx="196596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Microsoft Teams</a:t>
            </a:r>
            <a:endParaRPr lang="en-US" sz="1100" dirty="0"/>
          </a:p>
        </p:txBody>
      </p:sp>
      <p:sp>
        <p:nvSpPr>
          <p:cNvPr id="9" name="Text 7"/>
          <p:cNvSpPr/>
          <p:nvPr/>
        </p:nvSpPr>
        <p:spPr>
          <a:xfrm>
            <a:off x="347472" y="2157984"/>
            <a:ext cx="1947672" cy="201168"/>
          </a:xfrm>
          <a:prstGeom prst="rect">
            <a:avLst/>
          </a:prstGeom>
          <a:noFill/>
          <a:ln/>
        </p:spPr>
        <p:txBody>
          <a:bodyPr wrap="square" rtlCol="0" anchor="ctr"/>
          <a:lstStyle/>
          <a:p>
            <a:pPr indent="0" marL="0">
              <a:buNone/>
            </a:pPr>
            <a:r>
              <a:rPr lang="en-US" sz="850" b="1" dirty="0">
                <a:solidFill>
                  <a:srgbClr val="0078D4"/>
                </a:solidFill>
                <a:latin typeface="Segoe UI" pitchFamily="34" charset="0"/>
                <a:ea typeface="Segoe UI" pitchFamily="34" charset="-122"/>
                <a:cs typeface="Segoe UI" pitchFamily="34" charset="-120"/>
              </a:rPr>
              <a:t>Audience:</a:t>
            </a:r>
            <a:endParaRPr lang="en-US" sz="850" dirty="0"/>
          </a:p>
        </p:txBody>
      </p:sp>
      <p:sp>
        <p:nvSpPr>
          <p:cNvPr id="10" name="Text 8"/>
          <p:cNvSpPr/>
          <p:nvPr/>
        </p:nvSpPr>
        <p:spPr>
          <a:xfrm>
            <a:off x="347472" y="2359152"/>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Internal org — employees and knowledge workers</a:t>
            </a:r>
            <a:endParaRPr lang="en-US" sz="850" dirty="0"/>
          </a:p>
        </p:txBody>
      </p:sp>
      <p:sp>
        <p:nvSpPr>
          <p:cNvPr id="11" name="Text 9"/>
          <p:cNvSpPr/>
          <p:nvPr/>
        </p:nvSpPr>
        <p:spPr>
          <a:xfrm>
            <a:off x="347472" y="2816352"/>
            <a:ext cx="1947672" cy="201168"/>
          </a:xfrm>
          <a:prstGeom prst="rect">
            <a:avLst/>
          </a:prstGeom>
          <a:noFill/>
          <a:ln/>
        </p:spPr>
        <p:txBody>
          <a:bodyPr wrap="square" rtlCol="0" anchor="ctr"/>
          <a:lstStyle/>
          <a:p>
            <a:pPr indent="0" marL="0">
              <a:buNone/>
            </a:pPr>
            <a:r>
              <a:rPr lang="en-US" sz="850" b="1" dirty="0">
                <a:solidFill>
                  <a:srgbClr val="0078D4"/>
                </a:solidFill>
                <a:latin typeface="Segoe UI" pitchFamily="34" charset="0"/>
                <a:ea typeface="Segoe UI" pitchFamily="34" charset="-122"/>
                <a:cs typeface="Segoe UI" pitchFamily="34" charset="-120"/>
              </a:rPr>
              <a:t>Auth:</a:t>
            </a:r>
            <a:endParaRPr lang="en-US" sz="850" dirty="0"/>
          </a:p>
        </p:txBody>
      </p:sp>
      <p:sp>
        <p:nvSpPr>
          <p:cNvPr id="12" name="Text 10"/>
          <p:cNvSpPr/>
          <p:nvPr/>
        </p:nvSpPr>
        <p:spPr>
          <a:xfrm>
            <a:off x="347472" y="3017520"/>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Microsoft Auth — uses SSO automatically</a:t>
            </a:r>
            <a:endParaRPr lang="en-US" sz="850" dirty="0"/>
          </a:p>
        </p:txBody>
      </p:sp>
      <p:sp>
        <p:nvSpPr>
          <p:cNvPr id="13" name="Text 11"/>
          <p:cNvSpPr/>
          <p:nvPr/>
        </p:nvSpPr>
        <p:spPr>
          <a:xfrm>
            <a:off x="347472" y="3474720"/>
            <a:ext cx="1947672" cy="201168"/>
          </a:xfrm>
          <a:prstGeom prst="rect">
            <a:avLst/>
          </a:prstGeom>
          <a:noFill/>
          <a:ln/>
        </p:spPr>
        <p:txBody>
          <a:bodyPr wrap="square" rtlCol="0" anchor="ctr"/>
          <a:lstStyle/>
          <a:p>
            <a:pPr indent="0" marL="0">
              <a:buNone/>
            </a:pPr>
            <a:r>
              <a:rPr lang="en-US" sz="850" b="1" dirty="0">
                <a:solidFill>
                  <a:srgbClr val="0078D4"/>
                </a:solidFill>
                <a:latin typeface="Segoe UI" pitchFamily="34" charset="0"/>
                <a:ea typeface="Segoe UI" pitchFamily="34" charset="-122"/>
                <a:cs typeface="Segoe UI" pitchFamily="34" charset="-120"/>
              </a:rPr>
              <a:t>Governance:</a:t>
            </a:r>
            <a:endParaRPr lang="en-US" sz="850" dirty="0"/>
          </a:p>
        </p:txBody>
      </p:sp>
      <p:sp>
        <p:nvSpPr>
          <p:cNvPr id="14" name="Text 12"/>
          <p:cNvSpPr/>
          <p:nvPr/>
        </p:nvSpPr>
        <p:spPr>
          <a:xfrm>
            <a:off x="347472" y="3675888"/>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IT manages via Teams Admin Center; app approval for broad org rollout</a:t>
            </a:r>
            <a:endParaRPr lang="en-US" sz="850" dirty="0"/>
          </a:p>
        </p:txBody>
      </p:sp>
      <p:sp>
        <p:nvSpPr>
          <p:cNvPr id="15" name="Text 13"/>
          <p:cNvSpPr/>
          <p:nvPr/>
        </p:nvSpPr>
        <p:spPr>
          <a:xfrm>
            <a:off x="347472" y="4169664"/>
            <a:ext cx="1947672" cy="310896"/>
          </a:xfrm>
          <a:prstGeom prst="rect">
            <a:avLst/>
          </a:prstGeom>
          <a:noFill/>
          <a:ln/>
        </p:spPr>
        <p:txBody>
          <a:bodyPr wrap="square" rtlCol="0" anchor="ctr"/>
          <a:lstStyle/>
          <a:p>
            <a:pPr indent="0" marL="0">
              <a:buNone/>
            </a:pPr>
            <a:r>
              <a:rPr lang="en-US" sz="800" b="1" dirty="0">
                <a:solidFill>
                  <a:srgbClr val="0078D4"/>
                </a:solidFill>
                <a:latin typeface="Segoe UI" pitchFamily="34" charset="0"/>
                <a:ea typeface="Segoe UI" pitchFamily="34" charset="-122"/>
                <a:cs typeface="Segoe UI" pitchFamily="34" charset="-120"/>
              </a:rPr>
              <a:t>Workshop default — best governance, easiest admin oversight</a:t>
            </a:r>
            <a:endParaRPr lang="en-US" sz="800" dirty="0"/>
          </a:p>
        </p:txBody>
      </p:sp>
      <p:sp>
        <p:nvSpPr>
          <p:cNvPr id="16" name="Shape 14"/>
          <p:cNvSpPr/>
          <p:nvPr/>
        </p:nvSpPr>
        <p:spPr>
          <a:xfrm>
            <a:off x="2414016" y="1737360"/>
            <a:ext cx="2075688" cy="278892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2414016" y="1737360"/>
            <a:ext cx="2075688" cy="347472"/>
          </a:xfrm>
          <a:prstGeom prst="rect">
            <a:avLst/>
          </a:prstGeom>
          <a:solidFill>
            <a:srgbClr val="00B294"/>
          </a:solidFill>
          <a:ln w="12700">
            <a:solidFill>
              <a:srgbClr val="00B294"/>
            </a:solidFill>
            <a:prstDash val="solid"/>
          </a:ln>
        </p:spPr>
      </p:sp>
      <p:sp>
        <p:nvSpPr>
          <p:cNvPr id="18" name="Text 16"/>
          <p:cNvSpPr/>
          <p:nvPr/>
        </p:nvSpPr>
        <p:spPr>
          <a:xfrm>
            <a:off x="2487168" y="1737360"/>
            <a:ext cx="196596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M365 Copilot</a:t>
            </a:r>
            <a:endParaRPr lang="en-US" sz="1100" dirty="0"/>
          </a:p>
        </p:txBody>
      </p:sp>
      <p:sp>
        <p:nvSpPr>
          <p:cNvPr id="19" name="Text 17"/>
          <p:cNvSpPr/>
          <p:nvPr/>
        </p:nvSpPr>
        <p:spPr>
          <a:xfrm>
            <a:off x="2487168" y="2157984"/>
            <a:ext cx="1947672" cy="201168"/>
          </a:xfrm>
          <a:prstGeom prst="rect">
            <a:avLst/>
          </a:prstGeom>
          <a:noFill/>
          <a:ln/>
        </p:spPr>
        <p:txBody>
          <a:bodyPr wrap="square" rtlCol="0" anchor="ctr"/>
          <a:lstStyle/>
          <a:p>
            <a:pPr indent="0" marL="0">
              <a:buNone/>
            </a:pPr>
            <a:r>
              <a:rPr lang="en-US" sz="850" b="1" dirty="0">
                <a:solidFill>
                  <a:srgbClr val="00B294"/>
                </a:solidFill>
                <a:latin typeface="Segoe UI" pitchFamily="34" charset="0"/>
                <a:ea typeface="Segoe UI" pitchFamily="34" charset="-122"/>
                <a:cs typeface="Segoe UI" pitchFamily="34" charset="-120"/>
              </a:rPr>
              <a:t>Audience:</a:t>
            </a:r>
            <a:endParaRPr lang="en-US" sz="850" dirty="0"/>
          </a:p>
        </p:txBody>
      </p:sp>
      <p:sp>
        <p:nvSpPr>
          <p:cNvPr id="20" name="Text 18"/>
          <p:cNvSpPr/>
          <p:nvPr/>
        </p:nvSpPr>
        <p:spPr>
          <a:xfrm>
            <a:off x="2487168" y="2359152"/>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M365 Copilot licensed users — embedded in daily workflow</a:t>
            </a:r>
            <a:endParaRPr lang="en-US" sz="850" dirty="0"/>
          </a:p>
        </p:txBody>
      </p:sp>
      <p:sp>
        <p:nvSpPr>
          <p:cNvPr id="21" name="Text 19"/>
          <p:cNvSpPr/>
          <p:nvPr/>
        </p:nvSpPr>
        <p:spPr>
          <a:xfrm>
            <a:off x="2487168" y="2816352"/>
            <a:ext cx="1947672" cy="201168"/>
          </a:xfrm>
          <a:prstGeom prst="rect">
            <a:avLst/>
          </a:prstGeom>
          <a:noFill/>
          <a:ln/>
        </p:spPr>
        <p:txBody>
          <a:bodyPr wrap="square" rtlCol="0" anchor="ctr"/>
          <a:lstStyle/>
          <a:p>
            <a:pPr indent="0" marL="0">
              <a:buNone/>
            </a:pPr>
            <a:r>
              <a:rPr lang="en-US" sz="850" b="1" dirty="0">
                <a:solidFill>
                  <a:srgbClr val="00B294"/>
                </a:solidFill>
                <a:latin typeface="Segoe UI" pitchFamily="34" charset="0"/>
                <a:ea typeface="Segoe UI" pitchFamily="34" charset="-122"/>
                <a:cs typeface="Segoe UI" pitchFamily="34" charset="-120"/>
              </a:rPr>
              <a:t>Auth:</a:t>
            </a:r>
            <a:endParaRPr lang="en-US" sz="850" dirty="0"/>
          </a:p>
        </p:txBody>
      </p:sp>
      <p:sp>
        <p:nvSpPr>
          <p:cNvPr id="22" name="Text 20"/>
          <p:cNvSpPr/>
          <p:nvPr/>
        </p:nvSpPr>
        <p:spPr>
          <a:xfrm>
            <a:off x="2487168" y="3017520"/>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Microsoft Auth — same as Teams</a:t>
            </a:r>
            <a:endParaRPr lang="en-US" sz="850" dirty="0"/>
          </a:p>
        </p:txBody>
      </p:sp>
      <p:sp>
        <p:nvSpPr>
          <p:cNvPr id="23" name="Text 21"/>
          <p:cNvSpPr/>
          <p:nvPr/>
        </p:nvSpPr>
        <p:spPr>
          <a:xfrm>
            <a:off x="2487168" y="3474720"/>
            <a:ext cx="1947672" cy="201168"/>
          </a:xfrm>
          <a:prstGeom prst="rect">
            <a:avLst/>
          </a:prstGeom>
          <a:noFill/>
          <a:ln/>
        </p:spPr>
        <p:txBody>
          <a:bodyPr wrap="square" rtlCol="0" anchor="ctr"/>
          <a:lstStyle/>
          <a:p>
            <a:pPr indent="0" marL="0">
              <a:buNone/>
            </a:pPr>
            <a:r>
              <a:rPr lang="en-US" sz="850" b="1" dirty="0">
                <a:solidFill>
                  <a:srgbClr val="00B294"/>
                </a:solidFill>
                <a:latin typeface="Segoe UI" pitchFamily="34" charset="0"/>
                <a:ea typeface="Segoe UI" pitchFamily="34" charset="-122"/>
                <a:cs typeface="Segoe UI" pitchFamily="34" charset="-120"/>
              </a:rPr>
              <a:t>Governance:</a:t>
            </a:r>
            <a:endParaRPr lang="en-US" sz="850" dirty="0"/>
          </a:p>
        </p:txBody>
      </p:sp>
      <p:sp>
        <p:nvSpPr>
          <p:cNvPr id="24" name="Text 22"/>
          <p:cNvSpPr/>
          <p:nvPr/>
        </p:nvSpPr>
        <p:spPr>
          <a:xfrm>
            <a:off x="2487168" y="3675888"/>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Centrally managed through Copilot settings in M365 Admin Center</a:t>
            </a:r>
            <a:endParaRPr lang="en-US" sz="850" dirty="0"/>
          </a:p>
        </p:txBody>
      </p:sp>
      <p:sp>
        <p:nvSpPr>
          <p:cNvPr id="25" name="Text 23"/>
          <p:cNvSpPr/>
          <p:nvPr/>
        </p:nvSpPr>
        <p:spPr>
          <a:xfrm>
            <a:off x="2487168" y="4169664"/>
            <a:ext cx="1947672" cy="310896"/>
          </a:xfrm>
          <a:prstGeom prst="rect">
            <a:avLst/>
          </a:prstGeom>
          <a:noFill/>
          <a:ln/>
        </p:spPr>
        <p:txBody>
          <a:bodyPr wrap="square" rtlCol="0" anchor="ctr"/>
          <a:lstStyle/>
          <a:p>
            <a:pPr indent="0" marL="0">
              <a:buNone/>
            </a:pPr>
            <a:r>
              <a:rPr lang="en-US" sz="800" b="1" dirty="0">
                <a:solidFill>
                  <a:srgbClr val="00B294"/>
                </a:solidFill>
                <a:latin typeface="Segoe UI" pitchFamily="34" charset="0"/>
                <a:ea typeface="Segoe UI" pitchFamily="34" charset="-122"/>
                <a:cs typeface="Segoe UI" pitchFamily="34" charset="-120"/>
              </a:rPr>
              <a:t>Highest integration value; requires M365 Copilot license for users</a:t>
            </a:r>
            <a:endParaRPr lang="en-US" sz="800" dirty="0"/>
          </a:p>
        </p:txBody>
      </p:sp>
      <p:sp>
        <p:nvSpPr>
          <p:cNvPr id="26" name="Shape 24"/>
          <p:cNvSpPr/>
          <p:nvPr/>
        </p:nvSpPr>
        <p:spPr>
          <a:xfrm>
            <a:off x="4553712" y="1737360"/>
            <a:ext cx="2075688" cy="278892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7" name="Shape 25"/>
          <p:cNvSpPr/>
          <p:nvPr/>
        </p:nvSpPr>
        <p:spPr>
          <a:xfrm>
            <a:off x="4553712" y="1737360"/>
            <a:ext cx="2075688" cy="347472"/>
          </a:xfrm>
          <a:prstGeom prst="rect">
            <a:avLst/>
          </a:prstGeom>
          <a:solidFill>
            <a:srgbClr val="5C2D91"/>
          </a:solidFill>
          <a:ln w="12700">
            <a:solidFill>
              <a:srgbClr val="5C2D91"/>
            </a:solidFill>
            <a:prstDash val="solid"/>
          </a:ln>
        </p:spPr>
      </p:sp>
      <p:sp>
        <p:nvSpPr>
          <p:cNvPr id="28" name="Text 26"/>
          <p:cNvSpPr/>
          <p:nvPr/>
        </p:nvSpPr>
        <p:spPr>
          <a:xfrm>
            <a:off x="4626864" y="1737360"/>
            <a:ext cx="196596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WhatsApp</a:t>
            </a:r>
            <a:endParaRPr lang="en-US" sz="1100" dirty="0"/>
          </a:p>
        </p:txBody>
      </p:sp>
      <p:sp>
        <p:nvSpPr>
          <p:cNvPr id="29" name="Text 27"/>
          <p:cNvSpPr/>
          <p:nvPr/>
        </p:nvSpPr>
        <p:spPr>
          <a:xfrm>
            <a:off x="4626864" y="2157984"/>
            <a:ext cx="1947672" cy="201168"/>
          </a:xfrm>
          <a:prstGeom prst="rect">
            <a:avLst/>
          </a:prstGeom>
          <a:noFill/>
          <a:ln/>
        </p:spPr>
        <p:txBody>
          <a:bodyPr wrap="square" rtlCol="0" anchor="ctr"/>
          <a:lstStyle/>
          <a:p>
            <a:pPr indent="0" marL="0">
              <a:buNone/>
            </a:pPr>
            <a:r>
              <a:rPr lang="en-US" sz="850" b="1" dirty="0">
                <a:solidFill>
                  <a:srgbClr val="5C2D91"/>
                </a:solidFill>
                <a:latin typeface="Segoe UI" pitchFamily="34" charset="0"/>
                <a:ea typeface="Segoe UI" pitchFamily="34" charset="-122"/>
                <a:cs typeface="Segoe UI" pitchFamily="34" charset="-120"/>
              </a:rPr>
              <a:t>Audience:</a:t>
            </a:r>
            <a:endParaRPr lang="en-US" sz="850" dirty="0"/>
          </a:p>
        </p:txBody>
      </p:sp>
      <p:sp>
        <p:nvSpPr>
          <p:cNvPr id="30" name="Text 28"/>
          <p:cNvSpPr/>
          <p:nvPr/>
        </p:nvSpPr>
        <p:spPr>
          <a:xfrm>
            <a:off x="4626864" y="2359152"/>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External-facing — partners, candidates, or customers</a:t>
            </a:r>
            <a:endParaRPr lang="en-US" sz="850" dirty="0"/>
          </a:p>
        </p:txBody>
      </p:sp>
      <p:sp>
        <p:nvSpPr>
          <p:cNvPr id="31" name="Text 29"/>
          <p:cNvSpPr/>
          <p:nvPr/>
        </p:nvSpPr>
        <p:spPr>
          <a:xfrm>
            <a:off x="4626864" y="2816352"/>
            <a:ext cx="1947672" cy="201168"/>
          </a:xfrm>
          <a:prstGeom prst="rect">
            <a:avLst/>
          </a:prstGeom>
          <a:noFill/>
          <a:ln/>
        </p:spPr>
        <p:txBody>
          <a:bodyPr wrap="square" rtlCol="0" anchor="ctr"/>
          <a:lstStyle/>
          <a:p>
            <a:pPr indent="0" marL="0">
              <a:buNone/>
            </a:pPr>
            <a:r>
              <a:rPr lang="en-US" sz="850" b="1" dirty="0">
                <a:solidFill>
                  <a:srgbClr val="5C2D91"/>
                </a:solidFill>
                <a:latin typeface="Segoe UI" pitchFamily="34" charset="0"/>
                <a:ea typeface="Segoe UI" pitchFamily="34" charset="-122"/>
                <a:cs typeface="Segoe UI" pitchFamily="34" charset="-120"/>
              </a:rPr>
              <a:t>Auth:</a:t>
            </a:r>
            <a:endParaRPr lang="en-US" sz="850" dirty="0"/>
          </a:p>
        </p:txBody>
      </p:sp>
      <p:sp>
        <p:nvSpPr>
          <p:cNvPr id="32" name="Text 30"/>
          <p:cNvSpPr/>
          <p:nvPr/>
        </p:nvSpPr>
        <p:spPr>
          <a:xfrm>
            <a:off x="4626864" y="3017520"/>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No Microsoft Auth — uses WhatsApp business account</a:t>
            </a:r>
            <a:endParaRPr lang="en-US" sz="850" dirty="0"/>
          </a:p>
        </p:txBody>
      </p:sp>
      <p:sp>
        <p:nvSpPr>
          <p:cNvPr id="33" name="Text 31"/>
          <p:cNvSpPr/>
          <p:nvPr/>
        </p:nvSpPr>
        <p:spPr>
          <a:xfrm>
            <a:off x="4626864" y="3474720"/>
            <a:ext cx="1947672" cy="201168"/>
          </a:xfrm>
          <a:prstGeom prst="rect">
            <a:avLst/>
          </a:prstGeom>
          <a:noFill/>
          <a:ln/>
        </p:spPr>
        <p:txBody>
          <a:bodyPr wrap="square" rtlCol="0" anchor="ctr"/>
          <a:lstStyle/>
          <a:p>
            <a:pPr indent="0" marL="0">
              <a:buNone/>
            </a:pPr>
            <a:r>
              <a:rPr lang="en-US" sz="850" b="1" dirty="0">
                <a:solidFill>
                  <a:srgbClr val="5C2D91"/>
                </a:solidFill>
                <a:latin typeface="Segoe UI" pitchFamily="34" charset="0"/>
                <a:ea typeface="Segoe UI" pitchFamily="34" charset="-122"/>
                <a:cs typeface="Segoe UI" pitchFamily="34" charset="-120"/>
              </a:rPr>
              <a:t>Governance:</a:t>
            </a:r>
            <a:endParaRPr lang="en-US" sz="850" dirty="0"/>
          </a:p>
        </p:txBody>
      </p:sp>
      <p:sp>
        <p:nvSpPr>
          <p:cNvPr id="34" name="Text 32"/>
          <p:cNvSpPr/>
          <p:nvPr/>
        </p:nvSpPr>
        <p:spPr>
          <a:xfrm>
            <a:off x="4626864" y="3675888"/>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Meta Business account + DLP review; switching away from Microsoft Auth required</a:t>
            </a:r>
            <a:endParaRPr lang="en-US" sz="850" dirty="0"/>
          </a:p>
        </p:txBody>
      </p:sp>
      <p:sp>
        <p:nvSpPr>
          <p:cNvPr id="35" name="Text 33"/>
          <p:cNvSpPr/>
          <p:nvPr/>
        </p:nvSpPr>
        <p:spPr>
          <a:xfrm>
            <a:off x="4626864" y="4169664"/>
            <a:ext cx="1947672" cy="310896"/>
          </a:xfrm>
          <a:prstGeom prst="rect">
            <a:avLst/>
          </a:prstGeom>
          <a:noFill/>
          <a:ln/>
        </p:spPr>
        <p:txBody>
          <a:bodyPr wrap="square" rtlCol="0" anchor="ctr"/>
          <a:lstStyle/>
          <a:p>
            <a:pPr indent="0" marL="0">
              <a:buNone/>
            </a:pPr>
            <a:r>
              <a:rPr lang="en-US" sz="800" b="1" dirty="0">
                <a:solidFill>
                  <a:srgbClr val="5C2D91"/>
                </a:solidFill>
                <a:latin typeface="Segoe UI" pitchFamily="34" charset="0"/>
                <a:ea typeface="Segoe UI" pitchFamily="34" charset="-122"/>
                <a:cs typeface="Segoe UI" pitchFamily="34" charset="-120"/>
              </a:rPr>
              <a:t>GA channel for external reach — plan auth change before enabling</a:t>
            </a:r>
            <a:endParaRPr lang="en-US" sz="800" dirty="0"/>
          </a:p>
        </p:txBody>
      </p:sp>
      <p:sp>
        <p:nvSpPr>
          <p:cNvPr id="36" name="Shape 34"/>
          <p:cNvSpPr/>
          <p:nvPr/>
        </p:nvSpPr>
        <p:spPr>
          <a:xfrm>
            <a:off x="6693408" y="1737360"/>
            <a:ext cx="2075688" cy="278892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37" name="Shape 35"/>
          <p:cNvSpPr/>
          <p:nvPr/>
        </p:nvSpPr>
        <p:spPr>
          <a:xfrm>
            <a:off x="6693408" y="1737360"/>
            <a:ext cx="2075688" cy="347472"/>
          </a:xfrm>
          <a:prstGeom prst="rect">
            <a:avLst/>
          </a:prstGeom>
          <a:solidFill>
            <a:srgbClr val="D83B01"/>
          </a:solidFill>
          <a:ln w="12700">
            <a:solidFill>
              <a:srgbClr val="D83B01"/>
            </a:solidFill>
            <a:prstDash val="solid"/>
          </a:ln>
        </p:spPr>
      </p:sp>
      <p:sp>
        <p:nvSpPr>
          <p:cNvPr id="38" name="Text 36"/>
          <p:cNvSpPr/>
          <p:nvPr/>
        </p:nvSpPr>
        <p:spPr>
          <a:xfrm>
            <a:off x="6766560" y="1737360"/>
            <a:ext cx="196596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Custom Website</a:t>
            </a:r>
            <a:endParaRPr lang="en-US" sz="1100" dirty="0"/>
          </a:p>
        </p:txBody>
      </p:sp>
      <p:sp>
        <p:nvSpPr>
          <p:cNvPr id="39" name="Text 37"/>
          <p:cNvSpPr/>
          <p:nvPr/>
        </p:nvSpPr>
        <p:spPr>
          <a:xfrm>
            <a:off x="6766560" y="2157984"/>
            <a:ext cx="1947672" cy="201168"/>
          </a:xfrm>
          <a:prstGeom prst="rect">
            <a:avLst/>
          </a:prstGeom>
          <a:noFill/>
          <a:ln/>
        </p:spPr>
        <p:txBody>
          <a:bodyPr wrap="square" rtlCol="0" anchor="ctr"/>
          <a:lstStyle/>
          <a:p>
            <a:pPr indent="0" marL="0">
              <a:buNone/>
            </a:pPr>
            <a:r>
              <a:rPr lang="en-US" sz="850" b="1" dirty="0">
                <a:solidFill>
                  <a:srgbClr val="D83B01"/>
                </a:solidFill>
                <a:latin typeface="Segoe UI" pitchFamily="34" charset="0"/>
                <a:ea typeface="Segoe UI" pitchFamily="34" charset="-122"/>
                <a:cs typeface="Segoe UI" pitchFamily="34" charset="-120"/>
              </a:rPr>
              <a:t>Audience:</a:t>
            </a:r>
            <a:endParaRPr lang="en-US" sz="850" dirty="0"/>
          </a:p>
        </p:txBody>
      </p:sp>
      <p:sp>
        <p:nvSpPr>
          <p:cNvPr id="40" name="Text 38"/>
          <p:cNvSpPr/>
          <p:nvPr/>
        </p:nvSpPr>
        <p:spPr>
          <a:xfrm>
            <a:off x="6766560" y="2359152"/>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Public or internal web portals and apps</a:t>
            </a:r>
            <a:endParaRPr lang="en-US" sz="850" dirty="0"/>
          </a:p>
        </p:txBody>
      </p:sp>
      <p:sp>
        <p:nvSpPr>
          <p:cNvPr id="41" name="Text 39"/>
          <p:cNvSpPr/>
          <p:nvPr/>
        </p:nvSpPr>
        <p:spPr>
          <a:xfrm>
            <a:off x="6766560" y="2816352"/>
            <a:ext cx="1947672" cy="201168"/>
          </a:xfrm>
          <a:prstGeom prst="rect">
            <a:avLst/>
          </a:prstGeom>
          <a:noFill/>
          <a:ln/>
        </p:spPr>
        <p:txBody>
          <a:bodyPr wrap="square" rtlCol="0" anchor="ctr"/>
          <a:lstStyle/>
          <a:p>
            <a:pPr indent="0" marL="0">
              <a:buNone/>
            </a:pPr>
            <a:r>
              <a:rPr lang="en-US" sz="850" b="1" dirty="0">
                <a:solidFill>
                  <a:srgbClr val="D83B01"/>
                </a:solidFill>
                <a:latin typeface="Segoe UI" pitchFamily="34" charset="0"/>
                <a:ea typeface="Segoe UI" pitchFamily="34" charset="-122"/>
                <a:cs typeface="Segoe UI" pitchFamily="34" charset="-120"/>
              </a:rPr>
              <a:t>Auth:</a:t>
            </a:r>
            <a:endParaRPr lang="en-US" sz="850" dirty="0"/>
          </a:p>
        </p:txBody>
      </p:sp>
      <p:sp>
        <p:nvSpPr>
          <p:cNvPr id="42" name="Text 40"/>
          <p:cNvSpPr/>
          <p:nvPr/>
        </p:nvSpPr>
        <p:spPr>
          <a:xfrm>
            <a:off x="6766560" y="3017520"/>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Flexible — no auth, manual auth, or custom Entra OAuth</a:t>
            </a:r>
            <a:endParaRPr lang="en-US" sz="850" dirty="0"/>
          </a:p>
        </p:txBody>
      </p:sp>
      <p:sp>
        <p:nvSpPr>
          <p:cNvPr id="43" name="Text 41"/>
          <p:cNvSpPr/>
          <p:nvPr/>
        </p:nvSpPr>
        <p:spPr>
          <a:xfrm>
            <a:off x="6766560" y="3474720"/>
            <a:ext cx="1947672" cy="201168"/>
          </a:xfrm>
          <a:prstGeom prst="rect">
            <a:avLst/>
          </a:prstGeom>
          <a:noFill/>
          <a:ln/>
        </p:spPr>
        <p:txBody>
          <a:bodyPr wrap="square" rtlCol="0" anchor="ctr"/>
          <a:lstStyle/>
          <a:p>
            <a:pPr indent="0" marL="0">
              <a:buNone/>
            </a:pPr>
            <a:r>
              <a:rPr lang="en-US" sz="850" b="1" dirty="0">
                <a:solidFill>
                  <a:srgbClr val="D83B01"/>
                </a:solidFill>
                <a:latin typeface="Segoe UI" pitchFamily="34" charset="0"/>
                <a:ea typeface="Segoe UI" pitchFamily="34" charset="-122"/>
                <a:cs typeface="Segoe UI" pitchFamily="34" charset="-120"/>
              </a:rPr>
              <a:t>Governance:</a:t>
            </a:r>
            <a:endParaRPr lang="en-US" sz="850" dirty="0"/>
          </a:p>
        </p:txBody>
      </p:sp>
      <p:sp>
        <p:nvSpPr>
          <p:cNvPr id="44" name="Text 42"/>
          <p:cNvSpPr/>
          <p:nvPr/>
        </p:nvSpPr>
        <p:spPr>
          <a:xfrm>
            <a:off x="6766560" y="3675888"/>
            <a:ext cx="1947672" cy="411480"/>
          </a:xfrm>
          <a:prstGeom prst="rect">
            <a:avLst/>
          </a:prstGeom>
          <a:noFill/>
          <a:ln/>
        </p:spPr>
        <p:txBody>
          <a:bodyPr wrap="square" rtlCol="0" anchor="ctr"/>
          <a:lstStyle/>
          <a:p>
            <a:pPr indent="0" marL="0">
              <a:buNone/>
            </a:pPr>
            <a:r>
              <a:rPr lang="en-US" sz="850" dirty="0">
                <a:solidFill>
                  <a:srgbClr val="201F1E"/>
                </a:solidFill>
                <a:latin typeface="Segoe UI" pitchFamily="34" charset="0"/>
                <a:ea typeface="Segoe UI" pitchFamily="34" charset="-122"/>
                <a:cs typeface="Segoe UI" pitchFamily="34" charset="-120"/>
              </a:rPr>
              <a:t>Teams Admin Center not involved; embedding owner controls access</a:t>
            </a:r>
            <a:endParaRPr lang="en-US" sz="850" dirty="0"/>
          </a:p>
        </p:txBody>
      </p:sp>
      <p:sp>
        <p:nvSpPr>
          <p:cNvPr id="45" name="Text 43"/>
          <p:cNvSpPr/>
          <p:nvPr/>
        </p:nvSpPr>
        <p:spPr>
          <a:xfrm>
            <a:off x="6766560" y="4169664"/>
            <a:ext cx="1947672" cy="310896"/>
          </a:xfrm>
          <a:prstGeom prst="rect">
            <a:avLst/>
          </a:prstGeom>
          <a:noFill/>
          <a:ln/>
        </p:spPr>
        <p:txBody>
          <a:bodyPr wrap="square" rtlCol="0" anchor="ctr"/>
          <a:lstStyle/>
          <a:p>
            <a:pPr indent="0" marL="0">
              <a:buNone/>
            </a:pPr>
            <a:r>
              <a:rPr lang="en-US" sz="800" b="1" dirty="0">
                <a:solidFill>
                  <a:srgbClr val="D83B01"/>
                </a:solidFill>
                <a:latin typeface="Segoe UI" pitchFamily="34" charset="0"/>
                <a:ea typeface="Segoe UI" pitchFamily="34" charset="-122"/>
                <a:cs typeface="Segoe UI" pitchFamily="34" charset="-120"/>
              </a:rPr>
              <a:t>Most flexible — most governance responsibility on the team</a:t>
            </a:r>
            <a:endParaRPr lang="en-US" sz="800" dirty="0"/>
          </a:p>
        </p:txBody>
      </p:sp>
      <p:sp>
        <p:nvSpPr>
          <p:cNvPr id="46" name="Shape 44"/>
          <p:cNvSpPr/>
          <p:nvPr/>
        </p:nvSpPr>
        <p:spPr>
          <a:xfrm>
            <a:off x="274320" y="4663440"/>
            <a:ext cx="8595360" cy="320040"/>
          </a:xfrm>
          <a:prstGeom prst="rect">
            <a:avLst/>
          </a:prstGeom>
          <a:solidFill>
            <a:srgbClr val="EFF6FC"/>
          </a:solidFill>
          <a:ln w="12700">
            <a:solidFill>
              <a:srgbClr val="C7E0F4"/>
            </a:solidFill>
            <a:prstDash val="solid"/>
          </a:ln>
        </p:spPr>
      </p:sp>
      <p:sp>
        <p:nvSpPr>
          <p:cNvPr id="47" name="Text 45"/>
          <p:cNvSpPr/>
          <p:nvPr/>
        </p:nvSpPr>
        <p:spPr>
          <a:xfrm>
            <a:off x="438912" y="4663440"/>
            <a:ext cx="845820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WhatsApp requires switching from Microsoft Auth — plan the auth change and governance review before enabling.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23</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User Feedback</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Confirm 'Collect user reactions to agent messages' is enabled in Hiring Agent Settings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'Capture Dissatisfied Feedback' topic with adaptive card (4 reasons + comment field)</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Open End of Conversation system topic — store CSAT score in VarCSATRating variable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condition: scores ≥ 3 continue normally; scores 1–2 route to the feedback card topic</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1-star rating triggers feedback card; 4-star goes through the normal end path</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30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Feedback needs an owner</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and a follow-up path</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11  ·  LAB 23 RECAP</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23: User Feedback</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Feedback is most useful when it has an owner, a follow-up path, and a structured capture mechanism.</a:t>
            </a:r>
            <a:endParaRPr lang="en-US" sz="1200" dirty="0"/>
          </a:p>
        </p:txBody>
      </p:sp>
      <p:sp>
        <p:nvSpPr>
          <p:cNvPr id="6" name="Shape 4"/>
          <p:cNvSpPr/>
          <p:nvPr/>
        </p:nvSpPr>
        <p:spPr>
          <a:xfrm>
            <a:off x="320040" y="1901952"/>
            <a:ext cx="8503920" cy="475488"/>
          </a:xfrm>
          <a:prstGeom prst="rect">
            <a:avLst/>
          </a:prstGeom>
          <a:solidFill>
            <a:srgbClr val="F3F2F1"/>
          </a:solidFill>
          <a:ln w="12700">
            <a:solidFill>
              <a:srgbClr val="E1DFDD"/>
            </a:solidFill>
            <a:prstDash val="solid"/>
          </a:ln>
        </p:spPr>
      </p:sp>
      <p:sp>
        <p:nvSpPr>
          <p:cNvPr id="7" name="Shape 5"/>
          <p:cNvSpPr/>
          <p:nvPr/>
        </p:nvSpPr>
        <p:spPr>
          <a:xfrm>
            <a:off x="457200" y="1993392"/>
            <a:ext cx="914400" cy="274320"/>
          </a:xfrm>
          <a:prstGeom prst="rect">
            <a:avLst/>
          </a:prstGeom>
          <a:solidFill>
            <a:srgbClr val="0078D4"/>
          </a:solidFill>
          <a:ln w="12700">
            <a:solidFill>
              <a:srgbClr val="0078D4"/>
            </a:solidFill>
            <a:prstDash val="solid"/>
          </a:ln>
        </p:spPr>
      </p:sp>
      <p:sp>
        <p:nvSpPr>
          <p:cNvPr id="8" name="Text 6"/>
          <p:cNvSpPr/>
          <p:nvPr/>
        </p:nvSpPr>
        <p:spPr>
          <a:xfrm>
            <a:off x="457200" y="1993392"/>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Reactions</a:t>
            </a:r>
            <a:endParaRPr lang="en-US" sz="800" dirty="0"/>
          </a:p>
        </p:txBody>
      </p:sp>
      <p:sp>
        <p:nvSpPr>
          <p:cNvPr id="9" name="Text 7"/>
          <p:cNvSpPr/>
          <p:nvPr/>
        </p:nvSpPr>
        <p:spPr>
          <a:xfrm>
            <a:off x="1481328" y="1993392"/>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Built-in reactions enabled — 'Collect user reactions to agent messages' set to On</a:t>
            </a:r>
            <a:endParaRPr lang="en-US" sz="1100" dirty="0"/>
          </a:p>
        </p:txBody>
      </p:sp>
      <p:sp>
        <p:nvSpPr>
          <p:cNvPr id="10" name="Shape 8"/>
          <p:cNvSpPr/>
          <p:nvPr/>
        </p:nvSpPr>
        <p:spPr>
          <a:xfrm>
            <a:off x="320040" y="2414016"/>
            <a:ext cx="8503920" cy="475488"/>
          </a:xfrm>
          <a:prstGeom prst="rect">
            <a:avLst/>
          </a:prstGeom>
          <a:solidFill>
            <a:srgbClr val="FFFFFF"/>
          </a:solidFill>
          <a:ln w="12700">
            <a:solidFill>
              <a:srgbClr val="E1DFDD"/>
            </a:solidFill>
            <a:prstDash val="solid"/>
          </a:ln>
        </p:spPr>
      </p:sp>
      <p:sp>
        <p:nvSpPr>
          <p:cNvPr id="11" name="Shape 9"/>
          <p:cNvSpPr/>
          <p:nvPr/>
        </p:nvSpPr>
        <p:spPr>
          <a:xfrm>
            <a:off x="457200" y="2505456"/>
            <a:ext cx="914400" cy="274320"/>
          </a:xfrm>
          <a:prstGeom prst="rect">
            <a:avLst/>
          </a:prstGeom>
          <a:solidFill>
            <a:srgbClr val="00B294"/>
          </a:solidFill>
          <a:ln w="12700">
            <a:solidFill>
              <a:srgbClr val="00B294"/>
            </a:solidFill>
            <a:prstDash val="solid"/>
          </a:ln>
        </p:spPr>
      </p:sp>
      <p:sp>
        <p:nvSpPr>
          <p:cNvPr id="12" name="Text 10"/>
          <p:cNvSpPr/>
          <p:nvPr/>
        </p:nvSpPr>
        <p:spPr>
          <a:xfrm>
            <a:off x="457200" y="2505456"/>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Topic</a:t>
            </a:r>
            <a:endParaRPr lang="en-US" sz="800" dirty="0"/>
          </a:p>
        </p:txBody>
      </p:sp>
      <p:sp>
        <p:nvSpPr>
          <p:cNvPr id="13" name="Text 11"/>
          <p:cNvSpPr/>
          <p:nvPr/>
        </p:nvSpPr>
        <p:spPr>
          <a:xfrm>
            <a:off x="1481328" y="2505456"/>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'Capture Dissatisfied Feedback' topic exists with adaptive card — 4 reasons + comment</a:t>
            </a:r>
            <a:endParaRPr lang="en-US" sz="1100" dirty="0"/>
          </a:p>
        </p:txBody>
      </p:sp>
      <p:sp>
        <p:nvSpPr>
          <p:cNvPr id="14" name="Shape 12"/>
          <p:cNvSpPr/>
          <p:nvPr/>
        </p:nvSpPr>
        <p:spPr>
          <a:xfrm>
            <a:off x="320040" y="2926080"/>
            <a:ext cx="8503920" cy="475488"/>
          </a:xfrm>
          <a:prstGeom prst="rect">
            <a:avLst/>
          </a:prstGeom>
          <a:solidFill>
            <a:srgbClr val="F3F2F1"/>
          </a:solidFill>
          <a:ln w="12700">
            <a:solidFill>
              <a:srgbClr val="E1DFDD"/>
            </a:solidFill>
            <a:prstDash val="solid"/>
          </a:ln>
        </p:spPr>
      </p:sp>
      <p:sp>
        <p:nvSpPr>
          <p:cNvPr id="15" name="Shape 13"/>
          <p:cNvSpPr/>
          <p:nvPr/>
        </p:nvSpPr>
        <p:spPr>
          <a:xfrm>
            <a:off x="457200" y="3017520"/>
            <a:ext cx="914400" cy="274320"/>
          </a:xfrm>
          <a:prstGeom prst="rect">
            <a:avLst/>
          </a:prstGeom>
          <a:solidFill>
            <a:srgbClr val="5C2D91"/>
          </a:solidFill>
          <a:ln w="12700">
            <a:solidFill>
              <a:srgbClr val="5C2D91"/>
            </a:solidFill>
            <a:prstDash val="solid"/>
          </a:ln>
        </p:spPr>
      </p:sp>
      <p:sp>
        <p:nvSpPr>
          <p:cNvPr id="16" name="Text 14"/>
          <p:cNvSpPr/>
          <p:nvPr/>
        </p:nvSpPr>
        <p:spPr>
          <a:xfrm>
            <a:off x="457200" y="3017520"/>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Routing</a:t>
            </a:r>
            <a:endParaRPr lang="en-US" sz="800" dirty="0"/>
          </a:p>
        </p:txBody>
      </p:sp>
      <p:sp>
        <p:nvSpPr>
          <p:cNvPr id="17" name="Text 15"/>
          <p:cNvSpPr/>
          <p:nvPr/>
        </p:nvSpPr>
        <p:spPr>
          <a:xfrm>
            <a:off x="1481328" y="3017520"/>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End of Conversation topic stores CSAT score in VarCSATRating and applies the routing condition</a:t>
            </a:r>
            <a:endParaRPr lang="en-US" sz="1100" dirty="0"/>
          </a:p>
        </p:txBody>
      </p:sp>
      <p:sp>
        <p:nvSpPr>
          <p:cNvPr id="18" name="Shape 16"/>
          <p:cNvSpPr/>
          <p:nvPr/>
        </p:nvSpPr>
        <p:spPr>
          <a:xfrm>
            <a:off x="320040" y="3438144"/>
            <a:ext cx="8503920" cy="475488"/>
          </a:xfrm>
          <a:prstGeom prst="rect">
            <a:avLst/>
          </a:prstGeom>
          <a:solidFill>
            <a:srgbClr val="FFFFFF"/>
          </a:solidFill>
          <a:ln w="12700">
            <a:solidFill>
              <a:srgbClr val="E1DFDD"/>
            </a:solidFill>
            <a:prstDash val="solid"/>
          </a:ln>
        </p:spPr>
      </p:sp>
      <p:sp>
        <p:nvSpPr>
          <p:cNvPr id="19" name="Shape 17"/>
          <p:cNvSpPr/>
          <p:nvPr/>
        </p:nvSpPr>
        <p:spPr>
          <a:xfrm>
            <a:off x="457200" y="3529584"/>
            <a:ext cx="914400" cy="274320"/>
          </a:xfrm>
          <a:prstGeom prst="rect">
            <a:avLst/>
          </a:prstGeom>
          <a:solidFill>
            <a:srgbClr val="D47900"/>
          </a:solidFill>
          <a:ln w="12700">
            <a:solidFill>
              <a:srgbClr val="D47900"/>
            </a:solidFill>
            <a:prstDash val="solid"/>
          </a:ln>
        </p:spPr>
      </p:sp>
      <p:sp>
        <p:nvSpPr>
          <p:cNvPr id="20" name="Text 18"/>
          <p:cNvSpPr/>
          <p:nvPr/>
        </p:nvSpPr>
        <p:spPr>
          <a:xfrm>
            <a:off x="457200" y="3529584"/>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Condition</a:t>
            </a:r>
            <a:endParaRPr lang="en-US" sz="800" dirty="0"/>
          </a:p>
        </p:txBody>
      </p:sp>
      <p:sp>
        <p:nvSpPr>
          <p:cNvPr id="21" name="Text 19"/>
          <p:cNvSpPr/>
          <p:nvPr/>
        </p:nvSpPr>
        <p:spPr>
          <a:xfrm>
            <a:off x="1481328" y="3529584"/>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Score 1–2 redirects to the feedback adaptive card; scores 3–5 continue the normal end path</a:t>
            </a:r>
            <a:endParaRPr lang="en-US" sz="1100" dirty="0"/>
          </a:p>
        </p:txBody>
      </p:sp>
      <p:sp>
        <p:nvSpPr>
          <p:cNvPr id="22" name="Shape 20"/>
          <p:cNvSpPr/>
          <p:nvPr/>
        </p:nvSpPr>
        <p:spPr>
          <a:xfrm>
            <a:off x="320040" y="3950208"/>
            <a:ext cx="8503920" cy="475488"/>
          </a:xfrm>
          <a:prstGeom prst="rect">
            <a:avLst/>
          </a:prstGeom>
          <a:solidFill>
            <a:srgbClr val="F3F2F1"/>
          </a:solidFill>
          <a:ln w="12700">
            <a:solidFill>
              <a:srgbClr val="E1DFDD"/>
            </a:solidFill>
            <a:prstDash val="solid"/>
          </a:ln>
        </p:spPr>
      </p:sp>
      <p:sp>
        <p:nvSpPr>
          <p:cNvPr id="23" name="Shape 21"/>
          <p:cNvSpPr/>
          <p:nvPr/>
        </p:nvSpPr>
        <p:spPr>
          <a:xfrm>
            <a:off x="457200" y="4041648"/>
            <a:ext cx="914400" cy="274320"/>
          </a:xfrm>
          <a:prstGeom prst="rect">
            <a:avLst/>
          </a:prstGeom>
          <a:solidFill>
            <a:srgbClr val="107C10"/>
          </a:solidFill>
          <a:ln w="12700">
            <a:solidFill>
              <a:srgbClr val="107C10"/>
            </a:solidFill>
            <a:prstDash val="solid"/>
          </a:ln>
        </p:spPr>
      </p:sp>
      <p:sp>
        <p:nvSpPr>
          <p:cNvPr id="24" name="Text 22"/>
          <p:cNvSpPr/>
          <p:nvPr/>
        </p:nvSpPr>
        <p:spPr>
          <a:xfrm>
            <a:off x="457200" y="4041648"/>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Analytics</a:t>
            </a:r>
            <a:endParaRPr lang="en-US" sz="800" dirty="0"/>
          </a:p>
        </p:txBody>
      </p:sp>
      <p:sp>
        <p:nvSpPr>
          <p:cNvPr id="25" name="Text 23"/>
          <p:cNvSpPr/>
          <p:nvPr/>
        </p:nvSpPr>
        <p:spPr>
          <a:xfrm>
            <a:off x="1481328" y="4041648"/>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Analytics tab shows Satisfaction / Reactions data from test sessions</a:t>
            </a:r>
            <a:endParaRPr lang="en-US" sz="1100" dirty="0"/>
          </a:p>
        </p:txBody>
      </p:sp>
      <p:sp>
        <p:nvSpPr>
          <p:cNvPr id="26" name="Shape 24"/>
          <p:cNvSpPr/>
          <p:nvPr/>
        </p:nvSpPr>
        <p:spPr>
          <a:xfrm>
            <a:off x="320040" y="4681728"/>
            <a:ext cx="8503920" cy="320040"/>
          </a:xfrm>
          <a:prstGeom prst="rect">
            <a:avLst/>
          </a:prstGeom>
          <a:solidFill>
            <a:srgbClr val="EFF6FC"/>
          </a:solidFill>
          <a:ln w="12700">
            <a:solidFill>
              <a:srgbClr val="C7E0F4"/>
            </a:solidFill>
            <a:prstDash val="solid"/>
          </a:ln>
        </p:spPr>
      </p:sp>
      <p:sp>
        <p:nvSpPr>
          <p:cNvPr id="27" name="Text 25"/>
          <p:cNvSpPr/>
          <p:nvPr/>
        </p:nvSpPr>
        <p:spPr>
          <a:xfrm>
            <a:off x="475488" y="4681728"/>
            <a:ext cx="8321040" cy="320040"/>
          </a:xfrm>
          <a:prstGeom prst="rect">
            <a:avLst/>
          </a:prstGeom>
          <a:noFill/>
          <a:ln/>
        </p:spPr>
        <p:txBody>
          <a:bodyPr wrap="square" rtlCol="0" anchor="ctr"/>
          <a:lstStyle/>
          <a:p>
            <a:pPr indent="0" marL="0">
              <a:buNone/>
            </a:pPr>
            <a:r>
              <a:rPr lang="en-US" sz="1050" b="1" dirty="0">
                <a:solidFill>
                  <a:srgbClr val="0078D4"/>
                </a:solidFill>
                <a:latin typeface="Segoe UI" pitchFamily="34" charset="0"/>
                <a:ea typeface="Segoe UI" pitchFamily="34" charset="-122"/>
                <a:cs typeface="Segoe UI" pitchFamily="34" charset="-120"/>
              </a:rPr>
              <a:t>Up next: Module 12 — Evaluation and ROI  (Lab 24: Scored evaluation + comparison runs, Lab 25: Optional VS Code workflow)</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11: Channels and Feedback</dc:title>
  <dc:subject>PptxGenJS Presentation</dc:subject>
  <dc:creator>Microsoft</dc:creator>
  <cp:lastModifiedBy>Microsoft</cp:lastModifiedBy>
  <cp:revision>1</cp:revision>
  <dcterms:created xsi:type="dcterms:W3CDTF">2026-03-23T21:51:11Z</dcterms:created>
  <dcterms:modified xsi:type="dcterms:W3CDTF">2026-03-23T21:51:11Z</dcterms:modified>
</cp:coreProperties>
</file>