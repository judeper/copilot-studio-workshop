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model choice as an implementation decision that should stay tied to task quality. Connect Labs 16 and 17 explicitly: automation determines when the agent acts, while model selection influences how reliably it reasons once it acts. Ask the room to compare speed, structure, safety, and cost in business language rather than model hype.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this slide immediately after model selection on purpose: models change refusal style and consistency, but they never replace explicit guardrails. Connect the layers here to the red-team prompts in Lab 18 and the failing-case review in Lab 24. Makers, IT pros, and developers see the same control stack from different 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participants that this lab automates the trigger only — later labs add richer AI analysis and downstream hiring actions. Pre-stage a SharePoint site and Teams channel if participants cannot create them during class. Have one known-good PDF ready for a live demo to quickly prove the end-to-end flow when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17 model selection and Lab 18 moderation depend on the agent being operational. Confirm participants have a working Hiring Agent before moving to model comparison. The trigger here feeds the hiring pipeline in later labs — a missing file attachment in Dataverse will surface as a data quality issue in Lab 21 document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room centered on trade-offs, not model hype. Ask participants to justify their final selection with business language: recruiter trust, latency, and operational cost. Do not switch models casually after this point — Lab 24 evaluation needs a stable baseline against which to measure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Per-prompt content moderation (Lab 18) is available only for managed OpenAI models. If participants chose Claude Sonnet, remind them that the per-prompt content moderation slider will not appear in Lab 18. They can still complete all other Lab 18 steps using agent-level moderation and instruction-based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safe behavior comes from layers — disclosure, moderation, instructions, and error handling all contribute. Use the red-team table as a shared classroom exercise. Ask each participant to identify which layer fired before sharing the expected answer. If time is limited, run prompts 1, 2, 8, and 10 live and assign the rest as individual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precise controls beat blanket loosening or blanket blocking. Make participants identify which layer fired in each example: agent moderation, per-prompt content moderation, instructions, or error handling. Safe behavior still has to be useful — compare one blocked prompt with prompt 10 to show both sides of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MODULE 08</a:t>
            </a:r>
            <a:endParaRPr lang="en-US" sz="1100" dirty="0"/>
          </a:p>
        </p:txBody>
      </p:sp>
      <p:sp>
        <p:nvSpPr>
          <p:cNvPr id="5" name="Text 3"/>
          <p:cNvSpPr/>
          <p:nvPr/>
        </p:nvSpPr>
        <p:spPr>
          <a:xfrm>
            <a:off x="594360" y="1078992"/>
            <a:ext cx="8229600" cy="914400"/>
          </a:xfrm>
          <a:prstGeom prst="rect">
            <a:avLst/>
          </a:prstGeom>
          <a:noFill/>
          <a:ln/>
        </p:spPr>
        <p:txBody>
          <a:bodyPr wrap="square" rtlCol="0" anchor="ctr"/>
          <a:lstStyle/>
          <a:p>
            <a:pPr indent="0" marL="0">
              <a:buNone/>
            </a:pPr>
            <a:r>
              <a:rPr lang="en-US" sz="4600" b="1" dirty="0">
                <a:solidFill>
                  <a:srgbClr val="FFFFFF"/>
                </a:solidFill>
                <a:latin typeface="Segoe UI" pitchFamily="34" charset="0"/>
                <a:ea typeface="Segoe UI" pitchFamily="34" charset="-122"/>
                <a:cs typeface="Segoe UI" pitchFamily="34" charset="-120"/>
              </a:rPr>
              <a:t>Automation and Models</a:t>
            </a:r>
            <a:endParaRPr lang="en-US" sz="4600" dirty="0"/>
          </a:p>
        </p:txBody>
      </p:sp>
      <p:sp>
        <p:nvSpPr>
          <p:cNvPr id="6" name="Text 4"/>
          <p:cNvSpPr/>
          <p:nvPr/>
        </p:nvSpPr>
        <p:spPr>
          <a:xfrm>
            <a:off x="594360" y="2103120"/>
            <a:ext cx="7955280" cy="502920"/>
          </a:xfrm>
          <a:prstGeom prst="rect">
            <a:avLst/>
          </a:prstGeom>
          <a:noFill/>
          <a:ln/>
        </p:spPr>
        <p:txBody>
          <a:bodyPr wrap="square" rtlCol="0" anchor="ctr"/>
          <a:lstStyle/>
          <a:p>
            <a:pPr indent="0" marL="0">
              <a:buNone/>
            </a:pPr>
            <a:r>
              <a:rPr lang="en-US" sz="1300" dirty="0">
                <a:solidFill>
                  <a:srgbClr val="C5D8F0"/>
                </a:solidFill>
                <a:latin typeface="Segoe UI" pitchFamily="34" charset="0"/>
                <a:ea typeface="Segoe UI" pitchFamily="34" charset="-122"/>
                <a:cs typeface="Segoe UI" pitchFamily="34" charset="-120"/>
              </a:rPr>
              <a:t>Add automation and model choices without losing operational control — when the agent acts, and how reliably it reasons</a:t>
            </a:r>
            <a:endParaRPr lang="en-US" sz="1300" dirty="0"/>
          </a:p>
        </p:txBody>
      </p:sp>
      <p:sp>
        <p:nvSpPr>
          <p:cNvPr id="7" name="Shape 5"/>
          <p:cNvSpPr/>
          <p:nvPr/>
        </p:nvSpPr>
        <p:spPr>
          <a:xfrm>
            <a:off x="594360" y="2834640"/>
            <a:ext cx="2633472" cy="438912"/>
          </a:xfrm>
          <a:prstGeom prst="rect">
            <a:avLst/>
          </a:prstGeom>
          <a:solidFill>
            <a:srgbClr val="0078D4"/>
          </a:solidFill>
          <a:ln w="12700">
            <a:solidFill>
              <a:srgbClr val="0078D4"/>
            </a:solidFill>
            <a:prstDash val="solid"/>
          </a:ln>
        </p:spPr>
      </p:sp>
      <p:sp>
        <p:nvSpPr>
          <p:cNvPr id="8" name="Text 6"/>
          <p:cNvSpPr/>
          <p:nvPr/>
        </p:nvSpPr>
        <p:spPr>
          <a:xfrm>
            <a:off x="594360" y="283464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Trigger Automation</a:t>
            </a:r>
            <a:endParaRPr lang="en-US" sz="1150" dirty="0"/>
          </a:p>
        </p:txBody>
      </p:sp>
      <p:sp>
        <p:nvSpPr>
          <p:cNvPr id="9" name="Shape 7"/>
          <p:cNvSpPr/>
          <p:nvPr/>
        </p:nvSpPr>
        <p:spPr>
          <a:xfrm>
            <a:off x="3410712" y="2834640"/>
            <a:ext cx="2633472" cy="438912"/>
          </a:xfrm>
          <a:prstGeom prst="rect">
            <a:avLst/>
          </a:prstGeom>
          <a:solidFill>
            <a:srgbClr val="00B294"/>
          </a:solidFill>
          <a:ln w="12700">
            <a:solidFill>
              <a:srgbClr val="00B294"/>
            </a:solidFill>
            <a:prstDash val="solid"/>
          </a:ln>
        </p:spPr>
      </p:sp>
      <p:sp>
        <p:nvSpPr>
          <p:cNvPr id="10" name="Text 8"/>
          <p:cNvSpPr/>
          <p:nvPr/>
        </p:nvSpPr>
        <p:spPr>
          <a:xfrm>
            <a:off x="3410712" y="283464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Model Selection</a:t>
            </a:r>
            <a:endParaRPr lang="en-US" sz="1150" dirty="0"/>
          </a:p>
        </p:txBody>
      </p:sp>
      <p:sp>
        <p:nvSpPr>
          <p:cNvPr id="11" name="Shape 9"/>
          <p:cNvSpPr/>
          <p:nvPr/>
        </p:nvSpPr>
        <p:spPr>
          <a:xfrm>
            <a:off x="6227064" y="2834640"/>
            <a:ext cx="2633472" cy="438912"/>
          </a:xfrm>
          <a:prstGeom prst="rect">
            <a:avLst/>
          </a:prstGeom>
          <a:solidFill>
            <a:srgbClr val="5C2D91"/>
          </a:solidFill>
          <a:ln w="12700">
            <a:solidFill>
              <a:srgbClr val="5C2D91"/>
            </a:solidFill>
            <a:prstDash val="solid"/>
          </a:ln>
        </p:spPr>
      </p:sp>
      <p:sp>
        <p:nvSpPr>
          <p:cNvPr id="12" name="Text 10"/>
          <p:cNvSpPr/>
          <p:nvPr/>
        </p:nvSpPr>
        <p:spPr>
          <a:xfrm>
            <a:off x="6227064" y="283464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Content Moderation</a:t>
            </a:r>
            <a:endParaRPr lang="en-US" sz="1150" dirty="0"/>
          </a:p>
        </p:txBody>
      </p:sp>
      <p:sp>
        <p:nvSpPr>
          <p:cNvPr id="13" name="Text 11"/>
          <p:cNvSpPr/>
          <p:nvPr/>
        </p:nvSpPr>
        <p:spPr>
          <a:xfrm>
            <a:off x="594360" y="4343400"/>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Labs 16–18  ·  Day 2 Operative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08  ·  AUTOMATION AND MODELS</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Safety by Layered Controls</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Combine disclosure, instructions, moderation, and error handling — each layer protects a different surface.</a:t>
            </a:r>
            <a:endParaRPr lang="en-US" sz="1200" dirty="0"/>
          </a:p>
        </p:txBody>
      </p:sp>
      <p:sp>
        <p:nvSpPr>
          <p:cNvPr id="6" name="Shape 4"/>
          <p:cNvSpPr/>
          <p:nvPr/>
        </p:nvSpPr>
        <p:spPr>
          <a:xfrm>
            <a:off x="320040" y="1737360"/>
            <a:ext cx="8503920" cy="457200"/>
          </a:xfrm>
          <a:prstGeom prst="rect">
            <a:avLst/>
          </a:prstGeom>
          <a:solidFill>
            <a:srgbClr val="F3F2F1"/>
          </a:solidFill>
          <a:ln w="12700">
            <a:solidFill>
              <a:srgbClr val="E1DFDD"/>
            </a:solidFill>
            <a:prstDash val="solid"/>
          </a:ln>
        </p:spPr>
      </p:sp>
      <p:sp>
        <p:nvSpPr>
          <p:cNvPr id="7" name="Shape 5"/>
          <p:cNvSpPr/>
          <p:nvPr/>
        </p:nvSpPr>
        <p:spPr>
          <a:xfrm>
            <a:off x="320040" y="1737360"/>
            <a:ext cx="73152" cy="457200"/>
          </a:xfrm>
          <a:prstGeom prst="rect">
            <a:avLst/>
          </a:prstGeom>
          <a:solidFill>
            <a:srgbClr val="0078D4"/>
          </a:solidFill>
          <a:ln w="12700">
            <a:solidFill>
              <a:srgbClr val="0078D4"/>
            </a:solidFill>
            <a:prstDash val="solid"/>
          </a:ln>
        </p:spPr>
      </p:sp>
      <p:sp>
        <p:nvSpPr>
          <p:cNvPr id="8" name="Shape 6"/>
          <p:cNvSpPr/>
          <p:nvPr/>
        </p:nvSpPr>
        <p:spPr>
          <a:xfrm>
            <a:off x="475488" y="1837944"/>
            <a:ext cx="256032" cy="256032"/>
          </a:xfrm>
          <a:prstGeom prst="ellipse">
            <a:avLst/>
          </a:prstGeom>
          <a:solidFill>
            <a:srgbClr val="0078D4"/>
          </a:solidFill>
          <a:ln w="12700">
            <a:solidFill>
              <a:srgbClr val="0078D4"/>
            </a:solidFill>
            <a:prstDash val="solid"/>
          </a:ln>
        </p:spPr>
      </p:sp>
      <p:sp>
        <p:nvSpPr>
          <p:cNvPr id="9" name="Text 7"/>
          <p:cNvSpPr/>
          <p:nvPr/>
        </p:nvSpPr>
        <p:spPr>
          <a:xfrm>
            <a:off x="475488" y="183794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1</a:t>
            </a:r>
            <a:endParaRPr lang="en-US" sz="900" dirty="0"/>
          </a:p>
        </p:txBody>
      </p:sp>
      <p:sp>
        <p:nvSpPr>
          <p:cNvPr id="10" name="Text 8"/>
          <p:cNvSpPr/>
          <p:nvPr/>
        </p:nvSpPr>
        <p:spPr>
          <a:xfrm>
            <a:off x="822960" y="1737360"/>
            <a:ext cx="2286000" cy="457200"/>
          </a:xfrm>
          <a:prstGeom prst="rect">
            <a:avLst/>
          </a:prstGeom>
          <a:noFill/>
          <a:ln/>
        </p:spPr>
        <p:txBody>
          <a:bodyPr wrap="square" rtlCol="0" anchor="ctr"/>
          <a:lstStyle/>
          <a:p>
            <a:pPr indent="0" marL="0">
              <a:buNone/>
            </a:pPr>
            <a:r>
              <a:rPr lang="en-US" sz="1050" b="1" dirty="0">
                <a:solidFill>
                  <a:srgbClr val="0078D4"/>
                </a:solidFill>
                <a:latin typeface="Segoe UI" pitchFamily="34" charset="0"/>
                <a:ea typeface="Segoe UI" pitchFamily="34" charset="-122"/>
                <a:cs typeface="Segoe UI" pitchFamily="34" charset="-120"/>
              </a:rPr>
              <a:t>AI Disclosure</a:t>
            </a:r>
            <a:endParaRPr lang="en-US" sz="1050" dirty="0"/>
          </a:p>
        </p:txBody>
      </p:sp>
      <p:sp>
        <p:nvSpPr>
          <p:cNvPr id="11" name="Text 9"/>
          <p:cNvSpPr/>
          <p:nvPr/>
        </p:nvSpPr>
        <p:spPr>
          <a:xfrm>
            <a:off x="3200400" y="1737360"/>
            <a:ext cx="5468112" cy="457200"/>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Greet users with transparency — AI-generated responses may contain errors and require human review before final decisions</a:t>
            </a:r>
            <a:endParaRPr lang="en-US" sz="1000" dirty="0"/>
          </a:p>
        </p:txBody>
      </p:sp>
      <p:sp>
        <p:nvSpPr>
          <p:cNvPr id="12" name="Shape 10"/>
          <p:cNvSpPr/>
          <p:nvPr/>
        </p:nvSpPr>
        <p:spPr>
          <a:xfrm>
            <a:off x="320040" y="2231136"/>
            <a:ext cx="8503920" cy="457200"/>
          </a:xfrm>
          <a:prstGeom prst="rect">
            <a:avLst/>
          </a:prstGeom>
          <a:solidFill>
            <a:srgbClr val="FFFFFF"/>
          </a:solidFill>
          <a:ln w="12700">
            <a:solidFill>
              <a:srgbClr val="E1DFDD"/>
            </a:solidFill>
            <a:prstDash val="solid"/>
          </a:ln>
        </p:spPr>
      </p:sp>
      <p:sp>
        <p:nvSpPr>
          <p:cNvPr id="13" name="Shape 11"/>
          <p:cNvSpPr/>
          <p:nvPr/>
        </p:nvSpPr>
        <p:spPr>
          <a:xfrm>
            <a:off x="320040" y="2231136"/>
            <a:ext cx="73152" cy="457200"/>
          </a:xfrm>
          <a:prstGeom prst="rect">
            <a:avLst/>
          </a:prstGeom>
          <a:solidFill>
            <a:srgbClr val="00B294"/>
          </a:solidFill>
          <a:ln w="12700">
            <a:solidFill>
              <a:srgbClr val="00B294"/>
            </a:solidFill>
            <a:prstDash val="solid"/>
          </a:ln>
        </p:spPr>
      </p:sp>
      <p:sp>
        <p:nvSpPr>
          <p:cNvPr id="14" name="Shape 12"/>
          <p:cNvSpPr/>
          <p:nvPr/>
        </p:nvSpPr>
        <p:spPr>
          <a:xfrm>
            <a:off x="475488" y="2331720"/>
            <a:ext cx="256032" cy="256032"/>
          </a:xfrm>
          <a:prstGeom prst="ellipse">
            <a:avLst/>
          </a:prstGeom>
          <a:solidFill>
            <a:srgbClr val="00B294"/>
          </a:solidFill>
          <a:ln w="12700">
            <a:solidFill>
              <a:srgbClr val="00B294"/>
            </a:solidFill>
            <a:prstDash val="solid"/>
          </a:ln>
        </p:spPr>
      </p:sp>
      <p:sp>
        <p:nvSpPr>
          <p:cNvPr id="15" name="Text 13"/>
          <p:cNvSpPr/>
          <p:nvPr/>
        </p:nvSpPr>
        <p:spPr>
          <a:xfrm>
            <a:off x="475488" y="23317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2</a:t>
            </a:r>
            <a:endParaRPr lang="en-US" sz="900" dirty="0"/>
          </a:p>
        </p:txBody>
      </p:sp>
      <p:sp>
        <p:nvSpPr>
          <p:cNvPr id="16" name="Text 14"/>
          <p:cNvSpPr/>
          <p:nvPr/>
        </p:nvSpPr>
        <p:spPr>
          <a:xfrm>
            <a:off x="822960" y="2231136"/>
            <a:ext cx="2286000" cy="457200"/>
          </a:xfrm>
          <a:prstGeom prst="rect">
            <a:avLst/>
          </a:prstGeom>
          <a:noFill/>
          <a:ln/>
        </p:spPr>
        <p:txBody>
          <a:bodyPr wrap="square" rtlCol="0" anchor="ctr"/>
          <a:lstStyle/>
          <a:p>
            <a:pPr indent="0" marL="0">
              <a:buNone/>
            </a:pPr>
            <a:r>
              <a:rPr lang="en-US" sz="1050" b="1" dirty="0">
                <a:solidFill>
                  <a:srgbClr val="00B294"/>
                </a:solidFill>
                <a:latin typeface="Segoe UI" pitchFamily="34" charset="0"/>
                <a:ea typeface="Segoe UI" pitchFamily="34" charset="-122"/>
                <a:cs typeface="Segoe UI" pitchFamily="34" charset="-120"/>
              </a:rPr>
              <a:t>Agent Instructions</a:t>
            </a:r>
            <a:endParaRPr lang="en-US" sz="1050" dirty="0"/>
          </a:p>
        </p:txBody>
      </p:sp>
      <p:sp>
        <p:nvSpPr>
          <p:cNvPr id="17" name="Text 15"/>
          <p:cNvSpPr/>
          <p:nvPr/>
        </p:nvSpPr>
        <p:spPr>
          <a:xfrm>
            <a:off x="3200400" y="2231136"/>
            <a:ext cx="5468112" cy="457200"/>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Scoped prohibitions, protected-characteristic guardrails, escalation rules, and explicit out-of-scope redirects</a:t>
            </a:r>
            <a:endParaRPr lang="en-US" sz="1000" dirty="0"/>
          </a:p>
        </p:txBody>
      </p:sp>
      <p:sp>
        <p:nvSpPr>
          <p:cNvPr id="18" name="Shape 16"/>
          <p:cNvSpPr/>
          <p:nvPr/>
        </p:nvSpPr>
        <p:spPr>
          <a:xfrm>
            <a:off x="320040" y="2724912"/>
            <a:ext cx="8503920" cy="457200"/>
          </a:xfrm>
          <a:prstGeom prst="rect">
            <a:avLst/>
          </a:prstGeom>
          <a:solidFill>
            <a:srgbClr val="F3F2F1"/>
          </a:solidFill>
          <a:ln w="12700">
            <a:solidFill>
              <a:srgbClr val="E1DFDD"/>
            </a:solidFill>
            <a:prstDash val="solid"/>
          </a:ln>
        </p:spPr>
      </p:sp>
      <p:sp>
        <p:nvSpPr>
          <p:cNvPr id="19" name="Shape 17"/>
          <p:cNvSpPr/>
          <p:nvPr/>
        </p:nvSpPr>
        <p:spPr>
          <a:xfrm>
            <a:off x="320040" y="2724912"/>
            <a:ext cx="73152" cy="457200"/>
          </a:xfrm>
          <a:prstGeom prst="rect">
            <a:avLst/>
          </a:prstGeom>
          <a:solidFill>
            <a:srgbClr val="5C2D91"/>
          </a:solidFill>
          <a:ln w="12700">
            <a:solidFill>
              <a:srgbClr val="5C2D91"/>
            </a:solidFill>
            <a:prstDash val="solid"/>
          </a:ln>
        </p:spPr>
      </p:sp>
      <p:sp>
        <p:nvSpPr>
          <p:cNvPr id="20" name="Shape 18"/>
          <p:cNvSpPr/>
          <p:nvPr/>
        </p:nvSpPr>
        <p:spPr>
          <a:xfrm>
            <a:off x="475488" y="2825496"/>
            <a:ext cx="256032" cy="256032"/>
          </a:xfrm>
          <a:prstGeom prst="ellipse">
            <a:avLst/>
          </a:prstGeom>
          <a:solidFill>
            <a:srgbClr val="5C2D91"/>
          </a:solidFill>
          <a:ln w="12700">
            <a:solidFill>
              <a:srgbClr val="5C2D91"/>
            </a:solidFill>
            <a:prstDash val="solid"/>
          </a:ln>
        </p:spPr>
      </p:sp>
      <p:sp>
        <p:nvSpPr>
          <p:cNvPr id="21" name="Text 19"/>
          <p:cNvSpPr/>
          <p:nvPr/>
        </p:nvSpPr>
        <p:spPr>
          <a:xfrm>
            <a:off x="475488" y="28254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3</a:t>
            </a:r>
            <a:endParaRPr lang="en-US" sz="900" dirty="0"/>
          </a:p>
        </p:txBody>
      </p:sp>
      <p:sp>
        <p:nvSpPr>
          <p:cNvPr id="22" name="Text 20"/>
          <p:cNvSpPr/>
          <p:nvPr/>
        </p:nvSpPr>
        <p:spPr>
          <a:xfrm>
            <a:off x="822960" y="2724912"/>
            <a:ext cx="2286000" cy="457200"/>
          </a:xfrm>
          <a:prstGeom prst="rect">
            <a:avLst/>
          </a:prstGeom>
          <a:noFill/>
          <a:ln/>
        </p:spPr>
        <p:txBody>
          <a:bodyPr wrap="square" rtlCol="0" anchor="ctr"/>
          <a:lstStyle/>
          <a:p>
            <a:pPr indent="0" marL="0">
              <a:buNone/>
            </a:pPr>
            <a:r>
              <a:rPr lang="en-US" sz="1050" b="1" dirty="0">
                <a:solidFill>
                  <a:srgbClr val="5C2D91"/>
                </a:solidFill>
                <a:latin typeface="Segoe UI" pitchFamily="34" charset="0"/>
                <a:ea typeface="Segoe UI" pitchFamily="34" charset="-122"/>
                <a:cs typeface="Segoe UI" pitchFamily="34" charset="-120"/>
              </a:rPr>
              <a:t>Agent-Level Moderation</a:t>
            </a:r>
            <a:endParaRPr lang="en-US" sz="1050" dirty="0"/>
          </a:p>
        </p:txBody>
      </p:sp>
      <p:sp>
        <p:nvSpPr>
          <p:cNvPr id="23" name="Text 21"/>
          <p:cNvSpPr/>
          <p:nvPr/>
        </p:nvSpPr>
        <p:spPr>
          <a:xfrm>
            <a:off x="3200400" y="2724912"/>
            <a:ext cx="5468112" cy="457200"/>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High slider blocks hostile, harmful, and off-topic content agent-wide — covers hate/fairness, sexual, violence, self-harm</a:t>
            </a:r>
            <a:endParaRPr lang="en-US" sz="1000" dirty="0"/>
          </a:p>
        </p:txBody>
      </p:sp>
      <p:sp>
        <p:nvSpPr>
          <p:cNvPr id="24" name="Shape 22"/>
          <p:cNvSpPr/>
          <p:nvPr/>
        </p:nvSpPr>
        <p:spPr>
          <a:xfrm>
            <a:off x="320040" y="3218688"/>
            <a:ext cx="8503920" cy="457200"/>
          </a:xfrm>
          <a:prstGeom prst="rect">
            <a:avLst/>
          </a:prstGeom>
          <a:solidFill>
            <a:srgbClr val="FFFFFF"/>
          </a:solidFill>
          <a:ln w="12700">
            <a:solidFill>
              <a:srgbClr val="E1DFDD"/>
            </a:solidFill>
            <a:prstDash val="solid"/>
          </a:ln>
        </p:spPr>
      </p:sp>
      <p:sp>
        <p:nvSpPr>
          <p:cNvPr id="25" name="Shape 23"/>
          <p:cNvSpPr/>
          <p:nvPr/>
        </p:nvSpPr>
        <p:spPr>
          <a:xfrm>
            <a:off x="320040" y="3218688"/>
            <a:ext cx="73152" cy="457200"/>
          </a:xfrm>
          <a:prstGeom prst="rect">
            <a:avLst/>
          </a:prstGeom>
          <a:solidFill>
            <a:srgbClr val="D83B01"/>
          </a:solidFill>
          <a:ln w="12700">
            <a:solidFill>
              <a:srgbClr val="D83B01"/>
            </a:solidFill>
            <a:prstDash val="solid"/>
          </a:ln>
        </p:spPr>
      </p:sp>
      <p:sp>
        <p:nvSpPr>
          <p:cNvPr id="26" name="Shape 24"/>
          <p:cNvSpPr/>
          <p:nvPr/>
        </p:nvSpPr>
        <p:spPr>
          <a:xfrm>
            <a:off x="475488" y="3319272"/>
            <a:ext cx="256032" cy="256032"/>
          </a:xfrm>
          <a:prstGeom prst="ellipse">
            <a:avLst/>
          </a:prstGeom>
          <a:solidFill>
            <a:srgbClr val="D83B01"/>
          </a:solidFill>
          <a:ln w="12700">
            <a:solidFill>
              <a:srgbClr val="D83B01"/>
            </a:solidFill>
            <a:prstDash val="solid"/>
          </a:ln>
        </p:spPr>
      </p:sp>
      <p:sp>
        <p:nvSpPr>
          <p:cNvPr id="27" name="Text 25"/>
          <p:cNvSpPr/>
          <p:nvPr/>
        </p:nvSpPr>
        <p:spPr>
          <a:xfrm>
            <a:off x="475488" y="33192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4</a:t>
            </a:r>
            <a:endParaRPr lang="en-US" sz="900" dirty="0"/>
          </a:p>
        </p:txBody>
      </p:sp>
      <p:sp>
        <p:nvSpPr>
          <p:cNvPr id="28" name="Text 26"/>
          <p:cNvSpPr/>
          <p:nvPr/>
        </p:nvSpPr>
        <p:spPr>
          <a:xfrm>
            <a:off x="822960" y="3218688"/>
            <a:ext cx="2286000" cy="457200"/>
          </a:xfrm>
          <a:prstGeom prst="rect">
            <a:avLst/>
          </a:prstGeom>
          <a:noFill/>
          <a:ln/>
        </p:spPr>
        <p:txBody>
          <a:bodyPr wrap="square" rtlCol="0" anchor="ctr"/>
          <a:lstStyle/>
          <a:p>
            <a:pPr indent="0" marL="0">
              <a:buNone/>
            </a:pPr>
            <a:r>
              <a:rPr lang="en-US" sz="1050" b="1" dirty="0">
                <a:solidFill>
                  <a:srgbClr val="D83B01"/>
                </a:solidFill>
                <a:latin typeface="Segoe UI" pitchFamily="34" charset="0"/>
                <a:ea typeface="Segoe UI" pitchFamily="34" charset="-122"/>
                <a:cs typeface="Segoe UI" pitchFamily="34" charset="-120"/>
              </a:rPr>
              <a:t>Per-Prompt Content Moderation</a:t>
            </a:r>
            <a:endParaRPr lang="en-US" sz="1050" dirty="0"/>
          </a:p>
        </p:txBody>
      </p:sp>
      <p:sp>
        <p:nvSpPr>
          <p:cNvPr id="29" name="Text 27"/>
          <p:cNvSpPr/>
          <p:nvPr/>
        </p:nvSpPr>
        <p:spPr>
          <a:xfrm>
            <a:off x="3200400" y="3218688"/>
            <a:ext cx="5468112" cy="457200"/>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Tighter filtering on high-risk prompts (e.g. Candidate Screening) — available for managed OpenAI models only</a:t>
            </a:r>
            <a:endParaRPr lang="en-US" sz="1000" dirty="0"/>
          </a:p>
        </p:txBody>
      </p:sp>
      <p:sp>
        <p:nvSpPr>
          <p:cNvPr id="30" name="Shape 28"/>
          <p:cNvSpPr/>
          <p:nvPr/>
        </p:nvSpPr>
        <p:spPr>
          <a:xfrm>
            <a:off x="320040" y="3712464"/>
            <a:ext cx="8503920" cy="457200"/>
          </a:xfrm>
          <a:prstGeom prst="rect">
            <a:avLst/>
          </a:prstGeom>
          <a:solidFill>
            <a:srgbClr val="F3F2F1"/>
          </a:solidFill>
          <a:ln w="12700">
            <a:solidFill>
              <a:srgbClr val="E1DFDD"/>
            </a:solidFill>
            <a:prstDash val="solid"/>
          </a:ln>
        </p:spPr>
      </p:sp>
      <p:sp>
        <p:nvSpPr>
          <p:cNvPr id="31" name="Shape 29"/>
          <p:cNvSpPr/>
          <p:nvPr/>
        </p:nvSpPr>
        <p:spPr>
          <a:xfrm>
            <a:off x="320040" y="3712464"/>
            <a:ext cx="73152" cy="457200"/>
          </a:xfrm>
          <a:prstGeom prst="rect">
            <a:avLst/>
          </a:prstGeom>
          <a:solidFill>
            <a:srgbClr val="107C10"/>
          </a:solidFill>
          <a:ln w="12700">
            <a:solidFill>
              <a:srgbClr val="107C10"/>
            </a:solidFill>
            <a:prstDash val="solid"/>
          </a:ln>
        </p:spPr>
      </p:sp>
      <p:sp>
        <p:nvSpPr>
          <p:cNvPr id="32" name="Shape 30"/>
          <p:cNvSpPr/>
          <p:nvPr/>
        </p:nvSpPr>
        <p:spPr>
          <a:xfrm>
            <a:off x="475488" y="3813048"/>
            <a:ext cx="256032" cy="256032"/>
          </a:xfrm>
          <a:prstGeom prst="ellipse">
            <a:avLst/>
          </a:prstGeom>
          <a:solidFill>
            <a:srgbClr val="107C10"/>
          </a:solidFill>
          <a:ln w="12700">
            <a:solidFill>
              <a:srgbClr val="107C10"/>
            </a:solidFill>
            <a:prstDash val="solid"/>
          </a:ln>
        </p:spPr>
      </p:sp>
      <p:sp>
        <p:nvSpPr>
          <p:cNvPr id="33" name="Text 31"/>
          <p:cNvSpPr/>
          <p:nvPr/>
        </p:nvSpPr>
        <p:spPr>
          <a:xfrm>
            <a:off x="475488" y="381304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5</a:t>
            </a:r>
            <a:endParaRPr lang="en-US" sz="900" dirty="0"/>
          </a:p>
        </p:txBody>
      </p:sp>
      <p:sp>
        <p:nvSpPr>
          <p:cNvPr id="34" name="Text 32"/>
          <p:cNvSpPr/>
          <p:nvPr/>
        </p:nvSpPr>
        <p:spPr>
          <a:xfrm>
            <a:off x="822960" y="3712464"/>
            <a:ext cx="2286000" cy="457200"/>
          </a:xfrm>
          <a:prstGeom prst="rect">
            <a:avLst/>
          </a:prstGeom>
          <a:noFill/>
          <a:ln/>
        </p:spPr>
        <p:txBody>
          <a:bodyPr wrap="square" rtlCol="0" anchor="ctr"/>
          <a:lstStyle/>
          <a:p>
            <a:pPr indent="0" marL="0">
              <a:buNone/>
            </a:pPr>
            <a:r>
              <a:rPr lang="en-US" sz="1050" b="1" dirty="0">
                <a:solidFill>
                  <a:srgbClr val="107C10"/>
                </a:solidFill>
                <a:latin typeface="Segoe UI" pitchFamily="34" charset="0"/>
                <a:ea typeface="Segoe UI" pitchFamily="34" charset="-122"/>
                <a:cs typeface="Segoe UI" pitchFamily="34" charset="-120"/>
              </a:rPr>
              <a:t>Error Handling (On Error)</a:t>
            </a:r>
            <a:endParaRPr lang="en-US" sz="1050" dirty="0"/>
          </a:p>
        </p:txBody>
      </p:sp>
      <p:sp>
        <p:nvSpPr>
          <p:cNvPr id="35" name="Text 33"/>
          <p:cNvSpPr/>
          <p:nvPr/>
        </p:nvSpPr>
        <p:spPr>
          <a:xfrm>
            <a:off x="3200400" y="3712464"/>
            <a:ext cx="5468112" cy="457200"/>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System topic ensures a safe, professional fallback message in all failure paths and in published channels</a:t>
            </a:r>
            <a:endParaRPr lang="en-US" sz="1000" dirty="0"/>
          </a:p>
        </p:txBody>
      </p:sp>
      <p:sp>
        <p:nvSpPr>
          <p:cNvPr id="36" name="Shape 34"/>
          <p:cNvSpPr/>
          <p:nvPr/>
        </p:nvSpPr>
        <p:spPr>
          <a:xfrm>
            <a:off x="320040" y="4251960"/>
            <a:ext cx="8503920" cy="347472"/>
          </a:xfrm>
          <a:prstGeom prst="rect">
            <a:avLst/>
          </a:prstGeom>
          <a:solidFill>
            <a:srgbClr val="EFF6FC"/>
          </a:solidFill>
          <a:ln w="12700">
            <a:solidFill>
              <a:srgbClr val="C7E0F4"/>
            </a:solidFill>
            <a:prstDash val="solid"/>
          </a:ln>
        </p:spPr>
      </p:sp>
      <p:sp>
        <p:nvSpPr>
          <p:cNvPr id="37" name="Text 35"/>
          <p:cNvSpPr/>
          <p:nvPr/>
        </p:nvSpPr>
        <p:spPr>
          <a:xfrm>
            <a:off x="475488" y="4251960"/>
            <a:ext cx="8321040" cy="347472"/>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Note: Model choice and safety configuration work together — model refusal style can change but never replaces explicit guardrails.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16</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Trigger Automation</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'Incoming Resumes' SharePoint document library on the Contoso IT site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'When a resume is uploaded to SharePoint' trigger to Hiring Agent</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Build Power Automate flow: filter for PDF → create Resume row → upload PDF to Dataverse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Teams notification card to the recruiting channel after successful upload</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upload a sample PDF → confirm Dataverse row created + Teams card delivered</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40</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Trigger automates intake only —</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AI analysis comes later</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08  ·  LAB 16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16: Trigger Automation</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Treat automation as an operational commitment — observe the whole path, not just the trigger configuration.</a:t>
            </a:r>
            <a:endParaRPr lang="en-US" sz="1200" dirty="0"/>
          </a:p>
        </p:txBody>
      </p:sp>
      <p:sp>
        <p:nvSpPr>
          <p:cNvPr id="6" name="Shape 4"/>
          <p:cNvSpPr/>
          <p:nvPr/>
        </p:nvSpPr>
        <p:spPr>
          <a:xfrm>
            <a:off x="320040" y="1920240"/>
            <a:ext cx="8503920" cy="475488"/>
          </a:xfrm>
          <a:prstGeom prst="rect">
            <a:avLst/>
          </a:prstGeom>
          <a:solidFill>
            <a:srgbClr val="F3F2F1"/>
          </a:solidFill>
          <a:ln w="12700">
            <a:solidFill>
              <a:srgbClr val="E1DFDD"/>
            </a:solidFill>
            <a:prstDash val="solid"/>
          </a:ln>
        </p:spPr>
      </p:sp>
      <p:sp>
        <p:nvSpPr>
          <p:cNvPr id="7" name="Shape 5"/>
          <p:cNvSpPr/>
          <p:nvPr/>
        </p:nvSpPr>
        <p:spPr>
          <a:xfrm>
            <a:off x="457200" y="2011680"/>
            <a:ext cx="914400" cy="274320"/>
          </a:xfrm>
          <a:prstGeom prst="rect">
            <a:avLst/>
          </a:prstGeom>
          <a:solidFill>
            <a:srgbClr val="0078D4"/>
          </a:solidFill>
          <a:ln w="12700">
            <a:solidFill>
              <a:srgbClr val="0078D4"/>
            </a:solidFill>
            <a:prstDash val="solid"/>
          </a:ln>
        </p:spPr>
      </p:sp>
      <p:sp>
        <p:nvSpPr>
          <p:cNvPr id="8" name="Text 6"/>
          <p:cNvSpPr/>
          <p:nvPr/>
        </p:nvSpPr>
        <p:spPr>
          <a:xfrm>
            <a:off x="457200" y="2011680"/>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Library</a:t>
            </a:r>
            <a:endParaRPr lang="en-US" sz="800" dirty="0"/>
          </a:p>
        </p:txBody>
      </p:sp>
      <p:sp>
        <p:nvSpPr>
          <p:cNvPr id="9" name="Text 7"/>
          <p:cNvSpPr/>
          <p:nvPr/>
        </p:nvSpPr>
        <p:spPr>
          <a:xfrm>
            <a:off x="1481328" y="2011680"/>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'Incoming Resumes' SharePoint library exists and accepts PDF uploads</a:t>
            </a:r>
            <a:endParaRPr lang="en-US" sz="1100" dirty="0"/>
          </a:p>
        </p:txBody>
      </p:sp>
      <p:sp>
        <p:nvSpPr>
          <p:cNvPr id="10" name="Shape 8"/>
          <p:cNvSpPr/>
          <p:nvPr/>
        </p:nvSpPr>
        <p:spPr>
          <a:xfrm>
            <a:off x="320040" y="2432304"/>
            <a:ext cx="8503920" cy="475488"/>
          </a:xfrm>
          <a:prstGeom prst="rect">
            <a:avLst/>
          </a:prstGeom>
          <a:solidFill>
            <a:srgbClr val="FFFFFF"/>
          </a:solidFill>
          <a:ln w="12700">
            <a:solidFill>
              <a:srgbClr val="E1DFDD"/>
            </a:solidFill>
            <a:prstDash val="solid"/>
          </a:ln>
        </p:spPr>
      </p:sp>
      <p:sp>
        <p:nvSpPr>
          <p:cNvPr id="11" name="Shape 9"/>
          <p:cNvSpPr/>
          <p:nvPr/>
        </p:nvSpPr>
        <p:spPr>
          <a:xfrm>
            <a:off x="457200" y="2523744"/>
            <a:ext cx="914400" cy="274320"/>
          </a:xfrm>
          <a:prstGeom prst="rect">
            <a:avLst/>
          </a:prstGeom>
          <a:solidFill>
            <a:srgbClr val="00B294"/>
          </a:solidFill>
          <a:ln w="12700">
            <a:solidFill>
              <a:srgbClr val="00B294"/>
            </a:solidFill>
            <a:prstDash val="solid"/>
          </a:ln>
        </p:spPr>
      </p:sp>
      <p:sp>
        <p:nvSpPr>
          <p:cNvPr id="12" name="Text 10"/>
          <p:cNvSpPr/>
          <p:nvPr/>
        </p:nvSpPr>
        <p:spPr>
          <a:xfrm>
            <a:off x="457200" y="2523744"/>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Trigger</a:t>
            </a:r>
            <a:endParaRPr lang="en-US" sz="800" dirty="0"/>
          </a:p>
        </p:txBody>
      </p:sp>
      <p:sp>
        <p:nvSpPr>
          <p:cNvPr id="13" name="Text 11"/>
          <p:cNvSpPr/>
          <p:nvPr/>
        </p:nvSpPr>
        <p:spPr>
          <a:xfrm>
            <a:off x="1481328" y="2523744"/>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Hiring Agent Overview shows the 'When a resume is uploaded to SharePoint' trigger</a:t>
            </a:r>
            <a:endParaRPr lang="en-US" sz="1100" dirty="0"/>
          </a:p>
        </p:txBody>
      </p:sp>
      <p:sp>
        <p:nvSpPr>
          <p:cNvPr id="14" name="Shape 12"/>
          <p:cNvSpPr/>
          <p:nvPr/>
        </p:nvSpPr>
        <p:spPr>
          <a:xfrm>
            <a:off x="320040" y="2944368"/>
            <a:ext cx="8503920" cy="475488"/>
          </a:xfrm>
          <a:prstGeom prst="rect">
            <a:avLst/>
          </a:prstGeom>
          <a:solidFill>
            <a:srgbClr val="F3F2F1"/>
          </a:solidFill>
          <a:ln w="12700">
            <a:solidFill>
              <a:srgbClr val="E1DFDD"/>
            </a:solidFill>
            <a:prstDash val="solid"/>
          </a:ln>
        </p:spPr>
      </p:sp>
      <p:sp>
        <p:nvSpPr>
          <p:cNvPr id="15" name="Shape 13"/>
          <p:cNvSpPr/>
          <p:nvPr/>
        </p:nvSpPr>
        <p:spPr>
          <a:xfrm>
            <a:off x="457200" y="3035808"/>
            <a:ext cx="914400" cy="274320"/>
          </a:xfrm>
          <a:prstGeom prst="rect">
            <a:avLst/>
          </a:prstGeom>
          <a:solidFill>
            <a:srgbClr val="5C2D91"/>
          </a:solidFill>
          <a:ln w="12700">
            <a:solidFill>
              <a:srgbClr val="5C2D91"/>
            </a:solidFill>
            <a:prstDash val="solid"/>
          </a:ln>
        </p:spPr>
      </p:sp>
      <p:sp>
        <p:nvSpPr>
          <p:cNvPr id="16" name="Text 14"/>
          <p:cNvSpPr/>
          <p:nvPr/>
        </p:nvSpPr>
        <p:spPr>
          <a:xfrm>
            <a:off x="457200" y="3035808"/>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Dataverse</a:t>
            </a:r>
            <a:endParaRPr lang="en-US" sz="800" dirty="0"/>
          </a:p>
        </p:txBody>
      </p:sp>
      <p:sp>
        <p:nvSpPr>
          <p:cNvPr id="17" name="Text 15"/>
          <p:cNvSpPr/>
          <p:nvPr/>
        </p:nvSpPr>
        <p:spPr>
          <a:xfrm>
            <a:off x="1481328" y="3035808"/>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Uploading a PDF creates a new row in the Dataverse Resumes table with file name and upload timestamp</a:t>
            </a:r>
            <a:endParaRPr lang="en-US" sz="1100" dirty="0"/>
          </a:p>
        </p:txBody>
      </p:sp>
      <p:sp>
        <p:nvSpPr>
          <p:cNvPr id="18" name="Shape 16"/>
          <p:cNvSpPr/>
          <p:nvPr/>
        </p:nvSpPr>
        <p:spPr>
          <a:xfrm>
            <a:off x="320040" y="3456432"/>
            <a:ext cx="8503920" cy="475488"/>
          </a:xfrm>
          <a:prstGeom prst="rect">
            <a:avLst/>
          </a:prstGeom>
          <a:solidFill>
            <a:srgbClr val="FFFFFF"/>
          </a:solidFill>
          <a:ln w="12700">
            <a:solidFill>
              <a:srgbClr val="E1DFDD"/>
            </a:solidFill>
            <a:prstDash val="solid"/>
          </a:ln>
        </p:spPr>
      </p:sp>
      <p:sp>
        <p:nvSpPr>
          <p:cNvPr id="19" name="Shape 17"/>
          <p:cNvSpPr/>
          <p:nvPr/>
        </p:nvSpPr>
        <p:spPr>
          <a:xfrm>
            <a:off x="457200" y="3547872"/>
            <a:ext cx="914400" cy="274320"/>
          </a:xfrm>
          <a:prstGeom prst="rect">
            <a:avLst/>
          </a:prstGeom>
          <a:solidFill>
            <a:srgbClr val="D47900"/>
          </a:solidFill>
          <a:ln w="12700">
            <a:solidFill>
              <a:srgbClr val="D47900"/>
            </a:solidFill>
            <a:prstDash val="solid"/>
          </a:ln>
        </p:spPr>
      </p:sp>
      <p:sp>
        <p:nvSpPr>
          <p:cNvPr id="20" name="Text 18"/>
          <p:cNvSpPr/>
          <p:nvPr/>
        </p:nvSpPr>
        <p:spPr>
          <a:xfrm>
            <a:off x="457200" y="3547872"/>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File</a:t>
            </a:r>
            <a:endParaRPr lang="en-US" sz="800" dirty="0"/>
          </a:p>
        </p:txBody>
      </p:sp>
      <p:sp>
        <p:nvSpPr>
          <p:cNvPr id="21" name="Text 19"/>
          <p:cNvSpPr/>
          <p:nvPr/>
        </p:nvSpPr>
        <p:spPr>
          <a:xfrm>
            <a:off x="1481328" y="3547872"/>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Dataverse Resume row contains the PDF file in the Resume PDF column — not just metadata</a:t>
            </a:r>
            <a:endParaRPr lang="en-US" sz="1100" dirty="0"/>
          </a:p>
        </p:txBody>
      </p:sp>
      <p:sp>
        <p:nvSpPr>
          <p:cNvPr id="22" name="Shape 20"/>
          <p:cNvSpPr/>
          <p:nvPr/>
        </p:nvSpPr>
        <p:spPr>
          <a:xfrm>
            <a:off x="320040" y="3968496"/>
            <a:ext cx="8503920" cy="475488"/>
          </a:xfrm>
          <a:prstGeom prst="rect">
            <a:avLst/>
          </a:prstGeom>
          <a:solidFill>
            <a:srgbClr val="F3F2F1"/>
          </a:solidFill>
          <a:ln w="12700">
            <a:solidFill>
              <a:srgbClr val="E1DFDD"/>
            </a:solidFill>
            <a:prstDash val="solid"/>
          </a:ln>
        </p:spPr>
      </p:sp>
      <p:sp>
        <p:nvSpPr>
          <p:cNvPr id="23" name="Shape 21"/>
          <p:cNvSpPr/>
          <p:nvPr/>
        </p:nvSpPr>
        <p:spPr>
          <a:xfrm>
            <a:off x="457200" y="4059936"/>
            <a:ext cx="914400" cy="274320"/>
          </a:xfrm>
          <a:prstGeom prst="rect">
            <a:avLst/>
          </a:prstGeom>
          <a:solidFill>
            <a:srgbClr val="107C10"/>
          </a:solidFill>
          <a:ln w="12700">
            <a:solidFill>
              <a:srgbClr val="107C10"/>
            </a:solidFill>
            <a:prstDash val="solid"/>
          </a:ln>
        </p:spPr>
      </p:sp>
      <p:sp>
        <p:nvSpPr>
          <p:cNvPr id="24" name="Text 22"/>
          <p:cNvSpPr/>
          <p:nvPr/>
        </p:nvSpPr>
        <p:spPr>
          <a:xfrm>
            <a:off x="457200" y="4059936"/>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Teams</a:t>
            </a:r>
            <a:endParaRPr lang="en-US" sz="800" dirty="0"/>
          </a:p>
        </p:txBody>
      </p:sp>
      <p:sp>
        <p:nvSpPr>
          <p:cNvPr id="25" name="Text 23"/>
          <p:cNvSpPr/>
          <p:nvPr/>
        </p:nvSpPr>
        <p:spPr>
          <a:xfrm>
            <a:off x="1481328" y="4059936"/>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Recruiting Teams channel receives a notification card with file name and a call to action</a:t>
            </a:r>
            <a:endParaRPr lang="en-US" sz="1100" dirty="0"/>
          </a:p>
        </p:txBody>
      </p:sp>
      <p:sp>
        <p:nvSpPr>
          <p:cNvPr id="26" name="Shape 24"/>
          <p:cNvSpPr/>
          <p:nvPr/>
        </p:nvSpPr>
        <p:spPr>
          <a:xfrm>
            <a:off x="320040" y="4681728"/>
            <a:ext cx="8503920" cy="320040"/>
          </a:xfrm>
          <a:prstGeom prst="rect">
            <a:avLst/>
          </a:prstGeom>
          <a:solidFill>
            <a:srgbClr val="EFF6FC"/>
          </a:solidFill>
          <a:ln w="12700">
            <a:solidFill>
              <a:srgbClr val="C7E0F4"/>
            </a:solidFill>
            <a:prstDash val="solid"/>
          </a:ln>
        </p:spPr>
      </p:sp>
      <p:sp>
        <p:nvSpPr>
          <p:cNvPr id="27" name="Text 25"/>
          <p:cNvSpPr/>
          <p:nvPr/>
        </p:nvSpPr>
        <p:spPr>
          <a:xfrm>
            <a:off x="475488" y="4681728"/>
            <a:ext cx="832104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Tip: If the Dataverse row is created without a file, check the 'Upload a file or an image' action — map file content, not metadata.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17</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Model Selection</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Build a 3-prompt test pack: candidate fit summary, interview questions, age-ranking refusal</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Set baseline to GPT-5 Chat (or GPT-4.1 if unavailable) and run all 3 prompts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Compare at least one other generally available model using the same 3 prompts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Complete the scorecard: accuracy, latency, relative cost, and best fit column</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Save the chosen model as the working baseline for all remaining Day 2 labs</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30</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GPT-5 Chat = default baseline</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Explain why, not just what</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08  ·  LAB 17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17: Model Selection</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Model selection matters most when the room can explain why a choice was made in business language.</a:t>
            </a:r>
            <a:endParaRPr lang="en-US" sz="1200" dirty="0"/>
          </a:p>
        </p:txBody>
      </p:sp>
      <p:sp>
        <p:nvSpPr>
          <p:cNvPr id="6" name="Shape 4"/>
          <p:cNvSpPr/>
          <p:nvPr/>
        </p:nvSpPr>
        <p:spPr>
          <a:xfrm>
            <a:off x="274320" y="1783080"/>
            <a:ext cx="5029200" cy="26060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74320" y="1783080"/>
            <a:ext cx="5029200" cy="384048"/>
          </a:xfrm>
          <a:prstGeom prst="rect">
            <a:avLst/>
          </a:prstGeom>
          <a:solidFill>
            <a:srgbClr val="243A5E"/>
          </a:solidFill>
          <a:ln w="12700">
            <a:solidFill>
              <a:srgbClr val="243A5E"/>
            </a:solidFill>
            <a:prstDash val="solid"/>
          </a:ln>
        </p:spPr>
      </p:sp>
      <p:sp>
        <p:nvSpPr>
          <p:cNvPr id="8" name="Text 6"/>
          <p:cNvSpPr/>
          <p:nvPr/>
        </p:nvSpPr>
        <p:spPr>
          <a:xfrm>
            <a:off x="384048" y="1783080"/>
            <a:ext cx="4800600" cy="38404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Model Comparison</a:t>
            </a:r>
            <a:endParaRPr lang="en-US" sz="1100" dirty="0"/>
          </a:p>
        </p:txBody>
      </p:sp>
      <p:sp>
        <p:nvSpPr>
          <p:cNvPr id="9" name="Shape 7"/>
          <p:cNvSpPr/>
          <p:nvPr/>
        </p:nvSpPr>
        <p:spPr>
          <a:xfrm>
            <a:off x="384048" y="2313432"/>
            <a:ext cx="1280160" cy="237744"/>
          </a:xfrm>
          <a:prstGeom prst="rect">
            <a:avLst/>
          </a:prstGeom>
          <a:solidFill>
            <a:srgbClr val="0078D4"/>
          </a:solidFill>
          <a:ln w="12700">
            <a:solidFill>
              <a:srgbClr val="0078D4"/>
            </a:solidFill>
            <a:prstDash val="solid"/>
          </a:ln>
        </p:spPr>
      </p:sp>
      <p:sp>
        <p:nvSpPr>
          <p:cNvPr id="10" name="Text 8"/>
          <p:cNvSpPr/>
          <p:nvPr/>
        </p:nvSpPr>
        <p:spPr>
          <a:xfrm>
            <a:off x="384048" y="2313432"/>
            <a:ext cx="12801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GPT-5 Chat</a:t>
            </a:r>
            <a:endParaRPr lang="en-US" sz="850" dirty="0"/>
          </a:p>
        </p:txBody>
      </p:sp>
      <p:sp>
        <p:nvSpPr>
          <p:cNvPr id="11" name="Text 9"/>
          <p:cNvSpPr/>
          <p:nvPr/>
        </p:nvSpPr>
        <p:spPr>
          <a:xfrm>
            <a:off x="1755648" y="2276856"/>
            <a:ext cx="3429000" cy="365760"/>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Workshop baseline — broad hiring task support, strong refusal behavior</a:t>
            </a:r>
            <a:endParaRPr lang="en-US" sz="950" dirty="0"/>
          </a:p>
        </p:txBody>
      </p:sp>
      <p:sp>
        <p:nvSpPr>
          <p:cNvPr id="12" name="Shape 10"/>
          <p:cNvSpPr/>
          <p:nvPr/>
        </p:nvSpPr>
        <p:spPr>
          <a:xfrm>
            <a:off x="384048" y="2971800"/>
            <a:ext cx="1280160" cy="237744"/>
          </a:xfrm>
          <a:prstGeom prst="rect">
            <a:avLst/>
          </a:prstGeom>
          <a:solidFill>
            <a:srgbClr val="00B294"/>
          </a:solidFill>
          <a:ln w="12700">
            <a:solidFill>
              <a:srgbClr val="00B294"/>
            </a:solidFill>
            <a:prstDash val="solid"/>
          </a:ln>
        </p:spPr>
      </p:sp>
      <p:sp>
        <p:nvSpPr>
          <p:cNvPr id="13" name="Text 11"/>
          <p:cNvSpPr/>
          <p:nvPr/>
        </p:nvSpPr>
        <p:spPr>
          <a:xfrm>
            <a:off x="384048" y="2971800"/>
            <a:ext cx="12801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GPT-4.1</a:t>
            </a:r>
            <a:endParaRPr lang="en-US" sz="850" dirty="0"/>
          </a:p>
        </p:txBody>
      </p:sp>
      <p:sp>
        <p:nvSpPr>
          <p:cNvPr id="14" name="Text 12"/>
          <p:cNvSpPr/>
          <p:nvPr/>
        </p:nvSpPr>
        <p:spPr>
          <a:xfrm>
            <a:off x="1755648" y="2935224"/>
            <a:ext cx="3429000" cy="365760"/>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GA in all regions — policy review and structured knowledge Q&amp;A</a:t>
            </a:r>
            <a:endParaRPr lang="en-US" sz="950" dirty="0"/>
          </a:p>
        </p:txBody>
      </p:sp>
      <p:sp>
        <p:nvSpPr>
          <p:cNvPr id="15" name="Shape 13"/>
          <p:cNvSpPr/>
          <p:nvPr/>
        </p:nvSpPr>
        <p:spPr>
          <a:xfrm>
            <a:off x="384048" y="3630168"/>
            <a:ext cx="1280160" cy="237744"/>
          </a:xfrm>
          <a:prstGeom prst="rect">
            <a:avLst/>
          </a:prstGeom>
          <a:solidFill>
            <a:srgbClr val="5C2D91"/>
          </a:solidFill>
          <a:ln w="12700">
            <a:solidFill>
              <a:srgbClr val="5C2D91"/>
            </a:solidFill>
            <a:prstDash val="solid"/>
          </a:ln>
        </p:spPr>
      </p:sp>
      <p:sp>
        <p:nvSpPr>
          <p:cNvPr id="16" name="Text 14"/>
          <p:cNvSpPr/>
          <p:nvPr/>
        </p:nvSpPr>
        <p:spPr>
          <a:xfrm>
            <a:off x="384048" y="3630168"/>
            <a:ext cx="12801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Claude Sonnet 4.5/4.6</a:t>
            </a:r>
            <a:endParaRPr lang="en-US" sz="850" dirty="0"/>
          </a:p>
        </p:txBody>
      </p:sp>
      <p:sp>
        <p:nvSpPr>
          <p:cNvPr id="17" name="Text 15"/>
          <p:cNvSpPr/>
          <p:nvPr/>
        </p:nvSpPr>
        <p:spPr>
          <a:xfrm>
            <a:off x="1755648" y="3593592"/>
            <a:ext cx="3429000" cy="365760"/>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Deep reasoning on structured hiring tasks (requires admin enable)</a:t>
            </a:r>
            <a:endParaRPr lang="en-US" sz="950" dirty="0"/>
          </a:p>
        </p:txBody>
      </p:sp>
      <p:sp>
        <p:nvSpPr>
          <p:cNvPr id="18" name="Shape 16"/>
          <p:cNvSpPr/>
          <p:nvPr/>
        </p:nvSpPr>
        <p:spPr>
          <a:xfrm>
            <a:off x="5486400" y="1783080"/>
            <a:ext cx="3383280" cy="2606040"/>
          </a:xfrm>
          <a:prstGeom prst="rect">
            <a:avLst/>
          </a:prstGeom>
          <a:solidFill>
            <a:srgbClr val="EFF6FC"/>
          </a:solidFill>
          <a:ln w="12700">
            <a:solidFill>
              <a:srgbClr val="C7E0F4"/>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5486400" y="1783080"/>
            <a:ext cx="3383280" cy="384048"/>
          </a:xfrm>
          <a:prstGeom prst="rect">
            <a:avLst/>
          </a:prstGeom>
          <a:solidFill>
            <a:srgbClr val="0078D4"/>
          </a:solidFill>
          <a:ln w="12700">
            <a:solidFill>
              <a:srgbClr val="0078D4"/>
            </a:solidFill>
            <a:prstDash val="solid"/>
          </a:ln>
        </p:spPr>
      </p:sp>
      <p:sp>
        <p:nvSpPr>
          <p:cNvPr id="20" name="Text 18"/>
          <p:cNvSpPr/>
          <p:nvPr/>
        </p:nvSpPr>
        <p:spPr>
          <a:xfrm>
            <a:off x="5596128" y="1783080"/>
            <a:ext cx="3154680" cy="38404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Validation</a:t>
            </a:r>
            <a:endParaRPr lang="en-US" sz="1100" dirty="0"/>
          </a:p>
        </p:txBody>
      </p:sp>
      <p:sp>
        <p:nvSpPr>
          <p:cNvPr id="21" name="Text 19"/>
          <p:cNvSpPr/>
          <p:nvPr/>
        </p:nvSpPr>
        <p:spPr>
          <a:xfrm>
            <a:off x="5596128" y="2267712"/>
            <a:ext cx="3154680" cy="2011680"/>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Same 3 prompts run against at least two generally available models</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Scorecard includes accuracy, latency, and relative cost observations</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Working model selected and saved on Hiring Agent</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Notes explain whether GPT-5 Chat remained the baseline or why another became the fallback</a:t>
            </a:r>
            <a:endParaRPr lang="en-US" sz="1000" dirty="0"/>
          </a:p>
        </p:txBody>
      </p:sp>
      <p:sp>
        <p:nvSpPr>
          <p:cNvPr id="22" name="Shape 20"/>
          <p:cNvSpPr/>
          <p:nvPr/>
        </p:nvSpPr>
        <p:spPr>
          <a:xfrm>
            <a:off x="320040" y="4681728"/>
            <a:ext cx="8503920" cy="320040"/>
          </a:xfrm>
          <a:prstGeom prst="rect">
            <a:avLst/>
          </a:prstGeom>
          <a:solidFill>
            <a:srgbClr val="EFF6FC"/>
          </a:solidFill>
          <a:ln w="12700">
            <a:solidFill>
              <a:srgbClr val="C7E0F4"/>
            </a:solidFill>
            <a:prstDash val="solid"/>
          </a:ln>
        </p:spPr>
      </p:sp>
      <p:sp>
        <p:nvSpPr>
          <p:cNvPr id="23" name="Text 21"/>
          <p:cNvSpPr/>
          <p:nvPr/>
        </p:nvSpPr>
        <p:spPr>
          <a:xfrm>
            <a:off x="475488" y="4681728"/>
            <a:ext cx="832104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Critical: Lab 24 evaluation needs a stable model baseline — do not switch models casually after this point.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18</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Content Moderation</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AI disclosure text to the Conversation Start system topic</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Set agent-level Content Moderation slider to High with a safe fallback message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'Candidate Screening Notes' prompt with per-prompt moderation set to High</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Append PROHIBITED TOPICS guardrail section to Hiring Agent instructions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Run all 10 red-team test prompts — confirm unsafe prompts refused, prompt 10 normal</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Review On Error system topic — confirm safe refusal message in all failure paths</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40</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Identify which layer</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fired for each test case</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08  ·  LAB 18 RECAP</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18: Content Moderation</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Precise controls beat blanket loosening or blanket blocking — identify which layer fired in each test case.</a:t>
            </a:r>
            <a:endParaRPr lang="en-US" sz="1200" dirty="0"/>
          </a:p>
        </p:txBody>
      </p:sp>
      <p:sp>
        <p:nvSpPr>
          <p:cNvPr id="6" name="Shape 4"/>
          <p:cNvSpPr/>
          <p:nvPr/>
        </p:nvSpPr>
        <p:spPr>
          <a:xfrm>
            <a:off x="320040" y="1719072"/>
            <a:ext cx="8503920" cy="420624"/>
          </a:xfrm>
          <a:prstGeom prst="rect">
            <a:avLst/>
          </a:prstGeom>
          <a:solidFill>
            <a:srgbClr val="F3F2F1"/>
          </a:solidFill>
          <a:ln w="12700">
            <a:solidFill>
              <a:srgbClr val="E1DFDD"/>
            </a:solidFill>
            <a:prstDash val="solid"/>
          </a:ln>
        </p:spPr>
      </p:sp>
      <p:sp>
        <p:nvSpPr>
          <p:cNvPr id="7" name="Shape 5"/>
          <p:cNvSpPr/>
          <p:nvPr/>
        </p:nvSpPr>
        <p:spPr>
          <a:xfrm>
            <a:off x="457200" y="1792224"/>
            <a:ext cx="1005840" cy="256032"/>
          </a:xfrm>
          <a:prstGeom prst="rect">
            <a:avLst/>
          </a:prstGeom>
          <a:solidFill>
            <a:srgbClr val="0078D4"/>
          </a:solidFill>
          <a:ln w="12700">
            <a:solidFill>
              <a:srgbClr val="0078D4"/>
            </a:solidFill>
            <a:prstDash val="solid"/>
          </a:ln>
        </p:spPr>
      </p:sp>
      <p:sp>
        <p:nvSpPr>
          <p:cNvPr id="8" name="Text 6"/>
          <p:cNvSpPr/>
          <p:nvPr/>
        </p:nvSpPr>
        <p:spPr>
          <a:xfrm>
            <a:off x="457200" y="1792224"/>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Disclosure</a:t>
            </a:r>
            <a:endParaRPr lang="en-US" sz="800" dirty="0"/>
          </a:p>
        </p:txBody>
      </p:sp>
      <p:sp>
        <p:nvSpPr>
          <p:cNvPr id="9" name="Text 7"/>
          <p:cNvSpPr/>
          <p:nvPr/>
        </p:nvSpPr>
        <p:spPr>
          <a:xfrm>
            <a:off x="1581912" y="1792224"/>
            <a:ext cx="7123176" cy="256032"/>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Conversation Start topic includes AI disclosure — 'My responses may contain errors and should be reviewed'</a:t>
            </a:r>
            <a:endParaRPr lang="en-US" sz="1050" dirty="0"/>
          </a:p>
        </p:txBody>
      </p:sp>
      <p:sp>
        <p:nvSpPr>
          <p:cNvPr id="10" name="Shape 8"/>
          <p:cNvSpPr/>
          <p:nvPr/>
        </p:nvSpPr>
        <p:spPr>
          <a:xfrm>
            <a:off x="320040" y="2176272"/>
            <a:ext cx="8503920" cy="420624"/>
          </a:xfrm>
          <a:prstGeom prst="rect">
            <a:avLst/>
          </a:prstGeom>
          <a:solidFill>
            <a:srgbClr val="FFFFFF"/>
          </a:solidFill>
          <a:ln w="12700">
            <a:solidFill>
              <a:srgbClr val="E1DFDD"/>
            </a:solidFill>
            <a:prstDash val="solid"/>
          </a:ln>
        </p:spPr>
      </p:sp>
      <p:sp>
        <p:nvSpPr>
          <p:cNvPr id="11" name="Shape 9"/>
          <p:cNvSpPr/>
          <p:nvPr/>
        </p:nvSpPr>
        <p:spPr>
          <a:xfrm>
            <a:off x="457200" y="2249424"/>
            <a:ext cx="1005840" cy="256032"/>
          </a:xfrm>
          <a:prstGeom prst="rect">
            <a:avLst/>
          </a:prstGeom>
          <a:solidFill>
            <a:srgbClr val="00B294"/>
          </a:solidFill>
          <a:ln w="12700">
            <a:solidFill>
              <a:srgbClr val="00B294"/>
            </a:solidFill>
            <a:prstDash val="solid"/>
          </a:ln>
        </p:spPr>
      </p:sp>
      <p:sp>
        <p:nvSpPr>
          <p:cNvPr id="12" name="Text 10"/>
          <p:cNvSpPr/>
          <p:nvPr/>
        </p:nvSpPr>
        <p:spPr>
          <a:xfrm>
            <a:off x="457200" y="2249424"/>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Moderation</a:t>
            </a:r>
            <a:endParaRPr lang="en-US" sz="800" dirty="0"/>
          </a:p>
        </p:txBody>
      </p:sp>
      <p:sp>
        <p:nvSpPr>
          <p:cNvPr id="13" name="Text 11"/>
          <p:cNvSpPr/>
          <p:nvPr/>
        </p:nvSpPr>
        <p:spPr>
          <a:xfrm>
            <a:off x="1581912" y="2249424"/>
            <a:ext cx="7123176" cy="256032"/>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Agent-level Content Moderation slider at High with safe professional fallback message saved</a:t>
            </a:r>
            <a:endParaRPr lang="en-US" sz="1050" dirty="0"/>
          </a:p>
        </p:txBody>
      </p:sp>
      <p:sp>
        <p:nvSpPr>
          <p:cNvPr id="14" name="Shape 12"/>
          <p:cNvSpPr/>
          <p:nvPr/>
        </p:nvSpPr>
        <p:spPr>
          <a:xfrm>
            <a:off x="320040" y="2633472"/>
            <a:ext cx="8503920" cy="420624"/>
          </a:xfrm>
          <a:prstGeom prst="rect">
            <a:avLst/>
          </a:prstGeom>
          <a:solidFill>
            <a:srgbClr val="F3F2F1"/>
          </a:solidFill>
          <a:ln w="12700">
            <a:solidFill>
              <a:srgbClr val="E1DFDD"/>
            </a:solidFill>
            <a:prstDash val="solid"/>
          </a:ln>
        </p:spPr>
      </p:sp>
      <p:sp>
        <p:nvSpPr>
          <p:cNvPr id="15" name="Shape 13"/>
          <p:cNvSpPr/>
          <p:nvPr/>
        </p:nvSpPr>
        <p:spPr>
          <a:xfrm>
            <a:off x="457200" y="2706624"/>
            <a:ext cx="1005840" cy="256032"/>
          </a:xfrm>
          <a:prstGeom prst="rect">
            <a:avLst/>
          </a:prstGeom>
          <a:solidFill>
            <a:srgbClr val="5C2D91"/>
          </a:solidFill>
          <a:ln w="12700">
            <a:solidFill>
              <a:srgbClr val="5C2D91"/>
            </a:solidFill>
            <a:prstDash val="solid"/>
          </a:ln>
        </p:spPr>
      </p:sp>
      <p:sp>
        <p:nvSpPr>
          <p:cNvPr id="16" name="Text 14"/>
          <p:cNvSpPr/>
          <p:nvPr/>
        </p:nvSpPr>
        <p:spPr>
          <a:xfrm>
            <a:off x="457200" y="2706624"/>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Prompt</a:t>
            </a:r>
            <a:endParaRPr lang="en-US" sz="800" dirty="0"/>
          </a:p>
        </p:txBody>
      </p:sp>
      <p:sp>
        <p:nvSpPr>
          <p:cNvPr id="17" name="Text 15"/>
          <p:cNvSpPr/>
          <p:nvPr/>
        </p:nvSpPr>
        <p:spPr>
          <a:xfrm>
            <a:off x="1581912" y="2706624"/>
            <a:ext cx="7123176" cy="256032"/>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'Candidate Screening Notes' prompt exists with per-prompt moderation set to High</a:t>
            </a:r>
            <a:endParaRPr lang="en-US" sz="1050" dirty="0"/>
          </a:p>
        </p:txBody>
      </p:sp>
      <p:sp>
        <p:nvSpPr>
          <p:cNvPr id="18" name="Shape 16"/>
          <p:cNvSpPr/>
          <p:nvPr/>
        </p:nvSpPr>
        <p:spPr>
          <a:xfrm>
            <a:off x="320040" y="3090672"/>
            <a:ext cx="8503920" cy="420624"/>
          </a:xfrm>
          <a:prstGeom prst="rect">
            <a:avLst/>
          </a:prstGeom>
          <a:solidFill>
            <a:srgbClr val="FFFFFF"/>
          </a:solidFill>
          <a:ln w="12700">
            <a:solidFill>
              <a:srgbClr val="E1DFDD"/>
            </a:solidFill>
            <a:prstDash val="solid"/>
          </a:ln>
        </p:spPr>
      </p:sp>
      <p:sp>
        <p:nvSpPr>
          <p:cNvPr id="19" name="Shape 17"/>
          <p:cNvSpPr/>
          <p:nvPr/>
        </p:nvSpPr>
        <p:spPr>
          <a:xfrm>
            <a:off x="457200" y="3163824"/>
            <a:ext cx="1005840" cy="256032"/>
          </a:xfrm>
          <a:prstGeom prst="rect">
            <a:avLst/>
          </a:prstGeom>
          <a:solidFill>
            <a:srgbClr val="D83B01"/>
          </a:solidFill>
          <a:ln w="12700">
            <a:solidFill>
              <a:srgbClr val="D83B01"/>
            </a:solidFill>
            <a:prstDash val="solid"/>
          </a:ln>
        </p:spPr>
      </p:sp>
      <p:sp>
        <p:nvSpPr>
          <p:cNvPr id="20" name="Text 18"/>
          <p:cNvSpPr/>
          <p:nvPr/>
        </p:nvSpPr>
        <p:spPr>
          <a:xfrm>
            <a:off x="457200" y="3163824"/>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Guardrails</a:t>
            </a:r>
            <a:endParaRPr lang="en-US" sz="800" dirty="0"/>
          </a:p>
        </p:txBody>
      </p:sp>
      <p:sp>
        <p:nvSpPr>
          <p:cNvPr id="21" name="Text 19"/>
          <p:cNvSpPr/>
          <p:nvPr/>
        </p:nvSpPr>
        <p:spPr>
          <a:xfrm>
            <a:off x="1581912" y="3163824"/>
            <a:ext cx="7123176" cy="256032"/>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PROHIBITED TOPICS section appended to balanced instructions — protected characteristics, PII, jailbreak</a:t>
            </a:r>
            <a:endParaRPr lang="en-US" sz="1050" dirty="0"/>
          </a:p>
        </p:txBody>
      </p:sp>
      <p:sp>
        <p:nvSpPr>
          <p:cNvPr id="22" name="Shape 20"/>
          <p:cNvSpPr/>
          <p:nvPr/>
        </p:nvSpPr>
        <p:spPr>
          <a:xfrm>
            <a:off x="320040" y="3547872"/>
            <a:ext cx="8503920" cy="420624"/>
          </a:xfrm>
          <a:prstGeom prst="rect">
            <a:avLst/>
          </a:prstGeom>
          <a:solidFill>
            <a:srgbClr val="F3F2F1"/>
          </a:solidFill>
          <a:ln w="12700">
            <a:solidFill>
              <a:srgbClr val="E1DFDD"/>
            </a:solidFill>
            <a:prstDash val="solid"/>
          </a:ln>
        </p:spPr>
      </p:sp>
      <p:sp>
        <p:nvSpPr>
          <p:cNvPr id="23" name="Shape 21"/>
          <p:cNvSpPr/>
          <p:nvPr/>
        </p:nvSpPr>
        <p:spPr>
          <a:xfrm>
            <a:off x="457200" y="3621024"/>
            <a:ext cx="1005840" cy="256032"/>
          </a:xfrm>
          <a:prstGeom prst="rect">
            <a:avLst/>
          </a:prstGeom>
          <a:solidFill>
            <a:srgbClr val="A4262C"/>
          </a:solidFill>
          <a:ln w="12700">
            <a:solidFill>
              <a:srgbClr val="A4262C"/>
            </a:solidFill>
            <a:prstDash val="solid"/>
          </a:ln>
        </p:spPr>
      </p:sp>
      <p:sp>
        <p:nvSpPr>
          <p:cNvPr id="24" name="Text 22"/>
          <p:cNvSpPr/>
          <p:nvPr/>
        </p:nvSpPr>
        <p:spPr>
          <a:xfrm>
            <a:off x="457200" y="3621024"/>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Red-team</a:t>
            </a:r>
            <a:endParaRPr lang="en-US" sz="800" dirty="0"/>
          </a:p>
        </p:txBody>
      </p:sp>
      <p:sp>
        <p:nvSpPr>
          <p:cNvPr id="25" name="Text 23"/>
          <p:cNvSpPr/>
          <p:nvPr/>
        </p:nvSpPr>
        <p:spPr>
          <a:xfrm>
            <a:off x="1581912" y="3621024"/>
            <a:ext cx="7123176" cy="256032"/>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Prompts 1–9 refused, redirected, or safely constrained — each traced to a specific control layer</a:t>
            </a:r>
            <a:endParaRPr lang="en-US" sz="1050" dirty="0"/>
          </a:p>
        </p:txBody>
      </p:sp>
      <p:sp>
        <p:nvSpPr>
          <p:cNvPr id="26" name="Shape 24"/>
          <p:cNvSpPr/>
          <p:nvPr/>
        </p:nvSpPr>
        <p:spPr>
          <a:xfrm>
            <a:off x="320040" y="4005072"/>
            <a:ext cx="8503920" cy="420624"/>
          </a:xfrm>
          <a:prstGeom prst="rect">
            <a:avLst/>
          </a:prstGeom>
          <a:solidFill>
            <a:srgbClr val="FFFFFF"/>
          </a:solidFill>
          <a:ln w="12700">
            <a:solidFill>
              <a:srgbClr val="E1DFDD"/>
            </a:solidFill>
            <a:prstDash val="solid"/>
          </a:ln>
        </p:spPr>
      </p:sp>
      <p:sp>
        <p:nvSpPr>
          <p:cNvPr id="27" name="Shape 25"/>
          <p:cNvSpPr/>
          <p:nvPr/>
        </p:nvSpPr>
        <p:spPr>
          <a:xfrm>
            <a:off x="457200" y="4078224"/>
            <a:ext cx="1005840" cy="256032"/>
          </a:xfrm>
          <a:prstGeom prst="rect">
            <a:avLst/>
          </a:prstGeom>
          <a:solidFill>
            <a:srgbClr val="107C10"/>
          </a:solidFill>
          <a:ln w="12700">
            <a:solidFill>
              <a:srgbClr val="107C10"/>
            </a:solidFill>
            <a:prstDash val="solid"/>
          </a:ln>
        </p:spPr>
      </p:sp>
      <p:sp>
        <p:nvSpPr>
          <p:cNvPr id="28" name="Text 26"/>
          <p:cNvSpPr/>
          <p:nvPr/>
        </p:nvSpPr>
        <p:spPr>
          <a:xfrm>
            <a:off x="457200" y="4078224"/>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In-scope</a:t>
            </a:r>
            <a:endParaRPr lang="en-US" sz="800" dirty="0"/>
          </a:p>
        </p:txBody>
      </p:sp>
      <p:sp>
        <p:nvSpPr>
          <p:cNvPr id="29" name="Text 27"/>
          <p:cNvSpPr/>
          <p:nvPr/>
        </p:nvSpPr>
        <p:spPr>
          <a:xfrm>
            <a:off x="1581912" y="4078224"/>
            <a:ext cx="7123176" cy="256032"/>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Prompt 10 (clean in-scope) returns a normal, useful hiring-related response</a:t>
            </a:r>
            <a:endParaRPr lang="en-US" sz="1050" dirty="0"/>
          </a:p>
        </p:txBody>
      </p:sp>
      <p:sp>
        <p:nvSpPr>
          <p:cNvPr id="30" name="Shape 28"/>
          <p:cNvSpPr/>
          <p:nvPr/>
        </p:nvSpPr>
        <p:spPr>
          <a:xfrm>
            <a:off x="320040" y="4681728"/>
            <a:ext cx="8503920" cy="320040"/>
          </a:xfrm>
          <a:prstGeom prst="rect">
            <a:avLst/>
          </a:prstGeom>
          <a:solidFill>
            <a:srgbClr val="EFF6FC"/>
          </a:solidFill>
          <a:ln w="12700">
            <a:solidFill>
              <a:srgbClr val="C7E0F4"/>
            </a:solidFill>
            <a:prstDash val="solid"/>
          </a:ln>
        </p:spPr>
      </p:sp>
      <p:sp>
        <p:nvSpPr>
          <p:cNvPr id="31" name="Text 29"/>
          <p:cNvSpPr/>
          <p:nvPr/>
        </p:nvSpPr>
        <p:spPr>
          <a:xfrm>
            <a:off x="475488" y="4681728"/>
            <a:ext cx="832104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Up next: Module 09 — Multimodal and Data  (Labs 19–21: Multimodal, Dataverse grounding, Document generation)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Workshop — Module 08: Automation and Models</dc:title>
  <dc:subject>PptxGenJS Presentation</dc:subject>
  <dc:creator>Microsoft</dc:creator>
  <cp:lastModifiedBy>Microsoft</cp:lastModifiedBy>
  <cp:revision>1</cp:revision>
  <dcterms:created xsi:type="dcterms:W3CDTF">2026-03-23T21:41:06Z</dcterms:created>
  <dcterms:modified xsi:type="dcterms:W3CDTF">2026-03-23T21:41:06Z</dcterms:modified>
</cp:coreProperties>
</file>