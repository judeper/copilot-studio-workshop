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module marks the move from learning the product to designing with it. Good custom agents feel intentional before they feel feature-rich. Coach participants to make the first version understandable before they make it sophisticated.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module marks the move from learning the product to designing with it. Ask Makers to focus on clarity, IT pros to watch SharePoint access and DLP behavior, and developers to notice naming, reuse, and support boundaries. The win condition here is a named, grounded agent that can cite trusted sources — not a feature-complete 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right place to name the grounding ladder the workshop uses. Each choice changes freshness, permissions, and who owns the source after handoff. Use this to anchor the Lab 06 knowledge configuration choices — and refer back to it in Day 2 when Dataverse grounding is introduced.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longest Day 1 build block — roam aggressively and checkpoint at the 30-minute mark. If the room stalls, provide prewritten starter instructions or a preselected knowledge source. SharePoint troubleshooting is the most common blocker — use the detailed tips in the lab README. Ask Makers to focus on clarity, IT pros to watch SharePoint access and DLP behavior, and developers to notice naming and solution boundaries.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Coach participants to make the first version understandable before they make it sophisticated. If the room stalls, provide starter instructions. SharePoint authentication issues are the most common blocker — confirm the account is a member of the SharePoint site and that DLP doesn't block the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43A5E"/>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078D4"/>
          </a:solidFill>
          <a:ln w="12700">
            <a:solidFill>
              <a:srgbClr val="0078D4"/>
            </a:solidFill>
            <a:prstDash val="solid"/>
          </a:ln>
        </p:spPr>
      </p:sp>
      <p:sp>
        <p:nvSpPr>
          <p:cNvPr id="3" name="Shape 1"/>
          <p:cNvSpPr/>
          <p:nvPr/>
        </p:nvSpPr>
        <p:spPr>
          <a:xfrm>
            <a:off x="0" y="64008"/>
            <a:ext cx="411480" cy="5079492"/>
          </a:xfrm>
          <a:prstGeom prst="rect">
            <a:avLst/>
          </a:prstGeom>
          <a:solidFill>
            <a:srgbClr val="0078D4"/>
          </a:solidFill>
          <a:ln w="12700">
            <a:solidFill>
              <a:srgbClr val="0078D4"/>
            </a:solidFill>
            <a:prstDash val="solid"/>
          </a:ln>
        </p:spPr>
      </p:sp>
      <p:sp>
        <p:nvSpPr>
          <p:cNvPr id="4" name="Text 2"/>
          <p:cNvSpPr/>
          <p:nvPr/>
        </p:nvSpPr>
        <p:spPr>
          <a:xfrm>
            <a:off x="594360" y="594360"/>
            <a:ext cx="8229600" cy="384048"/>
          </a:xfrm>
          <a:prstGeom prst="rect">
            <a:avLst/>
          </a:prstGeom>
          <a:noFill/>
          <a:ln/>
        </p:spPr>
        <p:txBody>
          <a:bodyPr wrap="square" rtlCol="0" anchor="ctr"/>
          <a:lstStyle/>
          <a:p>
            <a:pPr indent="0" marL="0">
              <a:buNone/>
            </a:pPr>
            <a:r>
              <a:rPr lang="en-US" sz="1100" spc="500" kern="0" dirty="0">
                <a:solidFill>
                  <a:srgbClr val="50E6FF"/>
                </a:solidFill>
                <a:latin typeface="Segoe UI" pitchFamily="34" charset="0"/>
                <a:ea typeface="Segoe UI" pitchFamily="34" charset="-122"/>
                <a:cs typeface="Segoe UI" pitchFamily="34" charset="-120"/>
              </a:rPr>
              <a:t>MODULE 04</a:t>
            </a:r>
            <a:endParaRPr lang="en-US" sz="1100" dirty="0"/>
          </a:p>
        </p:txBody>
      </p:sp>
      <p:sp>
        <p:nvSpPr>
          <p:cNvPr id="5" name="Text 3"/>
          <p:cNvSpPr/>
          <p:nvPr/>
        </p:nvSpPr>
        <p:spPr>
          <a:xfrm>
            <a:off x="594360" y="1078992"/>
            <a:ext cx="8321040" cy="1005840"/>
          </a:xfrm>
          <a:prstGeom prst="rect">
            <a:avLst/>
          </a:prstGeom>
          <a:noFill/>
          <a:ln/>
        </p:spPr>
        <p:txBody>
          <a:bodyPr wrap="square" rtlCol="0" anchor="ctr"/>
          <a:lstStyle/>
          <a:p>
            <a:pPr indent="0" marL="0">
              <a:buNone/>
            </a:pPr>
            <a:r>
              <a:rPr lang="en-US" sz="4800" b="1" dirty="0">
                <a:solidFill>
                  <a:srgbClr val="FFFFFF"/>
                </a:solidFill>
                <a:latin typeface="Segoe UI" pitchFamily="34" charset="0"/>
                <a:ea typeface="Segoe UI" pitchFamily="34" charset="-122"/>
                <a:cs typeface="Segoe UI" pitchFamily="34" charset="-120"/>
              </a:rPr>
              <a:t>Custom Agent Design</a:t>
            </a:r>
            <a:endParaRPr lang="en-US" sz="4800" dirty="0"/>
          </a:p>
        </p:txBody>
      </p:sp>
      <p:sp>
        <p:nvSpPr>
          <p:cNvPr id="6" name="Text 4"/>
          <p:cNvSpPr/>
          <p:nvPr/>
        </p:nvSpPr>
        <p:spPr>
          <a:xfrm>
            <a:off x="594360" y="2194560"/>
            <a:ext cx="7955280" cy="502920"/>
          </a:xfrm>
          <a:prstGeom prst="rect">
            <a:avLst/>
          </a:prstGeom>
          <a:noFill/>
          <a:ln/>
        </p:spPr>
        <p:txBody>
          <a:bodyPr wrap="square" rtlCol="0" anchor="ctr"/>
          <a:lstStyle/>
          <a:p>
            <a:pPr indent="0" marL="0">
              <a:buNone/>
            </a:pPr>
            <a:r>
              <a:rPr lang="en-US" sz="1500" dirty="0">
                <a:solidFill>
                  <a:srgbClr val="C5D8F0"/>
                </a:solidFill>
                <a:latin typeface="Segoe UI" pitchFamily="34" charset="0"/>
                <a:ea typeface="Segoe UI" pitchFamily="34" charset="-122"/>
                <a:cs typeface="Segoe UI" pitchFamily="34" charset="-120"/>
              </a:rPr>
              <a:t>From samples into owned design decisions — purpose, audience, grounding, and boundaries</a:t>
            </a:r>
            <a:endParaRPr lang="en-US" sz="1500" dirty="0"/>
          </a:p>
        </p:txBody>
      </p:sp>
      <p:sp>
        <p:nvSpPr>
          <p:cNvPr id="7" name="Shape 5"/>
          <p:cNvSpPr/>
          <p:nvPr/>
        </p:nvSpPr>
        <p:spPr>
          <a:xfrm>
            <a:off x="594360" y="2971800"/>
            <a:ext cx="2633472" cy="438912"/>
          </a:xfrm>
          <a:prstGeom prst="rect">
            <a:avLst/>
          </a:prstGeom>
          <a:solidFill>
            <a:srgbClr val="0078D4"/>
          </a:solidFill>
          <a:ln w="12700">
            <a:solidFill>
              <a:srgbClr val="0078D4"/>
            </a:solidFill>
            <a:prstDash val="solid"/>
          </a:ln>
        </p:spPr>
      </p:sp>
      <p:sp>
        <p:nvSpPr>
          <p:cNvPr id="8" name="Text 6"/>
          <p:cNvSpPr/>
          <p:nvPr/>
        </p:nvSpPr>
        <p:spPr>
          <a:xfrm>
            <a:off x="594360" y="2971800"/>
            <a:ext cx="2633472" cy="438912"/>
          </a:xfrm>
          <a:prstGeom prst="rect">
            <a:avLst/>
          </a:prstGeom>
          <a:noFill/>
          <a:ln/>
        </p:spPr>
        <p:txBody>
          <a:bodyPr wrap="square"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Intentional design</a:t>
            </a:r>
            <a:endParaRPr lang="en-US" sz="1150" dirty="0"/>
          </a:p>
        </p:txBody>
      </p:sp>
      <p:sp>
        <p:nvSpPr>
          <p:cNvPr id="9" name="Shape 7"/>
          <p:cNvSpPr/>
          <p:nvPr/>
        </p:nvSpPr>
        <p:spPr>
          <a:xfrm>
            <a:off x="3410712" y="2971800"/>
            <a:ext cx="2633472" cy="438912"/>
          </a:xfrm>
          <a:prstGeom prst="rect">
            <a:avLst/>
          </a:prstGeom>
          <a:solidFill>
            <a:srgbClr val="00B294"/>
          </a:solidFill>
          <a:ln w="12700">
            <a:solidFill>
              <a:srgbClr val="00B294"/>
            </a:solidFill>
            <a:prstDash val="solid"/>
          </a:ln>
        </p:spPr>
      </p:sp>
      <p:sp>
        <p:nvSpPr>
          <p:cNvPr id="10" name="Text 8"/>
          <p:cNvSpPr/>
          <p:nvPr/>
        </p:nvSpPr>
        <p:spPr>
          <a:xfrm>
            <a:off x="3410712" y="2971800"/>
            <a:ext cx="2633472" cy="438912"/>
          </a:xfrm>
          <a:prstGeom prst="rect">
            <a:avLst/>
          </a:prstGeom>
          <a:noFill/>
          <a:ln/>
        </p:spPr>
        <p:txBody>
          <a:bodyPr wrap="square"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Grounding strategy</a:t>
            </a:r>
            <a:endParaRPr lang="en-US" sz="1150" dirty="0"/>
          </a:p>
        </p:txBody>
      </p:sp>
      <p:sp>
        <p:nvSpPr>
          <p:cNvPr id="11" name="Shape 9"/>
          <p:cNvSpPr/>
          <p:nvPr/>
        </p:nvSpPr>
        <p:spPr>
          <a:xfrm>
            <a:off x="6227064" y="2971800"/>
            <a:ext cx="2633472" cy="438912"/>
          </a:xfrm>
          <a:prstGeom prst="rect">
            <a:avLst/>
          </a:prstGeom>
          <a:solidFill>
            <a:srgbClr val="107C10"/>
          </a:solidFill>
          <a:ln w="12700">
            <a:solidFill>
              <a:srgbClr val="107C10"/>
            </a:solidFill>
            <a:prstDash val="solid"/>
          </a:ln>
        </p:spPr>
      </p:sp>
      <p:sp>
        <p:nvSpPr>
          <p:cNvPr id="12" name="Text 10"/>
          <p:cNvSpPr/>
          <p:nvPr/>
        </p:nvSpPr>
        <p:spPr>
          <a:xfrm>
            <a:off x="6227064" y="2971800"/>
            <a:ext cx="2633472" cy="438912"/>
          </a:xfrm>
          <a:prstGeom prst="rect">
            <a:avLst/>
          </a:prstGeom>
          <a:noFill/>
          <a:ln/>
        </p:spPr>
        <p:txBody>
          <a:bodyPr wrap="square"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Maintainability</a:t>
            </a:r>
            <a:endParaRPr lang="en-US" sz="1150" dirty="0"/>
          </a:p>
        </p:txBody>
      </p:sp>
      <p:sp>
        <p:nvSpPr>
          <p:cNvPr id="13" name="Text 11"/>
          <p:cNvSpPr/>
          <p:nvPr/>
        </p:nvSpPr>
        <p:spPr>
          <a:xfrm>
            <a:off x="594360" y="4343400"/>
            <a:ext cx="8229600" cy="320040"/>
          </a:xfrm>
          <a:prstGeom prst="rect">
            <a:avLst/>
          </a:prstGeom>
          <a:noFill/>
          <a:ln/>
        </p:spPr>
        <p:txBody>
          <a:bodyPr wrap="square" rtlCol="0" anchor="ctr"/>
          <a:lstStyle/>
          <a:p>
            <a:pPr indent="0" marL="0">
              <a:buNone/>
            </a:pPr>
            <a:r>
              <a:rPr lang="en-US" sz="1000" dirty="0">
                <a:solidFill>
                  <a:srgbClr val="7BA7CC"/>
                </a:solidFill>
                <a:latin typeface="Segoe UI" pitchFamily="34" charset="0"/>
                <a:ea typeface="Segoe UI" pitchFamily="34" charset="-122"/>
                <a:cs typeface="Segoe UI" pitchFamily="34" charset="-120"/>
              </a:rPr>
              <a:t>Lab 06  ·  Day 1 Recruit Track  ·  60–75 min build block</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078D4"/>
          </a:solidFill>
          <a:ln w="12700">
            <a:solidFill>
              <a:srgbClr val="0078D4"/>
            </a:solidFill>
            <a:prstDash val="solid"/>
          </a:ln>
        </p:spPr>
      </p:sp>
      <p:sp>
        <p:nvSpPr>
          <p:cNvPr id="3" name="Text 1"/>
          <p:cNvSpPr/>
          <p:nvPr/>
        </p:nvSpPr>
        <p:spPr>
          <a:xfrm>
            <a:off x="365760" y="0"/>
            <a:ext cx="8412480" cy="640080"/>
          </a:xfrm>
          <a:prstGeom prst="rect">
            <a:avLst/>
          </a:prstGeom>
          <a:noFill/>
          <a:ln/>
        </p:spPr>
        <p:txBody>
          <a:bodyPr wrap="square" rtlCol="0" anchor="ctr"/>
          <a:lstStyle/>
          <a:p>
            <a:pPr indent="0" marL="0">
              <a:buNone/>
            </a:pPr>
            <a:r>
              <a:rPr lang="en-US" sz="900" spc="200" kern="0" dirty="0">
                <a:solidFill>
                  <a:srgbClr val="C5D8F0"/>
                </a:solidFill>
                <a:latin typeface="Segoe UI" pitchFamily="34" charset="0"/>
                <a:ea typeface="Segoe UI" pitchFamily="34" charset="-122"/>
                <a:cs typeface="Segoe UI" pitchFamily="34" charset="-120"/>
              </a:rPr>
              <a:t>MODULE 04  ·  CUSTOM AGENT DESIGN</a:t>
            </a:r>
            <a:endParaRPr lang="en-US" sz="900" dirty="0"/>
          </a:p>
        </p:txBody>
      </p:sp>
      <p:sp>
        <p:nvSpPr>
          <p:cNvPr id="4" name="Text 2"/>
          <p:cNvSpPr/>
          <p:nvPr/>
        </p:nvSpPr>
        <p:spPr>
          <a:xfrm>
            <a:off x="365760" y="749808"/>
            <a:ext cx="8412480" cy="530352"/>
          </a:xfrm>
          <a:prstGeom prst="rect">
            <a:avLst/>
          </a:prstGeom>
          <a:noFill/>
          <a:ln/>
        </p:spPr>
        <p:txBody>
          <a:bodyPr wrap="square" rtlCol="0" anchor="ctr"/>
          <a:lstStyle/>
          <a:p>
            <a:pPr indent="0" marL="0">
              <a:buNone/>
            </a:pPr>
            <a:r>
              <a:rPr lang="en-US" sz="2800" b="1" dirty="0">
                <a:solidFill>
                  <a:srgbClr val="201F1E"/>
                </a:solidFill>
                <a:latin typeface="Segoe UI" pitchFamily="34" charset="0"/>
                <a:ea typeface="Segoe UI" pitchFamily="34" charset="-122"/>
                <a:cs typeface="Segoe UI" pitchFamily="34" charset="-120"/>
              </a:rPr>
              <a:t>Three Design Principles</a:t>
            </a:r>
            <a:endParaRPr lang="en-US" sz="2800" dirty="0"/>
          </a:p>
        </p:txBody>
      </p:sp>
      <p:sp>
        <p:nvSpPr>
          <p:cNvPr id="5" name="Text 3"/>
          <p:cNvSpPr/>
          <p:nvPr/>
        </p:nvSpPr>
        <p:spPr>
          <a:xfrm>
            <a:off x="365760" y="1325880"/>
            <a:ext cx="8229600" cy="320040"/>
          </a:xfrm>
          <a:prstGeom prst="rect">
            <a:avLst/>
          </a:prstGeom>
          <a:noFill/>
          <a:ln/>
        </p:spPr>
        <p:txBody>
          <a:bodyPr wrap="square" rtlCol="0" anchor="ctr"/>
          <a:lstStyle/>
          <a:p>
            <a:pPr indent="0" marL="0">
              <a:buNone/>
            </a:pPr>
            <a:r>
              <a:rPr lang="en-US" sz="1200" dirty="0">
                <a:solidFill>
                  <a:srgbClr val="605E5C"/>
                </a:solidFill>
                <a:latin typeface="Segoe UI" pitchFamily="34" charset="0"/>
                <a:ea typeface="Segoe UI" pitchFamily="34" charset="-122"/>
                <a:cs typeface="Segoe UI" pitchFamily="34" charset="-120"/>
              </a:rPr>
              <a:t>A good custom agent feels intentional before it feels feature-rich.</a:t>
            </a:r>
            <a:endParaRPr lang="en-US" sz="1200" dirty="0"/>
          </a:p>
        </p:txBody>
      </p:sp>
      <p:sp>
        <p:nvSpPr>
          <p:cNvPr id="6" name="Shape 4"/>
          <p:cNvSpPr/>
          <p:nvPr/>
        </p:nvSpPr>
        <p:spPr>
          <a:xfrm>
            <a:off x="256032" y="1783080"/>
            <a:ext cx="2834640" cy="3063240"/>
          </a:xfrm>
          <a:prstGeom prst="rect">
            <a:avLst/>
          </a:prstGeom>
          <a:solidFill>
            <a:srgbClr val="F3F2F1"/>
          </a:solidFill>
          <a:ln w="12700">
            <a:solidFill>
              <a:srgbClr val="E1DFDD"/>
            </a:solidFill>
            <a:prstDash val="solid"/>
          </a:ln>
          <a:effectLst>
            <a:outerShdw sx="100000" sy="100000" kx="0" ky="0" algn="bl" rotWithShape="0" blurRad="101600" dist="25400" dir="8100000">
              <a:srgbClr val="000000">
                <a:alpha val="10000"/>
              </a:srgbClr>
            </a:outerShdw>
          </a:effectLst>
        </p:spPr>
      </p:sp>
      <p:sp>
        <p:nvSpPr>
          <p:cNvPr id="7" name="Shape 5"/>
          <p:cNvSpPr/>
          <p:nvPr/>
        </p:nvSpPr>
        <p:spPr>
          <a:xfrm>
            <a:off x="256032" y="1783080"/>
            <a:ext cx="2834640" cy="457200"/>
          </a:xfrm>
          <a:prstGeom prst="rect">
            <a:avLst/>
          </a:prstGeom>
          <a:solidFill>
            <a:srgbClr val="0078D4"/>
          </a:solidFill>
          <a:ln w="12700">
            <a:solidFill>
              <a:srgbClr val="0078D4"/>
            </a:solidFill>
            <a:prstDash val="solid"/>
          </a:ln>
        </p:spPr>
      </p:sp>
      <p:sp>
        <p:nvSpPr>
          <p:cNvPr id="8" name="Shape 6"/>
          <p:cNvSpPr/>
          <p:nvPr/>
        </p:nvSpPr>
        <p:spPr>
          <a:xfrm>
            <a:off x="347472" y="1892808"/>
            <a:ext cx="274320" cy="274320"/>
          </a:xfrm>
          <a:prstGeom prst="ellipse">
            <a:avLst/>
          </a:prstGeom>
          <a:solidFill>
            <a:srgbClr val="FFFFFF"/>
          </a:solidFill>
          <a:ln w="12700">
            <a:solidFill>
              <a:srgbClr val="FFFFFF"/>
            </a:solidFill>
            <a:prstDash val="solid"/>
          </a:ln>
        </p:spPr>
      </p:sp>
      <p:sp>
        <p:nvSpPr>
          <p:cNvPr id="9" name="Text 7"/>
          <p:cNvSpPr/>
          <p:nvPr/>
        </p:nvSpPr>
        <p:spPr>
          <a:xfrm>
            <a:off x="347472" y="1892808"/>
            <a:ext cx="274320" cy="274320"/>
          </a:xfrm>
          <a:prstGeom prst="rect">
            <a:avLst/>
          </a:prstGeom>
          <a:noFill/>
          <a:ln/>
        </p:spPr>
        <p:txBody>
          <a:bodyPr wrap="square" lIns="0" tIns="0" rIns="0" bIns="0" rtlCol="0" anchor="ctr"/>
          <a:lstStyle/>
          <a:p>
            <a:pPr algn="ctr" indent="0" marL="0">
              <a:buNone/>
            </a:pPr>
            <a:r>
              <a:rPr lang="en-US" sz="1000" b="1" dirty="0">
                <a:solidFill>
                  <a:srgbClr val="0078D4"/>
                </a:solidFill>
                <a:latin typeface="Segoe UI" pitchFamily="34" charset="0"/>
                <a:ea typeface="Segoe UI" pitchFamily="34" charset="-122"/>
                <a:cs typeface="Segoe UI" pitchFamily="34" charset="-120"/>
              </a:rPr>
              <a:t>1</a:t>
            </a:r>
            <a:endParaRPr lang="en-US" sz="1000" dirty="0"/>
          </a:p>
        </p:txBody>
      </p:sp>
      <p:sp>
        <p:nvSpPr>
          <p:cNvPr id="10" name="Text 8"/>
          <p:cNvSpPr/>
          <p:nvPr/>
        </p:nvSpPr>
        <p:spPr>
          <a:xfrm>
            <a:off x="713232" y="1783080"/>
            <a:ext cx="2286000" cy="457200"/>
          </a:xfrm>
          <a:prstGeom prst="rect">
            <a:avLst/>
          </a:prstGeom>
          <a:noFill/>
          <a:ln/>
        </p:spPr>
        <p:txBody>
          <a:bodyPr wrap="square" rtlCol="0" anchor="ctr"/>
          <a:lstStyle/>
          <a:p>
            <a:pPr indent="0" marL="0">
              <a:buNone/>
            </a:pPr>
            <a:r>
              <a:rPr lang="en-US" sz="1150" b="1" dirty="0">
                <a:solidFill>
                  <a:srgbClr val="FFFFFF"/>
                </a:solidFill>
                <a:latin typeface="Segoe UI" pitchFamily="34" charset="0"/>
                <a:ea typeface="Segoe UI" pitchFamily="34" charset="-122"/>
                <a:cs typeface="Segoe UI" pitchFamily="34" charset="-120"/>
              </a:rPr>
              <a:t>Start with purpose and boundaries</a:t>
            </a:r>
            <a:endParaRPr lang="en-US" sz="1150" dirty="0"/>
          </a:p>
        </p:txBody>
      </p:sp>
      <p:sp>
        <p:nvSpPr>
          <p:cNvPr id="11" name="Text 9"/>
          <p:cNvSpPr/>
          <p:nvPr/>
        </p:nvSpPr>
        <p:spPr>
          <a:xfrm>
            <a:off x="347472" y="2313432"/>
            <a:ext cx="2670048" cy="256032"/>
          </a:xfrm>
          <a:prstGeom prst="rect">
            <a:avLst/>
          </a:prstGeom>
          <a:noFill/>
          <a:ln/>
        </p:spPr>
        <p:txBody>
          <a:bodyPr wrap="square" rtlCol="0" anchor="ctr"/>
          <a:lstStyle/>
          <a:p>
            <a:pPr indent="0" marL="0">
              <a:buNone/>
            </a:pPr>
            <a:r>
              <a:rPr lang="en-US" sz="950" b="1" dirty="0">
                <a:solidFill>
                  <a:srgbClr val="0078D4"/>
                </a:solidFill>
                <a:latin typeface="Segoe UI" pitchFamily="34" charset="0"/>
                <a:ea typeface="Segoe UI" pitchFamily="34" charset="-122"/>
                <a:cs typeface="Segoe UI" pitchFamily="34" charset="-120"/>
              </a:rPr>
              <a:t>Define what the agent does AND what it refuses</a:t>
            </a:r>
            <a:endParaRPr lang="en-US" sz="950" dirty="0"/>
          </a:p>
        </p:txBody>
      </p:sp>
      <p:sp>
        <p:nvSpPr>
          <p:cNvPr id="12" name="Text 10"/>
          <p:cNvSpPr/>
          <p:nvPr/>
        </p:nvSpPr>
        <p:spPr>
          <a:xfrm>
            <a:off x="347472" y="2596896"/>
            <a:ext cx="2670048" cy="2148840"/>
          </a:xfrm>
          <a:prstGeom prst="rect">
            <a:avLst/>
          </a:prstGeom>
          <a:noFill/>
          <a:ln/>
        </p:spPr>
        <p:txBody>
          <a:bodyPr wrap="square" rtlCol="0" anchor="ctr"/>
          <a:lstStyle/>
          <a:p>
            <a:pPr marL="342900" indent="-342900">
              <a:buSzPct val="100000"/>
              <a:buChar char="•"/>
            </a:pPr>
            <a:r>
              <a:rPr lang="en-US" sz="1000" dirty="0">
                <a:solidFill>
                  <a:srgbClr val="201F1E"/>
                </a:solidFill>
                <a:latin typeface="Segoe UI" pitchFamily="34" charset="0"/>
                <a:ea typeface="Segoe UI" pitchFamily="34" charset="-122"/>
                <a:cs typeface="Segoe UI" pitchFamily="34" charset="-120"/>
              </a:rPr>
              <a:t>Write a one-sentence purpose statement before you write any instruction — if you can't say it in one sentence, the agent is too broad</a:t>
            </a:r>
            <a:endParaRPr lang="en-US" sz="1000" dirty="0"/>
          </a:p>
          <a:p>
            <a:pPr marL="342900" indent="-342900">
              <a:buSzPct val="100000"/>
              <a:buChar char="•"/>
            </a:pPr>
            <a:r>
              <a:rPr lang="en-US" sz="1000" dirty="0">
                <a:solidFill>
                  <a:srgbClr val="201F1E"/>
                </a:solidFill>
                <a:latin typeface="Segoe UI" pitchFamily="34" charset="0"/>
                <a:ea typeface="Segoe UI" pitchFamily="34" charset="-122"/>
                <a:cs typeface="Segoe UI" pitchFamily="34" charset="-120"/>
              </a:rPr>
              <a:t>Explicit boundaries (what the agent refuses to do) are as important as explicit capabilities</a:t>
            </a:r>
            <a:endParaRPr lang="en-US" sz="1000" dirty="0"/>
          </a:p>
          <a:p>
            <a:pPr marL="342900" indent="-342900">
              <a:buSzPct val="100000"/>
              <a:buChar char="•"/>
            </a:pPr>
            <a:r>
              <a:rPr lang="en-US" sz="1000" dirty="0">
                <a:solidFill>
                  <a:srgbClr val="201F1E"/>
                </a:solidFill>
                <a:latin typeface="Segoe UI" pitchFamily="34" charset="0"/>
                <a:ea typeface="Segoe UI" pitchFamily="34" charset="-122"/>
                <a:cs typeface="Segoe UI" pitchFamily="34" charset="-120"/>
              </a:rPr>
              <a:t>Keep the first version simple, testable, and easy to explain to a non-technical stakeholder</a:t>
            </a:r>
            <a:endParaRPr lang="en-US" sz="1000" dirty="0"/>
          </a:p>
        </p:txBody>
      </p:sp>
      <p:sp>
        <p:nvSpPr>
          <p:cNvPr id="13" name="Shape 11"/>
          <p:cNvSpPr/>
          <p:nvPr/>
        </p:nvSpPr>
        <p:spPr>
          <a:xfrm>
            <a:off x="3227832" y="1783080"/>
            <a:ext cx="2834640" cy="3063240"/>
          </a:xfrm>
          <a:prstGeom prst="rect">
            <a:avLst/>
          </a:prstGeom>
          <a:solidFill>
            <a:srgbClr val="F3F2F1"/>
          </a:solidFill>
          <a:ln w="12700">
            <a:solidFill>
              <a:srgbClr val="E1DFDD"/>
            </a:solidFill>
            <a:prstDash val="solid"/>
          </a:ln>
          <a:effectLst>
            <a:outerShdw sx="100000" sy="100000" kx="0" ky="0" algn="bl" rotWithShape="0" blurRad="101600" dist="25400" dir="8100000">
              <a:srgbClr val="000000">
                <a:alpha val="10000"/>
              </a:srgbClr>
            </a:outerShdw>
          </a:effectLst>
        </p:spPr>
      </p:sp>
      <p:sp>
        <p:nvSpPr>
          <p:cNvPr id="14" name="Shape 12"/>
          <p:cNvSpPr/>
          <p:nvPr/>
        </p:nvSpPr>
        <p:spPr>
          <a:xfrm>
            <a:off x="3227832" y="1783080"/>
            <a:ext cx="2834640" cy="457200"/>
          </a:xfrm>
          <a:prstGeom prst="rect">
            <a:avLst/>
          </a:prstGeom>
          <a:solidFill>
            <a:srgbClr val="00B294"/>
          </a:solidFill>
          <a:ln w="12700">
            <a:solidFill>
              <a:srgbClr val="00B294"/>
            </a:solidFill>
            <a:prstDash val="solid"/>
          </a:ln>
        </p:spPr>
      </p:sp>
      <p:sp>
        <p:nvSpPr>
          <p:cNvPr id="15" name="Shape 13"/>
          <p:cNvSpPr/>
          <p:nvPr/>
        </p:nvSpPr>
        <p:spPr>
          <a:xfrm>
            <a:off x="3319272" y="1892808"/>
            <a:ext cx="274320" cy="274320"/>
          </a:xfrm>
          <a:prstGeom prst="ellipse">
            <a:avLst/>
          </a:prstGeom>
          <a:solidFill>
            <a:srgbClr val="FFFFFF"/>
          </a:solidFill>
          <a:ln w="12700">
            <a:solidFill>
              <a:srgbClr val="FFFFFF"/>
            </a:solidFill>
            <a:prstDash val="solid"/>
          </a:ln>
        </p:spPr>
      </p:sp>
      <p:sp>
        <p:nvSpPr>
          <p:cNvPr id="16" name="Text 14"/>
          <p:cNvSpPr/>
          <p:nvPr/>
        </p:nvSpPr>
        <p:spPr>
          <a:xfrm>
            <a:off x="3319272" y="1892808"/>
            <a:ext cx="274320" cy="274320"/>
          </a:xfrm>
          <a:prstGeom prst="rect">
            <a:avLst/>
          </a:prstGeom>
          <a:noFill/>
          <a:ln/>
        </p:spPr>
        <p:txBody>
          <a:bodyPr wrap="square" lIns="0" tIns="0" rIns="0" bIns="0" rtlCol="0" anchor="ctr"/>
          <a:lstStyle/>
          <a:p>
            <a:pPr algn="ctr" indent="0" marL="0">
              <a:buNone/>
            </a:pPr>
            <a:r>
              <a:rPr lang="en-US" sz="1000" b="1" dirty="0">
                <a:solidFill>
                  <a:srgbClr val="00B294"/>
                </a:solidFill>
                <a:latin typeface="Segoe UI" pitchFamily="34" charset="0"/>
                <a:ea typeface="Segoe UI" pitchFamily="34" charset="-122"/>
                <a:cs typeface="Segoe UI" pitchFamily="34" charset="-120"/>
              </a:rPr>
              <a:t>2</a:t>
            </a:r>
            <a:endParaRPr lang="en-US" sz="1000" dirty="0"/>
          </a:p>
        </p:txBody>
      </p:sp>
      <p:sp>
        <p:nvSpPr>
          <p:cNvPr id="17" name="Text 15"/>
          <p:cNvSpPr/>
          <p:nvPr/>
        </p:nvSpPr>
        <p:spPr>
          <a:xfrm>
            <a:off x="3685032" y="1783080"/>
            <a:ext cx="2286000" cy="457200"/>
          </a:xfrm>
          <a:prstGeom prst="rect">
            <a:avLst/>
          </a:prstGeom>
          <a:noFill/>
          <a:ln/>
        </p:spPr>
        <p:txBody>
          <a:bodyPr wrap="square" rtlCol="0" anchor="ctr"/>
          <a:lstStyle/>
          <a:p>
            <a:pPr indent="0" marL="0">
              <a:buNone/>
            </a:pPr>
            <a:r>
              <a:rPr lang="en-US" sz="1150" b="1" dirty="0">
                <a:solidFill>
                  <a:srgbClr val="FFFFFF"/>
                </a:solidFill>
                <a:latin typeface="Segoe UI" pitchFamily="34" charset="0"/>
                <a:ea typeface="Segoe UI" pitchFamily="34" charset="-122"/>
                <a:cs typeface="Segoe UI" pitchFamily="34" charset="-120"/>
              </a:rPr>
              <a:t>Align instructions with actual capability</a:t>
            </a:r>
            <a:endParaRPr lang="en-US" sz="1150" dirty="0"/>
          </a:p>
        </p:txBody>
      </p:sp>
      <p:sp>
        <p:nvSpPr>
          <p:cNvPr id="18" name="Text 16"/>
          <p:cNvSpPr/>
          <p:nvPr/>
        </p:nvSpPr>
        <p:spPr>
          <a:xfrm>
            <a:off x="3319272" y="2313432"/>
            <a:ext cx="2670048" cy="256032"/>
          </a:xfrm>
          <a:prstGeom prst="rect">
            <a:avLst/>
          </a:prstGeom>
          <a:noFill/>
          <a:ln/>
        </p:spPr>
        <p:txBody>
          <a:bodyPr wrap="square" rtlCol="0" anchor="ctr"/>
          <a:lstStyle/>
          <a:p>
            <a:pPr indent="0" marL="0">
              <a:buNone/>
            </a:pPr>
            <a:r>
              <a:rPr lang="en-US" sz="950" b="1" dirty="0">
                <a:solidFill>
                  <a:srgbClr val="00B294"/>
                </a:solidFill>
                <a:latin typeface="Segoe UI" pitchFamily="34" charset="0"/>
                <a:ea typeface="Segoe UI" pitchFamily="34" charset="-122"/>
                <a:cs typeface="Segoe UI" pitchFamily="34" charset="-120"/>
              </a:rPr>
              <a:t>Only instruct what the agent can actually do</a:t>
            </a:r>
            <a:endParaRPr lang="en-US" sz="950" dirty="0"/>
          </a:p>
        </p:txBody>
      </p:sp>
      <p:sp>
        <p:nvSpPr>
          <p:cNvPr id="19" name="Text 17"/>
          <p:cNvSpPr/>
          <p:nvPr/>
        </p:nvSpPr>
        <p:spPr>
          <a:xfrm>
            <a:off x="3319272" y="2596896"/>
            <a:ext cx="2670048" cy="2148840"/>
          </a:xfrm>
          <a:prstGeom prst="rect">
            <a:avLst/>
          </a:prstGeom>
          <a:noFill/>
          <a:ln/>
        </p:spPr>
        <p:txBody>
          <a:bodyPr wrap="square" rtlCol="0" anchor="ctr"/>
          <a:lstStyle/>
          <a:p>
            <a:pPr marL="342900" indent="-342900">
              <a:buSzPct val="100000"/>
              <a:buChar char="•"/>
            </a:pPr>
            <a:r>
              <a:rPr lang="en-US" sz="1000" dirty="0">
                <a:solidFill>
                  <a:srgbClr val="201F1E"/>
                </a:solidFill>
                <a:latin typeface="Segoe UI" pitchFamily="34" charset="0"/>
                <a:ea typeface="Segoe UI" pitchFamily="34" charset="-122"/>
                <a:cs typeface="Segoe UI" pitchFamily="34" charset="-120"/>
              </a:rPr>
              <a:t>Instructions that reference tools or knowledge you haven't configured create confabulation risk</a:t>
            </a:r>
            <a:endParaRPr lang="en-US" sz="1000" dirty="0"/>
          </a:p>
          <a:p>
            <a:pPr marL="342900" indent="-342900">
              <a:buSzPct val="100000"/>
              <a:buChar char="•"/>
            </a:pPr>
            <a:r>
              <a:rPr lang="en-US" sz="1000" dirty="0">
                <a:solidFill>
                  <a:srgbClr val="201F1E"/>
                </a:solidFill>
                <a:latin typeface="Segoe UI" pitchFamily="34" charset="0"/>
                <a:ea typeface="Segoe UI" pitchFamily="34" charset="-122"/>
                <a:cs typeface="Segoe UI" pitchFamily="34" charset="-120"/>
              </a:rPr>
              <a:t>Each instruction line should map to a configured knowledge source, topic, or action — not a wish</a:t>
            </a:r>
            <a:endParaRPr lang="en-US" sz="1000" dirty="0"/>
          </a:p>
          <a:p>
            <a:pPr marL="342900" indent="-342900">
              <a:buSzPct val="100000"/>
              <a:buChar char="•"/>
            </a:pPr>
            <a:r>
              <a:rPr lang="en-US" sz="1000" dirty="0">
                <a:solidFill>
                  <a:srgbClr val="201F1E"/>
                </a:solidFill>
                <a:latin typeface="Segoe UI" pitchFamily="34" charset="0"/>
                <a:ea typeface="Segoe UI" pitchFamily="34" charset="-122"/>
                <a:cs typeface="Segoe UI" pitchFamily="34" charset="-120"/>
              </a:rPr>
              <a:t>Grounding discipline: prefer explicit trusted sources over relying on model training alone</a:t>
            </a:r>
            <a:endParaRPr lang="en-US" sz="1000" dirty="0"/>
          </a:p>
        </p:txBody>
      </p:sp>
      <p:sp>
        <p:nvSpPr>
          <p:cNvPr id="20" name="Shape 18"/>
          <p:cNvSpPr/>
          <p:nvPr/>
        </p:nvSpPr>
        <p:spPr>
          <a:xfrm>
            <a:off x="6199632" y="1783080"/>
            <a:ext cx="2834640" cy="3063240"/>
          </a:xfrm>
          <a:prstGeom prst="rect">
            <a:avLst/>
          </a:prstGeom>
          <a:solidFill>
            <a:srgbClr val="F3F2F1"/>
          </a:solidFill>
          <a:ln w="12700">
            <a:solidFill>
              <a:srgbClr val="E1DFDD"/>
            </a:solidFill>
            <a:prstDash val="solid"/>
          </a:ln>
          <a:effectLst>
            <a:outerShdw sx="100000" sy="100000" kx="0" ky="0" algn="bl" rotWithShape="0" blurRad="101600" dist="25400" dir="8100000">
              <a:srgbClr val="000000">
                <a:alpha val="10000"/>
              </a:srgbClr>
            </a:outerShdw>
          </a:effectLst>
        </p:spPr>
      </p:sp>
      <p:sp>
        <p:nvSpPr>
          <p:cNvPr id="21" name="Shape 19"/>
          <p:cNvSpPr/>
          <p:nvPr/>
        </p:nvSpPr>
        <p:spPr>
          <a:xfrm>
            <a:off x="6199632" y="1783080"/>
            <a:ext cx="2834640" cy="457200"/>
          </a:xfrm>
          <a:prstGeom prst="rect">
            <a:avLst/>
          </a:prstGeom>
          <a:solidFill>
            <a:srgbClr val="107C10"/>
          </a:solidFill>
          <a:ln w="12700">
            <a:solidFill>
              <a:srgbClr val="107C10"/>
            </a:solidFill>
            <a:prstDash val="solid"/>
          </a:ln>
        </p:spPr>
      </p:sp>
      <p:sp>
        <p:nvSpPr>
          <p:cNvPr id="22" name="Shape 20"/>
          <p:cNvSpPr/>
          <p:nvPr/>
        </p:nvSpPr>
        <p:spPr>
          <a:xfrm>
            <a:off x="6291072" y="1892808"/>
            <a:ext cx="274320" cy="274320"/>
          </a:xfrm>
          <a:prstGeom prst="ellipse">
            <a:avLst/>
          </a:prstGeom>
          <a:solidFill>
            <a:srgbClr val="FFFFFF"/>
          </a:solidFill>
          <a:ln w="12700">
            <a:solidFill>
              <a:srgbClr val="FFFFFF"/>
            </a:solidFill>
            <a:prstDash val="solid"/>
          </a:ln>
        </p:spPr>
      </p:sp>
      <p:sp>
        <p:nvSpPr>
          <p:cNvPr id="23" name="Text 21"/>
          <p:cNvSpPr/>
          <p:nvPr/>
        </p:nvSpPr>
        <p:spPr>
          <a:xfrm>
            <a:off x="6291072" y="1892808"/>
            <a:ext cx="274320" cy="274320"/>
          </a:xfrm>
          <a:prstGeom prst="rect">
            <a:avLst/>
          </a:prstGeom>
          <a:noFill/>
          <a:ln/>
        </p:spPr>
        <p:txBody>
          <a:bodyPr wrap="square" lIns="0" tIns="0" rIns="0" bIns="0" rtlCol="0" anchor="ctr"/>
          <a:lstStyle/>
          <a:p>
            <a:pPr algn="ctr" indent="0" marL="0">
              <a:buNone/>
            </a:pPr>
            <a:r>
              <a:rPr lang="en-US" sz="1000" b="1" dirty="0">
                <a:solidFill>
                  <a:srgbClr val="107C10"/>
                </a:solidFill>
                <a:latin typeface="Segoe UI" pitchFamily="34" charset="0"/>
                <a:ea typeface="Segoe UI" pitchFamily="34" charset="-122"/>
                <a:cs typeface="Segoe UI" pitchFamily="34" charset="-120"/>
              </a:rPr>
              <a:t>3</a:t>
            </a:r>
            <a:endParaRPr lang="en-US" sz="1000" dirty="0"/>
          </a:p>
        </p:txBody>
      </p:sp>
      <p:sp>
        <p:nvSpPr>
          <p:cNvPr id="24" name="Text 22"/>
          <p:cNvSpPr/>
          <p:nvPr/>
        </p:nvSpPr>
        <p:spPr>
          <a:xfrm>
            <a:off x="6656832" y="1783080"/>
            <a:ext cx="2286000" cy="457200"/>
          </a:xfrm>
          <a:prstGeom prst="rect">
            <a:avLst/>
          </a:prstGeom>
          <a:noFill/>
          <a:ln/>
        </p:spPr>
        <p:txBody>
          <a:bodyPr wrap="square" rtlCol="0" anchor="ctr"/>
          <a:lstStyle/>
          <a:p>
            <a:pPr indent="0" marL="0">
              <a:buNone/>
            </a:pPr>
            <a:r>
              <a:rPr lang="en-US" sz="1150" b="1" dirty="0">
                <a:solidFill>
                  <a:srgbClr val="FFFFFF"/>
                </a:solidFill>
                <a:latin typeface="Segoe UI" pitchFamily="34" charset="0"/>
                <a:ea typeface="Segoe UI" pitchFamily="34" charset="-122"/>
                <a:cs typeface="Segoe UI" pitchFamily="34" charset="-120"/>
              </a:rPr>
              <a:t>Design for the next editor</a:t>
            </a:r>
            <a:endParaRPr lang="en-US" sz="1150" dirty="0"/>
          </a:p>
        </p:txBody>
      </p:sp>
      <p:sp>
        <p:nvSpPr>
          <p:cNvPr id="25" name="Text 23"/>
          <p:cNvSpPr/>
          <p:nvPr/>
        </p:nvSpPr>
        <p:spPr>
          <a:xfrm>
            <a:off x="6291072" y="2313432"/>
            <a:ext cx="2670048" cy="256032"/>
          </a:xfrm>
          <a:prstGeom prst="rect">
            <a:avLst/>
          </a:prstGeom>
          <a:noFill/>
          <a:ln/>
        </p:spPr>
        <p:txBody>
          <a:bodyPr wrap="square" rtlCol="0" anchor="ctr"/>
          <a:lstStyle/>
          <a:p>
            <a:pPr indent="0" marL="0">
              <a:buNone/>
            </a:pPr>
            <a:r>
              <a:rPr lang="en-US" sz="950" b="1" dirty="0">
                <a:solidFill>
                  <a:srgbClr val="107C10"/>
                </a:solidFill>
                <a:latin typeface="Segoe UI" pitchFamily="34" charset="0"/>
                <a:ea typeface="Segoe UI" pitchFamily="34" charset="-122"/>
                <a:cs typeface="Segoe UI" pitchFamily="34" charset="-120"/>
              </a:rPr>
              <a:t>Write for future teammates, not just current learners</a:t>
            </a:r>
            <a:endParaRPr lang="en-US" sz="950" dirty="0"/>
          </a:p>
        </p:txBody>
      </p:sp>
      <p:sp>
        <p:nvSpPr>
          <p:cNvPr id="26" name="Text 24"/>
          <p:cNvSpPr/>
          <p:nvPr/>
        </p:nvSpPr>
        <p:spPr>
          <a:xfrm>
            <a:off x="6291072" y="2596896"/>
            <a:ext cx="2670048" cy="2148840"/>
          </a:xfrm>
          <a:prstGeom prst="rect">
            <a:avLst/>
          </a:prstGeom>
          <a:noFill/>
          <a:ln/>
        </p:spPr>
        <p:txBody>
          <a:bodyPr wrap="square" rtlCol="0" anchor="ctr"/>
          <a:lstStyle/>
          <a:p>
            <a:pPr marL="342900" indent="-342900">
              <a:buSzPct val="100000"/>
              <a:buChar char="•"/>
            </a:pPr>
            <a:r>
              <a:rPr lang="en-US" sz="1000" dirty="0">
                <a:solidFill>
                  <a:srgbClr val="201F1E"/>
                </a:solidFill>
                <a:latin typeface="Segoe UI" pitchFamily="34" charset="0"/>
                <a:ea typeface="Segoe UI" pitchFamily="34" charset="-122"/>
                <a:cs typeface="Segoe UI" pitchFamily="34" charset="-120"/>
              </a:rPr>
              <a:t>Name the agent, topics, tools, and knowledge sources so a new owner could support them without a walkthrough</a:t>
            </a:r>
            <a:endParaRPr lang="en-US" sz="1000" dirty="0"/>
          </a:p>
          <a:p>
            <a:pPr marL="342900" indent="-342900">
              <a:buSzPct val="100000"/>
              <a:buChar char="•"/>
            </a:pPr>
            <a:r>
              <a:rPr lang="en-US" sz="1000" dirty="0">
                <a:solidFill>
                  <a:srgbClr val="201F1E"/>
                </a:solidFill>
                <a:latin typeface="Segoe UI" pitchFamily="34" charset="0"/>
                <a:ea typeface="Segoe UI" pitchFamily="34" charset="-122"/>
                <a:cs typeface="Segoe UI" pitchFamily="34" charset="-120"/>
              </a:rPr>
              <a:t>Plan the diagnostics, support path, and evaluation loop before you publish the first version</a:t>
            </a:r>
            <a:endParaRPr lang="en-US" sz="1000" dirty="0"/>
          </a:p>
          <a:p>
            <a:pPr marL="342900" indent="-342900">
              <a:buSzPct val="100000"/>
              <a:buChar char="•"/>
            </a:pPr>
            <a:r>
              <a:rPr lang="en-US" sz="1000" dirty="0">
                <a:solidFill>
                  <a:srgbClr val="201F1E"/>
                </a:solidFill>
                <a:latin typeface="Segoe UI" pitchFamily="34" charset="0"/>
                <a:ea typeface="Segoe UI" pitchFamily="34" charset="-122"/>
                <a:cs typeface="Segoe UI" pitchFamily="34" charset="-120"/>
              </a:rPr>
              <a:t>Complexity that can't be explained in an Activity trace creates invisible support debt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2F1"/>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078D4"/>
          </a:solidFill>
          <a:ln w="12700">
            <a:solidFill>
              <a:srgbClr val="0078D4"/>
            </a:solidFill>
            <a:prstDash val="solid"/>
          </a:ln>
        </p:spPr>
      </p:sp>
      <p:sp>
        <p:nvSpPr>
          <p:cNvPr id="3" name="Text 1"/>
          <p:cNvSpPr/>
          <p:nvPr/>
        </p:nvSpPr>
        <p:spPr>
          <a:xfrm>
            <a:off x="365760" y="0"/>
            <a:ext cx="8412480" cy="640080"/>
          </a:xfrm>
          <a:prstGeom prst="rect">
            <a:avLst/>
          </a:prstGeom>
          <a:noFill/>
          <a:ln/>
        </p:spPr>
        <p:txBody>
          <a:bodyPr wrap="square" rtlCol="0" anchor="ctr"/>
          <a:lstStyle/>
          <a:p>
            <a:pPr indent="0" marL="0">
              <a:buNone/>
            </a:pPr>
            <a:r>
              <a:rPr lang="en-US" sz="900" spc="200" kern="0" dirty="0">
                <a:solidFill>
                  <a:srgbClr val="C5D8F0"/>
                </a:solidFill>
                <a:latin typeface="Segoe UI" pitchFamily="34" charset="0"/>
                <a:ea typeface="Segoe UI" pitchFamily="34" charset="-122"/>
                <a:cs typeface="Segoe UI" pitchFamily="34" charset="-120"/>
              </a:rPr>
              <a:t>MODULE 04  ·  CUSTOM AGENT DESIGN</a:t>
            </a:r>
            <a:endParaRPr lang="en-US" sz="900" dirty="0"/>
          </a:p>
        </p:txBody>
      </p:sp>
      <p:sp>
        <p:nvSpPr>
          <p:cNvPr id="4" name="Text 2"/>
          <p:cNvSpPr/>
          <p:nvPr/>
        </p:nvSpPr>
        <p:spPr>
          <a:xfrm>
            <a:off x="365760" y="749808"/>
            <a:ext cx="8412480" cy="530352"/>
          </a:xfrm>
          <a:prstGeom prst="rect">
            <a:avLst/>
          </a:prstGeom>
          <a:noFill/>
          <a:ln/>
        </p:spPr>
        <p:txBody>
          <a:bodyPr wrap="square" rtlCol="0" anchor="ctr"/>
          <a:lstStyle/>
          <a:p>
            <a:pPr indent="0" marL="0">
              <a:buNone/>
            </a:pPr>
            <a:r>
              <a:rPr lang="en-US" sz="2800" b="1" dirty="0">
                <a:solidFill>
                  <a:srgbClr val="201F1E"/>
                </a:solidFill>
                <a:latin typeface="Segoe UI" pitchFamily="34" charset="0"/>
                <a:ea typeface="Segoe UI" pitchFamily="34" charset="-122"/>
                <a:cs typeface="Segoe UI" pitchFamily="34" charset="-120"/>
              </a:rPr>
              <a:t>The Grounding Ladder</a:t>
            </a:r>
            <a:endParaRPr lang="en-US" sz="2800" dirty="0"/>
          </a:p>
        </p:txBody>
      </p:sp>
      <p:sp>
        <p:nvSpPr>
          <p:cNvPr id="5" name="Text 3"/>
          <p:cNvSpPr/>
          <p:nvPr/>
        </p:nvSpPr>
        <p:spPr>
          <a:xfrm>
            <a:off x="365760" y="1325880"/>
            <a:ext cx="8229600" cy="320040"/>
          </a:xfrm>
          <a:prstGeom prst="rect">
            <a:avLst/>
          </a:prstGeom>
          <a:noFill/>
          <a:ln/>
        </p:spPr>
        <p:txBody>
          <a:bodyPr wrap="square" rtlCol="0" anchor="ctr"/>
          <a:lstStyle/>
          <a:p>
            <a:pPr indent="0" marL="0">
              <a:buNone/>
            </a:pPr>
            <a:r>
              <a:rPr lang="en-US" sz="1200" dirty="0">
                <a:solidFill>
                  <a:srgbClr val="605E5C"/>
                </a:solidFill>
                <a:latin typeface="Segoe UI" pitchFamily="34" charset="0"/>
                <a:ea typeface="Segoe UI" pitchFamily="34" charset="-122"/>
                <a:cs typeface="Segoe UI" pitchFamily="34" charset="-120"/>
              </a:rPr>
              <a:t>Each grounding choice changes freshness, permissions, and who owns the source after handoff.</a:t>
            </a:r>
            <a:endParaRPr lang="en-US" sz="1200" dirty="0"/>
          </a:p>
        </p:txBody>
      </p:sp>
      <p:sp>
        <p:nvSpPr>
          <p:cNvPr id="6" name="Shape 4"/>
          <p:cNvSpPr/>
          <p:nvPr/>
        </p:nvSpPr>
        <p:spPr>
          <a:xfrm>
            <a:off x="274320" y="1719072"/>
            <a:ext cx="8595360" cy="621792"/>
          </a:xfrm>
          <a:prstGeom prst="rect">
            <a:avLst/>
          </a:prstGeom>
          <a:solidFill>
            <a:srgbClr val="FFFFFF"/>
          </a:solidFill>
          <a:ln w="12700">
            <a:solidFill>
              <a:srgbClr val="E1DFDD"/>
            </a:solidFill>
            <a:prstDash val="solid"/>
          </a:ln>
        </p:spPr>
      </p:sp>
      <p:sp>
        <p:nvSpPr>
          <p:cNvPr id="7" name="Shape 5"/>
          <p:cNvSpPr/>
          <p:nvPr/>
        </p:nvSpPr>
        <p:spPr>
          <a:xfrm>
            <a:off x="274320" y="1719072"/>
            <a:ext cx="109728" cy="621792"/>
          </a:xfrm>
          <a:prstGeom prst="rect">
            <a:avLst/>
          </a:prstGeom>
          <a:solidFill>
            <a:srgbClr val="0078D4"/>
          </a:solidFill>
          <a:ln w="12700">
            <a:solidFill>
              <a:srgbClr val="0078D4"/>
            </a:solidFill>
            <a:prstDash val="solid"/>
          </a:ln>
        </p:spPr>
      </p:sp>
      <p:sp>
        <p:nvSpPr>
          <p:cNvPr id="8" name="Shape 6"/>
          <p:cNvSpPr/>
          <p:nvPr/>
        </p:nvSpPr>
        <p:spPr>
          <a:xfrm>
            <a:off x="475488" y="1901952"/>
            <a:ext cx="292608" cy="292608"/>
          </a:xfrm>
          <a:prstGeom prst="ellipse">
            <a:avLst/>
          </a:prstGeom>
          <a:solidFill>
            <a:srgbClr val="0078D4"/>
          </a:solidFill>
          <a:ln w="12700">
            <a:solidFill>
              <a:srgbClr val="0078D4"/>
            </a:solidFill>
            <a:prstDash val="solid"/>
          </a:ln>
        </p:spPr>
      </p:sp>
      <p:sp>
        <p:nvSpPr>
          <p:cNvPr id="9" name="Text 7"/>
          <p:cNvSpPr/>
          <p:nvPr/>
        </p:nvSpPr>
        <p:spPr>
          <a:xfrm>
            <a:off x="475488" y="19019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Segoe UI" pitchFamily="34" charset="0"/>
                <a:ea typeface="Segoe UI" pitchFamily="34" charset="-122"/>
                <a:cs typeface="Segoe UI" pitchFamily="34" charset="-120"/>
              </a:rPr>
              <a:t>1</a:t>
            </a:r>
            <a:endParaRPr lang="en-US" sz="1000" dirty="0"/>
          </a:p>
        </p:txBody>
      </p:sp>
      <p:sp>
        <p:nvSpPr>
          <p:cNvPr id="10" name="Text 8"/>
          <p:cNvSpPr/>
          <p:nvPr/>
        </p:nvSpPr>
        <p:spPr>
          <a:xfrm>
            <a:off x="896112" y="1783080"/>
            <a:ext cx="1463040" cy="256032"/>
          </a:xfrm>
          <a:prstGeom prst="rect">
            <a:avLst/>
          </a:prstGeom>
          <a:noFill/>
          <a:ln/>
        </p:spPr>
        <p:txBody>
          <a:bodyPr wrap="square" lIns="0" tIns="0" rIns="0" bIns="0" rtlCol="0" anchor="ctr"/>
          <a:lstStyle/>
          <a:p>
            <a:pPr indent="0" marL="0">
              <a:buNone/>
            </a:pPr>
            <a:r>
              <a:rPr lang="en-US" sz="1150" b="1" dirty="0">
                <a:solidFill>
                  <a:srgbClr val="201F1E"/>
                </a:solidFill>
                <a:latin typeface="Segoe UI" pitchFamily="34" charset="0"/>
                <a:ea typeface="Segoe UI" pitchFamily="34" charset="-122"/>
                <a:cs typeface="Segoe UI" pitchFamily="34" charset="-120"/>
              </a:rPr>
              <a:t>Instructions</a:t>
            </a:r>
            <a:endParaRPr lang="en-US" sz="1150" dirty="0"/>
          </a:p>
        </p:txBody>
      </p:sp>
      <p:sp>
        <p:nvSpPr>
          <p:cNvPr id="11" name="Text 9"/>
          <p:cNvSpPr/>
          <p:nvPr/>
        </p:nvSpPr>
        <p:spPr>
          <a:xfrm>
            <a:off x="896112" y="2057400"/>
            <a:ext cx="1463040" cy="228600"/>
          </a:xfrm>
          <a:prstGeom prst="rect">
            <a:avLst/>
          </a:prstGeom>
          <a:noFill/>
          <a:ln/>
        </p:spPr>
        <p:txBody>
          <a:bodyPr wrap="square" lIns="0" tIns="0" rIns="0" bIns="0" rtlCol="0" anchor="ctr"/>
          <a:lstStyle/>
          <a:p>
            <a:pPr indent="0" marL="0">
              <a:buNone/>
            </a:pPr>
            <a:r>
              <a:rPr lang="en-US" sz="900" b="1" dirty="0">
                <a:solidFill>
                  <a:srgbClr val="0078D4"/>
                </a:solidFill>
                <a:latin typeface="Segoe UI" pitchFamily="34" charset="0"/>
                <a:ea typeface="Segoe UI" pitchFamily="34" charset="-122"/>
                <a:cs typeface="Segoe UI" pitchFamily="34" charset="-120"/>
              </a:rPr>
              <a:t>Always present</a:t>
            </a:r>
            <a:endParaRPr lang="en-US" sz="900" dirty="0"/>
          </a:p>
        </p:txBody>
      </p:sp>
      <p:sp>
        <p:nvSpPr>
          <p:cNvPr id="12" name="Text 10"/>
          <p:cNvSpPr/>
          <p:nvPr/>
        </p:nvSpPr>
        <p:spPr>
          <a:xfrm>
            <a:off x="2487168" y="1792224"/>
            <a:ext cx="3977640" cy="512064"/>
          </a:xfrm>
          <a:prstGeom prst="rect">
            <a:avLst/>
          </a:prstGeom>
          <a:noFill/>
          <a:ln/>
        </p:spPr>
        <p:txBody>
          <a:bodyPr wrap="square" rtlCol="0" anchor="ctr"/>
          <a:lstStyle/>
          <a:p>
            <a:pPr indent="0" marL="0">
              <a:buNone/>
            </a:pPr>
            <a:r>
              <a:rPr lang="en-US" sz="1000" dirty="0">
                <a:solidFill>
                  <a:srgbClr val="201F1E"/>
                </a:solidFill>
                <a:latin typeface="Segoe UI" pitchFamily="34" charset="0"/>
                <a:ea typeface="Segoe UI" pitchFamily="34" charset="-122"/>
                <a:cs typeface="Segoe UI" pitchFamily="34" charset="-120"/>
              </a:rPr>
              <a:t>Define the agent's purpose, persona, escalation rules, and what it refuses. Instructions run on every turn — keep them focused.</a:t>
            </a:r>
            <a:endParaRPr lang="en-US" sz="1000" dirty="0"/>
          </a:p>
        </p:txBody>
      </p:sp>
      <p:sp>
        <p:nvSpPr>
          <p:cNvPr id="13" name="Text 11"/>
          <p:cNvSpPr/>
          <p:nvPr/>
        </p:nvSpPr>
        <p:spPr>
          <a:xfrm>
            <a:off x="6583680" y="1783080"/>
            <a:ext cx="2194560" cy="246888"/>
          </a:xfrm>
          <a:prstGeom prst="rect">
            <a:avLst/>
          </a:prstGeom>
          <a:noFill/>
          <a:ln/>
        </p:spPr>
        <p:txBody>
          <a:bodyPr wrap="square" rtlCol="0" anchor="ctr"/>
          <a:lstStyle/>
          <a:p>
            <a:pPr indent="0" marL="0">
              <a:buNone/>
            </a:pPr>
            <a:r>
              <a:rPr lang="en-US" sz="950" dirty="0">
                <a:solidFill>
                  <a:srgbClr val="605E5C"/>
                </a:solidFill>
                <a:latin typeface="Segoe UI" pitchFamily="34" charset="0"/>
                <a:ea typeface="Segoe UI" pitchFamily="34" charset="-122"/>
                <a:cs typeface="Segoe UI" pitchFamily="34" charset="-120"/>
              </a:rPr>
              <a:t>Owner: Maker</a:t>
            </a:r>
            <a:endParaRPr lang="en-US" sz="950" dirty="0"/>
          </a:p>
        </p:txBody>
      </p:sp>
      <p:sp>
        <p:nvSpPr>
          <p:cNvPr id="14" name="Text 12"/>
          <p:cNvSpPr/>
          <p:nvPr/>
        </p:nvSpPr>
        <p:spPr>
          <a:xfrm>
            <a:off x="6583680" y="2039112"/>
            <a:ext cx="2194560" cy="246888"/>
          </a:xfrm>
          <a:prstGeom prst="rect">
            <a:avLst/>
          </a:prstGeom>
          <a:noFill/>
          <a:ln/>
        </p:spPr>
        <p:txBody>
          <a:bodyPr wrap="square" rtlCol="0" anchor="ctr"/>
          <a:lstStyle/>
          <a:p>
            <a:pPr indent="0" marL="0">
              <a:buNone/>
            </a:pPr>
            <a:r>
              <a:rPr lang="en-US" sz="900" i="1" dirty="0">
                <a:solidFill>
                  <a:srgbClr val="605E5C"/>
                </a:solidFill>
                <a:latin typeface="Segoe UI" pitchFamily="34" charset="0"/>
                <a:ea typeface="Segoe UI" pitchFamily="34" charset="-122"/>
                <a:cs typeface="Segoe UI" pitchFamily="34" charset="-120"/>
              </a:rPr>
              <a:t>Instant — update in the authoring UI</a:t>
            </a:r>
            <a:endParaRPr lang="en-US" sz="900" dirty="0"/>
          </a:p>
        </p:txBody>
      </p:sp>
      <p:sp>
        <p:nvSpPr>
          <p:cNvPr id="15" name="Shape 13"/>
          <p:cNvSpPr/>
          <p:nvPr/>
        </p:nvSpPr>
        <p:spPr>
          <a:xfrm>
            <a:off x="274320" y="2377440"/>
            <a:ext cx="8595360" cy="621792"/>
          </a:xfrm>
          <a:prstGeom prst="rect">
            <a:avLst/>
          </a:prstGeom>
          <a:solidFill>
            <a:srgbClr val="F8F7F6"/>
          </a:solidFill>
          <a:ln w="12700">
            <a:solidFill>
              <a:srgbClr val="E1DFDD"/>
            </a:solidFill>
            <a:prstDash val="solid"/>
          </a:ln>
        </p:spPr>
      </p:sp>
      <p:sp>
        <p:nvSpPr>
          <p:cNvPr id="16" name="Shape 14"/>
          <p:cNvSpPr/>
          <p:nvPr/>
        </p:nvSpPr>
        <p:spPr>
          <a:xfrm>
            <a:off x="274320" y="2377440"/>
            <a:ext cx="109728" cy="621792"/>
          </a:xfrm>
          <a:prstGeom prst="rect">
            <a:avLst/>
          </a:prstGeom>
          <a:solidFill>
            <a:srgbClr val="00B294"/>
          </a:solidFill>
          <a:ln w="12700">
            <a:solidFill>
              <a:srgbClr val="00B294"/>
            </a:solidFill>
            <a:prstDash val="solid"/>
          </a:ln>
        </p:spPr>
      </p:sp>
      <p:sp>
        <p:nvSpPr>
          <p:cNvPr id="17" name="Shape 15"/>
          <p:cNvSpPr/>
          <p:nvPr/>
        </p:nvSpPr>
        <p:spPr>
          <a:xfrm>
            <a:off x="475488" y="2560320"/>
            <a:ext cx="292608" cy="292608"/>
          </a:xfrm>
          <a:prstGeom prst="ellipse">
            <a:avLst/>
          </a:prstGeom>
          <a:solidFill>
            <a:srgbClr val="00B294"/>
          </a:solidFill>
          <a:ln w="12700">
            <a:solidFill>
              <a:srgbClr val="00B294"/>
            </a:solidFill>
            <a:prstDash val="solid"/>
          </a:ln>
        </p:spPr>
      </p:sp>
      <p:sp>
        <p:nvSpPr>
          <p:cNvPr id="18" name="Text 16"/>
          <p:cNvSpPr/>
          <p:nvPr/>
        </p:nvSpPr>
        <p:spPr>
          <a:xfrm>
            <a:off x="475488" y="2560320"/>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Segoe UI" pitchFamily="34" charset="0"/>
                <a:ea typeface="Segoe UI" pitchFamily="34" charset="-122"/>
                <a:cs typeface="Segoe UI" pitchFamily="34" charset="-120"/>
              </a:rPr>
              <a:t>2</a:t>
            </a:r>
            <a:endParaRPr lang="en-US" sz="1000" dirty="0"/>
          </a:p>
        </p:txBody>
      </p:sp>
      <p:sp>
        <p:nvSpPr>
          <p:cNvPr id="19" name="Text 17"/>
          <p:cNvSpPr/>
          <p:nvPr/>
        </p:nvSpPr>
        <p:spPr>
          <a:xfrm>
            <a:off x="896112" y="2441448"/>
            <a:ext cx="1463040" cy="256032"/>
          </a:xfrm>
          <a:prstGeom prst="rect">
            <a:avLst/>
          </a:prstGeom>
          <a:noFill/>
          <a:ln/>
        </p:spPr>
        <p:txBody>
          <a:bodyPr wrap="square" lIns="0" tIns="0" rIns="0" bIns="0" rtlCol="0" anchor="ctr"/>
          <a:lstStyle/>
          <a:p>
            <a:pPr indent="0" marL="0">
              <a:buNone/>
            </a:pPr>
            <a:r>
              <a:rPr lang="en-US" sz="1150" b="1" dirty="0">
                <a:solidFill>
                  <a:srgbClr val="201F1E"/>
                </a:solidFill>
                <a:latin typeface="Segoe UI" pitchFamily="34" charset="0"/>
                <a:ea typeface="Segoe UI" pitchFamily="34" charset="-122"/>
                <a:cs typeface="Segoe UI" pitchFamily="34" charset="-120"/>
              </a:rPr>
              <a:t>Public websites</a:t>
            </a:r>
            <a:endParaRPr lang="en-US" sz="1150" dirty="0"/>
          </a:p>
        </p:txBody>
      </p:sp>
      <p:sp>
        <p:nvSpPr>
          <p:cNvPr id="20" name="Text 18"/>
          <p:cNvSpPr/>
          <p:nvPr/>
        </p:nvSpPr>
        <p:spPr>
          <a:xfrm>
            <a:off x="896112" y="2715768"/>
            <a:ext cx="1463040" cy="228600"/>
          </a:xfrm>
          <a:prstGeom prst="rect">
            <a:avLst/>
          </a:prstGeom>
          <a:noFill/>
          <a:ln/>
        </p:spPr>
        <p:txBody>
          <a:bodyPr wrap="square" lIns="0" tIns="0" rIns="0" bIns="0" rtlCol="0" anchor="ctr"/>
          <a:lstStyle/>
          <a:p>
            <a:pPr indent="0" marL="0">
              <a:buNone/>
            </a:pPr>
            <a:r>
              <a:rPr lang="en-US" sz="900" b="1" dirty="0">
                <a:solidFill>
                  <a:srgbClr val="00B294"/>
                </a:solidFill>
                <a:latin typeface="Segoe UI" pitchFamily="34" charset="0"/>
                <a:ea typeface="Segoe UI" pitchFamily="34" charset="-122"/>
                <a:cs typeface="Segoe UI" pitchFamily="34" charset="-120"/>
              </a:rPr>
              <a:t>Broad trusted guidance</a:t>
            </a:r>
            <a:endParaRPr lang="en-US" sz="900" dirty="0"/>
          </a:p>
        </p:txBody>
      </p:sp>
      <p:sp>
        <p:nvSpPr>
          <p:cNvPr id="21" name="Text 19"/>
          <p:cNvSpPr/>
          <p:nvPr/>
        </p:nvSpPr>
        <p:spPr>
          <a:xfrm>
            <a:off x="2487168" y="2450592"/>
            <a:ext cx="3977640" cy="512064"/>
          </a:xfrm>
          <a:prstGeom prst="rect">
            <a:avLst/>
          </a:prstGeom>
          <a:noFill/>
          <a:ln/>
        </p:spPr>
        <p:txBody>
          <a:bodyPr wrap="square" rtlCol="0" anchor="ctr"/>
          <a:lstStyle/>
          <a:p>
            <a:pPr indent="0" marL="0">
              <a:buNone/>
            </a:pPr>
            <a:r>
              <a:rPr lang="en-US" sz="1000" dirty="0">
                <a:solidFill>
                  <a:srgbClr val="201F1E"/>
                </a:solidFill>
                <a:latin typeface="Segoe UI" pitchFamily="34" charset="0"/>
                <a:ea typeface="Segoe UI" pitchFamily="34" charset="-122"/>
                <a:cs typeface="Segoe UI" pitchFamily="34" charset="-120"/>
              </a:rPr>
              <a:t>Microsoft Support, Learn docs, and approved public sites. Good for standards, product guidance, and publicly available policy.</a:t>
            </a:r>
            <a:endParaRPr lang="en-US" sz="1000" dirty="0"/>
          </a:p>
        </p:txBody>
      </p:sp>
      <p:sp>
        <p:nvSpPr>
          <p:cNvPr id="22" name="Text 20"/>
          <p:cNvSpPr/>
          <p:nvPr/>
        </p:nvSpPr>
        <p:spPr>
          <a:xfrm>
            <a:off x="6583680" y="2441448"/>
            <a:ext cx="2194560" cy="246888"/>
          </a:xfrm>
          <a:prstGeom prst="rect">
            <a:avLst/>
          </a:prstGeom>
          <a:noFill/>
          <a:ln/>
        </p:spPr>
        <p:txBody>
          <a:bodyPr wrap="square" rtlCol="0" anchor="ctr"/>
          <a:lstStyle/>
          <a:p>
            <a:pPr indent="0" marL="0">
              <a:buNone/>
            </a:pPr>
            <a:r>
              <a:rPr lang="en-US" sz="950" dirty="0">
                <a:solidFill>
                  <a:srgbClr val="605E5C"/>
                </a:solidFill>
                <a:latin typeface="Segoe UI" pitchFamily="34" charset="0"/>
                <a:ea typeface="Segoe UI" pitchFamily="34" charset="-122"/>
                <a:cs typeface="Segoe UI" pitchFamily="34" charset="-120"/>
              </a:rPr>
              <a:t>Owner: Maker</a:t>
            </a:r>
            <a:endParaRPr lang="en-US" sz="950" dirty="0"/>
          </a:p>
        </p:txBody>
      </p:sp>
      <p:sp>
        <p:nvSpPr>
          <p:cNvPr id="23" name="Text 21"/>
          <p:cNvSpPr/>
          <p:nvPr/>
        </p:nvSpPr>
        <p:spPr>
          <a:xfrm>
            <a:off x="6583680" y="2697480"/>
            <a:ext cx="2194560" cy="246888"/>
          </a:xfrm>
          <a:prstGeom prst="rect">
            <a:avLst/>
          </a:prstGeom>
          <a:noFill/>
          <a:ln/>
        </p:spPr>
        <p:txBody>
          <a:bodyPr wrap="square" rtlCol="0" anchor="ctr"/>
          <a:lstStyle/>
          <a:p>
            <a:pPr indent="0" marL="0">
              <a:buNone/>
            </a:pPr>
            <a:r>
              <a:rPr lang="en-US" sz="900" i="1" dirty="0">
                <a:solidFill>
                  <a:srgbClr val="605E5C"/>
                </a:solidFill>
                <a:latin typeface="Segoe UI" pitchFamily="34" charset="0"/>
                <a:ea typeface="Segoe UI" pitchFamily="34" charset="-122"/>
                <a:cs typeface="Segoe UI" pitchFamily="34" charset="-120"/>
              </a:rPr>
              <a:t>Indexed periodically — not real-time</a:t>
            </a:r>
            <a:endParaRPr lang="en-US" sz="900" dirty="0"/>
          </a:p>
        </p:txBody>
      </p:sp>
      <p:sp>
        <p:nvSpPr>
          <p:cNvPr id="24" name="Shape 22"/>
          <p:cNvSpPr/>
          <p:nvPr/>
        </p:nvSpPr>
        <p:spPr>
          <a:xfrm>
            <a:off x="274320" y="3035808"/>
            <a:ext cx="8595360" cy="621792"/>
          </a:xfrm>
          <a:prstGeom prst="rect">
            <a:avLst/>
          </a:prstGeom>
          <a:solidFill>
            <a:srgbClr val="FFFFFF"/>
          </a:solidFill>
          <a:ln w="12700">
            <a:solidFill>
              <a:srgbClr val="E1DFDD"/>
            </a:solidFill>
            <a:prstDash val="solid"/>
          </a:ln>
        </p:spPr>
      </p:sp>
      <p:sp>
        <p:nvSpPr>
          <p:cNvPr id="25" name="Shape 23"/>
          <p:cNvSpPr/>
          <p:nvPr/>
        </p:nvSpPr>
        <p:spPr>
          <a:xfrm>
            <a:off x="274320" y="3035808"/>
            <a:ext cx="109728" cy="621792"/>
          </a:xfrm>
          <a:prstGeom prst="rect">
            <a:avLst/>
          </a:prstGeom>
          <a:solidFill>
            <a:srgbClr val="5C2D91"/>
          </a:solidFill>
          <a:ln w="12700">
            <a:solidFill>
              <a:srgbClr val="5C2D91"/>
            </a:solidFill>
            <a:prstDash val="solid"/>
          </a:ln>
        </p:spPr>
      </p:sp>
      <p:sp>
        <p:nvSpPr>
          <p:cNvPr id="26" name="Shape 24"/>
          <p:cNvSpPr/>
          <p:nvPr/>
        </p:nvSpPr>
        <p:spPr>
          <a:xfrm>
            <a:off x="475488" y="3218688"/>
            <a:ext cx="292608" cy="292608"/>
          </a:xfrm>
          <a:prstGeom prst="ellipse">
            <a:avLst/>
          </a:prstGeom>
          <a:solidFill>
            <a:srgbClr val="5C2D91"/>
          </a:solidFill>
          <a:ln w="12700">
            <a:solidFill>
              <a:srgbClr val="5C2D91"/>
            </a:solidFill>
            <a:prstDash val="solid"/>
          </a:ln>
        </p:spPr>
      </p:sp>
      <p:sp>
        <p:nvSpPr>
          <p:cNvPr id="27" name="Text 25"/>
          <p:cNvSpPr/>
          <p:nvPr/>
        </p:nvSpPr>
        <p:spPr>
          <a:xfrm>
            <a:off x="475488" y="3218688"/>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Segoe UI" pitchFamily="34" charset="0"/>
                <a:ea typeface="Segoe UI" pitchFamily="34" charset="-122"/>
                <a:cs typeface="Segoe UI" pitchFamily="34" charset="-120"/>
              </a:rPr>
              <a:t>3</a:t>
            </a:r>
            <a:endParaRPr lang="en-US" sz="1000" dirty="0"/>
          </a:p>
        </p:txBody>
      </p:sp>
      <p:sp>
        <p:nvSpPr>
          <p:cNvPr id="28" name="Text 26"/>
          <p:cNvSpPr/>
          <p:nvPr/>
        </p:nvSpPr>
        <p:spPr>
          <a:xfrm>
            <a:off x="896112" y="3099816"/>
            <a:ext cx="1463040" cy="256032"/>
          </a:xfrm>
          <a:prstGeom prst="rect">
            <a:avLst/>
          </a:prstGeom>
          <a:noFill/>
          <a:ln/>
        </p:spPr>
        <p:txBody>
          <a:bodyPr wrap="square" lIns="0" tIns="0" rIns="0" bIns="0" rtlCol="0" anchor="ctr"/>
          <a:lstStyle/>
          <a:p>
            <a:pPr indent="0" marL="0">
              <a:buNone/>
            </a:pPr>
            <a:r>
              <a:rPr lang="en-US" sz="1150" b="1" dirty="0">
                <a:solidFill>
                  <a:srgbClr val="201F1E"/>
                </a:solidFill>
                <a:latin typeface="Segoe UI" pitchFamily="34" charset="0"/>
                <a:ea typeface="Segoe UI" pitchFamily="34" charset="-122"/>
                <a:cs typeface="Segoe UI" pitchFamily="34" charset="-120"/>
              </a:rPr>
              <a:t>SharePoint</a:t>
            </a:r>
            <a:endParaRPr lang="en-US" sz="1150" dirty="0"/>
          </a:p>
        </p:txBody>
      </p:sp>
      <p:sp>
        <p:nvSpPr>
          <p:cNvPr id="29" name="Text 27"/>
          <p:cNvSpPr/>
          <p:nvPr/>
        </p:nvSpPr>
        <p:spPr>
          <a:xfrm>
            <a:off x="896112" y="3374136"/>
            <a:ext cx="1463040" cy="228600"/>
          </a:xfrm>
          <a:prstGeom prst="rect">
            <a:avLst/>
          </a:prstGeom>
          <a:noFill/>
          <a:ln/>
        </p:spPr>
        <p:txBody>
          <a:bodyPr wrap="square" lIns="0" tIns="0" rIns="0" bIns="0" rtlCol="0" anchor="ctr"/>
          <a:lstStyle/>
          <a:p>
            <a:pPr indent="0" marL="0">
              <a:buNone/>
            </a:pPr>
            <a:r>
              <a:rPr lang="en-US" sz="900" b="1" dirty="0">
                <a:solidFill>
                  <a:srgbClr val="5C2D91"/>
                </a:solidFill>
                <a:latin typeface="Segoe UI" pitchFamily="34" charset="0"/>
                <a:ea typeface="Segoe UI" pitchFamily="34" charset="-122"/>
                <a:cs typeface="Segoe UI" pitchFamily="34" charset="-120"/>
              </a:rPr>
              <a:t>Enterprise content + lists</a:t>
            </a:r>
            <a:endParaRPr lang="en-US" sz="900" dirty="0"/>
          </a:p>
        </p:txBody>
      </p:sp>
      <p:sp>
        <p:nvSpPr>
          <p:cNvPr id="30" name="Text 28"/>
          <p:cNvSpPr/>
          <p:nvPr/>
        </p:nvSpPr>
        <p:spPr>
          <a:xfrm>
            <a:off x="2487168" y="3108960"/>
            <a:ext cx="3977640" cy="512064"/>
          </a:xfrm>
          <a:prstGeom prst="rect">
            <a:avLst/>
          </a:prstGeom>
          <a:noFill/>
          <a:ln/>
        </p:spPr>
        <p:txBody>
          <a:bodyPr wrap="square" rtlCol="0" anchor="ctr"/>
          <a:lstStyle/>
          <a:p>
            <a:pPr indent="0" marL="0">
              <a:buNone/>
            </a:pPr>
            <a:r>
              <a:rPr lang="en-US" sz="1000" dirty="0">
                <a:solidFill>
                  <a:srgbClr val="201F1E"/>
                </a:solidFill>
                <a:latin typeface="Segoe UI" pitchFamily="34" charset="0"/>
                <a:ea typeface="Segoe UI" pitchFamily="34" charset="-122"/>
                <a:cs typeface="Segoe UI" pitchFamily="34" charset="-120"/>
              </a:rPr>
              <a:t>Internal policies, procedures, FAQs, and list data. Apply metadata filters to scope retrieval and reduce noise from unrelated content.</a:t>
            </a:r>
            <a:endParaRPr lang="en-US" sz="1000" dirty="0"/>
          </a:p>
        </p:txBody>
      </p:sp>
      <p:sp>
        <p:nvSpPr>
          <p:cNvPr id="31" name="Text 29"/>
          <p:cNvSpPr/>
          <p:nvPr/>
        </p:nvSpPr>
        <p:spPr>
          <a:xfrm>
            <a:off x="6583680" y="3099816"/>
            <a:ext cx="2194560" cy="246888"/>
          </a:xfrm>
          <a:prstGeom prst="rect">
            <a:avLst/>
          </a:prstGeom>
          <a:noFill/>
          <a:ln/>
        </p:spPr>
        <p:txBody>
          <a:bodyPr wrap="square" rtlCol="0" anchor="ctr"/>
          <a:lstStyle/>
          <a:p>
            <a:pPr indent="0" marL="0">
              <a:buNone/>
            </a:pPr>
            <a:r>
              <a:rPr lang="en-US" sz="950" dirty="0">
                <a:solidFill>
                  <a:srgbClr val="605E5C"/>
                </a:solidFill>
                <a:latin typeface="Segoe UI" pitchFamily="34" charset="0"/>
                <a:ea typeface="Segoe UI" pitchFamily="34" charset="-122"/>
                <a:cs typeface="Segoe UI" pitchFamily="34" charset="-120"/>
              </a:rPr>
              <a:t>Owner: IT Pro + Content owner</a:t>
            </a:r>
            <a:endParaRPr lang="en-US" sz="950" dirty="0"/>
          </a:p>
        </p:txBody>
      </p:sp>
      <p:sp>
        <p:nvSpPr>
          <p:cNvPr id="32" name="Text 30"/>
          <p:cNvSpPr/>
          <p:nvPr/>
        </p:nvSpPr>
        <p:spPr>
          <a:xfrm>
            <a:off x="6583680" y="3355848"/>
            <a:ext cx="2194560" cy="246888"/>
          </a:xfrm>
          <a:prstGeom prst="rect">
            <a:avLst/>
          </a:prstGeom>
          <a:noFill/>
          <a:ln/>
        </p:spPr>
        <p:txBody>
          <a:bodyPr wrap="square" rtlCol="0" anchor="ctr"/>
          <a:lstStyle/>
          <a:p>
            <a:pPr indent="0" marL="0">
              <a:buNone/>
            </a:pPr>
            <a:r>
              <a:rPr lang="en-US" sz="900" i="1" dirty="0">
                <a:solidFill>
                  <a:srgbClr val="605E5C"/>
                </a:solidFill>
                <a:latin typeface="Segoe UI" pitchFamily="34" charset="0"/>
                <a:ea typeface="Segoe UI" pitchFamily="34" charset="-122"/>
                <a:cs typeface="Segoe UI" pitchFamily="34" charset="-120"/>
              </a:rPr>
              <a:t>Indexed from SharePoint — update at source</a:t>
            </a:r>
            <a:endParaRPr lang="en-US" sz="900" dirty="0"/>
          </a:p>
        </p:txBody>
      </p:sp>
      <p:sp>
        <p:nvSpPr>
          <p:cNvPr id="33" name="Shape 31"/>
          <p:cNvSpPr/>
          <p:nvPr/>
        </p:nvSpPr>
        <p:spPr>
          <a:xfrm>
            <a:off x="274320" y="3694176"/>
            <a:ext cx="8595360" cy="621792"/>
          </a:xfrm>
          <a:prstGeom prst="rect">
            <a:avLst/>
          </a:prstGeom>
          <a:solidFill>
            <a:srgbClr val="F8F7F6"/>
          </a:solidFill>
          <a:ln w="12700">
            <a:solidFill>
              <a:srgbClr val="E1DFDD"/>
            </a:solidFill>
            <a:prstDash val="solid"/>
          </a:ln>
        </p:spPr>
      </p:sp>
      <p:sp>
        <p:nvSpPr>
          <p:cNvPr id="34" name="Shape 32"/>
          <p:cNvSpPr/>
          <p:nvPr/>
        </p:nvSpPr>
        <p:spPr>
          <a:xfrm>
            <a:off x="274320" y="3694176"/>
            <a:ext cx="109728" cy="621792"/>
          </a:xfrm>
          <a:prstGeom prst="rect">
            <a:avLst/>
          </a:prstGeom>
          <a:solidFill>
            <a:srgbClr val="D47900"/>
          </a:solidFill>
          <a:ln w="12700">
            <a:solidFill>
              <a:srgbClr val="D47900"/>
            </a:solidFill>
            <a:prstDash val="solid"/>
          </a:ln>
        </p:spPr>
      </p:sp>
      <p:sp>
        <p:nvSpPr>
          <p:cNvPr id="35" name="Shape 33"/>
          <p:cNvSpPr/>
          <p:nvPr/>
        </p:nvSpPr>
        <p:spPr>
          <a:xfrm>
            <a:off x="475488" y="3877056"/>
            <a:ext cx="292608" cy="292608"/>
          </a:xfrm>
          <a:prstGeom prst="ellipse">
            <a:avLst/>
          </a:prstGeom>
          <a:solidFill>
            <a:srgbClr val="D47900"/>
          </a:solidFill>
          <a:ln w="12700">
            <a:solidFill>
              <a:srgbClr val="D47900"/>
            </a:solidFill>
            <a:prstDash val="solid"/>
          </a:ln>
        </p:spPr>
      </p:sp>
      <p:sp>
        <p:nvSpPr>
          <p:cNvPr id="36" name="Text 34"/>
          <p:cNvSpPr/>
          <p:nvPr/>
        </p:nvSpPr>
        <p:spPr>
          <a:xfrm>
            <a:off x="475488" y="387705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Segoe UI" pitchFamily="34" charset="0"/>
                <a:ea typeface="Segoe UI" pitchFamily="34" charset="-122"/>
                <a:cs typeface="Segoe UI" pitchFamily="34" charset="-120"/>
              </a:rPr>
              <a:t>4</a:t>
            </a:r>
            <a:endParaRPr lang="en-US" sz="1000" dirty="0"/>
          </a:p>
        </p:txBody>
      </p:sp>
      <p:sp>
        <p:nvSpPr>
          <p:cNvPr id="37" name="Text 35"/>
          <p:cNvSpPr/>
          <p:nvPr/>
        </p:nvSpPr>
        <p:spPr>
          <a:xfrm>
            <a:off x="896112" y="3758184"/>
            <a:ext cx="1463040" cy="256032"/>
          </a:xfrm>
          <a:prstGeom prst="rect">
            <a:avLst/>
          </a:prstGeom>
          <a:noFill/>
          <a:ln/>
        </p:spPr>
        <p:txBody>
          <a:bodyPr wrap="square" lIns="0" tIns="0" rIns="0" bIns="0" rtlCol="0" anchor="ctr"/>
          <a:lstStyle/>
          <a:p>
            <a:pPr indent="0" marL="0">
              <a:buNone/>
            </a:pPr>
            <a:r>
              <a:rPr lang="en-US" sz="1150" b="1" dirty="0">
                <a:solidFill>
                  <a:srgbClr val="201F1E"/>
                </a:solidFill>
                <a:latin typeface="Segoe UI" pitchFamily="34" charset="0"/>
                <a:ea typeface="Segoe UI" pitchFamily="34" charset="-122"/>
                <a:cs typeface="Segoe UI" pitchFamily="34" charset="-120"/>
              </a:rPr>
              <a:t>Files</a:t>
            </a:r>
            <a:endParaRPr lang="en-US" sz="1150" dirty="0"/>
          </a:p>
        </p:txBody>
      </p:sp>
      <p:sp>
        <p:nvSpPr>
          <p:cNvPr id="38" name="Text 36"/>
          <p:cNvSpPr/>
          <p:nvPr/>
        </p:nvSpPr>
        <p:spPr>
          <a:xfrm>
            <a:off x="896112" y="4032504"/>
            <a:ext cx="1463040" cy="228600"/>
          </a:xfrm>
          <a:prstGeom prst="rect">
            <a:avLst/>
          </a:prstGeom>
          <a:noFill/>
          <a:ln/>
        </p:spPr>
        <p:txBody>
          <a:bodyPr wrap="square" lIns="0" tIns="0" rIns="0" bIns="0" rtlCol="0" anchor="ctr"/>
          <a:lstStyle/>
          <a:p>
            <a:pPr indent="0" marL="0">
              <a:buNone/>
            </a:pPr>
            <a:r>
              <a:rPr lang="en-US" sz="900" b="1" dirty="0">
                <a:solidFill>
                  <a:srgbClr val="D47900"/>
                </a:solidFill>
                <a:latin typeface="Segoe UI" pitchFamily="34" charset="0"/>
                <a:ea typeface="Segoe UI" pitchFamily="34" charset="-122"/>
                <a:cs typeface="Segoe UI" pitchFamily="34" charset="-120"/>
              </a:rPr>
              <a:t>Narrow operational references</a:t>
            </a:r>
            <a:endParaRPr lang="en-US" sz="900" dirty="0"/>
          </a:p>
        </p:txBody>
      </p:sp>
      <p:sp>
        <p:nvSpPr>
          <p:cNvPr id="39" name="Text 37"/>
          <p:cNvSpPr/>
          <p:nvPr/>
        </p:nvSpPr>
        <p:spPr>
          <a:xfrm>
            <a:off x="2487168" y="3767328"/>
            <a:ext cx="3977640" cy="512064"/>
          </a:xfrm>
          <a:prstGeom prst="rect">
            <a:avLst/>
          </a:prstGeom>
          <a:noFill/>
          <a:ln/>
        </p:spPr>
        <p:txBody>
          <a:bodyPr wrap="square" rtlCol="0" anchor="ctr"/>
          <a:lstStyle/>
          <a:p>
            <a:pPr indent="0" marL="0">
              <a:buNone/>
            </a:pPr>
            <a:r>
              <a:rPr lang="en-US" sz="1000" dirty="0">
                <a:solidFill>
                  <a:srgbClr val="201F1E"/>
                </a:solidFill>
                <a:latin typeface="Segoe UI" pitchFamily="34" charset="0"/>
                <a:ea typeface="Segoe UI" pitchFamily="34" charset="-122"/>
                <a:cs typeface="Segoe UI" pitchFamily="34" charset="-120"/>
              </a:rPr>
              <a:t>Device guides, quick-reference PDFs, and focused materials not stored in SharePoint. Best for stable content with limited update frequency.</a:t>
            </a:r>
            <a:endParaRPr lang="en-US" sz="1000" dirty="0"/>
          </a:p>
        </p:txBody>
      </p:sp>
      <p:sp>
        <p:nvSpPr>
          <p:cNvPr id="40" name="Text 38"/>
          <p:cNvSpPr/>
          <p:nvPr/>
        </p:nvSpPr>
        <p:spPr>
          <a:xfrm>
            <a:off x="6583680" y="3758184"/>
            <a:ext cx="2194560" cy="246888"/>
          </a:xfrm>
          <a:prstGeom prst="rect">
            <a:avLst/>
          </a:prstGeom>
          <a:noFill/>
          <a:ln/>
        </p:spPr>
        <p:txBody>
          <a:bodyPr wrap="square" rtlCol="0" anchor="ctr"/>
          <a:lstStyle/>
          <a:p>
            <a:pPr indent="0" marL="0">
              <a:buNone/>
            </a:pPr>
            <a:r>
              <a:rPr lang="en-US" sz="950" dirty="0">
                <a:solidFill>
                  <a:srgbClr val="605E5C"/>
                </a:solidFill>
                <a:latin typeface="Segoe UI" pitchFamily="34" charset="0"/>
                <a:ea typeface="Segoe UI" pitchFamily="34" charset="-122"/>
                <a:cs typeface="Segoe UI" pitchFamily="34" charset="-120"/>
              </a:rPr>
              <a:t>Owner: Maker / Facilitator</a:t>
            </a:r>
            <a:endParaRPr lang="en-US" sz="950" dirty="0"/>
          </a:p>
        </p:txBody>
      </p:sp>
      <p:sp>
        <p:nvSpPr>
          <p:cNvPr id="41" name="Text 39"/>
          <p:cNvSpPr/>
          <p:nvPr/>
        </p:nvSpPr>
        <p:spPr>
          <a:xfrm>
            <a:off x="6583680" y="4014216"/>
            <a:ext cx="2194560" cy="246888"/>
          </a:xfrm>
          <a:prstGeom prst="rect">
            <a:avLst/>
          </a:prstGeom>
          <a:noFill/>
          <a:ln/>
        </p:spPr>
        <p:txBody>
          <a:bodyPr wrap="square" rtlCol="0" anchor="ctr"/>
          <a:lstStyle/>
          <a:p>
            <a:pPr indent="0" marL="0">
              <a:buNone/>
            </a:pPr>
            <a:r>
              <a:rPr lang="en-US" sz="900" i="1" dirty="0">
                <a:solidFill>
                  <a:srgbClr val="605E5C"/>
                </a:solidFill>
                <a:latin typeface="Segoe UI" pitchFamily="34" charset="0"/>
                <a:ea typeface="Segoe UI" pitchFamily="34" charset="-122"/>
                <a:cs typeface="Segoe UI" pitchFamily="34" charset="-120"/>
              </a:rPr>
              <a:t>Re-upload to update — not live-synced</a:t>
            </a:r>
            <a:endParaRPr lang="en-US" sz="900" dirty="0"/>
          </a:p>
        </p:txBody>
      </p:sp>
      <p:sp>
        <p:nvSpPr>
          <p:cNvPr id="42" name="Shape 40"/>
          <p:cNvSpPr/>
          <p:nvPr/>
        </p:nvSpPr>
        <p:spPr>
          <a:xfrm>
            <a:off x="274320" y="4352544"/>
            <a:ext cx="8595360" cy="621792"/>
          </a:xfrm>
          <a:prstGeom prst="rect">
            <a:avLst/>
          </a:prstGeom>
          <a:solidFill>
            <a:srgbClr val="FFFFFF"/>
          </a:solidFill>
          <a:ln w="12700">
            <a:solidFill>
              <a:srgbClr val="E1DFDD"/>
            </a:solidFill>
            <a:prstDash val="solid"/>
          </a:ln>
        </p:spPr>
      </p:sp>
      <p:sp>
        <p:nvSpPr>
          <p:cNvPr id="43" name="Shape 41"/>
          <p:cNvSpPr/>
          <p:nvPr/>
        </p:nvSpPr>
        <p:spPr>
          <a:xfrm>
            <a:off x="274320" y="4352544"/>
            <a:ext cx="109728" cy="621792"/>
          </a:xfrm>
          <a:prstGeom prst="rect">
            <a:avLst/>
          </a:prstGeom>
          <a:solidFill>
            <a:srgbClr val="D83B01"/>
          </a:solidFill>
          <a:ln w="12700">
            <a:solidFill>
              <a:srgbClr val="D83B01"/>
            </a:solidFill>
            <a:prstDash val="solid"/>
          </a:ln>
        </p:spPr>
      </p:sp>
      <p:sp>
        <p:nvSpPr>
          <p:cNvPr id="44" name="Shape 42"/>
          <p:cNvSpPr/>
          <p:nvPr/>
        </p:nvSpPr>
        <p:spPr>
          <a:xfrm>
            <a:off x="475488" y="4535424"/>
            <a:ext cx="292608" cy="292608"/>
          </a:xfrm>
          <a:prstGeom prst="ellipse">
            <a:avLst/>
          </a:prstGeom>
          <a:solidFill>
            <a:srgbClr val="D83B01"/>
          </a:solidFill>
          <a:ln w="12700">
            <a:solidFill>
              <a:srgbClr val="D83B01"/>
            </a:solidFill>
            <a:prstDash val="solid"/>
          </a:ln>
        </p:spPr>
      </p:sp>
      <p:sp>
        <p:nvSpPr>
          <p:cNvPr id="45" name="Text 43"/>
          <p:cNvSpPr/>
          <p:nvPr/>
        </p:nvSpPr>
        <p:spPr>
          <a:xfrm>
            <a:off x="475488" y="453542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Segoe UI" pitchFamily="34" charset="0"/>
                <a:ea typeface="Segoe UI" pitchFamily="34" charset="-122"/>
                <a:cs typeface="Segoe UI" pitchFamily="34" charset="-120"/>
              </a:rPr>
              <a:t>5</a:t>
            </a:r>
            <a:endParaRPr lang="en-US" sz="1000" dirty="0"/>
          </a:p>
        </p:txBody>
      </p:sp>
      <p:sp>
        <p:nvSpPr>
          <p:cNvPr id="46" name="Text 44"/>
          <p:cNvSpPr/>
          <p:nvPr/>
        </p:nvSpPr>
        <p:spPr>
          <a:xfrm>
            <a:off x="896112" y="4416552"/>
            <a:ext cx="1463040" cy="256032"/>
          </a:xfrm>
          <a:prstGeom prst="rect">
            <a:avLst/>
          </a:prstGeom>
          <a:noFill/>
          <a:ln/>
        </p:spPr>
        <p:txBody>
          <a:bodyPr wrap="square" lIns="0" tIns="0" rIns="0" bIns="0" rtlCol="0" anchor="ctr"/>
          <a:lstStyle/>
          <a:p>
            <a:pPr indent="0" marL="0">
              <a:buNone/>
            </a:pPr>
            <a:r>
              <a:rPr lang="en-US" sz="1150" b="1" dirty="0">
                <a:solidFill>
                  <a:srgbClr val="201F1E"/>
                </a:solidFill>
                <a:latin typeface="Segoe UI" pitchFamily="34" charset="0"/>
                <a:ea typeface="Segoe UI" pitchFamily="34" charset="-122"/>
                <a:cs typeface="Segoe UI" pitchFamily="34" charset="-120"/>
              </a:rPr>
              <a:t>Dataverse  (Day 2)</a:t>
            </a:r>
            <a:endParaRPr lang="en-US" sz="1150" dirty="0"/>
          </a:p>
        </p:txBody>
      </p:sp>
      <p:sp>
        <p:nvSpPr>
          <p:cNvPr id="47" name="Text 45"/>
          <p:cNvSpPr/>
          <p:nvPr/>
        </p:nvSpPr>
        <p:spPr>
          <a:xfrm>
            <a:off x="896112" y="4690872"/>
            <a:ext cx="1463040" cy="228600"/>
          </a:xfrm>
          <a:prstGeom prst="rect">
            <a:avLst/>
          </a:prstGeom>
          <a:noFill/>
          <a:ln/>
        </p:spPr>
        <p:txBody>
          <a:bodyPr wrap="square" lIns="0" tIns="0" rIns="0" bIns="0" rtlCol="0" anchor="ctr"/>
          <a:lstStyle/>
          <a:p>
            <a:pPr indent="0" marL="0">
              <a:buNone/>
            </a:pPr>
            <a:r>
              <a:rPr lang="en-US" sz="900" b="1" dirty="0">
                <a:solidFill>
                  <a:srgbClr val="D83B01"/>
                </a:solidFill>
                <a:latin typeface="Segoe UI" pitchFamily="34" charset="0"/>
                <a:ea typeface="Segoe UI" pitchFamily="34" charset="-122"/>
                <a:cs typeface="Segoe UI" pitchFamily="34" charset="-120"/>
              </a:rPr>
              <a:t>Structured business records</a:t>
            </a:r>
            <a:endParaRPr lang="en-US" sz="900" dirty="0"/>
          </a:p>
        </p:txBody>
      </p:sp>
      <p:sp>
        <p:nvSpPr>
          <p:cNvPr id="48" name="Text 46"/>
          <p:cNvSpPr/>
          <p:nvPr/>
        </p:nvSpPr>
        <p:spPr>
          <a:xfrm>
            <a:off x="2487168" y="4425696"/>
            <a:ext cx="3977640" cy="512064"/>
          </a:xfrm>
          <a:prstGeom prst="rect">
            <a:avLst/>
          </a:prstGeom>
          <a:noFill/>
          <a:ln/>
        </p:spPr>
        <p:txBody>
          <a:bodyPr wrap="square" rtlCol="0" anchor="ctr"/>
          <a:lstStyle/>
          <a:p>
            <a:pPr indent="0" marL="0">
              <a:buNone/>
            </a:pPr>
            <a:r>
              <a:rPr lang="en-US" sz="1000" dirty="0">
                <a:solidFill>
                  <a:srgbClr val="201F1E"/>
                </a:solidFill>
                <a:latin typeface="Segoe UI" pitchFamily="34" charset="0"/>
                <a:ea typeface="Segoe UI" pitchFamily="34" charset="-122"/>
                <a:cs typeface="Segoe UI" pitchFamily="34" charset="-120"/>
              </a:rPr>
              <a:t>Candidate records, job roles, evaluation data. Stronger filtering and permissions than SharePoint — schema quality matters as much as prompt wording.</a:t>
            </a:r>
            <a:endParaRPr lang="en-US" sz="1000" dirty="0"/>
          </a:p>
        </p:txBody>
      </p:sp>
      <p:sp>
        <p:nvSpPr>
          <p:cNvPr id="49" name="Text 47"/>
          <p:cNvSpPr/>
          <p:nvPr/>
        </p:nvSpPr>
        <p:spPr>
          <a:xfrm>
            <a:off x="6583680" y="4416552"/>
            <a:ext cx="2194560" cy="246888"/>
          </a:xfrm>
          <a:prstGeom prst="rect">
            <a:avLst/>
          </a:prstGeom>
          <a:noFill/>
          <a:ln/>
        </p:spPr>
        <p:txBody>
          <a:bodyPr wrap="square" rtlCol="0" anchor="ctr"/>
          <a:lstStyle/>
          <a:p>
            <a:pPr indent="0" marL="0">
              <a:buNone/>
            </a:pPr>
            <a:r>
              <a:rPr lang="en-US" sz="950" dirty="0">
                <a:solidFill>
                  <a:srgbClr val="605E5C"/>
                </a:solidFill>
                <a:latin typeface="Segoe UI" pitchFamily="34" charset="0"/>
                <a:ea typeface="Segoe UI" pitchFamily="34" charset="-122"/>
                <a:cs typeface="Segoe UI" pitchFamily="34" charset="-120"/>
              </a:rPr>
              <a:t>Owner: Developer + IT Pro</a:t>
            </a:r>
            <a:endParaRPr lang="en-US" sz="950" dirty="0"/>
          </a:p>
        </p:txBody>
      </p:sp>
      <p:sp>
        <p:nvSpPr>
          <p:cNvPr id="50" name="Text 48"/>
          <p:cNvSpPr/>
          <p:nvPr/>
        </p:nvSpPr>
        <p:spPr>
          <a:xfrm>
            <a:off x="6583680" y="4672584"/>
            <a:ext cx="2194560" cy="246888"/>
          </a:xfrm>
          <a:prstGeom prst="rect">
            <a:avLst/>
          </a:prstGeom>
          <a:noFill/>
          <a:ln/>
        </p:spPr>
        <p:txBody>
          <a:bodyPr wrap="square" rtlCol="0" anchor="ctr"/>
          <a:lstStyle/>
          <a:p>
            <a:pPr indent="0" marL="0">
              <a:buNone/>
            </a:pPr>
            <a:r>
              <a:rPr lang="en-US" sz="900" i="1" dirty="0">
                <a:solidFill>
                  <a:srgbClr val="605E5C"/>
                </a:solidFill>
                <a:latin typeface="Segoe UI" pitchFamily="34" charset="0"/>
                <a:ea typeface="Segoe UI" pitchFamily="34" charset="-122"/>
                <a:cs typeface="Segoe UI" pitchFamily="34" charset="-120"/>
              </a:rPr>
              <a:t>Live — reads from Dataverse at query time</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078D4"/>
        </a:solidFill>
      </p:bgPr>
    </p:bg>
    <p:spTree>
      <p:nvGrpSpPr>
        <p:cNvPr id="1" name=""/>
        <p:cNvGrpSpPr/>
        <p:nvPr/>
      </p:nvGrpSpPr>
      <p:grpSpPr>
        <a:xfrm>
          <a:off x="0" y="0"/>
          <a:ext cx="0" cy="0"/>
          <a:chOff x="0" y="0"/>
          <a:chExt cx="0" cy="0"/>
        </a:xfrm>
      </p:grpSpPr>
      <p:sp>
        <p:nvSpPr>
          <p:cNvPr id="2" name="Shape 0"/>
          <p:cNvSpPr/>
          <p:nvPr/>
        </p:nvSpPr>
        <p:spPr>
          <a:xfrm>
            <a:off x="5852160" y="0"/>
            <a:ext cx="3291840" cy="5143500"/>
          </a:xfrm>
          <a:prstGeom prst="rect">
            <a:avLst/>
          </a:prstGeom>
          <a:solidFill>
            <a:srgbClr val="243A5E"/>
          </a:solidFill>
          <a:ln w="12700">
            <a:solidFill>
              <a:srgbClr val="243A5E"/>
            </a:solidFill>
            <a:prstDash val="solid"/>
          </a:ln>
        </p:spPr>
      </p:sp>
      <p:sp>
        <p:nvSpPr>
          <p:cNvPr id="3" name="Text 1"/>
          <p:cNvSpPr/>
          <p:nvPr/>
        </p:nvSpPr>
        <p:spPr>
          <a:xfrm>
            <a:off x="411480" y="365760"/>
            <a:ext cx="5212080" cy="384048"/>
          </a:xfrm>
          <a:prstGeom prst="rect">
            <a:avLst/>
          </a:prstGeom>
          <a:noFill/>
          <a:ln/>
        </p:spPr>
        <p:txBody>
          <a:bodyPr wrap="square" rtlCol="0" anchor="ctr"/>
          <a:lstStyle/>
          <a:p>
            <a:pPr indent="0" marL="0">
              <a:buNone/>
            </a:pPr>
            <a:r>
              <a:rPr lang="en-US" sz="1000" spc="500" kern="0" dirty="0">
                <a:solidFill>
                  <a:srgbClr val="50E6FF"/>
                </a:solidFill>
                <a:latin typeface="Segoe UI" pitchFamily="34" charset="0"/>
                <a:ea typeface="Segoe UI" pitchFamily="34" charset="-122"/>
                <a:cs typeface="Segoe UI" pitchFamily="34" charset="-120"/>
              </a:rPr>
              <a:t>LAB TIME</a:t>
            </a:r>
            <a:endParaRPr lang="en-US" sz="1000" dirty="0"/>
          </a:p>
        </p:txBody>
      </p:sp>
      <p:sp>
        <p:nvSpPr>
          <p:cNvPr id="4" name="Text 2"/>
          <p:cNvSpPr/>
          <p:nvPr/>
        </p:nvSpPr>
        <p:spPr>
          <a:xfrm>
            <a:off x="411480" y="841248"/>
            <a:ext cx="5212080" cy="1005840"/>
          </a:xfrm>
          <a:prstGeom prst="rect">
            <a:avLst/>
          </a:prstGeom>
          <a:noFill/>
          <a:ln/>
        </p:spPr>
        <p:txBody>
          <a:bodyPr wrap="square" rtlCol="0" anchor="ctr"/>
          <a:lstStyle/>
          <a:p>
            <a:pPr indent="0" marL="0">
              <a:buNone/>
            </a:pPr>
            <a:r>
              <a:rPr lang="en-US" sz="5800" b="1" dirty="0">
                <a:solidFill>
                  <a:srgbClr val="FFFFFF"/>
                </a:solidFill>
                <a:latin typeface="Segoe UI" pitchFamily="34" charset="0"/>
                <a:ea typeface="Segoe UI" pitchFamily="34" charset="-122"/>
                <a:cs typeface="Segoe UI" pitchFamily="34" charset="-120"/>
              </a:rPr>
              <a:t>Lab 06</a:t>
            </a:r>
            <a:endParaRPr lang="en-US" sz="5800" dirty="0"/>
          </a:p>
        </p:txBody>
      </p:sp>
      <p:sp>
        <p:nvSpPr>
          <p:cNvPr id="5" name="Text 3"/>
          <p:cNvSpPr/>
          <p:nvPr/>
        </p:nvSpPr>
        <p:spPr>
          <a:xfrm>
            <a:off x="411480" y="1828800"/>
            <a:ext cx="5212080" cy="502920"/>
          </a:xfrm>
          <a:prstGeom prst="rect">
            <a:avLst/>
          </a:prstGeom>
          <a:noFill/>
          <a:ln/>
        </p:spPr>
        <p:txBody>
          <a:bodyPr wrap="square" rtlCol="0" anchor="ctr"/>
          <a:lstStyle/>
          <a:p>
            <a:pPr indent="0" marL="0">
              <a:buNone/>
            </a:pPr>
            <a:r>
              <a:rPr lang="en-US" sz="2200" dirty="0">
                <a:solidFill>
                  <a:srgbClr val="50E6FF"/>
                </a:solidFill>
                <a:latin typeface="Segoe UI" pitchFamily="34" charset="0"/>
                <a:ea typeface="Segoe UI" pitchFamily="34" charset="-122"/>
                <a:cs typeface="Segoe UI" pitchFamily="34" charset="-120"/>
              </a:rPr>
              <a:t>Custom Agent</a:t>
            </a:r>
            <a:endParaRPr lang="en-US" sz="2200" dirty="0"/>
          </a:p>
        </p:txBody>
      </p:sp>
      <p:sp>
        <p:nvSpPr>
          <p:cNvPr id="6" name="Text 4"/>
          <p:cNvSpPr/>
          <p:nvPr/>
        </p:nvSpPr>
        <p:spPr>
          <a:xfrm>
            <a:off x="411480" y="2450592"/>
            <a:ext cx="5212080" cy="2423160"/>
          </a:xfrm>
          <a:prstGeom prst="rect">
            <a:avLst/>
          </a:prstGeom>
          <a:noFill/>
          <a:ln/>
        </p:spPr>
        <p:txBody>
          <a:bodyPr wrap="square" rtlCol="0" anchor="ctr"/>
          <a:lstStyle/>
          <a:p>
            <a:pPr marL="342900" indent="-342900">
              <a:buSzPct val="100000"/>
              <a:buChar char="•"/>
            </a:pPr>
            <a:r>
              <a:rPr lang="en-US" sz="1100" dirty="0">
                <a:solidFill>
                  <a:srgbClr val="FFFFFF"/>
                </a:solidFill>
                <a:latin typeface="Segoe UI" pitchFamily="34" charset="0"/>
                <a:ea typeface="Segoe UI" pitchFamily="34" charset="-122"/>
                <a:cs typeface="Segoe UI" pitchFamily="34" charset="-120"/>
              </a:rPr>
              <a:t>Create Contoso Helpdesk Agent from a natural language description</a:t>
            </a:r>
            <a:endParaRPr lang="en-US" sz="1100" dirty="0"/>
          </a:p>
          <a:p>
            <a:pPr marL="342900" indent="-342900">
              <a:buSzPct val="100000"/>
              <a:buChar char="•"/>
            </a:pPr>
            <a:r>
              <a:rPr lang="en-US" sz="1100" dirty="0">
                <a:solidFill>
                  <a:srgbClr val="FFFFFF"/>
                </a:solidFill>
                <a:latin typeface="Segoe UI" pitchFamily="34" charset="0"/>
                <a:ea typeface="Segoe UI" pitchFamily="34" charset="-122"/>
                <a:cs typeface="Segoe UI" pitchFamily="34" charset="-120"/>
              </a:rPr>
              <a:t>Set GPT-5 Chat as the model (or GPT-4.1 if unavailable)</a:t>
            </a:r>
            <a:endParaRPr lang="en-US" sz="1100" dirty="0"/>
          </a:p>
          <a:p>
            <a:pPr marL="342900" indent="-342900">
              <a:buSzPct val="100000"/>
              <a:buChar char="•"/>
            </a:pPr>
            <a:r>
              <a:rPr lang="en-US" sz="1100" dirty="0">
                <a:solidFill>
                  <a:srgbClr val="FFFFFF"/>
                </a:solidFill>
                <a:latin typeface="Segoe UI" pitchFamily="34" charset="0"/>
                <a:ea typeface="Segoe UI" pitchFamily="34" charset="-122"/>
                <a:cs typeface="Segoe UI" pitchFamily="34" charset="-120"/>
              </a:rPr>
              <a:t>Add support.microsoft.com + learn.microsoft.com/troubleshoot/ as public web sources</a:t>
            </a:r>
            <a:endParaRPr lang="en-US" sz="1100" dirty="0"/>
          </a:p>
          <a:p>
            <a:pPr marL="342900" indent="-342900">
              <a:buSzPct val="100000"/>
              <a:buChar char="•"/>
            </a:pPr>
            <a:r>
              <a:rPr lang="en-US" sz="1100" dirty="0">
                <a:solidFill>
                  <a:srgbClr val="FFFFFF"/>
                </a:solidFill>
                <a:latin typeface="Segoe UI" pitchFamily="34" charset="0"/>
                <a:ea typeface="Segoe UI" pitchFamily="34" charset="-122"/>
                <a:cs typeface="Segoe UI" pitchFamily="34" charset="-120"/>
              </a:rPr>
              <a:t>Connect the Contoso IT SharePoint site and apply a metadata filter</a:t>
            </a:r>
            <a:endParaRPr lang="en-US" sz="1100" dirty="0"/>
          </a:p>
          <a:p>
            <a:pPr marL="342900" indent="-342900">
              <a:buSzPct val="100000"/>
              <a:buChar char="•"/>
            </a:pPr>
            <a:r>
              <a:rPr lang="en-US" sz="1100" dirty="0">
                <a:solidFill>
                  <a:srgbClr val="FFFFFF"/>
                </a:solidFill>
                <a:latin typeface="Segoe UI" pitchFamily="34" charset="0"/>
                <a:ea typeface="Segoe UI" pitchFamily="34" charset="-122"/>
                <a:cs typeface="Segoe UI" pitchFamily="34" charset="-120"/>
              </a:rPr>
              <a:t>Upload two reference files and disable open web search in Settings</a:t>
            </a:r>
            <a:endParaRPr lang="en-US" sz="1100" dirty="0"/>
          </a:p>
          <a:p>
            <a:pPr marL="342900" indent="-342900">
              <a:buSzPct val="100000"/>
              <a:buChar char="•"/>
            </a:pPr>
            <a:r>
              <a:rPr lang="en-US" sz="1100" dirty="0">
                <a:solidFill>
                  <a:srgbClr val="FFFFFF"/>
                </a:solidFill>
                <a:latin typeface="Segoe UI" pitchFamily="34" charset="0"/>
                <a:ea typeface="Segoe UI" pitchFamily="34" charset="-122"/>
                <a:cs typeface="Segoe UI" pitchFamily="34" charset="-120"/>
              </a:rPr>
              <a:t>Test grounded answers and inspect the Activity map</a:t>
            </a:r>
            <a:endParaRPr lang="en-US" sz="1100" dirty="0"/>
          </a:p>
        </p:txBody>
      </p:sp>
      <p:sp>
        <p:nvSpPr>
          <p:cNvPr id="7" name="Text 5"/>
          <p:cNvSpPr/>
          <p:nvPr/>
        </p:nvSpPr>
        <p:spPr>
          <a:xfrm>
            <a:off x="5852160" y="1097280"/>
            <a:ext cx="3291840" cy="1463040"/>
          </a:xfrm>
          <a:prstGeom prst="rect">
            <a:avLst/>
          </a:prstGeom>
          <a:noFill/>
          <a:ln/>
        </p:spPr>
        <p:txBody>
          <a:bodyPr wrap="square" rtlCol="0" anchor="ctr"/>
          <a:lstStyle/>
          <a:p>
            <a:pPr algn="ctr" indent="0" marL="0">
              <a:buNone/>
            </a:pPr>
            <a:r>
              <a:rPr lang="en-US" sz="8000" b="1" dirty="0">
                <a:solidFill>
                  <a:srgbClr val="FFFFFF"/>
                </a:solidFill>
                <a:latin typeface="Segoe UI" pitchFamily="34" charset="0"/>
                <a:ea typeface="Segoe UI" pitchFamily="34" charset="-122"/>
                <a:cs typeface="Segoe UI" pitchFamily="34" charset="-120"/>
              </a:rPr>
              <a:t>75</a:t>
            </a:r>
            <a:endParaRPr lang="en-US" sz="8000" dirty="0"/>
          </a:p>
        </p:txBody>
      </p:sp>
      <p:sp>
        <p:nvSpPr>
          <p:cNvPr id="8" name="Text 6"/>
          <p:cNvSpPr/>
          <p:nvPr/>
        </p:nvSpPr>
        <p:spPr>
          <a:xfrm>
            <a:off x="5852160" y="2633472"/>
            <a:ext cx="3291840" cy="384048"/>
          </a:xfrm>
          <a:prstGeom prst="rect">
            <a:avLst/>
          </a:prstGeom>
          <a:noFill/>
          <a:ln/>
        </p:spPr>
        <p:txBody>
          <a:bodyPr wrap="square" rtlCol="0" anchor="ctr"/>
          <a:lstStyle/>
          <a:p>
            <a:pPr algn="ctr" indent="0" marL="0">
              <a:buNone/>
            </a:pPr>
            <a:r>
              <a:rPr lang="en-US" sz="1400" dirty="0">
                <a:solidFill>
                  <a:srgbClr val="50E6FF"/>
                </a:solidFill>
                <a:latin typeface="Segoe UI" pitchFamily="34" charset="0"/>
                <a:ea typeface="Segoe UI" pitchFamily="34" charset="-122"/>
                <a:cs typeface="Segoe UI" pitchFamily="34" charset="-120"/>
              </a:rPr>
              <a:t>minutes</a:t>
            </a:r>
            <a:endParaRPr lang="en-US" sz="1400" dirty="0"/>
          </a:p>
        </p:txBody>
      </p:sp>
      <p:sp>
        <p:nvSpPr>
          <p:cNvPr id="9" name="Text 7"/>
          <p:cNvSpPr/>
          <p:nvPr/>
        </p:nvSpPr>
        <p:spPr>
          <a:xfrm>
            <a:off x="5852160" y="3154680"/>
            <a:ext cx="3291840" cy="347472"/>
          </a:xfrm>
          <a:prstGeom prst="rect">
            <a:avLst/>
          </a:prstGeom>
          <a:noFill/>
          <a:ln/>
        </p:spPr>
        <p:txBody>
          <a:bodyPr wrap="square" rtlCol="0" anchor="ctr"/>
          <a:lstStyle/>
          <a:p>
            <a:pPr algn="ctr" indent="0" marL="0">
              <a:buNone/>
            </a:pPr>
            <a:r>
              <a:rPr lang="en-US" sz="900" dirty="0">
                <a:solidFill>
                  <a:srgbClr val="A0BEDD"/>
                </a:solidFill>
                <a:latin typeface="Segoe UI" pitchFamily="34" charset="0"/>
                <a:ea typeface="Segoe UI" pitchFamily="34" charset="-122"/>
                <a:cs typeface="Segoe UI" pitchFamily="34" charset="-120"/>
              </a:rPr>
              <a:t>Longest Day 1 build block</a:t>
            </a:r>
            <a:endParaRPr lang="en-US" sz="900" dirty="0"/>
          </a:p>
        </p:txBody>
      </p:sp>
      <p:sp>
        <p:nvSpPr>
          <p:cNvPr id="10" name="Text 8"/>
          <p:cNvSpPr/>
          <p:nvPr/>
        </p:nvSpPr>
        <p:spPr>
          <a:xfrm>
            <a:off x="5852160" y="3493008"/>
            <a:ext cx="3291840" cy="320040"/>
          </a:xfrm>
          <a:prstGeom prst="rect">
            <a:avLst/>
          </a:prstGeom>
          <a:noFill/>
          <a:ln/>
        </p:spPr>
        <p:txBody>
          <a:bodyPr wrap="square" rtlCol="0" anchor="ctr"/>
          <a:lstStyle/>
          <a:p>
            <a:pPr algn="ctr" indent="0" marL="0">
              <a:buNone/>
            </a:pPr>
            <a:r>
              <a:rPr lang="en-US" sz="900" dirty="0">
                <a:solidFill>
                  <a:srgbClr val="7BA7CC"/>
                </a:solidFill>
                <a:latin typeface="Segoe UI" pitchFamily="34" charset="0"/>
                <a:ea typeface="Segoe UI" pitchFamily="34" charset="-122"/>
                <a:cs typeface="Segoe UI" pitchFamily="34" charset="-120"/>
              </a:rPr>
              <a:t>Roam · checkpoint at 30 min</a:t>
            </a:r>
            <a:endParaRPr lang="en-US" sz="900" dirty="0"/>
          </a:p>
        </p:txBody>
      </p:sp>
      <p:sp>
        <p:nvSpPr>
          <p:cNvPr id="11" name="Text 9"/>
          <p:cNvSpPr/>
          <p:nvPr/>
        </p:nvSpPr>
        <p:spPr>
          <a:xfrm>
            <a:off x="5852160" y="4160520"/>
            <a:ext cx="3291840" cy="347472"/>
          </a:xfrm>
          <a:prstGeom prst="rect">
            <a:avLst/>
          </a:prstGeom>
          <a:noFill/>
          <a:ln/>
        </p:spPr>
        <p:txBody>
          <a:bodyPr wrap="square" rtlCol="0" anchor="ctr"/>
          <a:lstStyle/>
          <a:p>
            <a:pPr algn="ctr" indent="0" marL="0">
              <a:buNone/>
            </a:pPr>
            <a:r>
              <a:rPr lang="en-US" sz="900" dirty="0">
                <a:solidFill>
                  <a:srgbClr val="7BA7CC"/>
                </a:solidFill>
                <a:latin typeface="Segoe UI" pitchFamily="34" charset="0"/>
                <a:ea typeface="Segoe UI" pitchFamily="34" charset="-122"/>
                <a:cs typeface="Segoe UI" pitchFamily="34" charset="-120"/>
              </a:rPr>
              <a:t>Makers · IT Pros · Developers</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078D4"/>
          </a:solidFill>
          <a:ln w="12700">
            <a:solidFill>
              <a:srgbClr val="0078D4"/>
            </a:solidFill>
            <a:prstDash val="solid"/>
          </a:ln>
        </p:spPr>
      </p:sp>
      <p:sp>
        <p:nvSpPr>
          <p:cNvPr id="3" name="Text 1"/>
          <p:cNvSpPr/>
          <p:nvPr/>
        </p:nvSpPr>
        <p:spPr>
          <a:xfrm>
            <a:off x="365760" y="0"/>
            <a:ext cx="8412480" cy="640080"/>
          </a:xfrm>
          <a:prstGeom prst="rect">
            <a:avLst/>
          </a:prstGeom>
          <a:noFill/>
          <a:ln/>
        </p:spPr>
        <p:txBody>
          <a:bodyPr wrap="square" rtlCol="0" anchor="ctr"/>
          <a:lstStyle/>
          <a:p>
            <a:pPr indent="0" marL="0">
              <a:buNone/>
            </a:pPr>
            <a:r>
              <a:rPr lang="en-US" sz="900" spc="200" kern="0" dirty="0">
                <a:solidFill>
                  <a:srgbClr val="C5D8F0"/>
                </a:solidFill>
                <a:latin typeface="Segoe UI" pitchFamily="34" charset="0"/>
                <a:ea typeface="Segoe UI" pitchFamily="34" charset="-122"/>
                <a:cs typeface="Segoe UI" pitchFamily="34" charset="-120"/>
              </a:rPr>
              <a:t>MODULE 04  ·  LAB 06 RECAP</a:t>
            </a:r>
            <a:endParaRPr lang="en-US" sz="900" dirty="0"/>
          </a:p>
        </p:txBody>
      </p:sp>
      <p:sp>
        <p:nvSpPr>
          <p:cNvPr id="4" name="Text 2"/>
          <p:cNvSpPr/>
          <p:nvPr/>
        </p:nvSpPr>
        <p:spPr>
          <a:xfrm>
            <a:off x="365760" y="749808"/>
            <a:ext cx="8412480" cy="530352"/>
          </a:xfrm>
          <a:prstGeom prst="rect">
            <a:avLst/>
          </a:prstGeom>
          <a:noFill/>
          <a:ln/>
        </p:spPr>
        <p:txBody>
          <a:bodyPr wrap="square" rtlCol="0" anchor="ctr"/>
          <a:lstStyle/>
          <a:p>
            <a:pPr indent="0" marL="0">
              <a:buNone/>
            </a:pPr>
            <a:r>
              <a:rPr lang="en-US" sz="2800" b="1" dirty="0">
                <a:solidFill>
                  <a:srgbClr val="201F1E"/>
                </a:solidFill>
                <a:latin typeface="Segoe UI" pitchFamily="34" charset="0"/>
                <a:ea typeface="Segoe UI" pitchFamily="34" charset="-122"/>
                <a:cs typeface="Segoe UI" pitchFamily="34" charset="-120"/>
              </a:rPr>
              <a:t>Lab 06: Custom Agent</a:t>
            </a:r>
            <a:endParaRPr lang="en-US" sz="2800" dirty="0"/>
          </a:p>
        </p:txBody>
      </p:sp>
      <p:sp>
        <p:nvSpPr>
          <p:cNvPr id="5" name="Text 3"/>
          <p:cNvSpPr/>
          <p:nvPr/>
        </p:nvSpPr>
        <p:spPr>
          <a:xfrm>
            <a:off x="365760" y="1325880"/>
            <a:ext cx="8229600" cy="320040"/>
          </a:xfrm>
          <a:prstGeom prst="rect">
            <a:avLst/>
          </a:prstGeom>
          <a:noFill/>
          <a:ln/>
        </p:spPr>
        <p:txBody>
          <a:bodyPr wrap="square" rtlCol="0" anchor="ctr"/>
          <a:lstStyle/>
          <a:p>
            <a:pPr indent="0" marL="0">
              <a:buNone/>
            </a:pPr>
            <a:r>
              <a:rPr lang="en-US" sz="1200" dirty="0">
                <a:solidFill>
                  <a:srgbClr val="605E5C"/>
                </a:solidFill>
                <a:latin typeface="Segoe UI" pitchFamily="34" charset="0"/>
                <a:ea typeface="Segoe UI" pitchFamily="34" charset="-122"/>
                <a:cs typeface="Segoe UI" pitchFamily="34" charset="-120"/>
              </a:rPr>
              <a:t>The win condition: a named, grounded agent that cites trusted sources — not a feature-complete solution.</a:t>
            </a:r>
            <a:endParaRPr lang="en-US" sz="1200" dirty="0"/>
          </a:p>
        </p:txBody>
      </p:sp>
      <p:sp>
        <p:nvSpPr>
          <p:cNvPr id="6" name="Shape 4"/>
          <p:cNvSpPr/>
          <p:nvPr/>
        </p:nvSpPr>
        <p:spPr>
          <a:xfrm>
            <a:off x="320040" y="1755648"/>
            <a:ext cx="8503920" cy="420624"/>
          </a:xfrm>
          <a:prstGeom prst="rect">
            <a:avLst/>
          </a:prstGeom>
          <a:solidFill>
            <a:srgbClr val="F3F2F1"/>
          </a:solidFill>
          <a:ln w="12700">
            <a:solidFill>
              <a:srgbClr val="E1DFDD"/>
            </a:solidFill>
            <a:prstDash val="solid"/>
          </a:ln>
        </p:spPr>
      </p:sp>
      <p:sp>
        <p:nvSpPr>
          <p:cNvPr id="7" name="Shape 5"/>
          <p:cNvSpPr/>
          <p:nvPr/>
        </p:nvSpPr>
        <p:spPr>
          <a:xfrm>
            <a:off x="457200" y="1828800"/>
            <a:ext cx="749808" cy="274320"/>
          </a:xfrm>
          <a:prstGeom prst="rect">
            <a:avLst/>
          </a:prstGeom>
          <a:solidFill>
            <a:srgbClr val="0078D4"/>
          </a:solidFill>
          <a:ln w="12700">
            <a:solidFill>
              <a:srgbClr val="0078D4"/>
            </a:solidFill>
            <a:prstDash val="solid"/>
          </a:ln>
        </p:spPr>
      </p:sp>
      <p:sp>
        <p:nvSpPr>
          <p:cNvPr id="8" name="Text 6"/>
          <p:cNvSpPr/>
          <p:nvPr/>
        </p:nvSpPr>
        <p:spPr>
          <a:xfrm>
            <a:off x="457200" y="1828800"/>
            <a:ext cx="749808"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Name</a:t>
            </a:r>
            <a:endParaRPr lang="en-US" sz="800" dirty="0"/>
          </a:p>
        </p:txBody>
      </p:sp>
      <p:sp>
        <p:nvSpPr>
          <p:cNvPr id="9" name="Text 7"/>
          <p:cNvSpPr/>
          <p:nvPr/>
        </p:nvSpPr>
        <p:spPr>
          <a:xfrm>
            <a:off x="1316736" y="1828800"/>
            <a:ext cx="7388352" cy="274320"/>
          </a:xfrm>
          <a:prstGeom prst="rect">
            <a:avLst/>
          </a:prstGeom>
          <a:noFill/>
          <a:ln/>
        </p:spPr>
        <p:txBody>
          <a:bodyPr wrap="square" lIns="0" tIns="0" rIns="0" bIns="0" rtlCol="0" anchor="ctr"/>
          <a:lstStyle/>
          <a:p>
            <a:pPr indent="0" marL="0">
              <a:buNone/>
            </a:pPr>
            <a:r>
              <a:rPr lang="en-US" sz="1050" dirty="0">
                <a:solidFill>
                  <a:srgbClr val="201F1E"/>
                </a:solidFill>
                <a:latin typeface="Segoe UI" pitchFamily="34" charset="0"/>
                <a:ea typeface="Segoe UI" pitchFamily="34" charset="-122"/>
                <a:cs typeface="Segoe UI" pitchFamily="34" charset="-120"/>
              </a:rPr>
              <a:t>Agent name is Contoso Helpdesk Agent and it is inside the Contoso Helpdesk Agent solution</a:t>
            </a:r>
            <a:endParaRPr lang="en-US" sz="1050" dirty="0"/>
          </a:p>
        </p:txBody>
      </p:sp>
      <p:sp>
        <p:nvSpPr>
          <p:cNvPr id="10" name="Shape 8"/>
          <p:cNvSpPr/>
          <p:nvPr/>
        </p:nvSpPr>
        <p:spPr>
          <a:xfrm>
            <a:off x="320040" y="2212848"/>
            <a:ext cx="8503920" cy="420624"/>
          </a:xfrm>
          <a:prstGeom prst="rect">
            <a:avLst/>
          </a:prstGeom>
          <a:solidFill>
            <a:srgbClr val="FFFFFF"/>
          </a:solidFill>
          <a:ln w="12700">
            <a:solidFill>
              <a:srgbClr val="E1DFDD"/>
            </a:solidFill>
            <a:prstDash val="solid"/>
          </a:ln>
        </p:spPr>
      </p:sp>
      <p:sp>
        <p:nvSpPr>
          <p:cNvPr id="11" name="Shape 9"/>
          <p:cNvSpPr/>
          <p:nvPr/>
        </p:nvSpPr>
        <p:spPr>
          <a:xfrm>
            <a:off x="457200" y="2286000"/>
            <a:ext cx="749808" cy="274320"/>
          </a:xfrm>
          <a:prstGeom prst="rect">
            <a:avLst/>
          </a:prstGeom>
          <a:solidFill>
            <a:srgbClr val="5C2D91"/>
          </a:solidFill>
          <a:ln w="12700">
            <a:solidFill>
              <a:srgbClr val="5C2D91"/>
            </a:solidFill>
            <a:prstDash val="solid"/>
          </a:ln>
        </p:spPr>
      </p:sp>
      <p:sp>
        <p:nvSpPr>
          <p:cNvPr id="12" name="Text 10"/>
          <p:cNvSpPr/>
          <p:nvPr/>
        </p:nvSpPr>
        <p:spPr>
          <a:xfrm>
            <a:off x="457200" y="2286000"/>
            <a:ext cx="749808"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Model</a:t>
            </a:r>
            <a:endParaRPr lang="en-US" sz="800" dirty="0"/>
          </a:p>
        </p:txBody>
      </p:sp>
      <p:sp>
        <p:nvSpPr>
          <p:cNvPr id="13" name="Text 11"/>
          <p:cNvSpPr/>
          <p:nvPr/>
        </p:nvSpPr>
        <p:spPr>
          <a:xfrm>
            <a:off x="1316736" y="2286000"/>
            <a:ext cx="7388352" cy="274320"/>
          </a:xfrm>
          <a:prstGeom prst="rect">
            <a:avLst/>
          </a:prstGeom>
          <a:noFill/>
          <a:ln/>
        </p:spPr>
        <p:txBody>
          <a:bodyPr wrap="square" lIns="0" tIns="0" rIns="0" bIns="0" rtlCol="0" anchor="ctr"/>
          <a:lstStyle/>
          <a:p>
            <a:pPr indent="0" marL="0">
              <a:buNone/>
            </a:pPr>
            <a:r>
              <a:rPr lang="en-US" sz="1050" dirty="0">
                <a:solidFill>
                  <a:srgbClr val="201F1E"/>
                </a:solidFill>
                <a:latin typeface="Segoe UI" pitchFamily="34" charset="0"/>
                <a:ea typeface="Segoe UI" pitchFamily="34" charset="-122"/>
                <a:cs typeface="Segoe UI" pitchFamily="34" charset="-120"/>
              </a:rPr>
              <a:t>Model set to GPT-5 Chat (or GPT-4.1 noted if GPT-5 Chat unavailable in your region)</a:t>
            </a:r>
            <a:endParaRPr lang="en-US" sz="1050" dirty="0"/>
          </a:p>
        </p:txBody>
      </p:sp>
      <p:sp>
        <p:nvSpPr>
          <p:cNvPr id="14" name="Shape 12"/>
          <p:cNvSpPr/>
          <p:nvPr/>
        </p:nvSpPr>
        <p:spPr>
          <a:xfrm>
            <a:off x="320040" y="2670048"/>
            <a:ext cx="8503920" cy="420624"/>
          </a:xfrm>
          <a:prstGeom prst="rect">
            <a:avLst/>
          </a:prstGeom>
          <a:solidFill>
            <a:srgbClr val="F3F2F1"/>
          </a:solidFill>
          <a:ln w="12700">
            <a:solidFill>
              <a:srgbClr val="E1DFDD"/>
            </a:solidFill>
            <a:prstDash val="solid"/>
          </a:ln>
        </p:spPr>
      </p:sp>
      <p:sp>
        <p:nvSpPr>
          <p:cNvPr id="15" name="Shape 13"/>
          <p:cNvSpPr/>
          <p:nvPr/>
        </p:nvSpPr>
        <p:spPr>
          <a:xfrm>
            <a:off x="457200" y="2743200"/>
            <a:ext cx="749808" cy="274320"/>
          </a:xfrm>
          <a:prstGeom prst="rect">
            <a:avLst/>
          </a:prstGeom>
          <a:solidFill>
            <a:srgbClr val="00B294"/>
          </a:solidFill>
          <a:ln w="12700">
            <a:solidFill>
              <a:srgbClr val="00B294"/>
            </a:solidFill>
            <a:prstDash val="solid"/>
          </a:ln>
        </p:spPr>
      </p:sp>
      <p:sp>
        <p:nvSpPr>
          <p:cNvPr id="16" name="Text 14"/>
          <p:cNvSpPr/>
          <p:nvPr/>
        </p:nvSpPr>
        <p:spPr>
          <a:xfrm>
            <a:off x="457200" y="2743200"/>
            <a:ext cx="749808"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Knowledge</a:t>
            </a:r>
            <a:endParaRPr lang="en-US" sz="800" dirty="0"/>
          </a:p>
        </p:txBody>
      </p:sp>
      <p:sp>
        <p:nvSpPr>
          <p:cNvPr id="17" name="Text 15"/>
          <p:cNvSpPr/>
          <p:nvPr/>
        </p:nvSpPr>
        <p:spPr>
          <a:xfrm>
            <a:off x="1316736" y="2743200"/>
            <a:ext cx="7388352" cy="274320"/>
          </a:xfrm>
          <a:prstGeom prst="rect">
            <a:avLst/>
          </a:prstGeom>
          <a:noFill/>
          <a:ln/>
        </p:spPr>
        <p:txBody>
          <a:bodyPr wrap="square" lIns="0" tIns="0" rIns="0" bIns="0" rtlCol="0" anchor="ctr"/>
          <a:lstStyle/>
          <a:p>
            <a:pPr indent="0" marL="0">
              <a:buNone/>
            </a:pPr>
            <a:r>
              <a:rPr lang="en-US" sz="1050" dirty="0">
                <a:solidFill>
                  <a:srgbClr val="201F1E"/>
                </a:solidFill>
                <a:latin typeface="Segoe UI" pitchFamily="34" charset="0"/>
                <a:ea typeface="Segoe UI" pitchFamily="34" charset="-122"/>
                <a:cs typeface="Segoe UI" pitchFamily="34" charset="-120"/>
              </a:rPr>
              <a:t>Knowledge includes support.microsoft.com, learn.microsoft.com/troubleshoot/, the Contoso IT SharePoint source, and uploaded reference files</a:t>
            </a:r>
            <a:endParaRPr lang="en-US" sz="1050" dirty="0"/>
          </a:p>
        </p:txBody>
      </p:sp>
      <p:sp>
        <p:nvSpPr>
          <p:cNvPr id="18" name="Shape 16"/>
          <p:cNvSpPr/>
          <p:nvPr/>
        </p:nvSpPr>
        <p:spPr>
          <a:xfrm>
            <a:off x="320040" y="3127248"/>
            <a:ext cx="8503920" cy="420624"/>
          </a:xfrm>
          <a:prstGeom prst="rect">
            <a:avLst/>
          </a:prstGeom>
          <a:solidFill>
            <a:srgbClr val="FFFFFF"/>
          </a:solidFill>
          <a:ln w="12700">
            <a:solidFill>
              <a:srgbClr val="E1DFDD"/>
            </a:solidFill>
            <a:prstDash val="solid"/>
          </a:ln>
        </p:spPr>
      </p:sp>
      <p:sp>
        <p:nvSpPr>
          <p:cNvPr id="19" name="Shape 17"/>
          <p:cNvSpPr/>
          <p:nvPr/>
        </p:nvSpPr>
        <p:spPr>
          <a:xfrm>
            <a:off x="457200" y="3200400"/>
            <a:ext cx="749808" cy="274320"/>
          </a:xfrm>
          <a:prstGeom prst="rect">
            <a:avLst/>
          </a:prstGeom>
          <a:solidFill>
            <a:srgbClr val="107C10"/>
          </a:solidFill>
          <a:ln w="12700">
            <a:solidFill>
              <a:srgbClr val="107C10"/>
            </a:solidFill>
            <a:prstDash val="solid"/>
          </a:ln>
        </p:spPr>
      </p:sp>
      <p:sp>
        <p:nvSpPr>
          <p:cNvPr id="20" name="Text 18"/>
          <p:cNvSpPr/>
          <p:nvPr/>
        </p:nvSpPr>
        <p:spPr>
          <a:xfrm>
            <a:off x="457200" y="3200400"/>
            <a:ext cx="749808"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Grounding</a:t>
            </a:r>
            <a:endParaRPr lang="en-US" sz="800" dirty="0"/>
          </a:p>
        </p:txBody>
      </p:sp>
      <p:sp>
        <p:nvSpPr>
          <p:cNvPr id="21" name="Text 19"/>
          <p:cNvSpPr/>
          <p:nvPr/>
        </p:nvSpPr>
        <p:spPr>
          <a:xfrm>
            <a:off x="1316736" y="3200400"/>
            <a:ext cx="7388352" cy="274320"/>
          </a:xfrm>
          <a:prstGeom prst="rect">
            <a:avLst/>
          </a:prstGeom>
          <a:noFill/>
          <a:ln/>
        </p:spPr>
        <p:txBody>
          <a:bodyPr wrap="square" lIns="0" tIns="0" rIns="0" bIns="0" rtlCol="0" anchor="ctr"/>
          <a:lstStyle/>
          <a:p>
            <a:pPr indent="0" marL="0">
              <a:buNone/>
            </a:pPr>
            <a:r>
              <a:rPr lang="en-US" sz="1050" dirty="0">
                <a:solidFill>
                  <a:srgbClr val="201F1E"/>
                </a:solidFill>
                <a:latin typeface="Segoe UI" pitchFamily="34" charset="0"/>
                <a:ea typeface="Segoe UI" pitchFamily="34" charset="-122"/>
                <a:cs typeface="Segoe UI" pitchFamily="34" charset="-120"/>
              </a:rPr>
              <a:t>Use information from the Web is set to Off in Settings — agent only uses approved sources</a:t>
            </a:r>
            <a:endParaRPr lang="en-US" sz="1050" dirty="0"/>
          </a:p>
        </p:txBody>
      </p:sp>
      <p:sp>
        <p:nvSpPr>
          <p:cNvPr id="22" name="Shape 20"/>
          <p:cNvSpPr/>
          <p:nvPr/>
        </p:nvSpPr>
        <p:spPr>
          <a:xfrm>
            <a:off x="320040" y="3584448"/>
            <a:ext cx="8503920" cy="420624"/>
          </a:xfrm>
          <a:prstGeom prst="rect">
            <a:avLst/>
          </a:prstGeom>
          <a:solidFill>
            <a:srgbClr val="F3F2F1"/>
          </a:solidFill>
          <a:ln w="12700">
            <a:solidFill>
              <a:srgbClr val="E1DFDD"/>
            </a:solidFill>
            <a:prstDash val="solid"/>
          </a:ln>
        </p:spPr>
      </p:sp>
      <p:sp>
        <p:nvSpPr>
          <p:cNvPr id="23" name="Shape 21"/>
          <p:cNvSpPr/>
          <p:nvPr/>
        </p:nvSpPr>
        <p:spPr>
          <a:xfrm>
            <a:off x="457200" y="3657600"/>
            <a:ext cx="749808" cy="274320"/>
          </a:xfrm>
          <a:prstGeom prst="rect">
            <a:avLst/>
          </a:prstGeom>
          <a:solidFill>
            <a:srgbClr val="D47900"/>
          </a:solidFill>
          <a:ln w="12700">
            <a:solidFill>
              <a:srgbClr val="D47900"/>
            </a:solidFill>
            <a:prstDash val="solid"/>
          </a:ln>
        </p:spPr>
      </p:sp>
      <p:sp>
        <p:nvSpPr>
          <p:cNvPr id="24" name="Text 22"/>
          <p:cNvSpPr/>
          <p:nvPr/>
        </p:nvSpPr>
        <p:spPr>
          <a:xfrm>
            <a:off x="457200" y="3657600"/>
            <a:ext cx="749808"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Filter</a:t>
            </a:r>
            <a:endParaRPr lang="en-US" sz="800" dirty="0"/>
          </a:p>
        </p:txBody>
      </p:sp>
      <p:sp>
        <p:nvSpPr>
          <p:cNvPr id="25" name="Text 23"/>
          <p:cNvSpPr/>
          <p:nvPr/>
        </p:nvSpPr>
        <p:spPr>
          <a:xfrm>
            <a:off x="1316736" y="3657600"/>
            <a:ext cx="7388352" cy="274320"/>
          </a:xfrm>
          <a:prstGeom prst="rect">
            <a:avLst/>
          </a:prstGeom>
          <a:noFill/>
          <a:ln/>
        </p:spPr>
        <p:txBody>
          <a:bodyPr wrap="square" lIns="0" tIns="0" rIns="0" bIns="0" rtlCol="0" anchor="ctr"/>
          <a:lstStyle/>
          <a:p>
            <a:pPr indent="0" marL="0">
              <a:buNone/>
            </a:pPr>
            <a:r>
              <a:rPr lang="en-US" sz="1050" dirty="0">
                <a:solidFill>
                  <a:srgbClr val="201F1E"/>
                </a:solidFill>
                <a:latin typeface="Segoe UI" pitchFamily="34" charset="0"/>
                <a:ea typeface="Segoe UI" pitchFamily="34" charset="-122"/>
                <a:cs typeface="Segoe UI" pitchFamily="34" charset="-120"/>
              </a:rPr>
              <a:t>SharePoint source has at least one saved metadata filter or scoped retrieval rule</a:t>
            </a:r>
            <a:endParaRPr lang="en-US" sz="1050" dirty="0"/>
          </a:p>
        </p:txBody>
      </p:sp>
      <p:sp>
        <p:nvSpPr>
          <p:cNvPr id="26" name="Shape 24"/>
          <p:cNvSpPr/>
          <p:nvPr/>
        </p:nvSpPr>
        <p:spPr>
          <a:xfrm>
            <a:off x="320040" y="4041648"/>
            <a:ext cx="8503920" cy="420624"/>
          </a:xfrm>
          <a:prstGeom prst="rect">
            <a:avLst/>
          </a:prstGeom>
          <a:solidFill>
            <a:srgbClr val="FFFFFF"/>
          </a:solidFill>
          <a:ln w="12700">
            <a:solidFill>
              <a:srgbClr val="E1DFDD"/>
            </a:solidFill>
            <a:prstDash val="solid"/>
          </a:ln>
        </p:spPr>
      </p:sp>
      <p:sp>
        <p:nvSpPr>
          <p:cNvPr id="27" name="Shape 25"/>
          <p:cNvSpPr/>
          <p:nvPr/>
        </p:nvSpPr>
        <p:spPr>
          <a:xfrm>
            <a:off x="457200" y="4114800"/>
            <a:ext cx="749808" cy="274320"/>
          </a:xfrm>
          <a:prstGeom prst="rect">
            <a:avLst/>
          </a:prstGeom>
          <a:solidFill>
            <a:srgbClr val="D83B01"/>
          </a:solidFill>
          <a:ln w="12700">
            <a:solidFill>
              <a:srgbClr val="D83B01"/>
            </a:solidFill>
            <a:prstDash val="solid"/>
          </a:ln>
        </p:spPr>
      </p:sp>
      <p:sp>
        <p:nvSpPr>
          <p:cNvPr id="28" name="Text 26"/>
          <p:cNvSpPr/>
          <p:nvPr/>
        </p:nvSpPr>
        <p:spPr>
          <a:xfrm>
            <a:off x="457200" y="4114800"/>
            <a:ext cx="749808"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Tested</a:t>
            </a:r>
            <a:endParaRPr lang="en-US" sz="800" dirty="0"/>
          </a:p>
        </p:txBody>
      </p:sp>
      <p:sp>
        <p:nvSpPr>
          <p:cNvPr id="29" name="Text 27"/>
          <p:cNvSpPr/>
          <p:nvPr/>
        </p:nvSpPr>
        <p:spPr>
          <a:xfrm>
            <a:off x="1316736" y="4114800"/>
            <a:ext cx="7388352" cy="274320"/>
          </a:xfrm>
          <a:prstGeom prst="rect">
            <a:avLst/>
          </a:prstGeom>
          <a:noFill/>
          <a:ln/>
        </p:spPr>
        <p:txBody>
          <a:bodyPr wrap="square" lIns="0" tIns="0" rIns="0" bIns="0" rtlCol="0" anchor="ctr"/>
          <a:lstStyle/>
          <a:p>
            <a:pPr indent="0" marL="0">
              <a:buNone/>
            </a:pPr>
            <a:r>
              <a:rPr lang="en-US" sz="1050" dirty="0">
                <a:solidFill>
                  <a:srgbClr val="201F1E"/>
                </a:solidFill>
                <a:latin typeface="Segoe UI" pitchFamily="34" charset="0"/>
                <a:ea typeface="Segoe UI" pitchFamily="34" charset="-122"/>
                <a:cs typeface="Segoe UI" pitchFamily="34" charset="-120"/>
              </a:rPr>
              <a:t>Test pane returns at least one grounded answer with a trusted source reference</a:t>
            </a:r>
            <a:endParaRPr lang="en-US" sz="1050" dirty="0"/>
          </a:p>
        </p:txBody>
      </p:sp>
      <p:sp>
        <p:nvSpPr>
          <p:cNvPr id="30" name="Shape 28"/>
          <p:cNvSpPr/>
          <p:nvPr/>
        </p:nvSpPr>
        <p:spPr>
          <a:xfrm>
            <a:off x="320040" y="4572000"/>
            <a:ext cx="8503920" cy="329184"/>
          </a:xfrm>
          <a:prstGeom prst="rect">
            <a:avLst/>
          </a:prstGeom>
          <a:solidFill>
            <a:srgbClr val="EFF6FC"/>
          </a:solidFill>
          <a:ln w="12700">
            <a:solidFill>
              <a:srgbClr val="C7E0F4"/>
            </a:solidFill>
            <a:prstDash val="solid"/>
          </a:ln>
        </p:spPr>
      </p:sp>
      <p:sp>
        <p:nvSpPr>
          <p:cNvPr id="31" name="Text 29"/>
          <p:cNvSpPr/>
          <p:nvPr/>
        </p:nvSpPr>
        <p:spPr>
          <a:xfrm>
            <a:off x="475488" y="4572000"/>
            <a:ext cx="8321040" cy="329184"/>
          </a:xfrm>
          <a:prstGeom prst="rect">
            <a:avLst/>
          </a:prstGeom>
          <a:noFill/>
          <a:ln/>
        </p:spPr>
        <p:txBody>
          <a:bodyPr wrap="square" rtlCol="0" anchor="ctr"/>
          <a:lstStyle/>
          <a:p>
            <a:pPr indent="0" marL="0">
              <a:buNone/>
            </a:pPr>
            <a:r>
              <a:rPr lang="en-US" sz="1100" b="1" dirty="0">
                <a:solidFill>
                  <a:srgbClr val="0078D4"/>
                </a:solidFill>
                <a:latin typeface="Segoe UI" pitchFamily="34" charset="0"/>
                <a:ea typeface="Segoe UI" pitchFamily="34" charset="-122"/>
                <a:cs typeface="Segoe UI" pitchFamily="34" charset="-120"/>
              </a:rPr>
              <a:t>Up next: Module 05 — Topic Design  (Labs 07–08: Topics, triggers, and Adaptive Cards)</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Copilot Studio Workshop — Module 04: Custom Agent Design</dc:title>
  <dc:subject>PptxGenJS Presentation</dc:subject>
  <dc:creator>Microsoft</dc:creator>
  <cp:lastModifiedBy>Microsoft</cp:lastModifiedBy>
  <cp:revision>1</cp:revision>
  <dcterms:created xsi:type="dcterms:W3CDTF">2026-03-23T20:59:37Z</dcterms:created>
  <dcterms:modified xsi:type="dcterms:W3CDTF">2026-03-23T20:59:37Z</dcterms:modified>
</cp:coreProperties>
</file>