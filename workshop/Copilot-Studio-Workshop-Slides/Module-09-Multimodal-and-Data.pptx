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6" r:id="rId17"/>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keeps capability growth tied to business value and control. Multimodal input helps where document quality improves the hiring workflow. Dataverse grounds answers in current, governed business data. Document generation closes the loop with a recoverable, reviewable artifact the recruiting team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Well-framed multimodal prompts stay useful because they are scoped to a real decision. Show both a clean PDF and a messy phone photo so participants see why multimodal prompt quality depends on input quality. The value comes from controlled usefulness, not from using every possible input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both a clean PDF and a messy phone photo so participants see why multimodal quality depends on input quality. If image results are poor, improve the document image before making the prompt more complicated. A prebuilt starter template is available in Operative07StarterTemplate.zip for participants who need a head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Multimodal extraction is a building block — Lab 20 connects it to Dataverse grounding and Lab 21 uses extracted candidate data in document generation. Encourage participants to add the prompt to Application Intake Agent so it is available as a specialist tool in the full hiring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Dataverse readiness to both business value and operational accountability. Contrast Dataverse with Day 1 grounding choices: public sites give breadth, SharePoint gives enterprise content and lists, files give narrow references, and Dataverse gives structured operational records with stronger filtering and permissions. Stress that schema quality and access control now matter as much as prompt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this as a readiness checkpoint because data access variability is common across tenants. Validate permissions early so the room does not mistake access issues for design issues. If the table does not appear in the prompt builder, publish Dataverse changes and refresh Copilot Studio before investigating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lab focused on governed usefulness rather than deep schema exploration. Treat missing tables, empty results, or permission errors as data-readiness problems first, not model problems. This helps facilitators troubleshoot faster and teaches participants to separate AI behavior from data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framing helps document generation feel operational rather than magical. The key insight: let AI do what AI does well (natural language narrative) while keeping structure and layout in a deterministic template. Generated documents need clear inputs, approved templates, and obvious review points before anyone treats the result as production-ready.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lab intentionally uses a stable GA document-generation pattern. Have one known-good application number ready for a live demo. If time is short, provide the prebuilt OfferLetterTemplate.docx from Operative09StarterSolution.zip and focus class time on prompt, flow, and topic wiring.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Word fields are not available in the flow, reopen the template and confirm Plain Text Content Controls were used with saved titles. If the topic does not return a file, recheck the Respond to the agent file mapping in the flow. Document generation closes the Day 2 pipeline from resume intake through to a reviewed, recruiter-ready hiring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checkpoint prevents the most common Lab 20 support escalation. Open the Power Apps maker portal, navigate to the Dataverse tables view, and show the five Hiring Hub tables with sample data on screen. Ask the room to confirm they see the same tables before continuing. If any participant has missing or empty tables, resolve the data-readiness issue now rather than debugging it during Lab 20 when it will be mistaken for a grounding or model problem.</a:t>
            </a: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64008"/>
            <a:ext cx="411480" cy="5079492"/>
          </a:xfrm>
          <a:prstGeom prst="rect">
            <a:avLst/>
          </a:prstGeom>
          <a:solidFill>
            <a:srgbClr val="0078D4"/>
          </a:solidFill>
          <a:ln w="12700">
            <a:solidFill>
              <a:srgbClr val="0078D4"/>
            </a:solidFill>
            <a:prstDash val="solid"/>
          </a:ln>
        </p:spPr>
      </p:sp>
      <p:sp>
        <p:nvSpPr>
          <p:cNvPr id="4" name="Text 2"/>
          <p:cNvSpPr/>
          <p:nvPr/>
        </p:nvSpPr>
        <p:spPr>
          <a:xfrm>
            <a:off x="594360" y="594360"/>
            <a:ext cx="8229600" cy="384048"/>
          </a:xfrm>
          <a:prstGeom prst="rect">
            <a:avLst/>
          </a:prstGeom>
          <a:noFill/>
          <a:ln/>
        </p:spPr>
        <p:txBody>
          <a:bodyPr wrap="square" rtlCol="0" anchor="ctr"/>
          <a:lstStyle/>
          <a:p>
            <a:pPr indent="0" marL="0">
              <a:buNone/>
            </a:pPr>
            <a:r>
              <a:rPr lang="en-US" sz="1100" spc="500" kern="0" dirty="0">
                <a:solidFill>
                  <a:srgbClr val="50E6FF"/>
                </a:solidFill>
                <a:latin typeface="Segoe UI" pitchFamily="34" charset="0"/>
                <a:ea typeface="Segoe UI" pitchFamily="34" charset="-122"/>
                <a:cs typeface="Segoe UI" pitchFamily="34" charset="-120"/>
              </a:rPr>
              <a:t>MODULE 09</a:t>
            </a:r>
            <a:endParaRPr lang="en-US" sz="1100" dirty="0"/>
          </a:p>
        </p:txBody>
      </p:sp>
      <p:sp>
        <p:nvSpPr>
          <p:cNvPr id="5" name="Text 3"/>
          <p:cNvSpPr/>
          <p:nvPr/>
        </p:nvSpPr>
        <p:spPr>
          <a:xfrm>
            <a:off x="594360" y="1078992"/>
            <a:ext cx="8229600" cy="914400"/>
          </a:xfrm>
          <a:prstGeom prst="rect">
            <a:avLst/>
          </a:prstGeom>
          <a:noFill/>
          <a:ln/>
        </p:spPr>
        <p:txBody>
          <a:bodyPr wrap="square" rtlCol="0" anchor="ctr"/>
          <a:lstStyle/>
          <a:p>
            <a:pPr indent="0" marL="0">
              <a:buNone/>
            </a:pPr>
            <a:r>
              <a:rPr lang="en-US" sz="4800" b="1" dirty="0">
                <a:solidFill>
                  <a:srgbClr val="FFFFFF"/>
                </a:solidFill>
                <a:latin typeface="Segoe UI" pitchFamily="34" charset="0"/>
                <a:ea typeface="Segoe UI" pitchFamily="34" charset="-122"/>
                <a:cs typeface="Segoe UI" pitchFamily="34" charset="-120"/>
              </a:rPr>
              <a:t>Multimodal and Data</a:t>
            </a:r>
            <a:endParaRPr lang="en-US" sz="4800" dirty="0"/>
          </a:p>
        </p:txBody>
      </p:sp>
      <p:sp>
        <p:nvSpPr>
          <p:cNvPr id="6" name="Text 4"/>
          <p:cNvSpPr/>
          <p:nvPr/>
        </p:nvSpPr>
        <p:spPr>
          <a:xfrm>
            <a:off x="594360" y="2103120"/>
            <a:ext cx="7955280" cy="502920"/>
          </a:xfrm>
          <a:prstGeom prst="rect">
            <a:avLst/>
          </a:prstGeom>
          <a:noFill/>
          <a:ln/>
        </p:spPr>
        <p:txBody>
          <a:bodyPr wrap="square" rtlCol="0" anchor="ctr"/>
          <a:lstStyle/>
          <a:p>
            <a:pPr indent="0" marL="0">
              <a:buNone/>
            </a:pPr>
            <a:r>
              <a:rPr lang="en-US" sz="1300" dirty="0">
                <a:solidFill>
                  <a:srgbClr val="C5D8F0"/>
                </a:solidFill>
                <a:latin typeface="Segoe UI" pitchFamily="34" charset="0"/>
                <a:ea typeface="Segoe UI" pitchFamily="34" charset="-122"/>
                <a:cs typeface="Segoe UI" pitchFamily="34" charset="-120"/>
              </a:rPr>
              <a:t>Richer inputs, governed business data, and document outputs — all reviewable, role-appropriate, and easy to justify</a:t>
            </a:r>
            <a:endParaRPr lang="en-US" sz="1300" dirty="0"/>
          </a:p>
        </p:txBody>
      </p:sp>
      <p:sp>
        <p:nvSpPr>
          <p:cNvPr id="7" name="Shape 5"/>
          <p:cNvSpPr/>
          <p:nvPr/>
        </p:nvSpPr>
        <p:spPr>
          <a:xfrm>
            <a:off x="594360" y="2834640"/>
            <a:ext cx="2633472" cy="438912"/>
          </a:xfrm>
          <a:prstGeom prst="rect">
            <a:avLst/>
          </a:prstGeom>
          <a:solidFill>
            <a:srgbClr val="0078D4"/>
          </a:solidFill>
          <a:ln w="12700">
            <a:solidFill>
              <a:srgbClr val="0078D4"/>
            </a:solidFill>
            <a:prstDash val="solid"/>
          </a:ln>
        </p:spPr>
      </p:sp>
      <p:sp>
        <p:nvSpPr>
          <p:cNvPr id="8" name="Text 6"/>
          <p:cNvSpPr/>
          <p:nvPr/>
        </p:nvSpPr>
        <p:spPr>
          <a:xfrm>
            <a:off x="594360" y="283464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Multimodal Prompts</a:t>
            </a:r>
            <a:endParaRPr lang="en-US" sz="1150" dirty="0"/>
          </a:p>
        </p:txBody>
      </p:sp>
      <p:sp>
        <p:nvSpPr>
          <p:cNvPr id="9" name="Shape 7"/>
          <p:cNvSpPr/>
          <p:nvPr/>
        </p:nvSpPr>
        <p:spPr>
          <a:xfrm>
            <a:off x="3410712" y="2834640"/>
            <a:ext cx="2633472" cy="438912"/>
          </a:xfrm>
          <a:prstGeom prst="rect">
            <a:avLst/>
          </a:prstGeom>
          <a:solidFill>
            <a:srgbClr val="00B294"/>
          </a:solidFill>
          <a:ln w="12700">
            <a:solidFill>
              <a:srgbClr val="00B294"/>
            </a:solidFill>
            <a:prstDash val="solid"/>
          </a:ln>
        </p:spPr>
      </p:sp>
      <p:sp>
        <p:nvSpPr>
          <p:cNvPr id="10" name="Text 8"/>
          <p:cNvSpPr/>
          <p:nvPr/>
        </p:nvSpPr>
        <p:spPr>
          <a:xfrm>
            <a:off x="3410712" y="283464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Dataverse Grounding</a:t>
            </a:r>
            <a:endParaRPr lang="en-US" sz="1150" dirty="0"/>
          </a:p>
        </p:txBody>
      </p:sp>
      <p:sp>
        <p:nvSpPr>
          <p:cNvPr id="11" name="Shape 9"/>
          <p:cNvSpPr/>
          <p:nvPr/>
        </p:nvSpPr>
        <p:spPr>
          <a:xfrm>
            <a:off x="6227064" y="2834640"/>
            <a:ext cx="2633472" cy="438912"/>
          </a:xfrm>
          <a:prstGeom prst="rect">
            <a:avLst/>
          </a:prstGeom>
          <a:solidFill>
            <a:srgbClr val="5C2D91"/>
          </a:solidFill>
          <a:ln w="12700">
            <a:solidFill>
              <a:srgbClr val="5C2D91"/>
            </a:solidFill>
            <a:prstDash val="solid"/>
          </a:ln>
        </p:spPr>
      </p:sp>
      <p:sp>
        <p:nvSpPr>
          <p:cNvPr id="12" name="Text 10"/>
          <p:cNvSpPr/>
          <p:nvPr/>
        </p:nvSpPr>
        <p:spPr>
          <a:xfrm>
            <a:off x="6227064" y="283464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Document Generation</a:t>
            </a:r>
            <a:endParaRPr lang="en-US" sz="1150" dirty="0"/>
          </a:p>
        </p:txBody>
      </p:sp>
      <p:sp>
        <p:nvSpPr>
          <p:cNvPr id="13" name="Text 11"/>
          <p:cNvSpPr/>
          <p:nvPr/>
        </p:nvSpPr>
        <p:spPr>
          <a:xfrm>
            <a:off x="594360" y="4343400"/>
            <a:ext cx="8229600" cy="320040"/>
          </a:xfrm>
          <a:prstGeom prst="rect">
            <a:avLst/>
          </a:prstGeom>
          <a:noFill/>
          <a:ln/>
        </p:spPr>
        <p:txBody>
          <a:bodyPr wrap="square" rtlCol="0" anchor="ctr"/>
          <a:lstStyle/>
          <a:p>
            <a:pPr indent="0" marL="0">
              <a:buNone/>
            </a:pPr>
            <a:r>
              <a:rPr lang="en-US" sz="1000" dirty="0">
                <a:solidFill>
                  <a:srgbClr val="7BA7CC"/>
                </a:solidFill>
                <a:latin typeface="Segoe UI" pitchFamily="34" charset="0"/>
                <a:ea typeface="Segoe UI" pitchFamily="34" charset="-122"/>
                <a:cs typeface="Segoe UI" pitchFamily="34" charset="-120"/>
              </a:rPr>
              <a:t>Labs 19–21  ·  Day 2 Operative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09  ·  MULTIMODAL AND DATA</a:t>
            </a:r>
            <a:endParaRPr lang="en-US" sz="900" dirty="0"/>
          </a:p>
        </p:txBody>
      </p:sp>
      <p:sp>
        <p:nvSpPr>
          <p:cNvPr id="4" name="Text 2"/>
          <p:cNvSpPr/>
          <p:nvPr/>
        </p:nvSpPr>
        <p:spPr>
          <a:xfrm>
            <a:off x="365760" y="749808"/>
            <a:ext cx="8412480" cy="475488"/>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Multimodal Prompt Framing</a:t>
            </a:r>
            <a:endParaRPr lang="en-US" sz="2800" dirty="0"/>
          </a:p>
        </p:txBody>
      </p:sp>
      <p:sp>
        <p:nvSpPr>
          <p:cNvPr id="5" name="Text 3"/>
          <p:cNvSpPr/>
          <p:nvPr/>
        </p:nvSpPr>
        <p:spPr>
          <a:xfrm>
            <a:off x="365760" y="128016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Decide what a document or image contributes to the hiring decision before you write the prompt.</a:t>
            </a:r>
            <a:endParaRPr lang="en-US" sz="1200" dirty="0"/>
          </a:p>
        </p:txBody>
      </p:sp>
      <p:sp>
        <p:nvSpPr>
          <p:cNvPr id="6" name="Shape 4"/>
          <p:cNvSpPr/>
          <p:nvPr/>
        </p:nvSpPr>
        <p:spPr>
          <a:xfrm>
            <a:off x="256032" y="1737360"/>
            <a:ext cx="2834640" cy="28346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56032" y="1737360"/>
            <a:ext cx="2834640" cy="438912"/>
          </a:xfrm>
          <a:prstGeom prst="rect">
            <a:avLst/>
          </a:prstGeom>
          <a:solidFill>
            <a:srgbClr val="0078D4"/>
          </a:solidFill>
          <a:ln w="12700">
            <a:solidFill>
              <a:srgbClr val="0078D4"/>
            </a:solidFill>
            <a:prstDash val="solid"/>
          </a:ln>
        </p:spPr>
      </p:sp>
      <p:sp>
        <p:nvSpPr>
          <p:cNvPr id="8" name="Shape 6"/>
          <p:cNvSpPr/>
          <p:nvPr/>
        </p:nvSpPr>
        <p:spPr>
          <a:xfrm>
            <a:off x="347472" y="1837944"/>
            <a:ext cx="256032" cy="256032"/>
          </a:xfrm>
          <a:prstGeom prst="ellipse">
            <a:avLst/>
          </a:prstGeom>
          <a:solidFill>
            <a:srgbClr val="FFFFFF"/>
          </a:solidFill>
          <a:ln w="12700">
            <a:solidFill>
              <a:srgbClr val="FFFFFF"/>
            </a:solidFill>
            <a:prstDash val="solid"/>
          </a:ln>
        </p:spPr>
      </p:sp>
      <p:sp>
        <p:nvSpPr>
          <p:cNvPr id="9" name="Text 7"/>
          <p:cNvSpPr/>
          <p:nvPr/>
        </p:nvSpPr>
        <p:spPr>
          <a:xfrm>
            <a:off x="347472" y="1837944"/>
            <a:ext cx="256032" cy="256032"/>
          </a:xfrm>
          <a:prstGeom prst="rect">
            <a:avLst/>
          </a:prstGeom>
          <a:noFill/>
          <a:ln/>
        </p:spPr>
        <p:txBody>
          <a:bodyPr wrap="square" lIns="0" tIns="0" rIns="0" bIns="0" rtlCol="0" anchor="ctr"/>
          <a:lstStyle/>
          <a:p>
            <a:pPr algn="ctr" indent="0" marL="0">
              <a:buNone/>
            </a:pPr>
            <a:r>
              <a:rPr lang="en-US" sz="1000" b="1" dirty="0">
                <a:solidFill>
                  <a:srgbClr val="0078D4"/>
                </a:solidFill>
                <a:latin typeface="Segoe UI" pitchFamily="34" charset="0"/>
                <a:ea typeface="Segoe UI" pitchFamily="34" charset="-122"/>
                <a:cs typeface="Segoe UI" pitchFamily="34" charset="-120"/>
              </a:rPr>
              <a:t>1</a:t>
            </a:r>
            <a:endParaRPr lang="en-US" sz="1000" dirty="0"/>
          </a:p>
        </p:txBody>
      </p:sp>
      <p:sp>
        <p:nvSpPr>
          <p:cNvPr id="10" name="Text 8"/>
          <p:cNvSpPr/>
          <p:nvPr/>
        </p:nvSpPr>
        <p:spPr>
          <a:xfrm>
            <a:off x="694944" y="1737360"/>
            <a:ext cx="2304288" cy="43891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Decide before you prompt</a:t>
            </a:r>
            <a:endParaRPr lang="en-US" sz="1100" dirty="0"/>
          </a:p>
        </p:txBody>
      </p:sp>
      <p:sp>
        <p:nvSpPr>
          <p:cNvPr id="11" name="Text 9"/>
          <p:cNvSpPr/>
          <p:nvPr/>
        </p:nvSpPr>
        <p:spPr>
          <a:xfrm>
            <a:off x="347472" y="2231136"/>
            <a:ext cx="2670048" cy="237744"/>
          </a:xfrm>
          <a:prstGeom prst="rect">
            <a:avLst/>
          </a:prstGeom>
          <a:noFill/>
          <a:ln/>
        </p:spPr>
        <p:txBody>
          <a:bodyPr wrap="square" rtlCol="0" anchor="ctr"/>
          <a:lstStyle/>
          <a:p>
            <a:pPr indent="0" marL="0">
              <a:buNone/>
            </a:pPr>
            <a:r>
              <a:rPr lang="en-US" sz="950" b="1" dirty="0">
                <a:solidFill>
                  <a:srgbClr val="0078D4"/>
                </a:solidFill>
                <a:latin typeface="Segoe UI" pitchFamily="34" charset="0"/>
                <a:ea typeface="Segoe UI" pitchFamily="34" charset="-122"/>
                <a:cs typeface="Segoe UI" pitchFamily="34" charset="-120"/>
              </a:rPr>
              <a:t>What decision does this input support?</a:t>
            </a:r>
            <a:endParaRPr lang="en-US" sz="950" dirty="0"/>
          </a:p>
        </p:txBody>
      </p:sp>
      <p:sp>
        <p:nvSpPr>
          <p:cNvPr id="12" name="Text 10"/>
          <p:cNvSpPr/>
          <p:nvPr/>
        </p:nvSpPr>
        <p:spPr>
          <a:xfrm>
            <a:off x="347472" y="2505456"/>
            <a:ext cx="2670048" cy="2066544"/>
          </a:xfrm>
          <a:prstGeom prst="rect">
            <a:avLst/>
          </a:prstGeom>
          <a:noFill/>
          <a:ln/>
        </p:spPr>
        <p:txBody>
          <a:bodyPr wrap="square" rtlCol="0" anchor="ctr"/>
          <a:lstStyle/>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Identify the recruiter action the extracted data will enable (intake, matching, shortlisting)</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Define the JSON schema based on required hiring fields before writing the instruction</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A document input with no defined output schema creates unreviewed free text</a:t>
            </a:r>
            <a:endParaRPr lang="en-US" sz="950" dirty="0"/>
          </a:p>
        </p:txBody>
      </p:sp>
      <p:sp>
        <p:nvSpPr>
          <p:cNvPr id="13" name="Shape 11"/>
          <p:cNvSpPr/>
          <p:nvPr/>
        </p:nvSpPr>
        <p:spPr>
          <a:xfrm>
            <a:off x="3227832" y="1737360"/>
            <a:ext cx="2834640" cy="28346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3227832" y="1737360"/>
            <a:ext cx="2834640" cy="438912"/>
          </a:xfrm>
          <a:prstGeom prst="rect">
            <a:avLst/>
          </a:prstGeom>
          <a:solidFill>
            <a:srgbClr val="00B294"/>
          </a:solidFill>
          <a:ln w="12700">
            <a:solidFill>
              <a:srgbClr val="00B294"/>
            </a:solidFill>
            <a:prstDash val="solid"/>
          </a:ln>
        </p:spPr>
      </p:sp>
      <p:sp>
        <p:nvSpPr>
          <p:cNvPr id="15" name="Shape 13"/>
          <p:cNvSpPr/>
          <p:nvPr/>
        </p:nvSpPr>
        <p:spPr>
          <a:xfrm>
            <a:off x="3319272" y="1837944"/>
            <a:ext cx="256032" cy="256032"/>
          </a:xfrm>
          <a:prstGeom prst="ellipse">
            <a:avLst/>
          </a:prstGeom>
          <a:solidFill>
            <a:srgbClr val="FFFFFF"/>
          </a:solidFill>
          <a:ln w="12700">
            <a:solidFill>
              <a:srgbClr val="FFFFFF"/>
            </a:solidFill>
            <a:prstDash val="solid"/>
          </a:ln>
        </p:spPr>
      </p:sp>
      <p:sp>
        <p:nvSpPr>
          <p:cNvPr id="16" name="Text 14"/>
          <p:cNvSpPr/>
          <p:nvPr/>
        </p:nvSpPr>
        <p:spPr>
          <a:xfrm>
            <a:off x="3319272" y="1837944"/>
            <a:ext cx="256032" cy="256032"/>
          </a:xfrm>
          <a:prstGeom prst="rect">
            <a:avLst/>
          </a:prstGeom>
          <a:noFill/>
          <a:ln/>
        </p:spPr>
        <p:txBody>
          <a:bodyPr wrap="square" lIns="0" tIns="0" rIns="0" bIns="0" rtlCol="0" anchor="ctr"/>
          <a:lstStyle/>
          <a:p>
            <a:pPr algn="ctr" indent="0" marL="0">
              <a:buNone/>
            </a:pPr>
            <a:r>
              <a:rPr lang="en-US" sz="1000" b="1" dirty="0">
                <a:solidFill>
                  <a:srgbClr val="00B294"/>
                </a:solidFill>
                <a:latin typeface="Segoe UI" pitchFamily="34" charset="0"/>
                <a:ea typeface="Segoe UI" pitchFamily="34" charset="-122"/>
                <a:cs typeface="Segoe UI" pitchFamily="34" charset="-120"/>
              </a:rPr>
              <a:t>2</a:t>
            </a:r>
            <a:endParaRPr lang="en-US" sz="1000" dirty="0"/>
          </a:p>
        </p:txBody>
      </p:sp>
      <p:sp>
        <p:nvSpPr>
          <p:cNvPr id="17" name="Text 15"/>
          <p:cNvSpPr/>
          <p:nvPr/>
        </p:nvSpPr>
        <p:spPr>
          <a:xfrm>
            <a:off x="3666744" y="1737360"/>
            <a:ext cx="2304288" cy="43891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Constrain extraction to job-related fields</a:t>
            </a:r>
            <a:endParaRPr lang="en-US" sz="1100" dirty="0"/>
          </a:p>
        </p:txBody>
      </p:sp>
      <p:sp>
        <p:nvSpPr>
          <p:cNvPr id="18" name="Text 16"/>
          <p:cNvSpPr/>
          <p:nvPr/>
        </p:nvSpPr>
        <p:spPr>
          <a:xfrm>
            <a:off x="3319272" y="2231136"/>
            <a:ext cx="2670048" cy="237744"/>
          </a:xfrm>
          <a:prstGeom prst="rect">
            <a:avLst/>
          </a:prstGeom>
          <a:noFill/>
          <a:ln/>
        </p:spPr>
        <p:txBody>
          <a:bodyPr wrap="square" rtlCol="0" anchor="ctr"/>
          <a:lstStyle/>
          <a:p>
            <a:pPr indent="0" marL="0">
              <a:buNone/>
            </a:pPr>
            <a:r>
              <a:rPr lang="en-US" sz="950" b="1" dirty="0">
                <a:solidFill>
                  <a:srgbClr val="00B294"/>
                </a:solidFill>
                <a:latin typeface="Segoe UI" pitchFamily="34" charset="0"/>
                <a:ea typeface="Segoe UI" pitchFamily="34" charset="-122"/>
                <a:cs typeface="Segoe UI" pitchFamily="34" charset="-120"/>
              </a:rPr>
              <a:t>Scope outputs, not just inputs</a:t>
            </a:r>
            <a:endParaRPr lang="en-US" sz="950" dirty="0"/>
          </a:p>
        </p:txBody>
      </p:sp>
      <p:sp>
        <p:nvSpPr>
          <p:cNvPr id="19" name="Text 17"/>
          <p:cNvSpPr/>
          <p:nvPr/>
        </p:nvSpPr>
        <p:spPr>
          <a:xfrm>
            <a:off x="3319272" y="2505456"/>
            <a:ext cx="2670048" cy="2066544"/>
          </a:xfrm>
          <a:prstGeom prst="rect">
            <a:avLst/>
          </a:prstGeom>
          <a:noFill/>
          <a:ln/>
        </p:spPr>
        <p:txBody>
          <a:bodyPr wrap="square" rtlCol="0" anchor="ctr"/>
          <a:lstStyle/>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Return only fields that are visible in the document — never infer missing values</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Use empty strings for missing data rather than invented placeholders</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Upgrade the model from the default mini to GPT-5 Chat or GPT-4.1 for document analysis</a:t>
            </a:r>
            <a:endParaRPr lang="en-US" sz="950" dirty="0"/>
          </a:p>
        </p:txBody>
      </p:sp>
      <p:sp>
        <p:nvSpPr>
          <p:cNvPr id="20" name="Shape 18"/>
          <p:cNvSpPr/>
          <p:nvPr/>
        </p:nvSpPr>
        <p:spPr>
          <a:xfrm>
            <a:off x="6199632" y="1737360"/>
            <a:ext cx="2834640" cy="28346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6199632" y="1737360"/>
            <a:ext cx="2834640" cy="438912"/>
          </a:xfrm>
          <a:prstGeom prst="rect">
            <a:avLst/>
          </a:prstGeom>
          <a:solidFill>
            <a:srgbClr val="5C2D91"/>
          </a:solidFill>
          <a:ln w="12700">
            <a:solidFill>
              <a:srgbClr val="5C2D91"/>
            </a:solidFill>
            <a:prstDash val="solid"/>
          </a:ln>
        </p:spPr>
      </p:sp>
      <p:sp>
        <p:nvSpPr>
          <p:cNvPr id="22" name="Shape 20"/>
          <p:cNvSpPr/>
          <p:nvPr/>
        </p:nvSpPr>
        <p:spPr>
          <a:xfrm>
            <a:off x="6291072" y="1837944"/>
            <a:ext cx="256032" cy="256032"/>
          </a:xfrm>
          <a:prstGeom prst="ellipse">
            <a:avLst/>
          </a:prstGeom>
          <a:solidFill>
            <a:srgbClr val="FFFFFF"/>
          </a:solidFill>
          <a:ln w="12700">
            <a:solidFill>
              <a:srgbClr val="FFFFFF"/>
            </a:solidFill>
            <a:prstDash val="solid"/>
          </a:ln>
        </p:spPr>
      </p:sp>
      <p:sp>
        <p:nvSpPr>
          <p:cNvPr id="23" name="Text 21"/>
          <p:cNvSpPr/>
          <p:nvPr/>
        </p:nvSpPr>
        <p:spPr>
          <a:xfrm>
            <a:off x="6291072" y="1837944"/>
            <a:ext cx="256032" cy="256032"/>
          </a:xfrm>
          <a:prstGeom prst="rect">
            <a:avLst/>
          </a:prstGeom>
          <a:noFill/>
          <a:ln/>
        </p:spPr>
        <p:txBody>
          <a:bodyPr wrap="square" lIns="0" tIns="0" rIns="0" bIns="0" rtlCol="0" anchor="ctr"/>
          <a:lstStyle/>
          <a:p>
            <a:pPr algn="ctr" indent="0" marL="0">
              <a:buNone/>
            </a:pPr>
            <a:r>
              <a:rPr lang="en-US" sz="1000" b="1" dirty="0">
                <a:solidFill>
                  <a:srgbClr val="5C2D91"/>
                </a:solidFill>
                <a:latin typeface="Segoe UI" pitchFamily="34" charset="0"/>
                <a:ea typeface="Segoe UI" pitchFamily="34" charset="-122"/>
                <a:cs typeface="Segoe UI" pitchFamily="34" charset="-120"/>
              </a:rPr>
              <a:t>3</a:t>
            </a:r>
            <a:endParaRPr lang="en-US" sz="1000" dirty="0"/>
          </a:p>
        </p:txBody>
      </p:sp>
      <p:sp>
        <p:nvSpPr>
          <p:cNvPr id="24" name="Text 22"/>
          <p:cNvSpPr/>
          <p:nvPr/>
        </p:nvSpPr>
        <p:spPr>
          <a:xfrm>
            <a:off x="6638544" y="1737360"/>
            <a:ext cx="2304288" cy="43891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Signal uncertainty explicitly</a:t>
            </a:r>
            <a:endParaRPr lang="en-US" sz="1100" dirty="0"/>
          </a:p>
        </p:txBody>
      </p:sp>
      <p:sp>
        <p:nvSpPr>
          <p:cNvPr id="25" name="Text 23"/>
          <p:cNvSpPr/>
          <p:nvPr/>
        </p:nvSpPr>
        <p:spPr>
          <a:xfrm>
            <a:off x="6291072" y="2231136"/>
            <a:ext cx="2670048" cy="237744"/>
          </a:xfrm>
          <a:prstGeom prst="rect">
            <a:avLst/>
          </a:prstGeom>
          <a:noFill/>
          <a:ln/>
        </p:spPr>
        <p:txBody>
          <a:bodyPr wrap="square" rtlCol="0" anchor="ctr"/>
          <a:lstStyle/>
          <a:p>
            <a:pPr indent="0" marL="0">
              <a:buNone/>
            </a:pPr>
            <a:r>
              <a:rPr lang="en-US" sz="950" b="1" dirty="0">
                <a:solidFill>
                  <a:srgbClr val="5C2D91"/>
                </a:solidFill>
                <a:latin typeface="Segoe UI" pitchFamily="34" charset="0"/>
                <a:ea typeface="Segoe UI" pitchFamily="34" charset="-122"/>
                <a:cs typeface="Segoe UI" pitchFamily="34" charset="-120"/>
              </a:rPr>
              <a:t>ConfidenceNotes + human review gate</a:t>
            </a:r>
            <a:endParaRPr lang="en-US" sz="950" dirty="0"/>
          </a:p>
        </p:txBody>
      </p:sp>
      <p:sp>
        <p:nvSpPr>
          <p:cNvPr id="26" name="Text 24"/>
          <p:cNvSpPr/>
          <p:nvPr/>
        </p:nvSpPr>
        <p:spPr>
          <a:xfrm>
            <a:off x="6291072" y="2505456"/>
            <a:ext cx="2670048" cy="2066544"/>
          </a:xfrm>
          <a:prstGeom prst="rect">
            <a:avLst/>
          </a:prstGeom>
          <a:noFill/>
          <a:ln/>
        </p:spPr>
        <p:txBody>
          <a:bodyPr wrap="square" rtlCol="0" anchor="ctr"/>
          <a:lstStyle/>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Include a ConfidenceNotes field so low-quality scans produce traceable uncertainty</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Poor input image quality is an input problem — improve the document before the prompt</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Human review is required before any multimodal extraction drives a hiring decision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19</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Multimodal Prompts</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'Resume Vision Analysis' prompt to Hiring Agent Tools with JSON output type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ResumeFile (Image or document) and RecruiterContext (Text) inputs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Upgrade model from default GPT-4.1 mini to GPT-5 Chat or GPT-4.1</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Test with PDF resume — confirm JSON output with key fields, no fabricated values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Test with image-based resume — compare output, note OCR quality in ConfidenceNotes</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35</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Input quality → output quality</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Improve the doc, not the prompt</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09  ·  LAB 19 RECAP</a:t>
            </a:r>
            <a:endParaRPr lang="en-US" sz="900" dirty="0"/>
          </a:p>
        </p:txBody>
      </p:sp>
      <p:sp>
        <p:nvSpPr>
          <p:cNvPr id="4" name="Text 2"/>
          <p:cNvSpPr/>
          <p:nvPr/>
        </p:nvSpPr>
        <p:spPr>
          <a:xfrm>
            <a:off x="365760" y="749808"/>
            <a:ext cx="8412480" cy="475488"/>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19: Multimodal Prompts</a:t>
            </a:r>
            <a:endParaRPr lang="en-US" sz="2800" dirty="0"/>
          </a:p>
        </p:txBody>
      </p:sp>
      <p:sp>
        <p:nvSpPr>
          <p:cNvPr id="5" name="Text 3"/>
          <p:cNvSpPr/>
          <p:nvPr/>
        </p:nvSpPr>
        <p:spPr>
          <a:xfrm>
            <a:off x="365760" y="128016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The value comes from controlled usefulness — scoped extraction for real hiring decisions, not novelty.</a:t>
            </a:r>
            <a:endParaRPr lang="en-US" sz="1200" dirty="0"/>
          </a:p>
        </p:txBody>
      </p:sp>
      <p:sp>
        <p:nvSpPr>
          <p:cNvPr id="6" name="Shape 4"/>
          <p:cNvSpPr/>
          <p:nvPr/>
        </p:nvSpPr>
        <p:spPr>
          <a:xfrm>
            <a:off x="320040" y="1719072"/>
            <a:ext cx="8503920" cy="438912"/>
          </a:xfrm>
          <a:prstGeom prst="rect">
            <a:avLst/>
          </a:prstGeom>
          <a:solidFill>
            <a:srgbClr val="F3F2F1"/>
          </a:solidFill>
          <a:ln w="12700">
            <a:solidFill>
              <a:srgbClr val="E1DFDD"/>
            </a:solidFill>
            <a:prstDash val="solid"/>
          </a:ln>
        </p:spPr>
      </p:sp>
      <p:sp>
        <p:nvSpPr>
          <p:cNvPr id="7" name="Shape 5"/>
          <p:cNvSpPr/>
          <p:nvPr/>
        </p:nvSpPr>
        <p:spPr>
          <a:xfrm>
            <a:off x="457200" y="1801368"/>
            <a:ext cx="1005840" cy="256032"/>
          </a:xfrm>
          <a:prstGeom prst="rect">
            <a:avLst/>
          </a:prstGeom>
          <a:solidFill>
            <a:srgbClr val="0078D4"/>
          </a:solidFill>
          <a:ln w="12700">
            <a:solidFill>
              <a:srgbClr val="0078D4"/>
            </a:solidFill>
            <a:prstDash val="solid"/>
          </a:ln>
        </p:spPr>
      </p:sp>
      <p:sp>
        <p:nvSpPr>
          <p:cNvPr id="8" name="Text 6"/>
          <p:cNvSpPr/>
          <p:nvPr/>
        </p:nvSpPr>
        <p:spPr>
          <a:xfrm>
            <a:off x="457200" y="1801368"/>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Prompt</a:t>
            </a:r>
            <a:endParaRPr lang="en-US" sz="800" dirty="0"/>
          </a:p>
        </p:txBody>
      </p:sp>
      <p:sp>
        <p:nvSpPr>
          <p:cNvPr id="9" name="Text 7"/>
          <p:cNvSpPr/>
          <p:nvPr/>
        </p:nvSpPr>
        <p:spPr>
          <a:xfrm>
            <a:off x="1581912" y="1801368"/>
            <a:ext cx="7123176" cy="256032"/>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'Resume Vision Analysis' prompt saved and available in Tools</a:t>
            </a:r>
            <a:endParaRPr lang="en-US" sz="1100" dirty="0"/>
          </a:p>
        </p:txBody>
      </p:sp>
      <p:sp>
        <p:nvSpPr>
          <p:cNvPr id="10" name="Shape 8"/>
          <p:cNvSpPr/>
          <p:nvPr/>
        </p:nvSpPr>
        <p:spPr>
          <a:xfrm>
            <a:off x="320040" y="2194560"/>
            <a:ext cx="8503920" cy="438912"/>
          </a:xfrm>
          <a:prstGeom prst="rect">
            <a:avLst/>
          </a:prstGeom>
          <a:solidFill>
            <a:srgbClr val="FFFFFF"/>
          </a:solidFill>
          <a:ln w="12700">
            <a:solidFill>
              <a:srgbClr val="E1DFDD"/>
            </a:solidFill>
            <a:prstDash val="solid"/>
          </a:ln>
        </p:spPr>
      </p:sp>
      <p:sp>
        <p:nvSpPr>
          <p:cNvPr id="11" name="Shape 9"/>
          <p:cNvSpPr/>
          <p:nvPr/>
        </p:nvSpPr>
        <p:spPr>
          <a:xfrm>
            <a:off x="457200" y="2276856"/>
            <a:ext cx="1005840" cy="256032"/>
          </a:xfrm>
          <a:prstGeom prst="rect">
            <a:avLst/>
          </a:prstGeom>
          <a:solidFill>
            <a:srgbClr val="00B294"/>
          </a:solidFill>
          <a:ln w="12700">
            <a:solidFill>
              <a:srgbClr val="00B294"/>
            </a:solidFill>
            <a:prstDash val="solid"/>
          </a:ln>
        </p:spPr>
      </p:sp>
      <p:sp>
        <p:nvSpPr>
          <p:cNvPr id="12" name="Text 10"/>
          <p:cNvSpPr/>
          <p:nvPr/>
        </p:nvSpPr>
        <p:spPr>
          <a:xfrm>
            <a:off x="457200" y="2276856"/>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Input</a:t>
            </a:r>
            <a:endParaRPr lang="en-US" sz="800" dirty="0"/>
          </a:p>
        </p:txBody>
      </p:sp>
      <p:sp>
        <p:nvSpPr>
          <p:cNvPr id="13" name="Text 11"/>
          <p:cNvSpPr/>
          <p:nvPr/>
        </p:nvSpPr>
        <p:spPr>
          <a:xfrm>
            <a:off x="1581912" y="2276856"/>
            <a:ext cx="7123176" cy="256032"/>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ResumeFile input accepts Image or document type (not text input)</a:t>
            </a:r>
            <a:endParaRPr lang="en-US" sz="1100" dirty="0"/>
          </a:p>
        </p:txBody>
      </p:sp>
      <p:sp>
        <p:nvSpPr>
          <p:cNvPr id="14" name="Shape 12"/>
          <p:cNvSpPr/>
          <p:nvPr/>
        </p:nvSpPr>
        <p:spPr>
          <a:xfrm>
            <a:off x="320040" y="2670048"/>
            <a:ext cx="8503920" cy="438912"/>
          </a:xfrm>
          <a:prstGeom prst="rect">
            <a:avLst/>
          </a:prstGeom>
          <a:solidFill>
            <a:srgbClr val="F3F2F1"/>
          </a:solidFill>
          <a:ln w="12700">
            <a:solidFill>
              <a:srgbClr val="E1DFDD"/>
            </a:solidFill>
            <a:prstDash val="solid"/>
          </a:ln>
        </p:spPr>
      </p:sp>
      <p:sp>
        <p:nvSpPr>
          <p:cNvPr id="15" name="Shape 13"/>
          <p:cNvSpPr/>
          <p:nvPr/>
        </p:nvSpPr>
        <p:spPr>
          <a:xfrm>
            <a:off x="457200" y="2752344"/>
            <a:ext cx="1005840" cy="256032"/>
          </a:xfrm>
          <a:prstGeom prst="rect">
            <a:avLst/>
          </a:prstGeom>
          <a:solidFill>
            <a:srgbClr val="5C2D91"/>
          </a:solidFill>
          <a:ln w="12700">
            <a:solidFill>
              <a:srgbClr val="5C2D91"/>
            </a:solidFill>
            <a:prstDash val="solid"/>
          </a:ln>
        </p:spPr>
      </p:sp>
      <p:sp>
        <p:nvSpPr>
          <p:cNvPr id="16" name="Text 14"/>
          <p:cNvSpPr/>
          <p:nvPr/>
        </p:nvSpPr>
        <p:spPr>
          <a:xfrm>
            <a:off x="457200" y="2752344"/>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JSON</a:t>
            </a:r>
            <a:endParaRPr lang="en-US" sz="800" dirty="0"/>
          </a:p>
        </p:txBody>
      </p:sp>
      <p:sp>
        <p:nvSpPr>
          <p:cNvPr id="17" name="Text 15"/>
          <p:cNvSpPr/>
          <p:nvPr/>
        </p:nvSpPr>
        <p:spPr>
          <a:xfrm>
            <a:off x="1581912" y="2752344"/>
            <a:ext cx="7123176" cy="256032"/>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Output type set to JSON — not plain text</a:t>
            </a:r>
            <a:endParaRPr lang="en-US" sz="1100" dirty="0"/>
          </a:p>
        </p:txBody>
      </p:sp>
      <p:sp>
        <p:nvSpPr>
          <p:cNvPr id="18" name="Shape 16"/>
          <p:cNvSpPr/>
          <p:nvPr/>
        </p:nvSpPr>
        <p:spPr>
          <a:xfrm>
            <a:off x="320040" y="3145536"/>
            <a:ext cx="8503920" cy="438912"/>
          </a:xfrm>
          <a:prstGeom prst="rect">
            <a:avLst/>
          </a:prstGeom>
          <a:solidFill>
            <a:srgbClr val="FFFFFF"/>
          </a:solidFill>
          <a:ln w="12700">
            <a:solidFill>
              <a:srgbClr val="E1DFDD"/>
            </a:solidFill>
            <a:prstDash val="solid"/>
          </a:ln>
        </p:spPr>
      </p:sp>
      <p:sp>
        <p:nvSpPr>
          <p:cNvPr id="19" name="Shape 17"/>
          <p:cNvSpPr/>
          <p:nvPr/>
        </p:nvSpPr>
        <p:spPr>
          <a:xfrm>
            <a:off x="457200" y="3227832"/>
            <a:ext cx="1005840" cy="256032"/>
          </a:xfrm>
          <a:prstGeom prst="rect">
            <a:avLst/>
          </a:prstGeom>
          <a:solidFill>
            <a:srgbClr val="D47900"/>
          </a:solidFill>
          <a:ln w="12700">
            <a:solidFill>
              <a:srgbClr val="D47900"/>
            </a:solidFill>
            <a:prstDash val="solid"/>
          </a:ln>
        </p:spPr>
      </p:sp>
      <p:sp>
        <p:nvSpPr>
          <p:cNvPr id="20" name="Text 18"/>
          <p:cNvSpPr/>
          <p:nvPr/>
        </p:nvSpPr>
        <p:spPr>
          <a:xfrm>
            <a:off x="457200" y="3227832"/>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Model</a:t>
            </a:r>
            <a:endParaRPr lang="en-US" sz="800" dirty="0"/>
          </a:p>
        </p:txBody>
      </p:sp>
      <p:sp>
        <p:nvSpPr>
          <p:cNvPr id="21" name="Text 19"/>
          <p:cNvSpPr/>
          <p:nvPr/>
        </p:nvSpPr>
        <p:spPr>
          <a:xfrm>
            <a:off x="1581912" y="3227832"/>
            <a:ext cx="7123176" cy="256032"/>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Model upgraded from GPT-4.1 mini to GPT-5 Chat or GPT-4.1 for document analysis</a:t>
            </a:r>
            <a:endParaRPr lang="en-US" sz="1100" dirty="0"/>
          </a:p>
        </p:txBody>
      </p:sp>
      <p:sp>
        <p:nvSpPr>
          <p:cNvPr id="22" name="Shape 20"/>
          <p:cNvSpPr/>
          <p:nvPr/>
        </p:nvSpPr>
        <p:spPr>
          <a:xfrm>
            <a:off x="320040" y="3621024"/>
            <a:ext cx="8503920" cy="438912"/>
          </a:xfrm>
          <a:prstGeom prst="rect">
            <a:avLst/>
          </a:prstGeom>
          <a:solidFill>
            <a:srgbClr val="F3F2F1"/>
          </a:solidFill>
          <a:ln w="12700">
            <a:solidFill>
              <a:srgbClr val="E1DFDD"/>
            </a:solidFill>
            <a:prstDash val="solid"/>
          </a:ln>
        </p:spPr>
      </p:sp>
      <p:sp>
        <p:nvSpPr>
          <p:cNvPr id="23" name="Shape 21"/>
          <p:cNvSpPr/>
          <p:nvPr/>
        </p:nvSpPr>
        <p:spPr>
          <a:xfrm>
            <a:off x="457200" y="3703320"/>
            <a:ext cx="1005840" cy="256032"/>
          </a:xfrm>
          <a:prstGeom prst="rect">
            <a:avLst/>
          </a:prstGeom>
          <a:solidFill>
            <a:srgbClr val="107C10"/>
          </a:solidFill>
          <a:ln w="12700">
            <a:solidFill>
              <a:srgbClr val="107C10"/>
            </a:solidFill>
            <a:prstDash val="solid"/>
          </a:ln>
        </p:spPr>
      </p:sp>
      <p:sp>
        <p:nvSpPr>
          <p:cNvPr id="24" name="Text 22"/>
          <p:cNvSpPr/>
          <p:nvPr/>
        </p:nvSpPr>
        <p:spPr>
          <a:xfrm>
            <a:off x="457200" y="3703320"/>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PDF test</a:t>
            </a:r>
            <a:endParaRPr lang="en-US" sz="800" dirty="0"/>
          </a:p>
        </p:txBody>
      </p:sp>
      <p:sp>
        <p:nvSpPr>
          <p:cNvPr id="25" name="Text 23"/>
          <p:cNvSpPr/>
          <p:nvPr/>
        </p:nvSpPr>
        <p:spPr>
          <a:xfrm>
            <a:off x="1581912" y="3703320"/>
            <a:ext cx="7123176" cy="256032"/>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PDF resume returns structured JSON with key hiring fields — no fabricated or invented values</a:t>
            </a:r>
            <a:endParaRPr lang="en-US" sz="1100" dirty="0"/>
          </a:p>
        </p:txBody>
      </p:sp>
      <p:sp>
        <p:nvSpPr>
          <p:cNvPr id="26" name="Shape 24"/>
          <p:cNvSpPr/>
          <p:nvPr/>
        </p:nvSpPr>
        <p:spPr>
          <a:xfrm>
            <a:off x="320040" y="4096512"/>
            <a:ext cx="8503920" cy="438912"/>
          </a:xfrm>
          <a:prstGeom prst="rect">
            <a:avLst/>
          </a:prstGeom>
          <a:solidFill>
            <a:srgbClr val="FFFFFF"/>
          </a:solidFill>
          <a:ln w="12700">
            <a:solidFill>
              <a:srgbClr val="E1DFDD"/>
            </a:solidFill>
            <a:prstDash val="solid"/>
          </a:ln>
        </p:spPr>
      </p:sp>
      <p:sp>
        <p:nvSpPr>
          <p:cNvPr id="27" name="Shape 25"/>
          <p:cNvSpPr/>
          <p:nvPr/>
        </p:nvSpPr>
        <p:spPr>
          <a:xfrm>
            <a:off x="457200" y="4178808"/>
            <a:ext cx="1005840" cy="256032"/>
          </a:xfrm>
          <a:prstGeom prst="rect">
            <a:avLst/>
          </a:prstGeom>
          <a:solidFill>
            <a:srgbClr val="D83B01"/>
          </a:solidFill>
          <a:ln w="12700">
            <a:solidFill>
              <a:srgbClr val="D83B01"/>
            </a:solidFill>
            <a:prstDash val="solid"/>
          </a:ln>
        </p:spPr>
      </p:sp>
      <p:sp>
        <p:nvSpPr>
          <p:cNvPr id="28" name="Text 26"/>
          <p:cNvSpPr/>
          <p:nvPr/>
        </p:nvSpPr>
        <p:spPr>
          <a:xfrm>
            <a:off x="457200" y="4178808"/>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Image test</a:t>
            </a:r>
            <a:endParaRPr lang="en-US" sz="800" dirty="0"/>
          </a:p>
        </p:txBody>
      </p:sp>
      <p:sp>
        <p:nvSpPr>
          <p:cNvPr id="29" name="Text 27"/>
          <p:cNvSpPr/>
          <p:nvPr/>
        </p:nvSpPr>
        <p:spPr>
          <a:xfrm>
            <a:off x="1581912" y="4178808"/>
            <a:ext cx="7123176" cy="256032"/>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Image resume returns structured data; uncertain extractions documented in ConfidenceNotes</a:t>
            </a:r>
            <a:endParaRPr lang="en-US" sz="1100" dirty="0"/>
          </a:p>
        </p:txBody>
      </p:sp>
      <p:sp>
        <p:nvSpPr>
          <p:cNvPr id="30" name="Shape 28"/>
          <p:cNvSpPr/>
          <p:nvPr/>
        </p:nvSpPr>
        <p:spPr>
          <a:xfrm>
            <a:off x="320040" y="4681728"/>
            <a:ext cx="8503920" cy="320040"/>
          </a:xfrm>
          <a:prstGeom prst="rect">
            <a:avLst/>
          </a:prstGeom>
          <a:solidFill>
            <a:srgbClr val="EFF6FC"/>
          </a:solidFill>
          <a:ln w="12700">
            <a:solidFill>
              <a:srgbClr val="C7E0F4"/>
            </a:solidFill>
            <a:prstDash val="solid"/>
          </a:ln>
        </p:spPr>
      </p:sp>
      <p:sp>
        <p:nvSpPr>
          <p:cNvPr id="31" name="Text 29"/>
          <p:cNvSpPr/>
          <p:nvPr/>
        </p:nvSpPr>
        <p:spPr>
          <a:xfrm>
            <a:off x="475488" y="4681728"/>
            <a:ext cx="8321040"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Tip: If the prompt returns plain text, switch the Output setting back to JSON and test again.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09  ·  MULTIMODAL AND DATA</a:t>
            </a:r>
            <a:endParaRPr lang="en-US" sz="900" dirty="0"/>
          </a:p>
        </p:txBody>
      </p:sp>
      <p:sp>
        <p:nvSpPr>
          <p:cNvPr id="4" name="Text 2"/>
          <p:cNvSpPr/>
          <p:nvPr/>
        </p:nvSpPr>
        <p:spPr>
          <a:xfrm>
            <a:off x="365760" y="749808"/>
            <a:ext cx="8412480" cy="475488"/>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Dataverse Grounding Patterns</a:t>
            </a:r>
            <a:endParaRPr lang="en-US" sz="2800" dirty="0"/>
          </a:p>
        </p:txBody>
      </p:sp>
      <p:sp>
        <p:nvSpPr>
          <p:cNvPr id="5" name="Text 3"/>
          <p:cNvSpPr/>
          <p:nvPr/>
        </p:nvSpPr>
        <p:spPr>
          <a:xfrm>
            <a:off x="365760" y="128016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Use Dataverse when the scenario needs governed operational data, structured records, and role-based access.</a:t>
            </a:r>
            <a:endParaRPr lang="en-US" sz="1200" dirty="0"/>
          </a:p>
        </p:txBody>
      </p:sp>
      <p:sp>
        <p:nvSpPr>
          <p:cNvPr id="6" name="Shape 4"/>
          <p:cNvSpPr/>
          <p:nvPr/>
        </p:nvSpPr>
        <p:spPr>
          <a:xfrm>
            <a:off x="274320" y="1737360"/>
            <a:ext cx="4069080" cy="265176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74320" y="1737360"/>
            <a:ext cx="4069080" cy="365760"/>
          </a:xfrm>
          <a:prstGeom prst="rect">
            <a:avLst/>
          </a:prstGeom>
          <a:solidFill>
            <a:srgbClr val="605E5C"/>
          </a:solidFill>
          <a:ln w="12700">
            <a:solidFill>
              <a:srgbClr val="605E5C"/>
            </a:solidFill>
            <a:prstDash val="solid"/>
          </a:ln>
        </p:spPr>
      </p:sp>
      <p:sp>
        <p:nvSpPr>
          <p:cNvPr id="8" name="Text 6"/>
          <p:cNvSpPr/>
          <p:nvPr/>
        </p:nvSpPr>
        <p:spPr>
          <a:xfrm>
            <a:off x="384048" y="1737360"/>
            <a:ext cx="3840480" cy="3657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Day 1 Grounding Options</a:t>
            </a:r>
            <a:endParaRPr lang="en-US" sz="1100" dirty="0"/>
          </a:p>
        </p:txBody>
      </p:sp>
      <p:sp>
        <p:nvSpPr>
          <p:cNvPr id="9" name="Shape 7"/>
          <p:cNvSpPr/>
          <p:nvPr/>
        </p:nvSpPr>
        <p:spPr>
          <a:xfrm>
            <a:off x="384048" y="2249424"/>
            <a:ext cx="1051560" cy="237744"/>
          </a:xfrm>
          <a:prstGeom prst="rect">
            <a:avLst/>
          </a:prstGeom>
          <a:solidFill>
            <a:srgbClr val="D83B01"/>
          </a:solidFill>
          <a:ln w="12700">
            <a:solidFill>
              <a:srgbClr val="D83B01"/>
            </a:solidFill>
            <a:prstDash val="solid"/>
          </a:ln>
        </p:spPr>
      </p:sp>
      <p:sp>
        <p:nvSpPr>
          <p:cNvPr id="10" name="Text 8"/>
          <p:cNvSpPr/>
          <p:nvPr/>
        </p:nvSpPr>
        <p:spPr>
          <a:xfrm>
            <a:off x="384048" y="2249424"/>
            <a:ext cx="10515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Public websites</a:t>
            </a:r>
            <a:endParaRPr lang="en-US" sz="850" dirty="0"/>
          </a:p>
        </p:txBody>
      </p:sp>
      <p:sp>
        <p:nvSpPr>
          <p:cNvPr id="11" name="Text 9"/>
          <p:cNvSpPr/>
          <p:nvPr/>
        </p:nvSpPr>
        <p:spPr>
          <a:xfrm>
            <a:off x="1536192" y="2212848"/>
            <a:ext cx="2688336" cy="347472"/>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Broad breadth — not governed, not filtered, not role-aware</a:t>
            </a:r>
            <a:endParaRPr lang="en-US" sz="950" dirty="0"/>
          </a:p>
        </p:txBody>
      </p:sp>
      <p:sp>
        <p:nvSpPr>
          <p:cNvPr id="12" name="Shape 10"/>
          <p:cNvSpPr/>
          <p:nvPr/>
        </p:nvSpPr>
        <p:spPr>
          <a:xfrm>
            <a:off x="384048" y="2871216"/>
            <a:ext cx="1051560" cy="237744"/>
          </a:xfrm>
          <a:prstGeom prst="rect">
            <a:avLst/>
          </a:prstGeom>
          <a:solidFill>
            <a:srgbClr val="00B294"/>
          </a:solidFill>
          <a:ln w="12700">
            <a:solidFill>
              <a:srgbClr val="00B294"/>
            </a:solidFill>
            <a:prstDash val="solid"/>
          </a:ln>
        </p:spPr>
      </p:sp>
      <p:sp>
        <p:nvSpPr>
          <p:cNvPr id="13" name="Text 11"/>
          <p:cNvSpPr/>
          <p:nvPr/>
        </p:nvSpPr>
        <p:spPr>
          <a:xfrm>
            <a:off x="384048" y="2871216"/>
            <a:ext cx="10515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SharePoint</a:t>
            </a:r>
            <a:endParaRPr lang="en-US" sz="850" dirty="0"/>
          </a:p>
        </p:txBody>
      </p:sp>
      <p:sp>
        <p:nvSpPr>
          <p:cNvPr id="14" name="Text 12"/>
          <p:cNvSpPr/>
          <p:nvPr/>
        </p:nvSpPr>
        <p:spPr>
          <a:xfrm>
            <a:off x="1536192" y="2834640"/>
            <a:ext cx="2688336" cy="347472"/>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Enterprise content and lists — scoped to site, role-limited</a:t>
            </a:r>
            <a:endParaRPr lang="en-US" sz="950" dirty="0"/>
          </a:p>
        </p:txBody>
      </p:sp>
      <p:sp>
        <p:nvSpPr>
          <p:cNvPr id="15" name="Shape 13"/>
          <p:cNvSpPr/>
          <p:nvPr/>
        </p:nvSpPr>
        <p:spPr>
          <a:xfrm>
            <a:off x="384048" y="3493008"/>
            <a:ext cx="1051560" cy="237744"/>
          </a:xfrm>
          <a:prstGeom prst="rect">
            <a:avLst/>
          </a:prstGeom>
          <a:solidFill>
            <a:srgbClr val="5C2D91"/>
          </a:solidFill>
          <a:ln w="12700">
            <a:solidFill>
              <a:srgbClr val="5C2D91"/>
            </a:solidFill>
            <a:prstDash val="solid"/>
          </a:ln>
        </p:spPr>
      </p:sp>
      <p:sp>
        <p:nvSpPr>
          <p:cNvPr id="16" name="Text 14"/>
          <p:cNvSpPr/>
          <p:nvPr/>
        </p:nvSpPr>
        <p:spPr>
          <a:xfrm>
            <a:off x="384048" y="3493008"/>
            <a:ext cx="10515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Uploaded files</a:t>
            </a:r>
            <a:endParaRPr lang="en-US" sz="850" dirty="0"/>
          </a:p>
        </p:txBody>
      </p:sp>
      <p:sp>
        <p:nvSpPr>
          <p:cNvPr id="17" name="Text 15"/>
          <p:cNvSpPr/>
          <p:nvPr/>
        </p:nvSpPr>
        <p:spPr>
          <a:xfrm>
            <a:off x="1536192" y="3456432"/>
            <a:ext cx="2688336" cy="347472"/>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Narrow references — good for static, well-curated content</a:t>
            </a:r>
            <a:endParaRPr lang="en-US" sz="950" dirty="0"/>
          </a:p>
        </p:txBody>
      </p:sp>
      <p:sp>
        <p:nvSpPr>
          <p:cNvPr id="18" name="Shape 16"/>
          <p:cNvSpPr/>
          <p:nvPr/>
        </p:nvSpPr>
        <p:spPr>
          <a:xfrm>
            <a:off x="4617720" y="1737360"/>
            <a:ext cx="4251960" cy="265176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4617720" y="1737360"/>
            <a:ext cx="4251960" cy="365760"/>
          </a:xfrm>
          <a:prstGeom prst="rect">
            <a:avLst/>
          </a:prstGeom>
          <a:solidFill>
            <a:srgbClr val="D47900"/>
          </a:solidFill>
          <a:ln w="12700">
            <a:solidFill>
              <a:srgbClr val="D47900"/>
            </a:solidFill>
            <a:prstDash val="solid"/>
          </a:ln>
        </p:spPr>
      </p:sp>
      <p:sp>
        <p:nvSpPr>
          <p:cNvPr id="20" name="Text 18"/>
          <p:cNvSpPr/>
          <p:nvPr/>
        </p:nvSpPr>
        <p:spPr>
          <a:xfrm>
            <a:off x="4727448" y="1737360"/>
            <a:ext cx="4023360" cy="3657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Dataverse: What Changes</a:t>
            </a:r>
            <a:endParaRPr lang="en-US" sz="1100" dirty="0"/>
          </a:p>
        </p:txBody>
      </p:sp>
      <p:sp>
        <p:nvSpPr>
          <p:cNvPr id="21" name="Shape 19"/>
          <p:cNvSpPr/>
          <p:nvPr/>
        </p:nvSpPr>
        <p:spPr>
          <a:xfrm>
            <a:off x="4727448" y="2249424"/>
            <a:ext cx="128016" cy="237744"/>
          </a:xfrm>
          <a:prstGeom prst="rect">
            <a:avLst/>
          </a:prstGeom>
          <a:solidFill>
            <a:srgbClr val="D47900"/>
          </a:solidFill>
          <a:ln w="12700">
            <a:solidFill>
              <a:srgbClr val="D47900"/>
            </a:solidFill>
            <a:prstDash val="solid"/>
          </a:ln>
        </p:spPr>
      </p:sp>
      <p:sp>
        <p:nvSpPr>
          <p:cNvPr id="22" name="Text 20"/>
          <p:cNvSpPr/>
          <p:nvPr/>
        </p:nvSpPr>
        <p:spPr>
          <a:xfrm>
            <a:off x="4919472" y="2249424"/>
            <a:ext cx="1371600" cy="237744"/>
          </a:xfrm>
          <a:prstGeom prst="rect">
            <a:avLst/>
          </a:prstGeom>
          <a:noFill/>
          <a:ln/>
        </p:spPr>
        <p:txBody>
          <a:bodyPr wrap="square" lIns="0" tIns="0" rIns="0" bIns="0" rtlCol="0" anchor="ctr"/>
          <a:lstStyle/>
          <a:p>
            <a:pPr indent="0" marL="0">
              <a:buNone/>
            </a:pPr>
            <a:r>
              <a:rPr lang="en-US" sz="950" b="1" dirty="0">
                <a:solidFill>
                  <a:srgbClr val="D47900"/>
                </a:solidFill>
                <a:latin typeface="Segoe UI" pitchFamily="34" charset="0"/>
                <a:ea typeface="Segoe UI" pitchFamily="34" charset="-122"/>
                <a:cs typeface="Segoe UI" pitchFamily="34" charset="-120"/>
              </a:rPr>
              <a:t>Structured records</a:t>
            </a:r>
            <a:endParaRPr lang="en-US" sz="950" dirty="0"/>
          </a:p>
        </p:txBody>
      </p:sp>
      <p:sp>
        <p:nvSpPr>
          <p:cNvPr id="23" name="Text 21"/>
          <p:cNvSpPr/>
          <p:nvPr/>
        </p:nvSpPr>
        <p:spPr>
          <a:xfrm>
            <a:off x="4919472" y="2487168"/>
            <a:ext cx="3822192" cy="201168"/>
          </a:xfrm>
          <a:prstGeom prst="rect">
            <a:avLst/>
          </a:prstGeom>
          <a:noFill/>
          <a:ln/>
        </p:spPr>
        <p:txBody>
          <a:bodyPr wrap="square" lIns="0" tIns="0" rIns="0" bIns="0"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Typed columns, relationships, and indexes — not flat content</a:t>
            </a:r>
            <a:endParaRPr lang="en-US" sz="900" dirty="0"/>
          </a:p>
        </p:txBody>
      </p:sp>
      <p:sp>
        <p:nvSpPr>
          <p:cNvPr id="24" name="Shape 22"/>
          <p:cNvSpPr/>
          <p:nvPr/>
        </p:nvSpPr>
        <p:spPr>
          <a:xfrm>
            <a:off x="4727448" y="2779776"/>
            <a:ext cx="128016" cy="237744"/>
          </a:xfrm>
          <a:prstGeom prst="rect">
            <a:avLst/>
          </a:prstGeom>
          <a:solidFill>
            <a:srgbClr val="D47900"/>
          </a:solidFill>
          <a:ln w="12700">
            <a:solidFill>
              <a:srgbClr val="D47900"/>
            </a:solidFill>
            <a:prstDash val="solid"/>
          </a:ln>
        </p:spPr>
      </p:sp>
      <p:sp>
        <p:nvSpPr>
          <p:cNvPr id="25" name="Text 23"/>
          <p:cNvSpPr/>
          <p:nvPr/>
        </p:nvSpPr>
        <p:spPr>
          <a:xfrm>
            <a:off x="4919472" y="2779776"/>
            <a:ext cx="1371600" cy="237744"/>
          </a:xfrm>
          <a:prstGeom prst="rect">
            <a:avLst/>
          </a:prstGeom>
          <a:noFill/>
          <a:ln/>
        </p:spPr>
        <p:txBody>
          <a:bodyPr wrap="square" lIns="0" tIns="0" rIns="0" bIns="0" rtlCol="0" anchor="ctr"/>
          <a:lstStyle/>
          <a:p>
            <a:pPr indent="0" marL="0">
              <a:buNone/>
            </a:pPr>
            <a:r>
              <a:rPr lang="en-US" sz="950" b="1" dirty="0">
                <a:solidFill>
                  <a:srgbClr val="D47900"/>
                </a:solidFill>
                <a:latin typeface="Segoe UI" pitchFamily="34" charset="0"/>
                <a:ea typeface="Segoe UI" pitchFamily="34" charset="-122"/>
                <a:cs typeface="Segoe UI" pitchFamily="34" charset="-120"/>
              </a:rPr>
              <a:t>Role-based access</a:t>
            </a:r>
            <a:endParaRPr lang="en-US" sz="950" dirty="0"/>
          </a:p>
        </p:txBody>
      </p:sp>
      <p:sp>
        <p:nvSpPr>
          <p:cNvPr id="26" name="Text 24"/>
          <p:cNvSpPr/>
          <p:nvPr/>
        </p:nvSpPr>
        <p:spPr>
          <a:xfrm>
            <a:off x="4919472" y="3017520"/>
            <a:ext cx="3822192" cy="201168"/>
          </a:xfrm>
          <a:prstGeom prst="rect">
            <a:avLst/>
          </a:prstGeom>
          <a:noFill/>
          <a:ln/>
        </p:spPr>
        <p:txBody>
          <a:bodyPr wrap="square" lIns="0" tIns="0" rIns="0" bIns="0"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Dataverse security roles scope what the agent can read at runtime</a:t>
            </a:r>
            <a:endParaRPr lang="en-US" sz="900" dirty="0"/>
          </a:p>
        </p:txBody>
      </p:sp>
      <p:sp>
        <p:nvSpPr>
          <p:cNvPr id="27" name="Shape 25"/>
          <p:cNvSpPr/>
          <p:nvPr/>
        </p:nvSpPr>
        <p:spPr>
          <a:xfrm>
            <a:off x="4727448" y="3310128"/>
            <a:ext cx="128016" cy="237744"/>
          </a:xfrm>
          <a:prstGeom prst="rect">
            <a:avLst/>
          </a:prstGeom>
          <a:solidFill>
            <a:srgbClr val="D47900"/>
          </a:solidFill>
          <a:ln w="12700">
            <a:solidFill>
              <a:srgbClr val="D47900"/>
            </a:solidFill>
            <a:prstDash val="solid"/>
          </a:ln>
        </p:spPr>
      </p:sp>
      <p:sp>
        <p:nvSpPr>
          <p:cNvPr id="28" name="Text 26"/>
          <p:cNvSpPr/>
          <p:nvPr/>
        </p:nvSpPr>
        <p:spPr>
          <a:xfrm>
            <a:off x="4919472" y="3310128"/>
            <a:ext cx="1371600" cy="237744"/>
          </a:xfrm>
          <a:prstGeom prst="rect">
            <a:avLst/>
          </a:prstGeom>
          <a:noFill/>
          <a:ln/>
        </p:spPr>
        <p:txBody>
          <a:bodyPr wrap="square" lIns="0" tIns="0" rIns="0" bIns="0" rtlCol="0" anchor="ctr"/>
          <a:lstStyle/>
          <a:p>
            <a:pPr indent="0" marL="0">
              <a:buNone/>
            </a:pPr>
            <a:r>
              <a:rPr lang="en-US" sz="950" b="1" dirty="0">
                <a:solidFill>
                  <a:srgbClr val="D47900"/>
                </a:solidFill>
                <a:latin typeface="Segoe UI" pitchFamily="34" charset="0"/>
                <a:ea typeface="Segoe UI" pitchFamily="34" charset="-122"/>
                <a:cs typeface="Segoe UI" pitchFamily="34" charset="-120"/>
              </a:rPr>
              <a:t>Column selection</a:t>
            </a:r>
            <a:endParaRPr lang="en-US" sz="950" dirty="0"/>
          </a:p>
        </p:txBody>
      </p:sp>
      <p:sp>
        <p:nvSpPr>
          <p:cNvPr id="29" name="Text 27"/>
          <p:cNvSpPr/>
          <p:nvPr/>
        </p:nvSpPr>
        <p:spPr>
          <a:xfrm>
            <a:off x="4919472" y="3547872"/>
            <a:ext cx="3822192" cy="201168"/>
          </a:xfrm>
          <a:prstGeom prst="rect">
            <a:avLst/>
          </a:prstGeom>
          <a:noFill/>
          <a:ln/>
        </p:spPr>
        <p:txBody>
          <a:bodyPr wrap="square" lIns="0" tIns="0" rIns="0" bIns="0"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Pick only the columns the prompt needs — reduces noise in context</a:t>
            </a:r>
            <a:endParaRPr lang="en-US" sz="900" dirty="0"/>
          </a:p>
        </p:txBody>
      </p:sp>
      <p:sp>
        <p:nvSpPr>
          <p:cNvPr id="30" name="Shape 28"/>
          <p:cNvSpPr/>
          <p:nvPr/>
        </p:nvSpPr>
        <p:spPr>
          <a:xfrm>
            <a:off x="4727448" y="3840480"/>
            <a:ext cx="128016" cy="237744"/>
          </a:xfrm>
          <a:prstGeom prst="rect">
            <a:avLst/>
          </a:prstGeom>
          <a:solidFill>
            <a:srgbClr val="D47900"/>
          </a:solidFill>
          <a:ln w="12700">
            <a:solidFill>
              <a:srgbClr val="D47900"/>
            </a:solidFill>
            <a:prstDash val="solid"/>
          </a:ln>
        </p:spPr>
      </p:sp>
      <p:sp>
        <p:nvSpPr>
          <p:cNvPr id="31" name="Text 29"/>
          <p:cNvSpPr/>
          <p:nvPr/>
        </p:nvSpPr>
        <p:spPr>
          <a:xfrm>
            <a:off x="4919472" y="3840480"/>
            <a:ext cx="1371600" cy="237744"/>
          </a:xfrm>
          <a:prstGeom prst="rect">
            <a:avLst/>
          </a:prstGeom>
          <a:noFill/>
          <a:ln/>
        </p:spPr>
        <p:txBody>
          <a:bodyPr wrap="square" lIns="0" tIns="0" rIns="0" bIns="0" rtlCol="0" anchor="ctr"/>
          <a:lstStyle/>
          <a:p>
            <a:pPr indent="0" marL="0">
              <a:buNone/>
            </a:pPr>
            <a:r>
              <a:rPr lang="en-US" sz="950" b="1" dirty="0">
                <a:solidFill>
                  <a:srgbClr val="D47900"/>
                </a:solidFill>
                <a:latin typeface="Segoe UI" pitchFamily="34" charset="0"/>
                <a:ea typeface="Segoe UI" pitchFamily="34" charset="-122"/>
                <a:cs typeface="Segoe UI" pitchFamily="34" charset="-120"/>
              </a:rPr>
              <a:t>Filtered grounding</a:t>
            </a:r>
            <a:endParaRPr lang="en-US" sz="950" dirty="0"/>
          </a:p>
        </p:txBody>
      </p:sp>
      <p:sp>
        <p:nvSpPr>
          <p:cNvPr id="32" name="Text 30"/>
          <p:cNvSpPr/>
          <p:nvPr/>
        </p:nvSpPr>
        <p:spPr>
          <a:xfrm>
            <a:off x="4919472" y="4078224"/>
            <a:ext cx="3822192" cy="201168"/>
          </a:xfrm>
          <a:prstGeom prst="rect">
            <a:avLst/>
          </a:prstGeom>
          <a:noFill/>
          <a:ln/>
        </p:spPr>
        <p:txBody>
          <a:bodyPr wrap="square" lIns="0" tIns="0" rIns="0" bIns="0"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Status = Open, Department = Engineering — deterministic data scope</a:t>
            </a:r>
            <a:endParaRPr lang="en-US" sz="900" dirty="0"/>
          </a:p>
        </p:txBody>
      </p:sp>
      <p:sp>
        <p:nvSpPr>
          <p:cNvPr id="33" name="Shape 31"/>
          <p:cNvSpPr/>
          <p:nvPr/>
        </p:nvSpPr>
        <p:spPr>
          <a:xfrm>
            <a:off x="274320" y="4526280"/>
            <a:ext cx="8595360" cy="320040"/>
          </a:xfrm>
          <a:prstGeom prst="rect">
            <a:avLst/>
          </a:prstGeom>
          <a:solidFill>
            <a:srgbClr val="243A5E"/>
          </a:solidFill>
          <a:ln w="12700">
            <a:solidFill>
              <a:srgbClr val="243A5E"/>
            </a:solidFill>
            <a:prstDash val="solid"/>
          </a:ln>
        </p:spPr>
      </p:sp>
      <p:sp>
        <p:nvSpPr>
          <p:cNvPr id="34" name="Shape 32"/>
          <p:cNvSpPr/>
          <p:nvPr/>
        </p:nvSpPr>
        <p:spPr>
          <a:xfrm>
            <a:off x="274320" y="4526280"/>
            <a:ext cx="54864" cy="320040"/>
          </a:xfrm>
          <a:prstGeom prst="rect">
            <a:avLst/>
          </a:prstGeom>
          <a:solidFill>
            <a:srgbClr val="D47900"/>
          </a:solidFill>
          <a:ln w="12700">
            <a:solidFill>
              <a:srgbClr val="D47900"/>
            </a:solidFill>
            <a:prstDash val="solid"/>
          </a:ln>
        </p:spPr>
      </p:sp>
      <p:sp>
        <p:nvSpPr>
          <p:cNvPr id="35" name="Text 33"/>
          <p:cNvSpPr/>
          <p:nvPr/>
        </p:nvSpPr>
        <p:spPr>
          <a:xfrm>
            <a:off x="438912" y="4526280"/>
            <a:ext cx="8366760" cy="32004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Schema quality and access control now matter as much as prompt wording.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20</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Dataverse Grounding</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Create or verify Job Requisitions Dataverse table — add to Operative solution</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at least 2 open requisitions; confirm Status = Open on each row</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Build 'Match Resume to Requisitions' prompt with Dataverse knowledge source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Set column selection, Status = Open filter, raise record retrieval, upgrade model</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Test: verify Knowledge pane shows Dataverse rows; output uses real requisition numbers</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40</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Permissions first —</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not a model problem</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09  ·  LAB 20 RECAP</a:t>
            </a:r>
            <a:endParaRPr lang="en-US" sz="900" dirty="0"/>
          </a:p>
        </p:txBody>
      </p:sp>
      <p:sp>
        <p:nvSpPr>
          <p:cNvPr id="4" name="Text 2"/>
          <p:cNvSpPr/>
          <p:nvPr/>
        </p:nvSpPr>
        <p:spPr>
          <a:xfrm>
            <a:off x="365760" y="749808"/>
            <a:ext cx="8412480" cy="475488"/>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20: Dataverse Grounding</a:t>
            </a:r>
            <a:endParaRPr lang="en-US" sz="2800" dirty="0"/>
          </a:p>
        </p:txBody>
      </p:sp>
      <p:sp>
        <p:nvSpPr>
          <p:cNvPr id="5" name="Text 3"/>
          <p:cNvSpPr/>
          <p:nvPr/>
        </p:nvSpPr>
        <p:spPr>
          <a:xfrm>
            <a:off x="365760" y="128016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This is the turning point from generic AI to business-data-aware AI — call that out explicitly.</a:t>
            </a:r>
            <a:endParaRPr lang="en-US" sz="1200" dirty="0"/>
          </a:p>
        </p:txBody>
      </p:sp>
      <p:sp>
        <p:nvSpPr>
          <p:cNvPr id="6" name="Shape 4"/>
          <p:cNvSpPr/>
          <p:nvPr/>
        </p:nvSpPr>
        <p:spPr>
          <a:xfrm>
            <a:off x="320040" y="1719072"/>
            <a:ext cx="8503920" cy="438912"/>
          </a:xfrm>
          <a:prstGeom prst="rect">
            <a:avLst/>
          </a:prstGeom>
          <a:solidFill>
            <a:srgbClr val="F3F2F1"/>
          </a:solidFill>
          <a:ln w="12700">
            <a:solidFill>
              <a:srgbClr val="E1DFDD"/>
            </a:solidFill>
            <a:prstDash val="solid"/>
          </a:ln>
        </p:spPr>
      </p:sp>
      <p:sp>
        <p:nvSpPr>
          <p:cNvPr id="7" name="Shape 5"/>
          <p:cNvSpPr/>
          <p:nvPr/>
        </p:nvSpPr>
        <p:spPr>
          <a:xfrm>
            <a:off x="457200" y="1801368"/>
            <a:ext cx="960120" cy="256032"/>
          </a:xfrm>
          <a:prstGeom prst="rect">
            <a:avLst/>
          </a:prstGeom>
          <a:solidFill>
            <a:srgbClr val="D47900"/>
          </a:solidFill>
          <a:ln w="12700">
            <a:solidFill>
              <a:srgbClr val="D47900"/>
            </a:solidFill>
            <a:prstDash val="solid"/>
          </a:ln>
        </p:spPr>
      </p:sp>
      <p:sp>
        <p:nvSpPr>
          <p:cNvPr id="8" name="Text 6"/>
          <p:cNvSpPr/>
          <p:nvPr/>
        </p:nvSpPr>
        <p:spPr>
          <a:xfrm>
            <a:off x="457200" y="1801368"/>
            <a:ext cx="9601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Table</a:t>
            </a:r>
            <a:endParaRPr lang="en-US" sz="800" dirty="0"/>
          </a:p>
        </p:txBody>
      </p:sp>
      <p:sp>
        <p:nvSpPr>
          <p:cNvPr id="9" name="Text 7"/>
          <p:cNvSpPr/>
          <p:nvPr/>
        </p:nvSpPr>
        <p:spPr>
          <a:xfrm>
            <a:off x="1527048" y="1801368"/>
            <a:ext cx="7178040" cy="256032"/>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Job Requisitions Dataverse table exists with at least 2 rows where Status = Open</a:t>
            </a:r>
            <a:endParaRPr lang="en-US" sz="1100" dirty="0"/>
          </a:p>
        </p:txBody>
      </p:sp>
      <p:sp>
        <p:nvSpPr>
          <p:cNvPr id="10" name="Shape 8"/>
          <p:cNvSpPr/>
          <p:nvPr/>
        </p:nvSpPr>
        <p:spPr>
          <a:xfrm>
            <a:off x="320040" y="2194560"/>
            <a:ext cx="8503920" cy="438912"/>
          </a:xfrm>
          <a:prstGeom prst="rect">
            <a:avLst/>
          </a:prstGeom>
          <a:solidFill>
            <a:srgbClr val="FFFFFF"/>
          </a:solidFill>
          <a:ln w="12700">
            <a:solidFill>
              <a:srgbClr val="E1DFDD"/>
            </a:solidFill>
            <a:prstDash val="solid"/>
          </a:ln>
        </p:spPr>
      </p:sp>
      <p:sp>
        <p:nvSpPr>
          <p:cNvPr id="11" name="Shape 9"/>
          <p:cNvSpPr/>
          <p:nvPr/>
        </p:nvSpPr>
        <p:spPr>
          <a:xfrm>
            <a:off x="457200" y="2276856"/>
            <a:ext cx="960120" cy="256032"/>
          </a:xfrm>
          <a:prstGeom prst="rect">
            <a:avLst/>
          </a:prstGeom>
          <a:solidFill>
            <a:srgbClr val="0078D4"/>
          </a:solidFill>
          <a:ln w="12700">
            <a:solidFill>
              <a:srgbClr val="0078D4"/>
            </a:solidFill>
            <a:prstDash val="solid"/>
          </a:ln>
        </p:spPr>
      </p:sp>
      <p:sp>
        <p:nvSpPr>
          <p:cNvPr id="12" name="Text 10"/>
          <p:cNvSpPr/>
          <p:nvPr/>
        </p:nvSpPr>
        <p:spPr>
          <a:xfrm>
            <a:off x="457200" y="2276856"/>
            <a:ext cx="9601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Solution</a:t>
            </a:r>
            <a:endParaRPr lang="en-US" sz="800" dirty="0"/>
          </a:p>
        </p:txBody>
      </p:sp>
      <p:sp>
        <p:nvSpPr>
          <p:cNvPr id="13" name="Text 11"/>
          <p:cNvSpPr/>
          <p:nvPr/>
        </p:nvSpPr>
        <p:spPr>
          <a:xfrm>
            <a:off x="1527048" y="2276856"/>
            <a:ext cx="7178040" cy="256032"/>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Table added to the Operative solution for ALM and environment transport</a:t>
            </a:r>
            <a:endParaRPr lang="en-US" sz="1100" dirty="0"/>
          </a:p>
        </p:txBody>
      </p:sp>
      <p:sp>
        <p:nvSpPr>
          <p:cNvPr id="14" name="Shape 12"/>
          <p:cNvSpPr/>
          <p:nvPr/>
        </p:nvSpPr>
        <p:spPr>
          <a:xfrm>
            <a:off x="320040" y="2670048"/>
            <a:ext cx="8503920" cy="438912"/>
          </a:xfrm>
          <a:prstGeom prst="rect">
            <a:avLst/>
          </a:prstGeom>
          <a:solidFill>
            <a:srgbClr val="F3F2F1"/>
          </a:solidFill>
          <a:ln w="12700">
            <a:solidFill>
              <a:srgbClr val="E1DFDD"/>
            </a:solidFill>
            <a:prstDash val="solid"/>
          </a:ln>
        </p:spPr>
      </p:sp>
      <p:sp>
        <p:nvSpPr>
          <p:cNvPr id="15" name="Shape 13"/>
          <p:cNvSpPr/>
          <p:nvPr/>
        </p:nvSpPr>
        <p:spPr>
          <a:xfrm>
            <a:off x="457200" y="2752344"/>
            <a:ext cx="960120" cy="256032"/>
          </a:xfrm>
          <a:prstGeom prst="rect">
            <a:avLst/>
          </a:prstGeom>
          <a:solidFill>
            <a:srgbClr val="00B294"/>
          </a:solidFill>
          <a:ln w="12700">
            <a:solidFill>
              <a:srgbClr val="00B294"/>
            </a:solidFill>
            <a:prstDash val="solid"/>
          </a:ln>
        </p:spPr>
      </p:sp>
      <p:sp>
        <p:nvSpPr>
          <p:cNvPr id="16" name="Text 14"/>
          <p:cNvSpPr/>
          <p:nvPr/>
        </p:nvSpPr>
        <p:spPr>
          <a:xfrm>
            <a:off x="457200" y="2752344"/>
            <a:ext cx="9601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Prompt</a:t>
            </a:r>
            <a:endParaRPr lang="en-US" sz="800" dirty="0"/>
          </a:p>
        </p:txBody>
      </p:sp>
      <p:sp>
        <p:nvSpPr>
          <p:cNvPr id="17" name="Text 15"/>
          <p:cNvSpPr/>
          <p:nvPr/>
        </p:nvSpPr>
        <p:spPr>
          <a:xfrm>
            <a:off x="1527048" y="2752344"/>
            <a:ext cx="7178040" cy="256032"/>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'Match Resume to Requisitions' prompt references Job Requisitions as a Dataverse knowledge source</a:t>
            </a:r>
            <a:endParaRPr lang="en-US" sz="1100" dirty="0"/>
          </a:p>
        </p:txBody>
      </p:sp>
      <p:sp>
        <p:nvSpPr>
          <p:cNvPr id="18" name="Shape 16"/>
          <p:cNvSpPr/>
          <p:nvPr/>
        </p:nvSpPr>
        <p:spPr>
          <a:xfrm>
            <a:off x="320040" y="3145536"/>
            <a:ext cx="8503920" cy="438912"/>
          </a:xfrm>
          <a:prstGeom prst="rect">
            <a:avLst/>
          </a:prstGeom>
          <a:solidFill>
            <a:srgbClr val="FFFFFF"/>
          </a:solidFill>
          <a:ln w="12700">
            <a:solidFill>
              <a:srgbClr val="E1DFDD"/>
            </a:solidFill>
            <a:prstDash val="solid"/>
          </a:ln>
        </p:spPr>
      </p:sp>
      <p:sp>
        <p:nvSpPr>
          <p:cNvPr id="19" name="Shape 17"/>
          <p:cNvSpPr/>
          <p:nvPr/>
        </p:nvSpPr>
        <p:spPr>
          <a:xfrm>
            <a:off x="457200" y="3227832"/>
            <a:ext cx="960120" cy="256032"/>
          </a:xfrm>
          <a:prstGeom prst="rect">
            <a:avLst/>
          </a:prstGeom>
          <a:solidFill>
            <a:srgbClr val="5C2D91"/>
          </a:solidFill>
          <a:ln w="12700">
            <a:solidFill>
              <a:srgbClr val="5C2D91"/>
            </a:solidFill>
            <a:prstDash val="solid"/>
          </a:ln>
        </p:spPr>
      </p:sp>
      <p:sp>
        <p:nvSpPr>
          <p:cNvPr id="20" name="Text 18"/>
          <p:cNvSpPr/>
          <p:nvPr/>
        </p:nvSpPr>
        <p:spPr>
          <a:xfrm>
            <a:off x="457200" y="3227832"/>
            <a:ext cx="9601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Filter</a:t>
            </a:r>
            <a:endParaRPr lang="en-US" sz="800" dirty="0"/>
          </a:p>
        </p:txBody>
      </p:sp>
      <p:sp>
        <p:nvSpPr>
          <p:cNvPr id="21" name="Text 19"/>
          <p:cNvSpPr/>
          <p:nvPr/>
        </p:nvSpPr>
        <p:spPr>
          <a:xfrm>
            <a:off x="1527048" y="3227832"/>
            <a:ext cx="7178040" cy="256032"/>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Filter limits data to Status = Open rows — no draft or closed requisitions in scope</a:t>
            </a:r>
            <a:endParaRPr lang="en-US" sz="1100" dirty="0"/>
          </a:p>
        </p:txBody>
      </p:sp>
      <p:sp>
        <p:nvSpPr>
          <p:cNvPr id="22" name="Shape 20"/>
          <p:cNvSpPr/>
          <p:nvPr/>
        </p:nvSpPr>
        <p:spPr>
          <a:xfrm>
            <a:off x="320040" y="3621024"/>
            <a:ext cx="8503920" cy="438912"/>
          </a:xfrm>
          <a:prstGeom prst="rect">
            <a:avLst/>
          </a:prstGeom>
          <a:solidFill>
            <a:srgbClr val="F3F2F1"/>
          </a:solidFill>
          <a:ln w="12700">
            <a:solidFill>
              <a:srgbClr val="E1DFDD"/>
            </a:solidFill>
            <a:prstDash val="solid"/>
          </a:ln>
        </p:spPr>
      </p:sp>
      <p:sp>
        <p:nvSpPr>
          <p:cNvPr id="23" name="Shape 21"/>
          <p:cNvSpPr/>
          <p:nvPr/>
        </p:nvSpPr>
        <p:spPr>
          <a:xfrm>
            <a:off x="457200" y="3703320"/>
            <a:ext cx="960120" cy="256032"/>
          </a:xfrm>
          <a:prstGeom prst="rect">
            <a:avLst/>
          </a:prstGeom>
          <a:solidFill>
            <a:srgbClr val="107C10"/>
          </a:solidFill>
          <a:ln w="12700">
            <a:solidFill>
              <a:srgbClr val="107C10"/>
            </a:solidFill>
            <a:prstDash val="solid"/>
          </a:ln>
        </p:spPr>
      </p:sp>
      <p:sp>
        <p:nvSpPr>
          <p:cNvPr id="24" name="Text 22"/>
          <p:cNvSpPr/>
          <p:nvPr/>
        </p:nvSpPr>
        <p:spPr>
          <a:xfrm>
            <a:off x="457200" y="3703320"/>
            <a:ext cx="9601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Grounded</a:t>
            </a:r>
            <a:endParaRPr lang="en-US" sz="800" dirty="0"/>
          </a:p>
        </p:txBody>
      </p:sp>
      <p:sp>
        <p:nvSpPr>
          <p:cNvPr id="25" name="Text 23"/>
          <p:cNvSpPr/>
          <p:nvPr/>
        </p:nvSpPr>
        <p:spPr>
          <a:xfrm>
            <a:off x="1527048" y="3703320"/>
            <a:ext cx="7178040" cy="256032"/>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Test output Knowledge pane shows Dataverse rows were injected into context</a:t>
            </a:r>
            <a:endParaRPr lang="en-US" sz="1100" dirty="0"/>
          </a:p>
        </p:txBody>
      </p:sp>
      <p:sp>
        <p:nvSpPr>
          <p:cNvPr id="26" name="Shape 24"/>
          <p:cNvSpPr/>
          <p:nvPr/>
        </p:nvSpPr>
        <p:spPr>
          <a:xfrm>
            <a:off x="320040" y="4096512"/>
            <a:ext cx="8503920" cy="438912"/>
          </a:xfrm>
          <a:prstGeom prst="rect">
            <a:avLst/>
          </a:prstGeom>
          <a:solidFill>
            <a:srgbClr val="FFFFFF"/>
          </a:solidFill>
          <a:ln w="12700">
            <a:solidFill>
              <a:srgbClr val="E1DFDD"/>
            </a:solidFill>
            <a:prstDash val="solid"/>
          </a:ln>
        </p:spPr>
      </p:sp>
      <p:sp>
        <p:nvSpPr>
          <p:cNvPr id="27" name="Shape 25"/>
          <p:cNvSpPr/>
          <p:nvPr/>
        </p:nvSpPr>
        <p:spPr>
          <a:xfrm>
            <a:off x="457200" y="4178808"/>
            <a:ext cx="960120" cy="256032"/>
          </a:xfrm>
          <a:prstGeom prst="rect">
            <a:avLst/>
          </a:prstGeom>
          <a:solidFill>
            <a:srgbClr val="D83B01"/>
          </a:solidFill>
          <a:ln w="12700">
            <a:solidFill>
              <a:srgbClr val="D83B01"/>
            </a:solidFill>
            <a:prstDash val="solid"/>
          </a:ln>
        </p:spPr>
      </p:sp>
      <p:sp>
        <p:nvSpPr>
          <p:cNvPr id="28" name="Text 26"/>
          <p:cNvSpPr/>
          <p:nvPr/>
        </p:nvSpPr>
        <p:spPr>
          <a:xfrm>
            <a:off x="457200" y="4178808"/>
            <a:ext cx="9601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Real data</a:t>
            </a:r>
            <a:endParaRPr lang="en-US" sz="800" dirty="0"/>
          </a:p>
        </p:txBody>
      </p:sp>
      <p:sp>
        <p:nvSpPr>
          <p:cNvPr id="29" name="Text 27"/>
          <p:cNvSpPr/>
          <p:nvPr/>
        </p:nvSpPr>
        <p:spPr>
          <a:xfrm>
            <a:off x="1527048" y="4178808"/>
            <a:ext cx="7178040" cy="256032"/>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JSON output includes real requisition numbers from Dataverse — no invented identifiers</a:t>
            </a:r>
            <a:endParaRPr lang="en-US" sz="1100" dirty="0"/>
          </a:p>
        </p:txBody>
      </p:sp>
      <p:sp>
        <p:nvSpPr>
          <p:cNvPr id="30" name="Shape 28"/>
          <p:cNvSpPr/>
          <p:nvPr/>
        </p:nvSpPr>
        <p:spPr>
          <a:xfrm>
            <a:off x="320040" y="4681728"/>
            <a:ext cx="8503920" cy="320040"/>
          </a:xfrm>
          <a:prstGeom prst="rect">
            <a:avLst/>
          </a:prstGeom>
          <a:solidFill>
            <a:srgbClr val="EFF6FC"/>
          </a:solidFill>
          <a:ln w="12700">
            <a:solidFill>
              <a:srgbClr val="C7E0F4"/>
            </a:solidFill>
            <a:prstDash val="solid"/>
          </a:ln>
        </p:spPr>
      </p:sp>
      <p:sp>
        <p:nvSpPr>
          <p:cNvPr id="31" name="Text 29"/>
          <p:cNvSpPr/>
          <p:nvPr/>
        </p:nvSpPr>
        <p:spPr>
          <a:xfrm>
            <a:off x="475488" y="4681728"/>
            <a:ext cx="8321040"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Tip: If the prompt returns invented identifiers, add a stricter rule that requisition numbers must come from grounded data only.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09  ·  MULTIMODAL AND DATA</a:t>
            </a:r>
            <a:endParaRPr lang="en-US" sz="900" dirty="0"/>
          </a:p>
        </p:txBody>
      </p:sp>
      <p:sp>
        <p:nvSpPr>
          <p:cNvPr id="4" name="Text 2"/>
          <p:cNvSpPr/>
          <p:nvPr/>
        </p:nvSpPr>
        <p:spPr>
          <a:xfrm>
            <a:off x="365760" y="749808"/>
            <a:ext cx="8412480" cy="475488"/>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Document Outputs with Guardrails</a:t>
            </a:r>
            <a:endParaRPr lang="en-US" sz="2800" dirty="0"/>
          </a:p>
        </p:txBody>
      </p:sp>
      <p:sp>
        <p:nvSpPr>
          <p:cNvPr id="5" name="Text 3"/>
          <p:cNvSpPr/>
          <p:nvPr/>
        </p:nvSpPr>
        <p:spPr>
          <a:xfrm>
            <a:off x="365760" y="128016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Clear inputs, approved templates, and explicit review points — before anyone treats the result as production-ready.</a:t>
            </a:r>
            <a:endParaRPr lang="en-US" sz="1200" dirty="0"/>
          </a:p>
        </p:txBody>
      </p:sp>
      <p:sp>
        <p:nvSpPr>
          <p:cNvPr id="6" name="Shape 4"/>
          <p:cNvSpPr/>
          <p:nvPr/>
        </p:nvSpPr>
        <p:spPr>
          <a:xfrm>
            <a:off x="274320" y="1920240"/>
            <a:ext cx="2816352" cy="1389888"/>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74320" y="1920240"/>
            <a:ext cx="2816352" cy="347472"/>
          </a:xfrm>
          <a:prstGeom prst="rect">
            <a:avLst/>
          </a:prstGeom>
          <a:solidFill>
            <a:srgbClr val="0078D4"/>
          </a:solidFill>
          <a:ln w="12700">
            <a:solidFill>
              <a:srgbClr val="0078D4"/>
            </a:solidFill>
            <a:prstDash val="solid"/>
          </a:ln>
        </p:spPr>
      </p:sp>
      <p:sp>
        <p:nvSpPr>
          <p:cNvPr id="8" name="Text 6"/>
          <p:cNvSpPr/>
          <p:nvPr/>
        </p:nvSpPr>
        <p:spPr>
          <a:xfrm>
            <a:off x="365760" y="1920240"/>
            <a:ext cx="2651760" cy="347472"/>
          </a:xfrm>
          <a:prstGeom prst="rect">
            <a:avLst/>
          </a:prstGeom>
          <a:noFill/>
          <a:ln/>
        </p:spPr>
        <p:txBody>
          <a:bodyPr wrap="square" rtlCol="0" anchor="ctr"/>
          <a:lstStyle/>
          <a:p>
            <a:pPr indent="0" marL="0">
              <a:buNone/>
            </a:pPr>
            <a:r>
              <a:rPr lang="en-US" sz="900" b="1" spc="100" kern="0" dirty="0">
                <a:solidFill>
                  <a:srgbClr val="FFFFFF"/>
                </a:solidFill>
                <a:latin typeface="Segoe UI" pitchFamily="34" charset="0"/>
                <a:ea typeface="Segoe UI" pitchFamily="34" charset="-122"/>
                <a:cs typeface="Segoe UI" pitchFamily="34" charset="-120"/>
              </a:rPr>
              <a:t>STEP 1  ·  AI Prompt</a:t>
            </a:r>
            <a:endParaRPr lang="en-US" sz="900" dirty="0"/>
          </a:p>
        </p:txBody>
      </p:sp>
      <p:sp>
        <p:nvSpPr>
          <p:cNvPr id="9" name="Text 7"/>
          <p:cNvSpPr/>
          <p:nvPr/>
        </p:nvSpPr>
        <p:spPr>
          <a:xfrm>
            <a:off x="365760" y="2322576"/>
            <a:ext cx="2651760" cy="256032"/>
          </a:xfrm>
          <a:prstGeom prst="rect">
            <a:avLst/>
          </a:prstGeom>
          <a:noFill/>
          <a:ln/>
        </p:spPr>
        <p:txBody>
          <a:bodyPr wrap="square" rtlCol="0" anchor="ctr"/>
          <a:lstStyle/>
          <a:p>
            <a:pPr indent="0" marL="0">
              <a:buNone/>
            </a:pPr>
            <a:r>
              <a:rPr lang="en-US" sz="1050" b="1" dirty="0">
                <a:solidFill>
                  <a:srgbClr val="0078D4"/>
                </a:solidFill>
                <a:latin typeface="Segoe UI" pitchFamily="34" charset="0"/>
                <a:ea typeface="Segoe UI" pitchFamily="34" charset="-122"/>
                <a:cs typeface="Segoe UI" pitchFamily="34" charset="-120"/>
              </a:rPr>
              <a:t>Draft Offer Letter Narrative</a:t>
            </a:r>
            <a:endParaRPr lang="en-US" sz="1050" dirty="0"/>
          </a:p>
        </p:txBody>
      </p:sp>
      <p:sp>
        <p:nvSpPr>
          <p:cNvPr id="10" name="Text 8"/>
          <p:cNvSpPr/>
          <p:nvPr/>
        </p:nvSpPr>
        <p:spPr>
          <a:xfrm>
            <a:off x="365760" y="2606040"/>
            <a:ext cx="2651760" cy="658368"/>
          </a:xfrm>
          <a:prstGeom prst="rect">
            <a:avLst/>
          </a:prstGeom>
          <a:noFill/>
          <a:ln/>
        </p:spPr>
        <p:txBody>
          <a:bodyPr wrap="square" rtlCol="0" anchor="ctr"/>
          <a:lstStyle/>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Two short paragraphs only — professional and encouraging</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Inputs: name, title, department, location, dates, salary, bonus</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No invented compensation, benefits, or dates allowed</a:t>
            </a:r>
            <a:endParaRPr lang="en-US" sz="950" dirty="0"/>
          </a:p>
        </p:txBody>
      </p:sp>
      <p:sp>
        <p:nvSpPr>
          <p:cNvPr id="11" name="Text 9"/>
          <p:cNvSpPr/>
          <p:nvPr/>
        </p:nvSpPr>
        <p:spPr>
          <a:xfrm>
            <a:off x="3090672" y="2395728"/>
            <a:ext cx="182880" cy="329184"/>
          </a:xfrm>
          <a:prstGeom prst="rect">
            <a:avLst/>
          </a:prstGeom>
          <a:noFill/>
          <a:ln/>
        </p:spPr>
        <p:txBody>
          <a:bodyPr wrap="square" rtlCol="0" anchor="ctr"/>
          <a:lstStyle/>
          <a:p>
            <a:pPr algn="ctr" indent="0" marL="0">
              <a:buNone/>
            </a:pPr>
            <a:r>
              <a:rPr lang="en-US" sz="1600" b="1" dirty="0">
                <a:solidFill>
                  <a:srgbClr val="605E5C"/>
                </a:solidFill>
                <a:latin typeface="Segoe UI" pitchFamily="34" charset="0"/>
                <a:ea typeface="Segoe UI" pitchFamily="34" charset="-122"/>
                <a:cs typeface="Segoe UI" pitchFamily="34" charset="-120"/>
              </a:rPr>
              <a:t>→</a:t>
            </a:r>
            <a:endParaRPr lang="en-US" sz="1600" dirty="0"/>
          </a:p>
        </p:txBody>
      </p:sp>
      <p:sp>
        <p:nvSpPr>
          <p:cNvPr id="12" name="Shape 10"/>
          <p:cNvSpPr/>
          <p:nvPr/>
        </p:nvSpPr>
        <p:spPr>
          <a:xfrm>
            <a:off x="3227832" y="1920240"/>
            <a:ext cx="2816352" cy="1389888"/>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3227832" y="1920240"/>
            <a:ext cx="2816352" cy="347472"/>
          </a:xfrm>
          <a:prstGeom prst="rect">
            <a:avLst/>
          </a:prstGeom>
          <a:solidFill>
            <a:srgbClr val="00B294"/>
          </a:solidFill>
          <a:ln w="12700">
            <a:solidFill>
              <a:srgbClr val="00B294"/>
            </a:solidFill>
            <a:prstDash val="solid"/>
          </a:ln>
        </p:spPr>
      </p:sp>
      <p:sp>
        <p:nvSpPr>
          <p:cNvPr id="14" name="Text 12"/>
          <p:cNvSpPr/>
          <p:nvPr/>
        </p:nvSpPr>
        <p:spPr>
          <a:xfrm>
            <a:off x="3319272" y="1920240"/>
            <a:ext cx="2651760" cy="347472"/>
          </a:xfrm>
          <a:prstGeom prst="rect">
            <a:avLst/>
          </a:prstGeom>
          <a:noFill/>
          <a:ln/>
        </p:spPr>
        <p:txBody>
          <a:bodyPr wrap="square" rtlCol="0" anchor="ctr"/>
          <a:lstStyle/>
          <a:p>
            <a:pPr indent="0" marL="0">
              <a:buNone/>
            </a:pPr>
            <a:r>
              <a:rPr lang="en-US" sz="900" b="1" spc="100" kern="0" dirty="0">
                <a:solidFill>
                  <a:srgbClr val="FFFFFF"/>
                </a:solidFill>
                <a:latin typeface="Segoe UI" pitchFamily="34" charset="0"/>
                <a:ea typeface="Segoe UI" pitchFamily="34" charset="-122"/>
                <a:cs typeface="Segoe UI" pitchFamily="34" charset="-120"/>
              </a:rPr>
              <a:t>STEP 2  ·  Word Template</a:t>
            </a:r>
            <a:endParaRPr lang="en-US" sz="900" dirty="0"/>
          </a:p>
        </p:txBody>
      </p:sp>
      <p:sp>
        <p:nvSpPr>
          <p:cNvPr id="15" name="Text 13"/>
          <p:cNvSpPr/>
          <p:nvPr/>
        </p:nvSpPr>
        <p:spPr>
          <a:xfrm>
            <a:off x="3319272" y="2322576"/>
            <a:ext cx="2651760" cy="256032"/>
          </a:xfrm>
          <a:prstGeom prst="rect">
            <a:avLst/>
          </a:prstGeom>
          <a:noFill/>
          <a:ln/>
        </p:spPr>
        <p:txBody>
          <a:bodyPr wrap="square" rtlCol="0" anchor="ctr"/>
          <a:lstStyle/>
          <a:p>
            <a:pPr indent="0" marL="0">
              <a:buNone/>
            </a:pPr>
            <a:r>
              <a:rPr lang="en-US" sz="1050" b="1" dirty="0">
                <a:solidFill>
                  <a:srgbClr val="00B294"/>
                </a:solidFill>
                <a:latin typeface="Segoe UI" pitchFamily="34" charset="0"/>
                <a:ea typeface="Segoe UI" pitchFamily="34" charset="-122"/>
                <a:cs typeface="Segoe UI" pitchFamily="34" charset="-120"/>
              </a:rPr>
              <a:t>Content Controls Layout</a:t>
            </a:r>
            <a:endParaRPr lang="en-US" sz="1050" dirty="0"/>
          </a:p>
        </p:txBody>
      </p:sp>
      <p:sp>
        <p:nvSpPr>
          <p:cNvPr id="16" name="Text 14"/>
          <p:cNvSpPr/>
          <p:nvPr/>
        </p:nvSpPr>
        <p:spPr>
          <a:xfrm>
            <a:off x="3319272" y="2606040"/>
            <a:ext cx="2651760" cy="658368"/>
          </a:xfrm>
          <a:prstGeom prst="rect">
            <a:avLst/>
          </a:prstGeom>
          <a:noFill/>
          <a:ln/>
        </p:spPr>
        <p:txBody>
          <a:bodyPr wrap="square" rtlCol="0" anchor="ctr"/>
          <a:lstStyle/>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11 Plain Text Content Controls for stable document structure</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AI fills only OfferNarrative — layout stays template-controlled</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Keeps document format consistent across all generated offers</a:t>
            </a:r>
            <a:endParaRPr lang="en-US" sz="950" dirty="0"/>
          </a:p>
        </p:txBody>
      </p:sp>
      <p:sp>
        <p:nvSpPr>
          <p:cNvPr id="17" name="Text 15"/>
          <p:cNvSpPr/>
          <p:nvPr/>
        </p:nvSpPr>
        <p:spPr>
          <a:xfrm>
            <a:off x="6044184" y="2395728"/>
            <a:ext cx="182880" cy="329184"/>
          </a:xfrm>
          <a:prstGeom prst="rect">
            <a:avLst/>
          </a:prstGeom>
          <a:noFill/>
          <a:ln/>
        </p:spPr>
        <p:txBody>
          <a:bodyPr wrap="square" rtlCol="0" anchor="ctr"/>
          <a:lstStyle/>
          <a:p>
            <a:pPr algn="ctr" indent="0" marL="0">
              <a:buNone/>
            </a:pPr>
            <a:r>
              <a:rPr lang="en-US" sz="1600" b="1" dirty="0">
                <a:solidFill>
                  <a:srgbClr val="605E5C"/>
                </a:solidFill>
                <a:latin typeface="Segoe UI" pitchFamily="34" charset="0"/>
                <a:ea typeface="Segoe UI" pitchFamily="34" charset="-122"/>
                <a:cs typeface="Segoe UI" pitchFamily="34" charset="-120"/>
              </a:rPr>
              <a:t>→</a:t>
            </a:r>
            <a:endParaRPr lang="en-US" sz="1600" dirty="0"/>
          </a:p>
        </p:txBody>
      </p:sp>
      <p:sp>
        <p:nvSpPr>
          <p:cNvPr id="18" name="Shape 16"/>
          <p:cNvSpPr/>
          <p:nvPr/>
        </p:nvSpPr>
        <p:spPr>
          <a:xfrm>
            <a:off x="6181344" y="1920240"/>
            <a:ext cx="2816352" cy="1389888"/>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6181344" y="1920240"/>
            <a:ext cx="2816352" cy="347472"/>
          </a:xfrm>
          <a:prstGeom prst="rect">
            <a:avLst/>
          </a:prstGeom>
          <a:solidFill>
            <a:srgbClr val="5C2D91"/>
          </a:solidFill>
          <a:ln w="12700">
            <a:solidFill>
              <a:srgbClr val="5C2D91"/>
            </a:solidFill>
            <a:prstDash val="solid"/>
          </a:ln>
        </p:spPr>
      </p:sp>
      <p:sp>
        <p:nvSpPr>
          <p:cNvPr id="20" name="Text 18"/>
          <p:cNvSpPr/>
          <p:nvPr/>
        </p:nvSpPr>
        <p:spPr>
          <a:xfrm>
            <a:off x="6272784" y="1920240"/>
            <a:ext cx="2651760" cy="347472"/>
          </a:xfrm>
          <a:prstGeom prst="rect">
            <a:avLst/>
          </a:prstGeom>
          <a:noFill/>
          <a:ln/>
        </p:spPr>
        <p:txBody>
          <a:bodyPr wrap="square" rtlCol="0" anchor="ctr"/>
          <a:lstStyle/>
          <a:p>
            <a:pPr indent="0" marL="0">
              <a:buNone/>
            </a:pPr>
            <a:r>
              <a:rPr lang="en-US" sz="900" b="1" spc="100" kern="0" dirty="0">
                <a:solidFill>
                  <a:srgbClr val="FFFFFF"/>
                </a:solidFill>
                <a:latin typeface="Segoe UI" pitchFamily="34" charset="0"/>
                <a:ea typeface="Segoe UI" pitchFamily="34" charset="-122"/>
                <a:cs typeface="Segoe UI" pitchFamily="34" charset="-120"/>
              </a:rPr>
              <a:t>STEP 3  ·  Agent Flow</a:t>
            </a:r>
            <a:endParaRPr lang="en-US" sz="900" dirty="0"/>
          </a:p>
        </p:txBody>
      </p:sp>
      <p:sp>
        <p:nvSpPr>
          <p:cNvPr id="21" name="Text 19"/>
          <p:cNvSpPr/>
          <p:nvPr/>
        </p:nvSpPr>
        <p:spPr>
          <a:xfrm>
            <a:off x="6272784" y="2322576"/>
            <a:ext cx="2651760" cy="256032"/>
          </a:xfrm>
          <a:prstGeom prst="rect">
            <a:avLst/>
          </a:prstGeom>
          <a:noFill/>
          <a:ln/>
        </p:spPr>
        <p:txBody>
          <a:bodyPr wrap="square" rtlCol="0" anchor="ctr"/>
          <a:lstStyle/>
          <a:p>
            <a:pPr indent="0" marL="0">
              <a:buNone/>
            </a:pPr>
            <a:r>
              <a:rPr lang="en-US" sz="1050" b="1" dirty="0">
                <a:solidFill>
                  <a:srgbClr val="5C2D91"/>
                </a:solidFill>
                <a:latin typeface="Segoe UI" pitchFamily="34" charset="0"/>
                <a:ea typeface="Segoe UI" pitchFamily="34" charset="-122"/>
                <a:cs typeface="Segoe UI" pitchFamily="34" charset="-120"/>
              </a:rPr>
              <a:t>Assemble and Return</a:t>
            </a:r>
            <a:endParaRPr lang="en-US" sz="1050" dirty="0"/>
          </a:p>
        </p:txBody>
      </p:sp>
      <p:sp>
        <p:nvSpPr>
          <p:cNvPr id="22" name="Text 20"/>
          <p:cNvSpPr/>
          <p:nvPr/>
        </p:nvSpPr>
        <p:spPr>
          <a:xfrm>
            <a:off x="6272784" y="2606040"/>
            <a:ext cx="2651760" cy="658368"/>
          </a:xfrm>
          <a:prstGeom prst="rect">
            <a:avLst/>
          </a:prstGeom>
          <a:noFill/>
          <a:ln/>
        </p:spPr>
        <p:txBody>
          <a:bodyPr wrap="square" rtlCol="0" anchor="ctr"/>
          <a:lstStyle/>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Retrieves candidate and requisition data from Dataverse</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Calls narrative prompt and populates Word template</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Returns .docx file to recruiter in Hiring Agent chat</a:t>
            </a:r>
            <a:endParaRPr lang="en-US" sz="950" dirty="0"/>
          </a:p>
        </p:txBody>
      </p:sp>
      <p:sp>
        <p:nvSpPr>
          <p:cNvPr id="23" name="Shape 21"/>
          <p:cNvSpPr/>
          <p:nvPr/>
        </p:nvSpPr>
        <p:spPr>
          <a:xfrm>
            <a:off x="274320" y="3456432"/>
            <a:ext cx="2816352" cy="804672"/>
          </a:xfrm>
          <a:prstGeom prst="rect">
            <a:avLst/>
          </a:prstGeom>
          <a:solidFill>
            <a:srgbClr val="F3F2F1"/>
          </a:solidFill>
          <a:ln w="12700">
            <a:solidFill>
              <a:srgbClr val="0078D4"/>
            </a:solidFill>
            <a:prstDash val="solid"/>
          </a:ln>
        </p:spPr>
      </p:sp>
      <p:sp>
        <p:nvSpPr>
          <p:cNvPr id="24" name="Shape 22"/>
          <p:cNvSpPr/>
          <p:nvPr/>
        </p:nvSpPr>
        <p:spPr>
          <a:xfrm>
            <a:off x="274320" y="3456432"/>
            <a:ext cx="73152" cy="804672"/>
          </a:xfrm>
          <a:prstGeom prst="rect">
            <a:avLst/>
          </a:prstGeom>
          <a:solidFill>
            <a:srgbClr val="0078D4"/>
          </a:solidFill>
          <a:ln w="12700">
            <a:solidFill>
              <a:srgbClr val="0078D4"/>
            </a:solidFill>
            <a:prstDash val="solid"/>
          </a:ln>
        </p:spPr>
      </p:sp>
      <p:sp>
        <p:nvSpPr>
          <p:cNvPr id="25" name="Text 23"/>
          <p:cNvSpPr/>
          <p:nvPr/>
        </p:nvSpPr>
        <p:spPr>
          <a:xfrm>
            <a:off x="438912" y="3493008"/>
            <a:ext cx="2578608" cy="237744"/>
          </a:xfrm>
          <a:prstGeom prst="rect">
            <a:avLst/>
          </a:prstGeom>
          <a:noFill/>
          <a:ln/>
        </p:spPr>
        <p:txBody>
          <a:bodyPr wrap="square" rtlCol="0" anchor="ctr"/>
          <a:lstStyle/>
          <a:p>
            <a:pPr indent="0" marL="0">
              <a:buNone/>
            </a:pPr>
            <a:r>
              <a:rPr lang="en-US" sz="1050" b="1" dirty="0">
                <a:solidFill>
                  <a:srgbClr val="0078D4"/>
                </a:solidFill>
                <a:latin typeface="Segoe UI" pitchFamily="34" charset="0"/>
                <a:ea typeface="Segoe UI" pitchFamily="34" charset="-122"/>
                <a:cs typeface="Segoe UI" pitchFamily="34" charset="-120"/>
              </a:rPr>
              <a:t>Clear inputs</a:t>
            </a:r>
            <a:endParaRPr lang="en-US" sz="1050" dirty="0"/>
          </a:p>
        </p:txBody>
      </p:sp>
      <p:sp>
        <p:nvSpPr>
          <p:cNvPr id="26" name="Text 24"/>
          <p:cNvSpPr/>
          <p:nvPr/>
        </p:nvSpPr>
        <p:spPr>
          <a:xfrm>
            <a:off x="438912" y="3749040"/>
            <a:ext cx="2578608" cy="457200"/>
          </a:xfrm>
          <a:prstGeom prst="rect">
            <a:avLst/>
          </a:prstGeom>
          <a:noFill/>
          <a:ln/>
        </p:spPr>
        <p:txBody>
          <a:bodyPr wrap="square"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Candidate + requisition + recruiter context all required before generation</a:t>
            </a:r>
            <a:endParaRPr lang="en-US" sz="950" dirty="0"/>
          </a:p>
        </p:txBody>
      </p:sp>
      <p:sp>
        <p:nvSpPr>
          <p:cNvPr id="27" name="Shape 25"/>
          <p:cNvSpPr/>
          <p:nvPr/>
        </p:nvSpPr>
        <p:spPr>
          <a:xfrm>
            <a:off x="3227832" y="3456432"/>
            <a:ext cx="2816352" cy="804672"/>
          </a:xfrm>
          <a:prstGeom prst="rect">
            <a:avLst/>
          </a:prstGeom>
          <a:solidFill>
            <a:srgbClr val="F3F2F1"/>
          </a:solidFill>
          <a:ln w="12700">
            <a:solidFill>
              <a:srgbClr val="00B294"/>
            </a:solidFill>
            <a:prstDash val="solid"/>
          </a:ln>
        </p:spPr>
      </p:sp>
      <p:sp>
        <p:nvSpPr>
          <p:cNvPr id="28" name="Shape 26"/>
          <p:cNvSpPr/>
          <p:nvPr/>
        </p:nvSpPr>
        <p:spPr>
          <a:xfrm>
            <a:off x="3227832" y="3456432"/>
            <a:ext cx="73152" cy="804672"/>
          </a:xfrm>
          <a:prstGeom prst="rect">
            <a:avLst/>
          </a:prstGeom>
          <a:solidFill>
            <a:srgbClr val="00B294"/>
          </a:solidFill>
          <a:ln w="12700">
            <a:solidFill>
              <a:srgbClr val="00B294"/>
            </a:solidFill>
            <a:prstDash val="solid"/>
          </a:ln>
        </p:spPr>
      </p:sp>
      <p:sp>
        <p:nvSpPr>
          <p:cNvPr id="29" name="Text 27"/>
          <p:cNvSpPr/>
          <p:nvPr/>
        </p:nvSpPr>
        <p:spPr>
          <a:xfrm>
            <a:off x="3392424" y="3493008"/>
            <a:ext cx="2578608" cy="237744"/>
          </a:xfrm>
          <a:prstGeom prst="rect">
            <a:avLst/>
          </a:prstGeom>
          <a:noFill/>
          <a:ln/>
        </p:spPr>
        <p:txBody>
          <a:bodyPr wrap="square" rtlCol="0" anchor="ctr"/>
          <a:lstStyle/>
          <a:p>
            <a:pPr indent="0" marL="0">
              <a:buNone/>
            </a:pPr>
            <a:r>
              <a:rPr lang="en-US" sz="1050" b="1" dirty="0">
                <a:solidFill>
                  <a:srgbClr val="00B294"/>
                </a:solidFill>
                <a:latin typeface="Segoe UI" pitchFamily="34" charset="0"/>
                <a:ea typeface="Segoe UI" pitchFamily="34" charset="-122"/>
                <a:cs typeface="Segoe UI" pitchFamily="34" charset="-120"/>
              </a:rPr>
              <a:t>Approved template</a:t>
            </a:r>
            <a:endParaRPr lang="en-US" sz="1050" dirty="0"/>
          </a:p>
        </p:txBody>
      </p:sp>
      <p:sp>
        <p:nvSpPr>
          <p:cNvPr id="30" name="Text 28"/>
          <p:cNvSpPr/>
          <p:nvPr/>
        </p:nvSpPr>
        <p:spPr>
          <a:xfrm>
            <a:off x="3392424" y="3749040"/>
            <a:ext cx="2578608" cy="457200"/>
          </a:xfrm>
          <a:prstGeom prst="rect">
            <a:avLst/>
          </a:prstGeom>
          <a:noFill/>
          <a:ln/>
        </p:spPr>
        <p:txBody>
          <a:bodyPr wrap="square"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Word template controls layout — AI generates only the narrative section</a:t>
            </a:r>
            <a:endParaRPr lang="en-US" sz="950" dirty="0"/>
          </a:p>
        </p:txBody>
      </p:sp>
      <p:sp>
        <p:nvSpPr>
          <p:cNvPr id="31" name="Shape 29"/>
          <p:cNvSpPr/>
          <p:nvPr/>
        </p:nvSpPr>
        <p:spPr>
          <a:xfrm>
            <a:off x="6181344" y="3456432"/>
            <a:ext cx="2816352" cy="804672"/>
          </a:xfrm>
          <a:prstGeom prst="rect">
            <a:avLst/>
          </a:prstGeom>
          <a:solidFill>
            <a:srgbClr val="F3F2F1"/>
          </a:solidFill>
          <a:ln w="12700">
            <a:solidFill>
              <a:srgbClr val="5C2D91"/>
            </a:solidFill>
            <a:prstDash val="solid"/>
          </a:ln>
        </p:spPr>
      </p:sp>
      <p:sp>
        <p:nvSpPr>
          <p:cNvPr id="32" name="Shape 30"/>
          <p:cNvSpPr/>
          <p:nvPr/>
        </p:nvSpPr>
        <p:spPr>
          <a:xfrm>
            <a:off x="6181344" y="3456432"/>
            <a:ext cx="73152" cy="804672"/>
          </a:xfrm>
          <a:prstGeom prst="rect">
            <a:avLst/>
          </a:prstGeom>
          <a:solidFill>
            <a:srgbClr val="5C2D91"/>
          </a:solidFill>
          <a:ln w="12700">
            <a:solidFill>
              <a:srgbClr val="5C2D91"/>
            </a:solidFill>
            <a:prstDash val="solid"/>
          </a:ln>
        </p:spPr>
      </p:sp>
      <p:sp>
        <p:nvSpPr>
          <p:cNvPr id="33" name="Text 31"/>
          <p:cNvSpPr/>
          <p:nvPr/>
        </p:nvSpPr>
        <p:spPr>
          <a:xfrm>
            <a:off x="6345936" y="3493008"/>
            <a:ext cx="2578608" cy="237744"/>
          </a:xfrm>
          <a:prstGeom prst="rect">
            <a:avLst/>
          </a:prstGeom>
          <a:noFill/>
          <a:ln/>
        </p:spPr>
        <p:txBody>
          <a:bodyPr wrap="square" rtlCol="0" anchor="ctr"/>
          <a:lstStyle/>
          <a:p>
            <a:pPr indent="0" marL="0">
              <a:buNone/>
            </a:pPr>
            <a:r>
              <a:rPr lang="en-US" sz="1050" b="1" dirty="0">
                <a:solidFill>
                  <a:srgbClr val="5C2D91"/>
                </a:solidFill>
                <a:latin typeface="Segoe UI" pitchFamily="34" charset="0"/>
                <a:ea typeface="Segoe UI" pitchFamily="34" charset="-122"/>
                <a:cs typeface="Segoe UI" pitchFamily="34" charset="-120"/>
              </a:rPr>
              <a:t>Human review gate</a:t>
            </a:r>
            <a:endParaRPr lang="en-US" sz="1050" dirty="0"/>
          </a:p>
        </p:txBody>
      </p:sp>
      <p:sp>
        <p:nvSpPr>
          <p:cNvPr id="34" name="Text 32"/>
          <p:cNvSpPr/>
          <p:nvPr/>
        </p:nvSpPr>
        <p:spPr>
          <a:xfrm>
            <a:off x="6345936" y="3749040"/>
            <a:ext cx="2578608" cy="457200"/>
          </a:xfrm>
          <a:prstGeom prst="rect">
            <a:avLst/>
          </a:prstGeom>
          <a:noFill/>
          <a:ln/>
        </p:spPr>
        <p:txBody>
          <a:bodyPr wrap="square"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Output is always a draft — recruiter reviews before any offer is extended</a:t>
            </a:r>
            <a:endParaRPr lang="en-US" sz="950" dirty="0"/>
          </a:p>
        </p:txBody>
      </p:sp>
      <p:sp>
        <p:nvSpPr>
          <p:cNvPr id="35" name="Shape 33"/>
          <p:cNvSpPr/>
          <p:nvPr/>
        </p:nvSpPr>
        <p:spPr>
          <a:xfrm>
            <a:off x="274320" y="4370832"/>
            <a:ext cx="8595360" cy="246888"/>
          </a:xfrm>
          <a:prstGeom prst="rect">
            <a:avLst/>
          </a:prstGeom>
          <a:solidFill>
            <a:srgbClr val="EFF6FC"/>
          </a:solidFill>
          <a:ln w="12700">
            <a:solidFill>
              <a:srgbClr val="C7E0F4"/>
            </a:solidFill>
            <a:prstDash val="solid"/>
          </a:ln>
        </p:spPr>
      </p:sp>
      <p:sp>
        <p:nvSpPr>
          <p:cNvPr id="36" name="Text 34"/>
          <p:cNvSpPr/>
          <p:nvPr/>
        </p:nvSpPr>
        <p:spPr>
          <a:xfrm>
            <a:off x="438912" y="4370832"/>
            <a:ext cx="8366760" cy="246888"/>
          </a:xfrm>
          <a:prstGeom prst="rect">
            <a:avLst/>
          </a:prstGeom>
          <a:noFill/>
          <a:ln/>
        </p:spPr>
        <p:txBody>
          <a:bodyPr wrap="square" rtlCol="0" anchor="ctr"/>
          <a:lstStyle/>
          <a:p>
            <a:pPr indent="0" marL="0">
              <a:buNone/>
            </a:pPr>
            <a:r>
              <a:rPr lang="en-US" sz="1000" dirty="0">
                <a:solidFill>
                  <a:srgbClr val="0078D4"/>
                </a:solidFill>
                <a:latin typeface="Segoe UI" pitchFamily="34" charset="0"/>
                <a:ea typeface="Segoe UI" pitchFamily="34" charset="-122"/>
                <a:cs typeface="Segoe UI" pitchFamily="34" charset="-120"/>
              </a:rPr>
              <a:t>Tip: Use the Word template step to keep the final document format stable while the prompt generates only the text that benefits from AI.</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21</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Document Generation</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Create OfferLetterTemplate.docx with 11 Plain Text Content Controls; upload to SharePoint</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Build 'Draft Offer Letter Narrative' prompt: 2 paragraphs, professional tone, no invented data</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Create 'Generate Offer Letter' agent flow: retrieve data → call prompt → populate Word template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'Create Offer Letter' topic to Hiring Agent with application number and recruiter inputs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Test end-to-end: request offer letter in chat → download .docx → verify fields and narrative</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45</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AI writes narrative only —</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Word template controls layout</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09  ·  LAB 21 RECAP</a:t>
            </a:r>
            <a:endParaRPr lang="en-US" sz="900" dirty="0"/>
          </a:p>
        </p:txBody>
      </p:sp>
      <p:sp>
        <p:nvSpPr>
          <p:cNvPr id="4" name="Text 2"/>
          <p:cNvSpPr/>
          <p:nvPr/>
        </p:nvSpPr>
        <p:spPr>
          <a:xfrm>
            <a:off x="365760" y="749808"/>
            <a:ext cx="8412480" cy="475488"/>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21: Document Generation</a:t>
            </a:r>
            <a:endParaRPr lang="en-US" sz="2800" dirty="0"/>
          </a:p>
        </p:txBody>
      </p:sp>
      <p:sp>
        <p:nvSpPr>
          <p:cNvPr id="5" name="Text 3"/>
          <p:cNvSpPr/>
          <p:nvPr/>
        </p:nvSpPr>
        <p:spPr>
          <a:xfrm>
            <a:off x="365760" y="128016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Keep the result tied to a business artifact someone could actually review or use.</a:t>
            </a:r>
            <a:endParaRPr lang="en-US" sz="1200" dirty="0"/>
          </a:p>
        </p:txBody>
      </p:sp>
      <p:sp>
        <p:nvSpPr>
          <p:cNvPr id="6" name="Shape 4"/>
          <p:cNvSpPr/>
          <p:nvPr/>
        </p:nvSpPr>
        <p:spPr>
          <a:xfrm>
            <a:off x="320040" y="1901952"/>
            <a:ext cx="8503920" cy="475488"/>
          </a:xfrm>
          <a:prstGeom prst="rect">
            <a:avLst/>
          </a:prstGeom>
          <a:solidFill>
            <a:srgbClr val="F3F2F1"/>
          </a:solidFill>
          <a:ln w="12700">
            <a:solidFill>
              <a:srgbClr val="E1DFDD"/>
            </a:solidFill>
            <a:prstDash val="solid"/>
          </a:ln>
        </p:spPr>
      </p:sp>
      <p:sp>
        <p:nvSpPr>
          <p:cNvPr id="7" name="Shape 5"/>
          <p:cNvSpPr/>
          <p:nvPr/>
        </p:nvSpPr>
        <p:spPr>
          <a:xfrm>
            <a:off x="457200" y="1993392"/>
            <a:ext cx="1005840" cy="274320"/>
          </a:xfrm>
          <a:prstGeom prst="rect">
            <a:avLst/>
          </a:prstGeom>
          <a:solidFill>
            <a:srgbClr val="0078D4"/>
          </a:solidFill>
          <a:ln w="12700">
            <a:solidFill>
              <a:srgbClr val="0078D4"/>
            </a:solidFill>
            <a:prstDash val="solid"/>
          </a:ln>
        </p:spPr>
      </p:sp>
      <p:sp>
        <p:nvSpPr>
          <p:cNvPr id="8" name="Text 6"/>
          <p:cNvSpPr/>
          <p:nvPr/>
        </p:nvSpPr>
        <p:spPr>
          <a:xfrm>
            <a:off x="457200" y="1993392"/>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Template</a:t>
            </a:r>
            <a:endParaRPr lang="en-US" sz="800" dirty="0"/>
          </a:p>
        </p:txBody>
      </p:sp>
      <p:sp>
        <p:nvSpPr>
          <p:cNvPr id="9" name="Text 7"/>
          <p:cNvSpPr/>
          <p:nvPr/>
        </p:nvSpPr>
        <p:spPr>
          <a:xfrm>
            <a:off x="1581912" y="1993392"/>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OfferLetterTemplate.docx in SharePoint with 11 Plain Text Content Controls and matching titles</a:t>
            </a:r>
            <a:endParaRPr lang="en-US" sz="1050" dirty="0"/>
          </a:p>
        </p:txBody>
      </p:sp>
      <p:sp>
        <p:nvSpPr>
          <p:cNvPr id="10" name="Shape 8"/>
          <p:cNvSpPr/>
          <p:nvPr/>
        </p:nvSpPr>
        <p:spPr>
          <a:xfrm>
            <a:off x="320040" y="2414016"/>
            <a:ext cx="8503920" cy="475488"/>
          </a:xfrm>
          <a:prstGeom prst="rect">
            <a:avLst/>
          </a:prstGeom>
          <a:solidFill>
            <a:srgbClr val="FFFFFF"/>
          </a:solidFill>
          <a:ln w="12700">
            <a:solidFill>
              <a:srgbClr val="E1DFDD"/>
            </a:solidFill>
            <a:prstDash val="solid"/>
          </a:ln>
        </p:spPr>
      </p:sp>
      <p:sp>
        <p:nvSpPr>
          <p:cNvPr id="11" name="Shape 9"/>
          <p:cNvSpPr/>
          <p:nvPr/>
        </p:nvSpPr>
        <p:spPr>
          <a:xfrm>
            <a:off x="457200" y="2505456"/>
            <a:ext cx="1005840" cy="274320"/>
          </a:xfrm>
          <a:prstGeom prst="rect">
            <a:avLst/>
          </a:prstGeom>
          <a:solidFill>
            <a:srgbClr val="00B294"/>
          </a:solidFill>
          <a:ln w="12700">
            <a:solidFill>
              <a:srgbClr val="00B294"/>
            </a:solidFill>
            <a:prstDash val="solid"/>
          </a:ln>
        </p:spPr>
      </p:sp>
      <p:sp>
        <p:nvSpPr>
          <p:cNvPr id="12" name="Text 10"/>
          <p:cNvSpPr/>
          <p:nvPr/>
        </p:nvSpPr>
        <p:spPr>
          <a:xfrm>
            <a:off x="457200" y="2505456"/>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Prompt</a:t>
            </a:r>
            <a:endParaRPr lang="en-US" sz="800" dirty="0"/>
          </a:p>
        </p:txBody>
      </p:sp>
      <p:sp>
        <p:nvSpPr>
          <p:cNvPr id="13" name="Text 11"/>
          <p:cNvSpPr/>
          <p:nvPr/>
        </p:nvSpPr>
        <p:spPr>
          <a:xfrm>
            <a:off x="1581912" y="2505456"/>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'Draft Offer Letter Narrative' prompt saved — 2 paragraphs, no invented data, generally available model</a:t>
            </a:r>
            <a:endParaRPr lang="en-US" sz="1050" dirty="0"/>
          </a:p>
        </p:txBody>
      </p:sp>
      <p:sp>
        <p:nvSpPr>
          <p:cNvPr id="14" name="Shape 12"/>
          <p:cNvSpPr/>
          <p:nvPr/>
        </p:nvSpPr>
        <p:spPr>
          <a:xfrm>
            <a:off x="320040" y="2926080"/>
            <a:ext cx="8503920" cy="475488"/>
          </a:xfrm>
          <a:prstGeom prst="rect">
            <a:avLst/>
          </a:prstGeom>
          <a:solidFill>
            <a:srgbClr val="F3F2F1"/>
          </a:solidFill>
          <a:ln w="12700">
            <a:solidFill>
              <a:srgbClr val="E1DFDD"/>
            </a:solidFill>
            <a:prstDash val="solid"/>
          </a:ln>
        </p:spPr>
      </p:sp>
      <p:sp>
        <p:nvSpPr>
          <p:cNvPr id="15" name="Shape 13"/>
          <p:cNvSpPr/>
          <p:nvPr/>
        </p:nvSpPr>
        <p:spPr>
          <a:xfrm>
            <a:off x="457200" y="3017520"/>
            <a:ext cx="1005840" cy="274320"/>
          </a:xfrm>
          <a:prstGeom prst="rect">
            <a:avLst/>
          </a:prstGeom>
          <a:solidFill>
            <a:srgbClr val="5C2D91"/>
          </a:solidFill>
          <a:ln w="12700">
            <a:solidFill>
              <a:srgbClr val="5C2D91"/>
            </a:solidFill>
            <a:prstDash val="solid"/>
          </a:ln>
        </p:spPr>
      </p:sp>
      <p:sp>
        <p:nvSpPr>
          <p:cNvPr id="16" name="Text 14"/>
          <p:cNvSpPr/>
          <p:nvPr/>
        </p:nvSpPr>
        <p:spPr>
          <a:xfrm>
            <a:off x="457200" y="3017520"/>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Flow</a:t>
            </a:r>
            <a:endParaRPr lang="en-US" sz="800" dirty="0"/>
          </a:p>
        </p:txBody>
      </p:sp>
      <p:sp>
        <p:nvSpPr>
          <p:cNvPr id="17" name="Text 15"/>
          <p:cNvSpPr/>
          <p:nvPr/>
        </p:nvSpPr>
        <p:spPr>
          <a:xfrm>
            <a:off x="1581912" y="3017520"/>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'Generate Offer Letter' agent flow published — retrieves data, calls prompt, populates Word template</a:t>
            </a:r>
            <a:endParaRPr lang="en-US" sz="1050" dirty="0"/>
          </a:p>
        </p:txBody>
      </p:sp>
      <p:sp>
        <p:nvSpPr>
          <p:cNvPr id="18" name="Shape 16"/>
          <p:cNvSpPr/>
          <p:nvPr/>
        </p:nvSpPr>
        <p:spPr>
          <a:xfrm>
            <a:off x="320040" y="3438144"/>
            <a:ext cx="8503920" cy="475488"/>
          </a:xfrm>
          <a:prstGeom prst="rect">
            <a:avLst/>
          </a:prstGeom>
          <a:solidFill>
            <a:srgbClr val="FFFFFF"/>
          </a:solidFill>
          <a:ln w="12700">
            <a:solidFill>
              <a:srgbClr val="E1DFDD"/>
            </a:solidFill>
            <a:prstDash val="solid"/>
          </a:ln>
        </p:spPr>
      </p:sp>
      <p:sp>
        <p:nvSpPr>
          <p:cNvPr id="19" name="Shape 17"/>
          <p:cNvSpPr/>
          <p:nvPr/>
        </p:nvSpPr>
        <p:spPr>
          <a:xfrm>
            <a:off x="457200" y="3529584"/>
            <a:ext cx="1005840" cy="274320"/>
          </a:xfrm>
          <a:prstGeom prst="rect">
            <a:avLst/>
          </a:prstGeom>
          <a:solidFill>
            <a:srgbClr val="D47900"/>
          </a:solidFill>
          <a:ln w="12700">
            <a:solidFill>
              <a:srgbClr val="D47900"/>
            </a:solidFill>
            <a:prstDash val="solid"/>
          </a:ln>
        </p:spPr>
      </p:sp>
      <p:sp>
        <p:nvSpPr>
          <p:cNvPr id="20" name="Text 18"/>
          <p:cNvSpPr/>
          <p:nvPr/>
        </p:nvSpPr>
        <p:spPr>
          <a:xfrm>
            <a:off x="457200" y="3529584"/>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Topic</a:t>
            </a:r>
            <a:endParaRPr lang="en-US" sz="800" dirty="0"/>
          </a:p>
        </p:txBody>
      </p:sp>
      <p:sp>
        <p:nvSpPr>
          <p:cNvPr id="21" name="Text 19"/>
          <p:cNvSpPr/>
          <p:nvPr/>
        </p:nvSpPr>
        <p:spPr>
          <a:xfrm>
            <a:off x="1581912" y="3529584"/>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'Create Offer Letter' topic in Hiring Agent accepts application number and returns a Word file</a:t>
            </a:r>
            <a:endParaRPr lang="en-US" sz="1050" dirty="0"/>
          </a:p>
        </p:txBody>
      </p:sp>
      <p:sp>
        <p:nvSpPr>
          <p:cNvPr id="22" name="Shape 20"/>
          <p:cNvSpPr/>
          <p:nvPr/>
        </p:nvSpPr>
        <p:spPr>
          <a:xfrm>
            <a:off x="320040" y="3950208"/>
            <a:ext cx="8503920" cy="475488"/>
          </a:xfrm>
          <a:prstGeom prst="rect">
            <a:avLst/>
          </a:prstGeom>
          <a:solidFill>
            <a:srgbClr val="F3F2F1"/>
          </a:solidFill>
          <a:ln w="12700">
            <a:solidFill>
              <a:srgbClr val="E1DFDD"/>
            </a:solidFill>
            <a:prstDash val="solid"/>
          </a:ln>
        </p:spPr>
      </p:sp>
      <p:sp>
        <p:nvSpPr>
          <p:cNvPr id="23" name="Shape 21"/>
          <p:cNvSpPr/>
          <p:nvPr/>
        </p:nvSpPr>
        <p:spPr>
          <a:xfrm>
            <a:off x="457200" y="4041648"/>
            <a:ext cx="1005840" cy="274320"/>
          </a:xfrm>
          <a:prstGeom prst="rect">
            <a:avLst/>
          </a:prstGeom>
          <a:solidFill>
            <a:srgbClr val="107C10"/>
          </a:solidFill>
          <a:ln w="12700">
            <a:solidFill>
              <a:srgbClr val="107C10"/>
            </a:solidFill>
            <a:prstDash val="solid"/>
          </a:ln>
        </p:spPr>
      </p:sp>
      <p:sp>
        <p:nvSpPr>
          <p:cNvPr id="24" name="Text 22"/>
          <p:cNvSpPr/>
          <p:nvPr/>
        </p:nvSpPr>
        <p:spPr>
          <a:xfrm>
            <a:off x="457200" y="4041648"/>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End-to-end</a:t>
            </a:r>
            <a:endParaRPr lang="en-US" sz="800" dirty="0"/>
          </a:p>
        </p:txBody>
      </p:sp>
      <p:sp>
        <p:nvSpPr>
          <p:cNvPr id="25" name="Text 23"/>
          <p:cNvSpPr/>
          <p:nvPr/>
        </p:nvSpPr>
        <p:spPr>
          <a:xfrm>
            <a:off x="1581912" y="4041648"/>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Downloaded .docx contains correct candidate, requisition, and AI-drafted narrative values</a:t>
            </a:r>
            <a:endParaRPr lang="en-US" sz="1050" dirty="0"/>
          </a:p>
        </p:txBody>
      </p:sp>
      <p:sp>
        <p:nvSpPr>
          <p:cNvPr id="26" name="Shape 24"/>
          <p:cNvSpPr/>
          <p:nvPr/>
        </p:nvSpPr>
        <p:spPr>
          <a:xfrm>
            <a:off x="320040" y="4681728"/>
            <a:ext cx="8503920" cy="320040"/>
          </a:xfrm>
          <a:prstGeom prst="rect">
            <a:avLst/>
          </a:prstGeom>
          <a:solidFill>
            <a:srgbClr val="EFF6FC"/>
          </a:solidFill>
          <a:ln w="12700">
            <a:solidFill>
              <a:srgbClr val="C7E0F4"/>
            </a:solidFill>
            <a:prstDash val="solid"/>
          </a:ln>
        </p:spPr>
      </p:sp>
      <p:sp>
        <p:nvSpPr>
          <p:cNvPr id="27" name="Text 25"/>
          <p:cNvSpPr/>
          <p:nvPr/>
        </p:nvSpPr>
        <p:spPr>
          <a:xfrm>
            <a:off x="475488" y="4681728"/>
            <a:ext cx="832104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Up next: Module 10 — MCP and Extensibility  (Lab 22: Governed tool connections via the MCP wizard)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Dataverse Readiness Checkpoi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09  ·  MULTIMODAL AND DATA</a:t>
            </a:r>
            <a:endParaRPr lang="en-US" sz="900" dirty="0"/>
          </a:p>
        </p:txBody>
      </p:sp>
      <p:sp>
        <p:nvSpPr>
          <p:cNvPr id="4" name="Text 2"/>
          <p:cNvSpPr/>
          <p:nvPr/>
        </p:nvSpPr>
        <p:spPr>
          <a:xfrm>
            <a:off x="365760" y="749808"/>
            <a:ext cx="8412480" cy="475488"/>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Dataverse Readiness Checkpoint</a:t>
            </a:r>
            <a:endParaRPr lang="en-US" sz="2800" dirty="0"/>
          </a:p>
        </p:txBody>
      </p:sp>
      <p:sp>
        <p:nvSpPr>
          <p:cNvPr id="5" name="Text 3"/>
          <p:cNvSpPr/>
          <p:nvPr/>
        </p:nvSpPr>
        <p:spPr>
          <a:xfrm>
            <a:off x="365760" y="128016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Before grounding the agent in Dataverse, verify the Hiring Hub tables are visible and populated in the maker portal.</a:t>
            </a:r>
            <a:endParaRPr lang="en-US" sz="1200" dirty="0"/>
          </a:p>
        </p:txBody>
      </p:sp>
      <p:sp>
        <p:nvSpPr>
          <p:cNvPr id="6" name="Shape 4"/>
          <p:cNvSpPr/>
          <p:nvPr/>
        </p:nvSpPr>
        <p:spPr>
          <a:xfrm>
            <a:off x="274320" y="1737360"/>
            <a:ext cx="4069080" cy="265176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74320" y="1737360"/>
            <a:ext cx="4069080" cy="365760"/>
          </a:xfrm>
          <a:prstGeom prst="rect">
            <a:avLst/>
          </a:prstGeom>
          <a:solidFill>
            <a:srgbClr val="605E5C"/>
          </a:solidFill>
          <a:ln w="12700">
            <a:solidFill>
              <a:srgbClr val="605E5C"/>
            </a:solidFill>
            <a:prstDash val="solid"/>
          </a:ln>
        </p:spPr>
      </p:sp>
      <p:sp>
        <p:nvSpPr>
          <p:cNvPr id="8" name="Text 6"/>
          <p:cNvSpPr/>
          <p:nvPr/>
        </p:nvSpPr>
        <p:spPr>
          <a:xfrm>
            <a:off x="384048" y="1737360"/>
            <a:ext cx="3840480" cy="3657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Required Tables</a:t>
            </a:r>
            <a:endParaRPr lang="en-US" sz="1100" dirty="0"/>
          </a:p>
        </p:txBody>
      </p:sp>
      <p:sp>
        <p:nvSpPr>
          <p:cNvPr id="9" name="Shape 7"/>
          <p:cNvSpPr/>
          <p:nvPr/>
        </p:nvSpPr>
        <p:spPr>
          <a:xfrm>
            <a:off x="384048" y="2249424"/>
            <a:ext cx="1051560" cy="237744"/>
          </a:xfrm>
          <a:prstGeom prst="rect">
            <a:avLst/>
          </a:prstGeom>
          <a:solidFill>
            <a:srgbClr val="D83B01"/>
          </a:solidFill>
          <a:ln w="12700">
            <a:solidFill>
              <a:srgbClr val="D83B01"/>
            </a:solidFill>
            <a:prstDash val="solid"/>
          </a:ln>
        </p:spPr>
      </p:sp>
      <p:sp>
        <p:nvSpPr>
          <p:cNvPr id="10" name="Text 8"/>
          <p:cNvSpPr/>
          <p:nvPr/>
        </p:nvSpPr>
        <p:spPr>
          <a:xfrm>
            <a:off x="384048" y="2249424"/>
            <a:ext cx="10515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Public websites</a:t>
            </a:r>
            <a:endParaRPr lang="en-US" sz="850" dirty="0"/>
          </a:p>
        </p:txBody>
      </p:sp>
      <p:sp>
        <p:nvSpPr>
          <p:cNvPr id="11" name="Text 9"/>
          <p:cNvSpPr/>
          <p:nvPr/>
        </p:nvSpPr>
        <p:spPr>
          <a:xfrm>
            <a:off x="1536192" y="2212848"/>
            <a:ext cx="2688336" cy="347472"/>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Broad breadth — not governed, not filtered, not role-aware</a:t>
            </a:r>
            <a:endParaRPr lang="en-US" sz="950" dirty="0"/>
          </a:p>
        </p:txBody>
      </p:sp>
      <p:sp>
        <p:nvSpPr>
          <p:cNvPr id="12" name="Shape 10"/>
          <p:cNvSpPr/>
          <p:nvPr/>
        </p:nvSpPr>
        <p:spPr>
          <a:xfrm>
            <a:off x="384048" y="2871216"/>
            <a:ext cx="1051560" cy="237744"/>
          </a:xfrm>
          <a:prstGeom prst="rect">
            <a:avLst/>
          </a:prstGeom>
          <a:solidFill>
            <a:srgbClr val="00B294"/>
          </a:solidFill>
          <a:ln w="12700">
            <a:solidFill>
              <a:srgbClr val="00B294"/>
            </a:solidFill>
            <a:prstDash val="solid"/>
          </a:ln>
        </p:spPr>
      </p:sp>
      <p:sp>
        <p:nvSpPr>
          <p:cNvPr id="13" name="Text 11"/>
          <p:cNvSpPr/>
          <p:nvPr/>
        </p:nvSpPr>
        <p:spPr>
          <a:xfrm>
            <a:off x="384048" y="2871216"/>
            <a:ext cx="10515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SharePoint</a:t>
            </a:r>
            <a:endParaRPr lang="en-US" sz="850" dirty="0"/>
          </a:p>
        </p:txBody>
      </p:sp>
      <p:sp>
        <p:nvSpPr>
          <p:cNvPr id="14" name="Text 12"/>
          <p:cNvSpPr/>
          <p:nvPr/>
        </p:nvSpPr>
        <p:spPr>
          <a:xfrm>
            <a:off x="1536192" y="2834640"/>
            <a:ext cx="2688336" cy="347472"/>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Enterprise content and lists — scoped to site, role-limited</a:t>
            </a:r>
            <a:endParaRPr lang="en-US" sz="950" dirty="0"/>
          </a:p>
        </p:txBody>
      </p:sp>
      <p:sp>
        <p:nvSpPr>
          <p:cNvPr id="15" name="Shape 13"/>
          <p:cNvSpPr/>
          <p:nvPr/>
        </p:nvSpPr>
        <p:spPr>
          <a:xfrm>
            <a:off x="384048" y="3493008"/>
            <a:ext cx="1051560" cy="237744"/>
          </a:xfrm>
          <a:prstGeom prst="rect">
            <a:avLst/>
          </a:prstGeom>
          <a:solidFill>
            <a:srgbClr val="5C2D91"/>
          </a:solidFill>
          <a:ln w="12700">
            <a:solidFill>
              <a:srgbClr val="5C2D91"/>
            </a:solidFill>
            <a:prstDash val="solid"/>
          </a:ln>
        </p:spPr>
      </p:sp>
      <p:sp>
        <p:nvSpPr>
          <p:cNvPr id="16" name="Text 14"/>
          <p:cNvSpPr/>
          <p:nvPr/>
        </p:nvSpPr>
        <p:spPr>
          <a:xfrm>
            <a:off x="384048" y="3493008"/>
            <a:ext cx="10515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Uploaded files</a:t>
            </a:r>
            <a:endParaRPr lang="en-US" sz="850" dirty="0"/>
          </a:p>
        </p:txBody>
      </p:sp>
      <p:sp>
        <p:nvSpPr>
          <p:cNvPr id="17" name="Text 15"/>
          <p:cNvSpPr/>
          <p:nvPr/>
        </p:nvSpPr>
        <p:spPr>
          <a:xfrm>
            <a:off x="1536192" y="3456432"/>
            <a:ext cx="2688336" cy="347472"/>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Narrow references — good for static, well-curated content</a:t>
            </a:r>
            <a:endParaRPr lang="en-US" sz="950" dirty="0"/>
          </a:p>
        </p:txBody>
      </p:sp>
      <p:sp>
        <p:nvSpPr>
          <p:cNvPr id="18" name="Shape 16"/>
          <p:cNvSpPr/>
          <p:nvPr/>
        </p:nvSpPr>
        <p:spPr>
          <a:xfrm>
            <a:off x="4617720" y="1737360"/>
            <a:ext cx="4251960" cy="265176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4617720" y="1737360"/>
            <a:ext cx="4251960" cy="365760"/>
          </a:xfrm>
          <a:prstGeom prst="rect">
            <a:avLst/>
          </a:prstGeom>
          <a:solidFill>
            <a:srgbClr val="D47900"/>
          </a:solidFill>
          <a:ln w="12700">
            <a:solidFill>
              <a:srgbClr val="D47900"/>
            </a:solidFill>
            <a:prstDash val="solid"/>
          </a:ln>
        </p:spPr>
      </p:sp>
      <p:sp>
        <p:nvSpPr>
          <p:cNvPr id="20" name="Text 18"/>
          <p:cNvSpPr/>
          <p:nvPr/>
        </p:nvSpPr>
        <p:spPr>
          <a:xfrm>
            <a:off x="4727448" y="1737360"/>
            <a:ext cx="4023360" cy="3657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Dataverse: What Changes</a:t>
            </a:r>
            <a:endParaRPr lang="en-US" sz="1100" dirty="0"/>
          </a:p>
        </p:txBody>
      </p:sp>
      <p:sp>
        <p:nvSpPr>
          <p:cNvPr id="21" name="Shape 19"/>
          <p:cNvSpPr/>
          <p:nvPr/>
        </p:nvSpPr>
        <p:spPr>
          <a:xfrm>
            <a:off x="4727448" y="2249424"/>
            <a:ext cx="128016" cy="237744"/>
          </a:xfrm>
          <a:prstGeom prst="rect">
            <a:avLst/>
          </a:prstGeom>
          <a:solidFill>
            <a:srgbClr val="D47900"/>
          </a:solidFill>
          <a:ln w="12700">
            <a:solidFill>
              <a:srgbClr val="D47900"/>
            </a:solidFill>
            <a:prstDash val="solid"/>
          </a:ln>
        </p:spPr>
      </p:sp>
      <p:sp>
        <p:nvSpPr>
          <p:cNvPr id="22" name="Text 20"/>
          <p:cNvSpPr/>
          <p:nvPr/>
        </p:nvSpPr>
        <p:spPr>
          <a:xfrm>
            <a:off x="4919472" y="2249424"/>
            <a:ext cx="1371600" cy="237744"/>
          </a:xfrm>
          <a:prstGeom prst="rect">
            <a:avLst/>
          </a:prstGeom>
          <a:noFill/>
          <a:ln/>
        </p:spPr>
        <p:txBody>
          <a:bodyPr wrap="square" lIns="0" tIns="0" rIns="0" bIns="0" rtlCol="0" anchor="ctr"/>
          <a:lstStyle/>
          <a:p>
            <a:pPr indent="0" marL="0">
              <a:buNone/>
            </a:pPr>
            <a:r>
              <a:rPr lang="en-US" sz="950" b="1" dirty="0">
                <a:solidFill>
                  <a:srgbClr val="D47900"/>
                </a:solidFill>
                <a:latin typeface="Segoe UI" pitchFamily="34" charset="0"/>
                <a:ea typeface="Segoe UI" pitchFamily="34" charset="-122"/>
                <a:cs typeface="Segoe UI" pitchFamily="34" charset="-120"/>
              </a:rPr>
              <a:t>Structured records</a:t>
            </a:r>
            <a:endParaRPr lang="en-US" sz="950" dirty="0"/>
          </a:p>
        </p:txBody>
      </p:sp>
      <p:sp>
        <p:nvSpPr>
          <p:cNvPr id="23" name="Text 21"/>
          <p:cNvSpPr/>
          <p:nvPr/>
        </p:nvSpPr>
        <p:spPr>
          <a:xfrm>
            <a:off x="4919472" y="2487168"/>
            <a:ext cx="3822192" cy="201168"/>
          </a:xfrm>
          <a:prstGeom prst="rect">
            <a:avLst/>
          </a:prstGeom>
          <a:noFill/>
          <a:ln/>
        </p:spPr>
        <p:txBody>
          <a:bodyPr wrap="square" lIns="0" tIns="0" rIns="0" bIns="0"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Typed columns, relationships, and indexes — not flat content</a:t>
            </a:r>
            <a:endParaRPr lang="en-US" sz="900" dirty="0"/>
          </a:p>
        </p:txBody>
      </p:sp>
      <p:sp>
        <p:nvSpPr>
          <p:cNvPr id="24" name="Shape 22"/>
          <p:cNvSpPr/>
          <p:nvPr/>
        </p:nvSpPr>
        <p:spPr>
          <a:xfrm>
            <a:off x="4727448" y="2779776"/>
            <a:ext cx="128016" cy="237744"/>
          </a:xfrm>
          <a:prstGeom prst="rect">
            <a:avLst/>
          </a:prstGeom>
          <a:solidFill>
            <a:srgbClr val="D47900"/>
          </a:solidFill>
          <a:ln w="12700">
            <a:solidFill>
              <a:srgbClr val="D47900"/>
            </a:solidFill>
            <a:prstDash val="solid"/>
          </a:ln>
        </p:spPr>
      </p:sp>
      <p:sp>
        <p:nvSpPr>
          <p:cNvPr id="25" name="Text 23"/>
          <p:cNvSpPr/>
          <p:nvPr/>
        </p:nvSpPr>
        <p:spPr>
          <a:xfrm>
            <a:off x="4919472" y="2779776"/>
            <a:ext cx="1371600" cy="237744"/>
          </a:xfrm>
          <a:prstGeom prst="rect">
            <a:avLst/>
          </a:prstGeom>
          <a:noFill/>
          <a:ln/>
        </p:spPr>
        <p:txBody>
          <a:bodyPr wrap="square" lIns="0" tIns="0" rIns="0" bIns="0" rtlCol="0" anchor="ctr"/>
          <a:lstStyle/>
          <a:p>
            <a:pPr indent="0" marL="0">
              <a:buNone/>
            </a:pPr>
            <a:r>
              <a:rPr lang="en-US" sz="950" b="1" dirty="0">
                <a:solidFill>
                  <a:srgbClr val="D47900"/>
                </a:solidFill>
                <a:latin typeface="Segoe UI" pitchFamily="34" charset="0"/>
                <a:ea typeface="Segoe UI" pitchFamily="34" charset="-122"/>
                <a:cs typeface="Segoe UI" pitchFamily="34" charset="-120"/>
              </a:rPr>
              <a:t>Role-based access</a:t>
            </a:r>
            <a:endParaRPr lang="en-US" sz="950" dirty="0"/>
          </a:p>
        </p:txBody>
      </p:sp>
      <p:sp>
        <p:nvSpPr>
          <p:cNvPr id="26" name="Text 24"/>
          <p:cNvSpPr/>
          <p:nvPr/>
        </p:nvSpPr>
        <p:spPr>
          <a:xfrm>
            <a:off x="4919472" y="3017520"/>
            <a:ext cx="3822192" cy="201168"/>
          </a:xfrm>
          <a:prstGeom prst="rect">
            <a:avLst/>
          </a:prstGeom>
          <a:noFill/>
          <a:ln/>
        </p:spPr>
        <p:txBody>
          <a:bodyPr wrap="square" lIns="0" tIns="0" rIns="0" bIns="0"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Dataverse security roles scope what the agent can read at runtime</a:t>
            </a:r>
            <a:endParaRPr lang="en-US" sz="900" dirty="0"/>
          </a:p>
        </p:txBody>
      </p:sp>
      <p:sp>
        <p:nvSpPr>
          <p:cNvPr id="27" name="Shape 25"/>
          <p:cNvSpPr/>
          <p:nvPr/>
        </p:nvSpPr>
        <p:spPr>
          <a:xfrm>
            <a:off x="4727448" y="3310128"/>
            <a:ext cx="128016" cy="237744"/>
          </a:xfrm>
          <a:prstGeom prst="rect">
            <a:avLst/>
          </a:prstGeom>
          <a:solidFill>
            <a:srgbClr val="D47900"/>
          </a:solidFill>
          <a:ln w="12700">
            <a:solidFill>
              <a:srgbClr val="D47900"/>
            </a:solidFill>
            <a:prstDash val="solid"/>
          </a:ln>
        </p:spPr>
      </p:sp>
      <p:sp>
        <p:nvSpPr>
          <p:cNvPr id="28" name="Text 26"/>
          <p:cNvSpPr/>
          <p:nvPr/>
        </p:nvSpPr>
        <p:spPr>
          <a:xfrm>
            <a:off x="4919472" y="3310128"/>
            <a:ext cx="1371600" cy="237744"/>
          </a:xfrm>
          <a:prstGeom prst="rect">
            <a:avLst/>
          </a:prstGeom>
          <a:noFill/>
          <a:ln/>
        </p:spPr>
        <p:txBody>
          <a:bodyPr wrap="square" lIns="0" tIns="0" rIns="0" bIns="0" rtlCol="0" anchor="ctr"/>
          <a:lstStyle/>
          <a:p>
            <a:pPr indent="0" marL="0">
              <a:buNone/>
            </a:pPr>
            <a:r>
              <a:rPr lang="en-US" sz="950" b="1" dirty="0">
                <a:solidFill>
                  <a:srgbClr val="D47900"/>
                </a:solidFill>
                <a:latin typeface="Segoe UI" pitchFamily="34" charset="0"/>
                <a:ea typeface="Segoe UI" pitchFamily="34" charset="-122"/>
                <a:cs typeface="Segoe UI" pitchFamily="34" charset="-120"/>
              </a:rPr>
              <a:t>Column selection</a:t>
            </a:r>
            <a:endParaRPr lang="en-US" sz="950" dirty="0"/>
          </a:p>
        </p:txBody>
      </p:sp>
      <p:sp>
        <p:nvSpPr>
          <p:cNvPr id="29" name="Text 27"/>
          <p:cNvSpPr/>
          <p:nvPr/>
        </p:nvSpPr>
        <p:spPr>
          <a:xfrm>
            <a:off x="4919472" y="3547872"/>
            <a:ext cx="3822192" cy="201168"/>
          </a:xfrm>
          <a:prstGeom prst="rect">
            <a:avLst/>
          </a:prstGeom>
          <a:noFill/>
          <a:ln/>
        </p:spPr>
        <p:txBody>
          <a:bodyPr wrap="square" lIns="0" tIns="0" rIns="0" bIns="0"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Pick only the columns the prompt needs — reduces noise in context</a:t>
            </a:r>
            <a:endParaRPr lang="en-US" sz="900" dirty="0"/>
          </a:p>
        </p:txBody>
      </p:sp>
      <p:sp>
        <p:nvSpPr>
          <p:cNvPr id="30" name="Shape 28"/>
          <p:cNvSpPr/>
          <p:nvPr/>
        </p:nvSpPr>
        <p:spPr>
          <a:xfrm>
            <a:off x="4727448" y="3840480"/>
            <a:ext cx="128016" cy="237744"/>
          </a:xfrm>
          <a:prstGeom prst="rect">
            <a:avLst/>
          </a:prstGeom>
          <a:solidFill>
            <a:srgbClr val="D47900"/>
          </a:solidFill>
          <a:ln w="12700">
            <a:solidFill>
              <a:srgbClr val="D47900"/>
            </a:solidFill>
            <a:prstDash val="solid"/>
          </a:ln>
        </p:spPr>
      </p:sp>
      <p:sp>
        <p:nvSpPr>
          <p:cNvPr id="31" name="Text 29"/>
          <p:cNvSpPr/>
          <p:nvPr/>
        </p:nvSpPr>
        <p:spPr>
          <a:xfrm>
            <a:off x="4919472" y="3840480"/>
            <a:ext cx="1371600" cy="237744"/>
          </a:xfrm>
          <a:prstGeom prst="rect">
            <a:avLst/>
          </a:prstGeom>
          <a:noFill/>
          <a:ln/>
        </p:spPr>
        <p:txBody>
          <a:bodyPr wrap="square" lIns="0" tIns="0" rIns="0" bIns="0" rtlCol="0" anchor="ctr"/>
          <a:lstStyle/>
          <a:p>
            <a:pPr indent="0" marL="0">
              <a:buNone/>
            </a:pPr>
            <a:r>
              <a:rPr lang="en-US" sz="950" b="1" dirty="0">
                <a:solidFill>
                  <a:srgbClr val="D47900"/>
                </a:solidFill>
                <a:latin typeface="Segoe UI" pitchFamily="34" charset="0"/>
                <a:ea typeface="Segoe UI" pitchFamily="34" charset="-122"/>
                <a:cs typeface="Segoe UI" pitchFamily="34" charset="-120"/>
              </a:rPr>
              <a:t>Filtered grounding</a:t>
            </a:r>
            <a:endParaRPr lang="en-US" sz="950" dirty="0"/>
          </a:p>
        </p:txBody>
      </p:sp>
      <p:sp>
        <p:nvSpPr>
          <p:cNvPr id="32" name="Text 30"/>
          <p:cNvSpPr/>
          <p:nvPr/>
        </p:nvSpPr>
        <p:spPr>
          <a:xfrm>
            <a:off x="4919472" y="4078224"/>
            <a:ext cx="3822192" cy="201168"/>
          </a:xfrm>
          <a:prstGeom prst="rect">
            <a:avLst/>
          </a:prstGeom>
          <a:noFill/>
          <a:ln/>
        </p:spPr>
        <p:txBody>
          <a:bodyPr wrap="square" lIns="0" tIns="0" rIns="0" bIns="0"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Status = Open, Department = Engineering — deterministic data scope</a:t>
            </a:r>
            <a:endParaRPr lang="en-US" sz="900" dirty="0"/>
          </a:p>
        </p:txBody>
      </p:sp>
      <p:sp>
        <p:nvSpPr>
          <p:cNvPr id="33" name="Shape 31"/>
          <p:cNvSpPr/>
          <p:nvPr/>
        </p:nvSpPr>
        <p:spPr>
          <a:xfrm>
            <a:off x="274320" y="4526280"/>
            <a:ext cx="8595360" cy="320040"/>
          </a:xfrm>
          <a:prstGeom prst="rect">
            <a:avLst/>
          </a:prstGeom>
          <a:solidFill>
            <a:srgbClr val="243A5E"/>
          </a:solidFill>
          <a:ln w="12700">
            <a:solidFill>
              <a:srgbClr val="243A5E"/>
            </a:solidFill>
            <a:prstDash val="solid"/>
          </a:ln>
        </p:spPr>
      </p:sp>
      <p:sp>
        <p:nvSpPr>
          <p:cNvPr id="34" name="Shape 32"/>
          <p:cNvSpPr/>
          <p:nvPr/>
        </p:nvSpPr>
        <p:spPr>
          <a:xfrm>
            <a:off x="274320" y="4526280"/>
            <a:ext cx="54864" cy="320040"/>
          </a:xfrm>
          <a:prstGeom prst="rect">
            <a:avLst/>
          </a:prstGeom>
          <a:solidFill>
            <a:srgbClr val="D47900"/>
          </a:solidFill>
          <a:ln w="12700">
            <a:solidFill>
              <a:srgbClr val="D47900"/>
            </a:solidFill>
            <a:prstDash val="solid"/>
          </a:ln>
        </p:spPr>
      </p:sp>
      <p:sp>
        <p:nvSpPr>
          <p:cNvPr id="35" name="Text 33"/>
          <p:cNvSpPr/>
          <p:nvPr/>
        </p:nvSpPr>
        <p:spPr>
          <a:xfrm>
            <a:off x="438912" y="4526280"/>
            <a:ext cx="8366760" cy="32004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Schema quality and access control now matter as much as prompt wording.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Workshop — Module 09: Multimodal and Data</dc:title>
  <dc:subject>PptxGenJS Presentation</dc:subject>
  <dc:creator>Microsoft</dc:creator>
  <cp:lastModifiedBy>Microsoft</cp:lastModifiedBy>
  <cp:revision>1</cp:revision>
  <dcterms:created xsi:type="dcterms:W3CDTF">2026-03-23T21:46:53Z</dcterms:created>
  <dcterms:modified xsi:type="dcterms:W3CDTF">2026-03-23T21:46:53Z</dcterms:modified>
</cp:coreProperties>
</file>