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MCP as governed extensibility rather than open-ended plugin growth. If the wizard or catalog is unavailable, switch to demo mode quickly, protect the concept, and keep the message on narrow, auditable tool scope. State the supported path clearly so the room does not anchor on outdated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supported path clearly so the room does not anchor on outdated guidance and extensibility stays governed. Avoid fallback branching, manual secret editing, or any non-wizard setup path. Keep tool scope narrow, auditable, and explainable to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MCP filter tab and add-and-configure flow before the room starts so participants understand the difference between the 'Create new' custom server card and the pre-built Microsoft MCP Servers. If Agent 365 tooling is unavailable in the tenant, demo from a pre-configured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one MCP server entry exposes multiple tools — contrast this with classic connectors that require one action per capability. Keep the conversation focused on governed tool use, not unlimited automation. MCP is governed through the Microsoft 365 Admin Center — admins can allow or block specific servers organization-wide.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DAY 2  ·  TRANSITION</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Into MCP</a:t>
            </a:r>
            <a:endParaRPr lang="en-US" sz="5200" dirty="0"/>
          </a:p>
        </p:txBody>
      </p:sp>
      <p:sp>
        <p:nvSpPr>
          <p:cNvPr id="6" name="Text 4"/>
          <p:cNvSpPr/>
          <p:nvPr/>
        </p:nvSpPr>
        <p:spPr>
          <a:xfrm>
            <a:off x="594360" y="2084832"/>
            <a:ext cx="7772400" cy="411480"/>
          </a:xfrm>
          <a:prstGeom prst="rect">
            <a:avLst/>
          </a:prstGeom>
          <a:noFill/>
          <a:ln/>
        </p:spPr>
        <p:txBody>
          <a:bodyPr wrap="square" rtlCol="0" anchor="ctr"/>
          <a:lstStyle/>
          <a:p>
            <a:pPr indent="0" marL="0">
              <a:buNone/>
            </a:pPr>
            <a:r>
              <a:rPr lang="en-US" sz="1400" dirty="0">
                <a:solidFill>
                  <a:srgbClr val="C5D8F0"/>
                </a:solidFill>
                <a:latin typeface="Segoe UI" pitchFamily="34" charset="0"/>
                <a:ea typeface="Segoe UI" pitchFamily="34" charset="-122"/>
                <a:cs typeface="Segoe UI" pitchFamily="34" charset="-120"/>
              </a:rPr>
              <a:t>From internal orchestration to governed extensibility with external tools</a:t>
            </a:r>
            <a:endParaRPr lang="en-US" sz="1400" dirty="0"/>
          </a:p>
        </p:txBody>
      </p:sp>
      <p:sp>
        <p:nvSpPr>
          <p:cNvPr id="7" name="Shape 5"/>
          <p:cNvSpPr/>
          <p:nvPr/>
        </p:nvSpPr>
        <p:spPr>
          <a:xfrm>
            <a:off x="594360" y="2697480"/>
            <a:ext cx="8229600" cy="475488"/>
          </a:xfrm>
          <a:prstGeom prst="rect">
            <a:avLst/>
          </a:prstGeom>
          <a:solidFill>
            <a:srgbClr val="000000"/>
          </a:solidFill>
          <a:ln w="12700">
            <a:solidFill>
              <a:srgbClr val="0078D4"/>
            </a:solidFill>
            <a:prstDash val="solid"/>
          </a:ln>
        </p:spPr>
      </p:sp>
      <p:sp>
        <p:nvSpPr>
          <p:cNvPr id="8" name="Shape 6"/>
          <p:cNvSpPr/>
          <p:nvPr/>
        </p:nvSpPr>
        <p:spPr>
          <a:xfrm>
            <a:off x="594360" y="2697480"/>
            <a:ext cx="54864" cy="475488"/>
          </a:xfrm>
          <a:prstGeom prst="rect">
            <a:avLst/>
          </a:prstGeom>
          <a:solidFill>
            <a:srgbClr val="0078D4"/>
          </a:solidFill>
          <a:ln w="12700">
            <a:solidFill>
              <a:srgbClr val="0078D4"/>
            </a:solidFill>
            <a:prstDash val="solid"/>
          </a:ln>
        </p:spPr>
      </p:sp>
      <p:sp>
        <p:nvSpPr>
          <p:cNvPr id="9" name="Text 7"/>
          <p:cNvSpPr/>
          <p:nvPr/>
        </p:nvSpPr>
        <p:spPr>
          <a:xfrm>
            <a:off x="749808" y="2697480"/>
            <a:ext cx="2148840" cy="47548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Supported GA path only</a:t>
            </a:r>
            <a:endParaRPr lang="en-US" sz="1150" dirty="0"/>
          </a:p>
        </p:txBody>
      </p:sp>
      <p:sp>
        <p:nvSpPr>
          <p:cNvPr id="10" name="Text 8"/>
          <p:cNvSpPr/>
          <p:nvPr/>
        </p:nvSpPr>
        <p:spPr>
          <a:xfrm>
            <a:off x="2990088" y="2697480"/>
            <a:ext cx="5760720" cy="475488"/>
          </a:xfrm>
          <a:prstGeom prst="rect">
            <a:avLst/>
          </a:prstGeom>
          <a:noFill/>
          <a:ln/>
        </p:spPr>
        <p:txBody>
          <a:bodyPr wrap="square" rtlCol="0" anchor="ctr"/>
          <a:lstStyle/>
          <a:p>
            <a:pPr indent="0" marL="0">
              <a:buNone/>
            </a:pPr>
            <a:r>
              <a:rPr lang="en-US" sz="1050" dirty="0">
                <a:solidFill>
                  <a:srgbClr val="A0BEDD"/>
                </a:solidFill>
                <a:latin typeface="Segoe UI" pitchFamily="34" charset="0"/>
                <a:ea typeface="Segoe UI" pitchFamily="34" charset="-122"/>
                <a:cs typeface="Segoe UI" pitchFamily="34" charset="-120"/>
              </a:rPr>
              <a:t>Use the in-product MCP wizard — no manual secret editing or non-wizard setup</a:t>
            </a:r>
            <a:endParaRPr lang="en-US" sz="1050" dirty="0"/>
          </a:p>
        </p:txBody>
      </p:sp>
      <p:sp>
        <p:nvSpPr>
          <p:cNvPr id="11" name="Shape 9"/>
          <p:cNvSpPr/>
          <p:nvPr/>
        </p:nvSpPr>
        <p:spPr>
          <a:xfrm>
            <a:off x="594360" y="3264408"/>
            <a:ext cx="8229600" cy="475488"/>
          </a:xfrm>
          <a:prstGeom prst="rect">
            <a:avLst/>
          </a:prstGeom>
          <a:solidFill>
            <a:srgbClr val="000000"/>
          </a:solidFill>
          <a:ln w="12700">
            <a:solidFill>
              <a:srgbClr val="00B294"/>
            </a:solidFill>
            <a:prstDash val="solid"/>
          </a:ln>
        </p:spPr>
      </p:sp>
      <p:sp>
        <p:nvSpPr>
          <p:cNvPr id="12" name="Shape 10"/>
          <p:cNvSpPr/>
          <p:nvPr/>
        </p:nvSpPr>
        <p:spPr>
          <a:xfrm>
            <a:off x="594360" y="3264408"/>
            <a:ext cx="54864" cy="475488"/>
          </a:xfrm>
          <a:prstGeom prst="rect">
            <a:avLst/>
          </a:prstGeom>
          <a:solidFill>
            <a:srgbClr val="00B294"/>
          </a:solidFill>
          <a:ln w="12700">
            <a:solidFill>
              <a:srgbClr val="00B294"/>
            </a:solidFill>
            <a:prstDash val="solid"/>
          </a:ln>
        </p:spPr>
      </p:sp>
      <p:sp>
        <p:nvSpPr>
          <p:cNvPr id="13" name="Text 11"/>
          <p:cNvSpPr/>
          <p:nvPr/>
        </p:nvSpPr>
        <p:spPr>
          <a:xfrm>
            <a:off x="749808" y="3264408"/>
            <a:ext cx="2148840" cy="47548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Keep scope narrow</a:t>
            </a:r>
            <a:endParaRPr lang="en-US" sz="1150" dirty="0"/>
          </a:p>
        </p:txBody>
      </p:sp>
      <p:sp>
        <p:nvSpPr>
          <p:cNvPr id="14" name="Text 12"/>
          <p:cNvSpPr/>
          <p:nvPr/>
        </p:nvSpPr>
        <p:spPr>
          <a:xfrm>
            <a:off x="2990088" y="3264408"/>
            <a:ext cx="5760720" cy="475488"/>
          </a:xfrm>
          <a:prstGeom prst="rect">
            <a:avLst/>
          </a:prstGeom>
          <a:noFill/>
          <a:ln/>
        </p:spPr>
        <p:txBody>
          <a:bodyPr wrap="square" rtlCol="0" anchor="ctr"/>
          <a:lstStyle/>
          <a:p>
            <a:pPr indent="0" marL="0">
              <a:buNone/>
            </a:pPr>
            <a:r>
              <a:rPr lang="en-US" sz="1050" dirty="0">
                <a:solidFill>
                  <a:srgbClr val="A0BEDD"/>
                </a:solidFill>
                <a:latin typeface="Segoe UI" pitchFamily="34" charset="0"/>
                <a:ea typeface="Segoe UI" pitchFamily="34" charset="-122"/>
                <a:cs typeface="Segoe UI" pitchFamily="34" charset="-120"/>
              </a:rPr>
              <a:t>Each MCP server must have a clear purpose the room can explain to admins</a:t>
            </a:r>
            <a:endParaRPr lang="en-US" sz="1050" dirty="0"/>
          </a:p>
        </p:txBody>
      </p:sp>
      <p:sp>
        <p:nvSpPr>
          <p:cNvPr id="15" name="Shape 13"/>
          <p:cNvSpPr/>
          <p:nvPr/>
        </p:nvSpPr>
        <p:spPr>
          <a:xfrm>
            <a:off x="594360" y="3831336"/>
            <a:ext cx="8229600" cy="475488"/>
          </a:xfrm>
          <a:prstGeom prst="rect">
            <a:avLst/>
          </a:prstGeom>
          <a:solidFill>
            <a:srgbClr val="000000"/>
          </a:solidFill>
          <a:ln w="12700">
            <a:solidFill>
              <a:srgbClr val="5C2D91"/>
            </a:solidFill>
            <a:prstDash val="solid"/>
          </a:ln>
        </p:spPr>
      </p:sp>
      <p:sp>
        <p:nvSpPr>
          <p:cNvPr id="16" name="Shape 14"/>
          <p:cNvSpPr/>
          <p:nvPr/>
        </p:nvSpPr>
        <p:spPr>
          <a:xfrm>
            <a:off x="594360" y="3831336"/>
            <a:ext cx="54864" cy="475488"/>
          </a:xfrm>
          <a:prstGeom prst="rect">
            <a:avLst/>
          </a:prstGeom>
          <a:solidFill>
            <a:srgbClr val="5C2D91"/>
          </a:solidFill>
          <a:ln w="12700">
            <a:solidFill>
              <a:srgbClr val="5C2D91"/>
            </a:solidFill>
            <a:prstDash val="solid"/>
          </a:ln>
        </p:spPr>
      </p:sp>
      <p:sp>
        <p:nvSpPr>
          <p:cNvPr id="17" name="Text 15"/>
          <p:cNvSpPr/>
          <p:nvPr/>
        </p:nvSpPr>
        <p:spPr>
          <a:xfrm>
            <a:off x="749808" y="3831336"/>
            <a:ext cx="2148840" cy="47548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Auditability is the test</a:t>
            </a:r>
            <a:endParaRPr lang="en-US" sz="1150" dirty="0"/>
          </a:p>
        </p:txBody>
      </p:sp>
      <p:sp>
        <p:nvSpPr>
          <p:cNvPr id="18" name="Text 16"/>
          <p:cNvSpPr/>
          <p:nvPr/>
        </p:nvSpPr>
        <p:spPr>
          <a:xfrm>
            <a:off x="2990088" y="3831336"/>
            <a:ext cx="5760720" cy="475488"/>
          </a:xfrm>
          <a:prstGeom prst="rect">
            <a:avLst/>
          </a:prstGeom>
          <a:noFill/>
          <a:ln/>
        </p:spPr>
        <p:txBody>
          <a:bodyPr wrap="square" rtlCol="0" anchor="ctr"/>
          <a:lstStyle/>
          <a:p>
            <a:pPr indent="0" marL="0">
              <a:buNone/>
            </a:pPr>
            <a:r>
              <a:rPr lang="en-US" sz="1050" dirty="0">
                <a:solidFill>
                  <a:srgbClr val="A0BEDD"/>
                </a:solidFill>
                <a:latin typeface="Segoe UI" pitchFamily="34" charset="0"/>
                <a:ea typeface="Segoe UI" pitchFamily="34" charset="-122"/>
                <a:cs typeface="Segoe UI" pitchFamily="34" charset="-120"/>
              </a:rPr>
              <a:t>If you can't show the tool call in the Activity trace, it doesn't belong</a:t>
            </a:r>
            <a:endParaRPr lang="en-US" sz="1050" dirty="0"/>
          </a:p>
        </p:txBody>
      </p:sp>
      <p:sp>
        <p:nvSpPr>
          <p:cNvPr id="19" name="Text 17"/>
          <p:cNvSpPr/>
          <p:nvPr/>
        </p:nvSpPr>
        <p:spPr>
          <a:xfrm>
            <a:off x="594360" y="4407408"/>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Extensibility must stay governed to stay credible.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10</a:t>
            </a:r>
            <a:endParaRPr lang="en-US" sz="1100" dirty="0"/>
          </a:p>
        </p:txBody>
      </p:sp>
      <p:sp>
        <p:nvSpPr>
          <p:cNvPr id="5" name="Text 3"/>
          <p:cNvSpPr/>
          <p:nvPr/>
        </p:nvSpPr>
        <p:spPr>
          <a:xfrm>
            <a:off x="594360" y="1078992"/>
            <a:ext cx="8229600" cy="914400"/>
          </a:xfrm>
          <a:prstGeom prst="rect">
            <a:avLst/>
          </a:prstGeom>
          <a:noFill/>
          <a:ln/>
        </p:spPr>
        <p:txBody>
          <a:bodyPr wrap="square" rtlCol="0" anchor="ctr"/>
          <a:lstStyle/>
          <a:p>
            <a:pPr indent="0" marL="0">
              <a:buNone/>
            </a:pPr>
            <a:r>
              <a:rPr lang="en-US" sz="4600" b="1" dirty="0">
                <a:solidFill>
                  <a:srgbClr val="FFFFFF"/>
                </a:solidFill>
                <a:latin typeface="Segoe UI" pitchFamily="34" charset="0"/>
                <a:ea typeface="Segoe UI" pitchFamily="34" charset="-122"/>
                <a:cs typeface="Segoe UI" pitchFamily="34" charset="-120"/>
              </a:rPr>
              <a:t>MCP and Extensibility</a:t>
            </a:r>
            <a:endParaRPr lang="en-US" sz="4600" dirty="0"/>
          </a:p>
        </p:txBody>
      </p:sp>
      <p:sp>
        <p:nvSpPr>
          <p:cNvPr id="6" name="Text 4"/>
          <p:cNvSpPr/>
          <p:nvPr/>
        </p:nvSpPr>
        <p:spPr>
          <a:xfrm>
            <a:off x="594360" y="2103120"/>
            <a:ext cx="7955280" cy="438912"/>
          </a:xfrm>
          <a:prstGeom prst="rect">
            <a:avLst/>
          </a:prstGeom>
          <a:noFill/>
          <a:ln/>
        </p:spPr>
        <p:txBody>
          <a:bodyPr wrap="square" rtlCol="0" anchor="ctr"/>
          <a:lstStyle/>
          <a:p>
            <a:pPr indent="0" marL="0">
              <a:buNone/>
            </a:pPr>
            <a:r>
              <a:rPr lang="en-US" sz="1200" dirty="0">
                <a:solidFill>
                  <a:srgbClr val="C5D8F0"/>
                </a:solidFill>
                <a:latin typeface="Segoe UI" pitchFamily="34" charset="0"/>
                <a:ea typeface="Segoe UI" pitchFamily="34" charset="-122"/>
                <a:cs typeface="Segoe UI" pitchFamily="34" charset="-120"/>
              </a:rPr>
              <a:t>One server, multiple tools — governed through Microsoft 365 Admin Center and auditable in Activity traces</a:t>
            </a:r>
            <a:endParaRPr lang="en-US" sz="1200" dirty="0"/>
          </a:p>
        </p:txBody>
      </p:sp>
      <p:sp>
        <p:nvSpPr>
          <p:cNvPr id="7" name="Shape 5"/>
          <p:cNvSpPr/>
          <p:nvPr/>
        </p:nvSpPr>
        <p:spPr>
          <a:xfrm>
            <a:off x="594360" y="2788920"/>
            <a:ext cx="2651760" cy="530352"/>
          </a:xfrm>
          <a:prstGeom prst="rect">
            <a:avLst/>
          </a:prstGeom>
          <a:solidFill>
            <a:srgbClr val="000000"/>
          </a:solidFill>
          <a:ln w="12700">
            <a:solidFill>
              <a:srgbClr val="0078D4"/>
            </a:solidFill>
            <a:prstDash val="solid"/>
          </a:ln>
        </p:spPr>
      </p:sp>
      <p:sp>
        <p:nvSpPr>
          <p:cNvPr id="8" name="Shape 6"/>
          <p:cNvSpPr/>
          <p:nvPr/>
        </p:nvSpPr>
        <p:spPr>
          <a:xfrm>
            <a:off x="594360" y="2788920"/>
            <a:ext cx="54864" cy="530352"/>
          </a:xfrm>
          <a:prstGeom prst="rect">
            <a:avLst/>
          </a:prstGeom>
          <a:solidFill>
            <a:srgbClr val="0078D4"/>
          </a:solidFill>
          <a:ln w="12700">
            <a:solidFill>
              <a:srgbClr val="0078D4"/>
            </a:solidFill>
            <a:prstDash val="solid"/>
          </a:ln>
        </p:spPr>
      </p:sp>
      <p:sp>
        <p:nvSpPr>
          <p:cNvPr id="9" name="Text 7"/>
          <p:cNvSpPr/>
          <p:nvPr/>
        </p:nvSpPr>
        <p:spPr>
          <a:xfrm>
            <a:off x="722376" y="2807208"/>
            <a:ext cx="2505456"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Generally Available</a:t>
            </a:r>
            <a:endParaRPr lang="en-US" sz="1000" dirty="0"/>
          </a:p>
        </p:txBody>
      </p:sp>
      <p:sp>
        <p:nvSpPr>
          <p:cNvPr id="10" name="Text 8"/>
          <p:cNvSpPr/>
          <p:nvPr/>
        </p:nvSpPr>
        <p:spPr>
          <a:xfrm>
            <a:off x="722376" y="3026664"/>
            <a:ext cx="2505456" cy="256032"/>
          </a:xfrm>
          <a:prstGeom prst="rect">
            <a:avLst/>
          </a:prstGeom>
          <a:noFill/>
          <a:ln/>
        </p:spPr>
        <p:txBody>
          <a:bodyPr wrap="square" rtlCol="0" anchor="ctr"/>
          <a:lstStyle/>
          <a:p>
            <a:pPr indent="0" marL="0">
              <a:buNone/>
            </a:pPr>
            <a:r>
              <a:rPr lang="en-US" sz="900" dirty="0">
                <a:solidFill>
                  <a:srgbClr val="A0BEDD"/>
                </a:solidFill>
                <a:latin typeface="Segoe UI" pitchFamily="34" charset="0"/>
                <a:ea typeface="Segoe UI" pitchFamily="34" charset="-122"/>
                <a:cs typeface="Segoe UI" pitchFamily="34" charset="-120"/>
              </a:rPr>
              <a:t>Use only GA servers in this workshop</a:t>
            </a:r>
            <a:endParaRPr lang="en-US" sz="900" dirty="0"/>
          </a:p>
        </p:txBody>
      </p:sp>
      <p:sp>
        <p:nvSpPr>
          <p:cNvPr id="11" name="Shape 9"/>
          <p:cNvSpPr/>
          <p:nvPr/>
        </p:nvSpPr>
        <p:spPr>
          <a:xfrm>
            <a:off x="3383280" y="2788920"/>
            <a:ext cx="2651760" cy="530352"/>
          </a:xfrm>
          <a:prstGeom prst="rect">
            <a:avLst/>
          </a:prstGeom>
          <a:solidFill>
            <a:srgbClr val="000000"/>
          </a:solidFill>
          <a:ln w="12700">
            <a:solidFill>
              <a:srgbClr val="00B294"/>
            </a:solidFill>
            <a:prstDash val="solid"/>
          </a:ln>
        </p:spPr>
      </p:sp>
      <p:sp>
        <p:nvSpPr>
          <p:cNvPr id="12" name="Shape 10"/>
          <p:cNvSpPr/>
          <p:nvPr/>
        </p:nvSpPr>
        <p:spPr>
          <a:xfrm>
            <a:off x="3383280" y="2788920"/>
            <a:ext cx="54864" cy="530352"/>
          </a:xfrm>
          <a:prstGeom prst="rect">
            <a:avLst/>
          </a:prstGeom>
          <a:solidFill>
            <a:srgbClr val="00B294"/>
          </a:solidFill>
          <a:ln w="12700">
            <a:solidFill>
              <a:srgbClr val="00B294"/>
            </a:solidFill>
            <a:prstDash val="solid"/>
          </a:ln>
        </p:spPr>
      </p:sp>
      <p:sp>
        <p:nvSpPr>
          <p:cNvPr id="13" name="Text 11"/>
          <p:cNvSpPr/>
          <p:nvPr/>
        </p:nvSpPr>
        <p:spPr>
          <a:xfrm>
            <a:off x="3511296" y="2807208"/>
            <a:ext cx="2505456"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In-product wizard</a:t>
            </a:r>
            <a:endParaRPr lang="en-US" sz="1000" dirty="0"/>
          </a:p>
        </p:txBody>
      </p:sp>
      <p:sp>
        <p:nvSpPr>
          <p:cNvPr id="14" name="Text 12"/>
          <p:cNvSpPr/>
          <p:nvPr/>
        </p:nvSpPr>
        <p:spPr>
          <a:xfrm>
            <a:off x="3511296" y="3026664"/>
            <a:ext cx="2505456" cy="256032"/>
          </a:xfrm>
          <a:prstGeom prst="rect">
            <a:avLst/>
          </a:prstGeom>
          <a:noFill/>
          <a:ln/>
        </p:spPr>
        <p:txBody>
          <a:bodyPr wrap="square" rtlCol="0" anchor="ctr"/>
          <a:lstStyle/>
          <a:p>
            <a:pPr indent="0" marL="0">
              <a:buNone/>
            </a:pPr>
            <a:r>
              <a:rPr lang="en-US" sz="900" dirty="0">
                <a:solidFill>
                  <a:srgbClr val="A0BEDD"/>
                </a:solidFill>
                <a:latin typeface="Segoe UI" pitchFamily="34" charset="0"/>
                <a:ea typeface="Segoe UI" pitchFamily="34" charset="-122"/>
                <a:cs typeface="Segoe UI" pitchFamily="34" charset="-120"/>
              </a:rPr>
              <a:t>No manual YAML editing of credentials</a:t>
            </a:r>
            <a:endParaRPr lang="en-US" sz="900" dirty="0"/>
          </a:p>
        </p:txBody>
      </p:sp>
      <p:sp>
        <p:nvSpPr>
          <p:cNvPr id="15" name="Shape 13"/>
          <p:cNvSpPr/>
          <p:nvPr/>
        </p:nvSpPr>
        <p:spPr>
          <a:xfrm>
            <a:off x="6172200" y="2788920"/>
            <a:ext cx="2651760" cy="530352"/>
          </a:xfrm>
          <a:prstGeom prst="rect">
            <a:avLst/>
          </a:prstGeom>
          <a:solidFill>
            <a:srgbClr val="000000"/>
          </a:solidFill>
          <a:ln w="12700">
            <a:solidFill>
              <a:srgbClr val="5C2D91"/>
            </a:solidFill>
            <a:prstDash val="solid"/>
          </a:ln>
        </p:spPr>
      </p:sp>
      <p:sp>
        <p:nvSpPr>
          <p:cNvPr id="16" name="Shape 14"/>
          <p:cNvSpPr/>
          <p:nvPr/>
        </p:nvSpPr>
        <p:spPr>
          <a:xfrm>
            <a:off x="6172200" y="2788920"/>
            <a:ext cx="54864" cy="530352"/>
          </a:xfrm>
          <a:prstGeom prst="rect">
            <a:avLst/>
          </a:prstGeom>
          <a:solidFill>
            <a:srgbClr val="5C2D91"/>
          </a:solidFill>
          <a:ln w="12700">
            <a:solidFill>
              <a:srgbClr val="5C2D91"/>
            </a:solidFill>
            <a:prstDash val="solid"/>
          </a:ln>
        </p:spPr>
      </p:sp>
      <p:sp>
        <p:nvSpPr>
          <p:cNvPr id="17" name="Text 15"/>
          <p:cNvSpPr/>
          <p:nvPr/>
        </p:nvSpPr>
        <p:spPr>
          <a:xfrm>
            <a:off x="6300216" y="2807208"/>
            <a:ext cx="2505456"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Multiple tools per server</a:t>
            </a:r>
            <a:endParaRPr lang="en-US" sz="1000" dirty="0"/>
          </a:p>
        </p:txBody>
      </p:sp>
      <p:sp>
        <p:nvSpPr>
          <p:cNvPr id="18" name="Text 16"/>
          <p:cNvSpPr/>
          <p:nvPr/>
        </p:nvSpPr>
        <p:spPr>
          <a:xfrm>
            <a:off x="6300216" y="3026664"/>
            <a:ext cx="2505456" cy="256032"/>
          </a:xfrm>
          <a:prstGeom prst="rect">
            <a:avLst/>
          </a:prstGeom>
          <a:noFill/>
          <a:ln/>
        </p:spPr>
        <p:txBody>
          <a:bodyPr wrap="square" rtlCol="0" anchor="ctr"/>
          <a:lstStyle/>
          <a:p>
            <a:pPr indent="0" marL="0">
              <a:buNone/>
            </a:pPr>
            <a:r>
              <a:rPr lang="en-US" sz="900" dirty="0">
                <a:solidFill>
                  <a:srgbClr val="A0BEDD"/>
                </a:solidFill>
                <a:latin typeface="Segoe UI" pitchFamily="34" charset="0"/>
                <a:ea typeface="Segoe UI" pitchFamily="34" charset="-122"/>
                <a:cs typeface="Segoe UI" pitchFamily="34" charset="-120"/>
              </a:rPr>
              <a:t>Contrast: connectors = one action each</a:t>
            </a:r>
            <a:endParaRPr lang="en-US" sz="900" dirty="0"/>
          </a:p>
        </p:txBody>
      </p:sp>
      <p:sp>
        <p:nvSpPr>
          <p:cNvPr id="19" name="Shape 17"/>
          <p:cNvSpPr/>
          <p:nvPr/>
        </p:nvSpPr>
        <p:spPr>
          <a:xfrm>
            <a:off x="594360" y="3392424"/>
            <a:ext cx="2651760" cy="530352"/>
          </a:xfrm>
          <a:prstGeom prst="rect">
            <a:avLst/>
          </a:prstGeom>
          <a:solidFill>
            <a:srgbClr val="000000"/>
          </a:solidFill>
          <a:ln w="12700">
            <a:solidFill>
              <a:srgbClr val="D47900"/>
            </a:solidFill>
            <a:prstDash val="solid"/>
          </a:ln>
        </p:spPr>
      </p:sp>
      <p:sp>
        <p:nvSpPr>
          <p:cNvPr id="20" name="Shape 18"/>
          <p:cNvSpPr/>
          <p:nvPr/>
        </p:nvSpPr>
        <p:spPr>
          <a:xfrm>
            <a:off x="594360" y="3392424"/>
            <a:ext cx="54864" cy="530352"/>
          </a:xfrm>
          <a:prstGeom prst="rect">
            <a:avLst/>
          </a:prstGeom>
          <a:solidFill>
            <a:srgbClr val="D47900"/>
          </a:solidFill>
          <a:ln w="12700">
            <a:solidFill>
              <a:srgbClr val="D47900"/>
            </a:solidFill>
            <a:prstDash val="solid"/>
          </a:ln>
        </p:spPr>
      </p:sp>
      <p:sp>
        <p:nvSpPr>
          <p:cNvPr id="21" name="Text 19"/>
          <p:cNvSpPr/>
          <p:nvPr/>
        </p:nvSpPr>
        <p:spPr>
          <a:xfrm>
            <a:off x="722376" y="3410712"/>
            <a:ext cx="2505456"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Consent once per session</a:t>
            </a:r>
            <a:endParaRPr lang="en-US" sz="1000" dirty="0"/>
          </a:p>
        </p:txBody>
      </p:sp>
      <p:sp>
        <p:nvSpPr>
          <p:cNvPr id="22" name="Text 20"/>
          <p:cNvSpPr/>
          <p:nvPr/>
        </p:nvSpPr>
        <p:spPr>
          <a:xfrm>
            <a:off x="722376" y="3630168"/>
            <a:ext cx="2505456" cy="256032"/>
          </a:xfrm>
          <a:prstGeom prst="rect">
            <a:avLst/>
          </a:prstGeom>
          <a:noFill/>
          <a:ln/>
        </p:spPr>
        <p:txBody>
          <a:bodyPr wrap="square" rtlCol="0" anchor="ctr"/>
          <a:lstStyle/>
          <a:p>
            <a:pPr indent="0" marL="0">
              <a:buNone/>
            </a:pPr>
            <a:r>
              <a:rPr lang="en-US" sz="900" dirty="0">
                <a:solidFill>
                  <a:srgbClr val="A0BEDD"/>
                </a:solidFill>
                <a:latin typeface="Segoe UI" pitchFamily="34" charset="0"/>
                <a:ea typeface="Segoe UI" pitchFamily="34" charset="-122"/>
                <a:cs typeface="Segoe UI" pitchFamily="34" charset="-120"/>
              </a:rPr>
              <a:t>Allow card appears first time per server</a:t>
            </a:r>
            <a:endParaRPr lang="en-US" sz="900" dirty="0"/>
          </a:p>
        </p:txBody>
      </p:sp>
      <p:sp>
        <p:nvSpPr>
          <p:cNvPr id="23" name="Shape 21"/>
          <p:cNvSpPr/>
          <p:nvPr/>
        </p:nvSpPr>
        <p:spPr>
          <a:xfrm>
            <a:off x="3383280" y="3392424"/>
            <a:ext cx="2651760" cy="530352"/>
          </a:xfrm>
          <a:prstGeom prst="rect">
            <a:avLst/>
          </a:prstGeom>
          <a:solidFill>
            <a:srgbClr val="000000"/>
          </a:solidFill>
          <a:ln w="12700">
            <a:solidFill>
              <a:srgbClr val="107C10"/>
            </a:solidFill>
            <a:prstDash val="solid"/>
          </a:ln>
        </p:spPr>
      </p:sp>
      <p:sp>
        <p:nvSpPr>
          <p:cNvPr id="24" name="Shape 22"/>
          <p:cNvSpPr/>
          <p:nvPr/>
        </p:nvSpPr>
        <p:spPr>
          <a:xfrm>
            <a:off x="3383280" y="3392424"/>
            <a:ext cx="54864" cy="530352"/>
          </a:xfrm>
          <a:prstGeom prst="rect">
            <a:avLst/>
          </a:prstGeom>
          <a:solidFill>
            <a:srgbClr val="107C10"/>
          </a:solidFill>
          <a:ln w="12700">
            <a:solidFill>
              <a:srgbClr val="107C10"/>
            </a:solidFill>
            <a:prstDash val="solid"/>
          </a:ln>
        </p:spPr>
      </p:sp>
      <p:sp>
        <p:nvSpPr>
          <p:cNvPr id="25" name="Text 23"/>
          <p:cNvSpPr/>
          <p:nvPr/>
        </p:nvSpPr>
        <p:spPr>
          <a:xfrm>
            <a:off x="3511296" y="3410712"/>
            <a:ext cx="2505456"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Admin governed</a:t>
            </a:r>
            <a:endParaRPr lang="en-US" sz="1000" dirty="0"/>
          </a:p>
        </p:txBody>
      </p:sp>
      <p:sp>
        <p:nvSpPr>
          <p:cNvPr id="26" name="Text 24"/>
          <p:cNvSpPr/>
          <p:nvPr/>
        </p:nvSpPr>
        <p:spPr>
          <a:xfrm>
            <a:off x="3511296" y="3630168"/>
            <a:ext cx="2505456" cy="256032"/>
          </a:xfrm>
          <a:prstGeom prst="rect">
            <a:avLst/>
          </a:prstGeom>
          <a:noFill/>
          <a:ln/>
        </p:spPr>
        <p:txBody>
          <a:bodyPr wrap="square" rtlCol="0" anchor="ctr"/>
          <a:lstStyle/>
          <a:p>
            <a:pPr indent="0" marL="0">
              <a:buNone/>
            </a:pPr>
            <a:r>
              <a:rPr lang="en-US" sz="900" dirty="0">
                <a:solidFill>
                  <a:srgbClr val="A0BEDD"/>
                </a:solidFill>
                <a:latin typeface="Segoe UI" pitchFamily="34" charset="0"/>
                <a:ea typeface="Segoe UI" pitchFamily="34" charset="-122"/>
                <a:cs typeface="Segoe UI" pitchFamily="34" charset="-120"/>
              </a:rPr>
              <a:t>M365 Admin Center allows or blocks servers</a:t>
            </a:r>
            <a:endParaRPr lang="en-US" sz="900" dirty="0"/>
          </a:p>
        </p:txBody>
      </p:sp>
      <p:sp>
        <p:nvSpPr>
          <p:cNvPr id="27" name="Shape 25"/>
          <p:cNvSpPr/>
          <p:nvPr/>
        </p:nvSpPr>
        <p:spPr>
          <a:xfrm>
            <a:off x="6172200" y="3392424"/>
            <a:ext cx="2651760" cy="530352"/>
          </a:xfrm>
          <a:prstGeom prst="rect">
            <a:avLst/>
          </a:prstGeom>
          <a:solidFill>
            <a:srgbClr val="000000"/>
          </a:solidFill>
          <a:ln w="12700">
            <a:solidFill>
              <a:srgbClr val="D83B01"/>
            </a:solidFill>
            <a:prstDash val="solid"/>
          </a:ln>
        </p:spPr>
      </p:sp>
      <p:sp>
        <p:nvSpPr>
          <p:cNvPr id="28" name="Shape 26"/>
          <p:cNvSpPr/>
          <p:nvPr/>
        </p:nvSpPr>
        <p:spPr>
          <a:xfrm>
            <a:off x="6172200" y="3392424"/>
            <a:ext cx="54864" cy="530352"/>
          </a:xfrm>
          <a:prstGeom prst="rect">
            <a:avLst/>
          </a:prstGeom>
          <a:solidFill>
            <a:srgbClr val="D83B01"/>
          </a:solidFill>
          <a:ln w="12700">
            <a:solidFill>
              <a:srgbClr val="D83B01"/>
            </a:solidFill>
            <a:prstDash val="solid"/>
          </a:ln>
        </p:spPr>
      </p:sp>
      <p:sp>
        <p:nvSpPr>
          <p:cNvPr id="29" name="Text 27"/>
          <p:cNvSpPr/>
          <p:nvPr/>
        </p:nvSpPr>
        <p:spPr>
          <a:xfrm>
            <a:off x="6300216" y="3410712"/>
            <a:ext cx="2505456"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Entra + Defender audit</a:t>
            </a:r>
            <a:endParaRPr lang="en-US" sz="1000" dirty="0"/>
          </a:p>
        </p:txBody>
      </p:sp>
      <p:sp>
        <p:nvSpPr>
          <p:cNvPr id="30" name="Text 28"/>
          <p:cNvSpPr/>
          <p:nvPr/>
        </p:nvSpPr>
        <p:spPr>
          <a:xfrm>
            <a:off x="6300216" y="3630168"/>
            <a:ext cx="2505456" cy="256032"/>
          </a:xfrm>
          <a:prstGeom prst="rect">
            <a:avLst/>
          </a:prstGeom>
          <a:noFill/>
          <a:ln/>
        </p:spPr>
        <p:txBody>
          <a:bodyPr wrap="square" rtlCol="0" anchor="ctr"/>
          <a:lstStyle/>
          <a:p>
            <a:pPr indent="0" marL="0">
              <a:buNone/>
            </a:pPr>
            <a:r>
              <a:rPr lang="en-US" sz="900" dirty="0">
                <a:solidFill>
                  <a:srgbClr val="A0BEDD"/>
                </a:solidFill>
                <a:latin typeface="Segoe UI" pitchFamily="34" charset="0"/>
                <a:ea typeface="Segoe UI" pitchFamily="34" charset="-122"/>
                <a:cs typeface="Segoe UI" pitchFamily="34" charset="-120"/>
              </a:rPr>
              <a:t>All tool calls logged and auditable</a:t>
            </a:r>
            <a:endParaRPr lang="en-US" sz="900" dirty="0"/>
          </a:p>
        </p:txBody>
      </p:sp>
      <p:sp>
        <p:nvSpPr>
          <p:cNvPr id="31" name="Text 29"/>
          <p:cNvSpPr/>
          <p:nvPr/>
        </p:nvSpPr>
        <p:spPr>
          <a:xfrm>
            <a:off x="594360" y="4370832"/>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 22  ·  Day 2 Operative Track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22</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MCP Integration</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Open Tools &gt; Add a tool &gt; select Model Context Protocol filter tab — review available servers</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Microsoft 365 User Profile MCP server — authenticate, allow consent, test 'Who is my manager?'</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Microsoft Outlook Calendar MCP server — test 'Get my meetings for today'</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scheduling: find 3 meeting times for a 30-min interview-prep meeting with a coworker</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Select a time slot and confirm agent creates the meeting via createEvent MCP tool</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Review governance: document one in-scope and one out-of-scope MCP action</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One server = multiple tools</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Govern the server, not each tool</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10  ·  LAB 22 RECAP</a:t>
            </a:r>
            <a:endParaRPr lang="en-US" sz="900" dirty="0"/>
          </a:p>
        </p:txBody>
      </p:sp>
      <p:sp>
        <p:nvSpPr>
          <p:cNvPr id="4" name="Text 2"/>
          <p:cNvSpPr/>
          <p:nvPr/>
        </p:nvSpPr>
        <p:spPr>
          <a:xfrm>
            <a:off x="365760" y="749808"/>
            <a:ext cx="8412480" cy="475488"/>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22: MCP Integration</a:t>
            </a:r>
            <a:endParaRPr lang="en-US" sz="2800" dirty="0"/>
          </a:p>
        </p:txBody>
      </p:sp>
      <p:sp>
        <p:nvSpPr>
          <p:cNvPr id="5" name="Text 3"/>
          <p:cNvSpPr/>
          <p:nvPr/>
        </p:nvSpPr>
        <p:spPr>
          <a:xfrm>
            <a:off x="365760" y="128016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Keep tool scope narrow, auditable, and explainable to admins — extensibility only earns trust when it is visible.</a:t>
            </a:r>
            <a:endParaRPr lang="en-US" sz="1200" dirty="0"/>
          </a:p>
        </p:txBody>
      </p:sp>
      <p:sp>
        <p:nvSpPr>
          <p:cNvPr id="6" name="Shape 4"/>
          <p:cNvSpPr/>
          <p:nvPr/>
        </p:nvSpPr>
        <p:spPr>
          <a:xfrm>
            <a:off x="320040" y="1719072"/>
            <a:ext cx="8503920" cy="438912"/>
          </a:xfrm>
          <a:prstGeom prst="rect">
            <a:avLst/>
          </a:prstGeom>
          <a:solidFill>
            <a:srgbClr val="F3F2F1"/>
          </a:solidFill>
          <a:ln w="12700">
            <a:solidFill>
              <a:srgbClr val="E1DFDD"/>
            </a:solidFill>
            <a:prstDash val="solid"/>
          </a:ln>
        </p:spPr>
      </p:sp>
      <p:sp>
        <p:nvSpPr>
          <p:cNvPr id="7" name="Shape 5"/>
          <p:cNvSpPr/>
          <p:nvPr/>
        </p:nvSpPr>
        <p:spPr>
          <a:xfrm>
            <a:off x="457200" y="1801368"/>
            <a:ext cx="1097280" cy="256032"/>
          </a:xfrm>
          <a:prstGeom prst="rect">
            <a:avLst/>
          </a:prstGeom>
          <a:solidFill>
            <a:srgbClr val="0078D4"/>
          </a:solidFill>
          <a:ln w="12700">
            <a:solidFill>
              <a:srgbClr val="0078D4"/>
            </a:solidFill>
            <a:prstDash val="solid"/>
          </a:ln>
        </p:spPr>
      </p:sp>
      <p:sp>
        <p:nvSpPr>
          <p:cNvPr id="8" name="Text 6"/>
          <p:cNvSpPr/>
          <p:nvPr/>
        </p:nvSpPr>
        <p:spPr>
          <a:xfrm>
            <a:off x="457200" y="1801368"/>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Catalog</a:t>
            </a:r>
            <a:endParaRPr lang="en-US" sz="800" dirty="0"/>
          </a:p>
        </p:txBody>
      </p:sp>
      <p:sp>
        <p:nvSpPr>
          <p:cNvPr id="9" name="Text 7"/>
          <p:cNvSpPr/>
          <p:nvPr/>
        </p:nvSpPr>
        <p:spPr>
          <a:xfrm>
            <a:off x="1673352" y="1801368"/>
            <a:ext cx="703173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Model Context Protocol filter tab shows pre-built Microsoft MCP Servers from the catalog</a:t>
            </a:r>
            <a:endParaRPr lang="en-US" sz="1050" dirty="0"/>
          </a:p>
        </p:txBody>
      </p:sp>
      <p:sp>
        <p:nvSpPr>
          <p:cNvPr id="10" name="Shape 8"/>
          <p:cNvSpPr/>
          <p:nvPr/>
        </p:nvSpPr>
        <p:spPr>
          <a:xfrm>
            <a:off x="320040" y="2194560"/>
            <a:ext cx="8503920" cy="438912"/>
          </a:xfrm>
          <a:prstGeom prst="rect">
            <a:avLst/>
          </a:prstGeom>
          <a:solidFill>
            <a:srgbClr val="FFFFFF"/>
          </a:solidFill>
          <a:ln w="12700">
            <a:solidFill>
              <a:srgbClr val="E1DFDD"/>
            </a:solidFill>
            <a:prstDash val="solid"/>
          </a:ln>
        </p:spPr>
      </p:sp>
      <p:sp>
        <p:nvSpPr>
          <p:cNvPr id="11" name="Shape 9"/>
          <p:cNvSpPr/>
          <p:nvPr/>
        </p:nvSpPr>
        <p:spPr>
          <a:xfrm>
            <a:off x="457200" y="2276856"/>
            <a:ext cx="1097280" cy="256032"/>
          </a:xfrm>
          <a:prstGeom prst="rect">
            <a:avLst/>
          </a:prstGeom>
          <a:solidFill>
            <a:srgbClr val="00B294"/>
          </a:solidFill>
          <a:ln w="12700">
            <a:solidFill>
              <a:srgbClr val="00B294"/>
            </a:solidFill>
            <a:prstDash val="solid"/>
          </a:ln>
        </p:spPr>
      </p:sp>
      <p:sp>
        <p:nvSpPr>
          <p:cNvPr id="12" name="Text 10"/>
          <p:cNvSpPr/>
          <p:nvPr/>
        </p:nvSpPr>
        <p:spPr>
          <a:xfrm>
            <a:off x="457200" y="2276856"/>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User Profile</a:t>
            </a:r>
            <a:endParaRPr lang="en-US" sz="800" dirty="0"/>
          </a:p>
        </p:txBody>
      </p:sp>
      <p:sp>
        <p:nvSpPr>
          <p:cNvPr id="13" name="Text 11"/>
          <p:cNvSpPr/>
          <p:nvPr/>
        </p:nvSpPr>
        <p:spPr>
          <a:xfrm>
            <a:off x="1673352" y="2276856"/>
            <a:ext cx="703173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Microsoft 365 User Profile MCP server added — returns manager name and profile details</a:t>
            </a:r>
            <a:endParaRPr lang="en-US" sz="1050" dirty="0"/>
          </a:p>
        </p:txBody>
      </p:sp>
      <p:sp>
        <p:nvSpPr>
          <p:cNvPr id="14" name="Shape 12"/>
          <p:cNvSpPr/>
          <p:nvPr/>
        </p:nvSpPr>
        <p:spPr>
          <a:xfrm>
            <a:off x="320040" y="2670048"/>
            <a:ext cx="8503920" cy="438912"/>
          </a:xfrm>
          <a:prstGeom prst="rect">
            <a:avLst/>
          </a:prstGeom>
          <a:solidFill>
            <a:srgbClr val="F3F2F1"/>
          </a:solidFill>
          <a:ln w="12700">
            <a:solidFill>
              <a:srgbClr val="E1DFDD"/>
            </a:solidFill>
            <a:prstDash val="solid"/>
          </a:ln>
        </p:spPr>
      </p:sp>
      <p:sp>
        <p:nvSpPr>
          <p:cNvPr id="15" name="Shape 13"/>
          <p:cNvSpPr/>
          <p:nvPr/>
        </p:nvSpPr>
        <p:spPr>
          <a:xfrm>
            <a:off x="457200" y="2752344"/>
            <a:ext cx="1097280" cy="256032"/>
          </a:xfrm>
          <a:prstGeom prst="rect">
            <a:avLst/>
          </a:prstGeom>
          <a:solidFill>
            <a:srgbClr val="5C2D91"/>
          </a:solidFill>
          <a:ln w="12700">
            <a:solidFill>
              <a:srgbClr val="5C2D91"/>
            </a:solidFill>
            <a:prstDash val="solid"/>
          </a:ln>
        </p:spPr>
      </p:sp>
      <p:sp>
        <p:nvSpPr>
          <p:cNvPr id="16" name="Text 14"/>
          <p:cNvSpPr/>
          <p:nvPr/>
        </p:nvSpPr>
        <p:spPr>
          <a:xfrm>
            <a:off x="457200" y="2752344"/>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Calendar</a:t>
            </a:r>
            <a:endParaRPr lang="en-US" sz="800" dirty="0"/>
          </a:p>
        </p:txBody>
      </p:sp>
      <p:sp>
        <p:nvSpPr>
          <p:cNvPr id="17" name="Text 15"/>
          <p:cNvSpPr/>
          <p:nvPr/>
        </p:nvSpPr>
        <p:spPr>
          <a:xfrm>
            <a:off x="1673352" y="2752344"/>
            <a:ext cx="703173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Microsoft Outlook Calendar MCP server added — returns current meeting information</a:t>
            </a:r>
            <a:endParaRPr lang="en-US" sz="1050" dirty="0"/>
          </a:p>
        </p:txBody>
      </p:sp>
      <p:sp>
        <p:nvSpPr>
          <p:cNvPr id="18" name="Shape 16"/>
          <p:cNvSpPr/>
          <p:nvPr/>
        </p:nvSpPr>
        <p:spPr>
          <a:xfrm>
            <a:off x="320040" y="3145536"/>
            <a:ext cx="8503920" cy="438912"/>
          </a:xfrm>
          <a:prstGeom prst="rect">
            <a:avLst/>
          </a:prstGeom>
          <a:solidFill>
            <a:srgbClr val="FFFFFF"/>
          </a:solidFill>
          <a:ln w="12700">
            <a:solidFill>
              <a:srgbClr val="E1DFDD"/>
            </a:solidFill>
            <a:prstDash val="solid"/>
          </a:ln>
        </p:spPr>
      </p:sp>
      <p:sp>
        <p:nvSpPr>
          <p:cNvPr id="19" name="Shape 17"/>
          <p:cNvSpPr/>
          <p:nvPr/>
        </p:nvSpPr>
        <p:spPr>
          <a:xfrm>
            <a:off x="457200" y="3227832"/>
            <a:ext cx="1097280" cy="256032"/>
          </a:xfrm>
          <a:prstGeom prst="rect">
            <a:avLst/>
          </a:prstGeom>
          <a:solidFill>
            <a:srgbClr val="D47900"/>
          </a:solidFill>
          <a:ln w="12700">
            <a:solidFill>
              <a:srgbClr val="D47900"/>
            </a:solidFill>
            <a:prstDash val="solid"/>
          </a:ln>
        </p:spPr>
      </p:sp>
      <p:sp>
        <p:nvSpPr>
          <p:cNvPr id="20" name="Text 18"/>
          <p:cNvSpPr/>
          <p:nvPr/>
        </p:nvSpPr>
        <p:spPr>
          <a:xfrm>
            <a:off x="457200" y="3227832"/>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Scheduling</a:t>
            </a:r>
            <a:endParaRPr lang="en-US" sz="800" dirty="0"/>
          </a:p>
        </p:txBody>
      </p:sp>
      <p:sp>
        <p:nvSpPr>
          <p:cNvPr id="21" name="Text 19"/>
          <p:cNvSpPr/>
          <p:nvPr/>
        </p:nvSpPr>
        <p:spPr>
          <a:xfrm>
            <a:off x="1673352" y="3227832"/>
            <a:ext cx="703173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Agent finds 3 available meeting times using findMeetingTimes MCP tool</a:t>
            </a:r>
            <a:endParaRPr lang="en-US" sz="1050" dirty="0"/>
          </a:p>
        </p:txBody>
      </p:sp>
      <p:sp>
        <p:nvSpPr>
          <p:cNvPr id="22" name="Shape 20"/>
          <p:cNvSpPr/>
          <p:nvPr/>
        </p:nvSpPr>
        <p:spPr>
          <a:xfrm>
            <a:off x="320040" y="3621024"/>
            <a:ext cx="8503920" cy="438912"/>
          </a:xfrm>
          <a:prstGeom prst="rect">
            <a:avLst/>
          </a:prstGeom>
          <a:solidFill>
            <a:srgbClr val="F3F2F1"/>
          </a:solidFill>
          <a:ln w="12700">
            <a:solidFill>
              <a:srgbClr val="E1DFDD"/>
            </a:solidFill>
            <a:prstDash val="solid"/>
          </a:ln>
        </p:spPr>
      </p:sp>
      <p:sp>
        <p:nvSpPr>
          <p:cNvPr id="23" name="Shape 21"/>
          <p:cNvSpPr/>
          <p:nvPr/>
        </p:nvSpPr>
        <p:spPr>
          <a:xfrm>
            <a:off x="457200" y="3703320"/>
            <a:ext cx="1097280" cy="256032"/>
          </a:xfrm>
          <a:prstGeom prst="rect">
            <a:avLst/>
          </a:prstGeom>
          <a:solidFill>
            <a:srgbClr val="107C10"/>
          </a:solidFill>
          <a:ln w="12700">
            <a:solidFill>
              <a:srgbClr val="107C10"/>
            </a:solidFill>
            <a:prstDash val="solid"/>
          </a:ln>
        </p:spPr>
      </p:sp>
      <p:sp>
        <p:nvSpPr>
          <p:cNvPr id="24" name="Text 22"/>
          <p:cNvSpPr/>
          <p:nvPr/>
        </p:nvSpPr>
        <p:spPr>
          <a:xfrm>
            <a:off x="457200" y="3703320"/>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Meeting</a:t>
            </a:r>
            <a:endParaRPr lang="en-US" sz="800" dirty="0"/>
          </a:p>
        </p:txBody>
      </p:sp>
      <p:sp>
        <p:nvSpPr>
          <p:cNvPr id="25" name="Text 23"/>
          <p:cNvSpPr/>
          <p:nvPr/>
        </p:nvSpPr>
        <p:spPr>
          <a:xfrm>
            <a:off x="1673352" y="3703320"/>
            <a:ext cx="703173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Selected time slot creates interview-prep meeting — confirmed in Outlook calendar</a:t>
            </a:r>
            <a:endParaRPr lang="en-US" sz="1050" dirty="0"/>
          </a:p>
        </p:txBody>
      </p:sp>
      <p:sp>
        <p:nvSpPr>
          <p:cNvPr id="26" name="Shape 24"/>
          <p:cNvSpPr/>
          <p:nvPr/>
        </p:nvSpPr>
        <p:spPr>
          <a:xfrm>
            <a:off x="320040" y="4096512"/>
            <a:ext cx="8503920" cy="438912"/>
          </a:xfrm>
          <a:prstGeom prst="rect">
            <a:avLst/>
          </a:prstGeom>
          <a:solidFill>
            <a:srgbClr val="FFFFFF"/>
          </a:solidFill>
          <a:ln w="12700">
            <a:solidFill>
              <a:srgbClr val="E1DFDD"/>
            </a:solidFill>
            <a:prstDash val="solid"/>
          </a:ln>
        </p:spPr>
      </p:sp>
      <p:sp>
        <p:nvSpPr>
          <p:cNvPr id="27" name="Shape 25"/>
          <p:cNvSpPr/>
          <p:nvPr/>
        </p:nvSpPr>
        <p:spPr>
          <a:xfrm>
            <a:off x="457200" y="4178808"/>
            <a:ext cx="1097280" cy="256032"/>
          </a:xfrm>
          <a:prstGeom prst="rect">
            <a:avLst/>
          </a:prstGeom>
          <a:solidFill>
            <a:srgbClr val="D83B01"/>
          </a:solidFill>
          <a:ln w="12700">
            <a:solidFill>
              <a:srgbClr val="D83B01"/>
            </a:solidFill>
            <a:prstDash val="solid"/>
          </a:ln>
        </p:spPr>
      </p:sp>
      <p:sp>
        <p:nvSpPr>
          <p:cNvPr id="28" name="Text 26"/>
          <p:cNvSpPr/>
          <p:nvPr/>
        </p:nvSpPr>
        <p:spPr>
          <a:xfrm>
            <a:off x="457200" y="4178808"/>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Governance</a:t>
            </a:r>
            <a:endParaRPr lang="en-US" sz="800" dirty="0"/>
          </a:p>
        </p:txBody>
      </p:sp>
      <p:sp>
        <p:nvSpPr>
          <p:cNvPr id="29" name="Text 27"/>
          <p:cNvSpPr/>
          <p:nvPr/>
        </p:nvSpPr>
        <p:spPr>
          <a:xfrm>
            <a:off x="1673352" y="4178808"/>
            <a:ext cx="7031736" cy="256032"/>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Governance notes: one allowed and one explicitly out-of-scope action documented</a:t>
            </a:r>
            <a:endParaRPr lang="en-US" sz="1050" dirty="0"/>
          </a:p>
        </p:txBody>
      </p:sp>
      <p:sp>
        <p:nvSpPr>
          <p:cNvPr id="30" name="Shape 28"/>
          <p:cNvSpPr/>
          <p:nvPr/>
        </p:nvSpPr>
        <p:spPr>
          <a:xfrm>
            <a:off x="320040" y="4626864"/>
            <a:ext cx="8503920" cy="347472"/>
          </a:xfrm>
          <a:prstGeom prst="rect">
            <a:avLst/>
          </a:prstGeom>
          <a:solidFill>
            <a:srgbClr val="EFF6FC"/>
          </a:solidFill>
          <a:ln w="12700">
            <a:solidFill>
              <a:srgbClr val="C7E0F4"/>
            </a:solidFill>
            <a:prstDash val="solid"/>
          </a:ln>
        </p:spPr>
      </p:sp>
      <p:sp>
        <p:nvSpPr>
          <p:cNvPr id="31" name="Text 29"/>
          <p:cNvSpPr/>
          <p:nvPr/>
        </p:nvSpPr>
        <p:spPr>
          <a:xfrm>
            <a:off x="475488" y="4626864"/>
            <a:ext cx="8321040" cy="347472"/>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11 — Channels and Feedback  (Lab 23: Feedback capture, CSAT routing, quality loop)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10: MCP and Extensibility</dc:title>
  <dc:subject>PptxGenJS Presentation</dc:subject>
  <dc:creator>Microsoft</dc:creator>
  <cp:lastModifiedBy>Microsoft</cp:lastModifiedBy>
  <cp:revision>1</cp:revision>
  <dcterms:created xsi:type="dcterms:W3CDTF">2026-03-23T21:53:36Z</dcterms:created>
  <dcterms:modified xsi:type="dcterms:W3CDTF">2026-03-23T21:53:36Z</dcterms:modified>
</cp:coreProperties>
</file>